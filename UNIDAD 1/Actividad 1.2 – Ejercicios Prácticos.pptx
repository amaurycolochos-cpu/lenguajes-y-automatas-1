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3DF51-363E-27AD-7687-89E4F052A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5C37BC-02FC-A1FA-E5B7-8ACC372BF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BC5F5-8A9E-FE6F-D6BB-6A174D04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792770-5D83-D71C-2B4F-59CDFC4A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7B5716-0767-0572-EAD8-1B815731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026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FE6D1-3BC9-7C12-DDDC-5FDF0C0D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41946-7ED6-2D73-D83B-DF1E8206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02FC03-E802-3FB1-DE2B-08102CF4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5DB7A-0C32-27B4-4803-1FD7A7D0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E5559-D597-3416-80D0-1A689D61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675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56175-E5DD-A4C4-5E6C-53E6A8F9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C68623-C19B-3141-103C-16AD76B0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9867A-181A-2F05-C345-285821D5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C48259-58E9-BA32-C00F-EA86BC2E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A6D31-B899-F2E0-F1ED-E12192A6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29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A9736-1027-045E-1763-719EC471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9B668D-344F-0072-87CC-E68EE93B1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196092-ECDF-1068-BE60-B3E7E49AE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643985-40EF-0E7F-BEA6-F6397D06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6B8DAA-19C0-4A20-BAFA-BC6AB605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B0ED89-529D-0471-A7A1-4AD6B02F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313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9102F-841C-66F0-F809-35B9E943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3253E7-7500-61BE-BA2F-86F970D32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25BA29-E761-9FB4-2FAA-56873195F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663C93-DDD0-3603-84AA-8E81DD94C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56609F-B84A-4EF2-EC6E-9262DC4CD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088248-A0BE-E117-5B9A-A999FCC4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448233-69BC-6D98-AAD9-4C4CAAFB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65A635-040A-84F5-A41D-7D9F4A25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168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2FDDD-AA06-654E-BB50-32AA2BC5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87B390-1CB2-4717-392B-719925F6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EBEAEC-ABAC-AF59-F1D9-4804F477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CB40DA-6AFB-CD27-295B-01921117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832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0E0AC1-10AC-275C-A378-42C3FECB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7FEC36-441F-A404-5770-8AA553E7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B2FADF-2D12-4339-F6AD-D6150111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615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7678F-C848-FE57-5E50-FE83884C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7BECEA-FB3F-3ED7-6DB9-25CEF6EA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0142C-8540-893F-A1F1-373D92CB5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2DE173-AF39-F674-6DF7-E7C444EC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67AC94-781A-A8FA-5B5A-7455E71E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644648-B0B5-B950-B530-0AF9340D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136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608F2-D80B-DA34-B095-4B152EF6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25C826-2462-F9E2-D388-494328D00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F8BE9E-2711-A358-9230-D741AD5B5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AD5C20-CF21-CE85-A834-33C1129D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03834B-28A9-27B6-C800-45ED199F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6255F6-7A10-FF9A-2737-6A0B9DFA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774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54A71-A493-E305-8616-B48F0C08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EE956C-D7DE-55DA-EE1F-25A5AFCC8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B20CE-F3A8-9539-1F9B-88318755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16B626-F0AA-3E39-869A-F3066E9A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14447D-21AA-1A6F-B77F-B34FB35D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136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F06D7A-1AFA-22BA-6B37-70BB5F660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7D12E5-FFE2-51D4-3A08-04AC9CBE5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1EBB76-22F9-67A2-133C-C0D93FCB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4E544-15D5-1D53-2D23-E3663F0E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AD9A4D-E95A-3E8E-73E8-595358DE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657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9E231B-6417-F76D-1BB0-E784C89A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50284F-4AF9-09EA-A652-C472F33DF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7A8823-A664-A41F-302A-9AF3D71B5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49C6-BD26-49B3-9F1A-3F102C0447A3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7BBA6F-5BC7-9B0B-EA9F-AC50D7BBD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CC595F-D4B5-8F26-CB77-F07E2AFB4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86C9-A069-4B7E-8E49-4B67365DE58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97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5CE3rqPHlgk_3RwvaWDvMyYK5MZOHdBG/view?usp=drive_link" TargetMode="External"/><Relationship Id="rId2" Type="http://schemas.openxmlformats.org/officeDocument/2006/relationships/hyperlink" Target="https://drive.google.com/file/d/1G9rRwzd27zde_KjzGs_iC_FZQrSq-txZ/view?usp=driv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BAF8C6B-A805-3468-B36A-19BCE68AF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45318"/>
              </p:ext>
            </p:extLst>
          </p:nvPr>
        </p:nvGraphicFramePr>
        <p:xfrm>
          <a:off x="3428281" y="3582987"/>
          <a:ext cx="4505960" cy="50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388972141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1212896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effectLst/>
                        </a:rPr>
                        <a:t>NOMBRE DEL ALUMNO</a:t>
                      </a:r>
                      <a:endParaRPr lang="es-MX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effectLst/>
                        </a:rPr>
                        <a:t>MATRICULA</a:t>
                      </a:r>
                      <a:endParaRPr lang="es-MX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251794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en-US" sz="1100" kern="100">
                          <a:effectLst/>
                        </a:rPr>
                        <a:t>Amaury Jahaziel Gordillo Hernandez</a:t>
                      </a:r>
                      <a:endParaRPr lang="es-MX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00" dirty="0">
                          <a:effectLst/>
                        </a:rPr>
                        <a:t>231260074</a:t>
                      </a:r>
                      <a:endParaRPr lang="es-MX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0474216"/>
                  </a:ext>
                </a:extLst>
              </a:tr>
            </a:tbl>
          </a:graphicData>
        </a:graphic>
      </p:graphicFrame>
      <p:pic>
        <p:nvPicPr>
          <p:cNvPr id="2051" name="Imagen 4">
            <a:extLst>
              <a:ext uri="{FF2B5EF4-FFF2-40B4-BE49-F238E27FC236}">
                <a16:creationId xmlns:a16="http://schemas.microsoft.com/office/drawing/2014/main" id="{085B6363-E419-CC6C-DF41-D2BDF4303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960" y="282972"/>
            <a:ext cx="1284287" cy="105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n 1" descr="Logotipo&#10;&#10;Descripción generada automáticamente">
            <a:extLst>
              <a:ext uri="{FF2B5EF4-FFF2-40B4-BE49-F238E27FC236}">
                <a16:creationId xmlns:a16="http://schemas.microsoft.com/office/drawing/2014/main" id="{82E184F0-B729-3F43-E1FB-F20E087CF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3" y="282972"/>
            <a:ext cx="2301875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 de texto 2">
            <a:extLst>
              <a:ext uri="{FF2B5EF4-FFF2-40B4-BE49-F238E27FC236}">
                <a16:creationId xmlns:a16="http://schemas.microsoft.com/office/drawing/2014/main" id="{E57851C2-EA2C-3C4E-B719-7A15E222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561" y="990997"/>
            <a:ext cx="561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TECNOLÓGICO NACIONAL DE MÉXICO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INSTITUTO TECNOLÓGICO DE FRONTERA COMALAPA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23079-7E7C-EE04-3C4C-6DC683158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325" y="1228666"/>
            <a:ext cx="4899868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“INGENIERÍA EN SISTEMAS COMPUTACIONALES”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A6A6A6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6° </a:t>
            </a:r>
            <a:r>
              <a:rPr kumimoji="0" lang="en-US" altLang="es-MX" sz="1400" b="1" i="0" u="none" strike="noStrike" cap="none" normalizeH="0" baseline="0" dirty="0" err="1">
                <a:ln>
                  <a:noFill/>
                </a:ln>
                <a:solidFill>
                  <a:srgbClr val="A6A6A6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Semestre</a:t>
            </a: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rgbClr val="A6A6A6"/>
              </a:solidFill>
              <a:effectLst/>
              <a:latin typeface="Montserrat" panose="00000500000000000000" pitchFamily="2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solidFill>
                <a:srgbClr val="A6A6A6"/>
              </a:solidFill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LENGUAJES Y AUTOMATAS 1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sz="1400"/>
              <a:t>Actividad 1.2 </a:t>
            </a:r>
            <a:r>
              <a:rPr lang="es-MX" sz="1400" dirty="0"/>
              <a:t>– Ejercicios Prácticos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  <a:ea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PRESENTA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MX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DOCENTE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MX" sz="1400" b="1" dirty="0">
              <a:latin typeface="Montserrat" panose="00000500000000000000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4471C4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31 DE </a:t>
            </a:r>
            <a:r>
              <a:rPr lang="en-US" altLang="es-MX" sz="1400" b="1" dirty="0">
                <a:solidFill>
                  <a:srgbClr val="4471C4"/>
                </a:solidFill>
                <a:latin typeface="Montserrat" panose="00000500000000000000" pitchFamily="2" charset="0"/>
                <a:ea typeface="Arial" panose="020B0604020202020204" pitchFamily="34" charset="0"/>
              </a:rPr>
              <a:t>ENERO</a:t>
            </a:r>
            <a:r>
              <a:rPr kumimoji="0" lang="en-US" altLang="es-MX" sz="1400" b="1" i="0" u="none" strike="noStrike" cap="none" normalizeH="0" baseline="0" dirty="0">
                <a:ln>
                  <a:noFill/>
                </a:ln>
                <a:solidFill>
                  <a:srgbClr val="4471C4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 DEL 2026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VENUSTIANO CARRANZA, CHIAPAS.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2884FA-77AA-91D4-BC19-1DEC1D69FEB9}"/>
              </a:ext>
            </a:extLst>
          </p:cNvPr>
          <p:cNvSpPr txBox="1"/>
          <p:nvPr/>
        </p:nvSpPr>
        <p:spPr>
          <a:xfrm>
            <a:off x="324091" y="371015"/>
            <a:ext cx="115052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  <a:cs typeface="Mongolian Baiti" panose="03000500000000000000" pitchFamily="66" charset="0"/>
              </a:rPr>
              <a:t>Objetivo de la práctica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Aplicar formalmente los conceptos fundamentales de la Teoría de Lenguajes Formales mediante: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Construcción de potencias del alfabeto Σⁿ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Enumeración formal de Σ*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Definición matemática de lenguajes L ⊆ Σ*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Construcción de una gramática G = (N, Σ, P, 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Desarrollo de derivaciones formales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Clasificación estructural según la jerarquía de Chomsky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407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EC016D2-4926-09A1-9F8C-BB6021EE12D0}"/>
                  </a:ext>
                </a:extLst>
              </p:cNvPr>
              <p:cNvSpPr txBox="1"/>
              <p:nvPr/>
            </p:nvSpPr>
            <p:spPr>
              <a:xfrm>
                <a:off x="243069" y="76736"/>
                <a:ext cx="12095544" cy="6704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Marco teórico</a:t>
                </a: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Alfabeto (</a:t>
                </a:r>
                <a:r>
                  <a:rPr lang="el-GR" b="1" dirty="0"/>
                  <a:t>Σ)</a:t>
                </a:r>
                <a:br>
                  <a:rPr lang="el-GR" dirty="0"/>
                </a:br>
                <a:r>
                  <a:rPr lang="es-MX" dirty="0">
                    <a:latin typeface="Montserrat" panose="00000500000000000000" pitchFamily="2" charset="0"/>
                  </a:rPr>
                  <a:t>Conjunto finito no vacío de símbolos.</a:t>
                </a: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Cadena (w)</a:t>
                </a:r>
                <a:br>
                  <a:rPr lang="es-MX" dirty="0">
                    <a:latin typeface="Montserrat" panose="00000500000000000000" pitchFamily="2" charset="0"/>
                  </a:rPr>
                </a:br>
                <a:r>
                  <a:rPr lang="es-MX" dirty="0">
                    <a:latin typeface="Montserrat" panose="00000500000000000000" pitchFamily="2" charset="0"/>
                  </a:rPr>
                  <a:t>Secuencia finita de símbolos de </a:t>
                </a:r>
                <a:r>
                  <a:rPr lang="el-GR" dirty="0"/>
                  <a:t>Σ.</a:t>
                </a:r>
                <a:br>
                  <a:rPr lang="el-GR" dirty="0"/>
                </a:br>
                <a:r>
                  <a:rPr lang="es-MX" dirty="0">
                    <a:latin typeface="Montserrat" panose="00000500000000000000" pitchFamily="2" charset="0"/>
                  </a:rPr>
                  <a:t>Longitud: |w|</a:t>
                </a: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Cadena vacía:</a:t>
                </a:r>
                <a:r>
                  <a:rPr lang="es-MX" dirty="0">
                    <a:latin typeface="Montserrat" panose="00000500000000000000" pitchFamily="2" charset="0"/>
                  </a:rPr>
                  <a:t> </a:t>
                </a:r>
                <a:r>
                  <a:rPr lang="el-GR" dirty="0"/>
                  <a:t>λ</a:t>
                </a:r>
                <a:endParaRPr lang="es-MX" dirty="0"/>
              </a:p>
              <a:p>
                <a:endParaRPr lang="el-GR" dirty="0"/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Potencia del alfabeto:</a:t>
                </a:r>
                <a:r>
                  <a:rPr lang="es-MX" dirty="0">
                    <a:latin typeface="Montserrat" panose="00000500000000000000" pitchFamily="2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∣∣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∣=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MX" dirty="0"/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Clausura de Kleene:</a:t>
                </a:r>
                <a:endParaRPr lang="es-MX" dirty="0">
                  <a:latin typeface="Montserrat" panose="00000500000000000000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l-GR" smtClean="0"/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⋃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s-MX" smtClean="0"/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l-GR" smtClean="0"/>
                                <m:t>Σ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Lenguaje:</a:t>
                </a:r>
                <a:endParaRPr lang="es-MX" dirty="0"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MX" b="1" dirty="0">
                  <a:latin typeface="Montserrat" panose="00000500000000000000" pitchFamily="2" charset="0"/>
                </a:endParaRP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Gramática formal:</a:t>
                </a:r>
                <a:endParaRPr lang="es-MX" dirty="0">
                  <a:latin typeface="Montserrat" panose="000005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EC016D2-4926-09A1-9F8C-BB6021EE1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69" y="76736"/>
                <a:ext cx="12095544" cy="6704528"/>
              </a:xfrm>
              <a:prstGeom prst="rect">
                <a:avLst/>
              </a:prstGeom>
              <a:blipFill>
                <a:blip r:embed="rId2"/>
                <a:stretch>
                  <a:fillRect l="-454" t="-4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47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57335AC-08D8-C117-B6F5-7B20A87504F0}"/>
                  </a:ext>
                </a:extLst>
              </p:cNvPr>
              <p:cNvSpPr txBox="1"/>
              <p:nvPr/>
            </p:nvSpPr>
            <p:spPr>
              <a:xfrm>
                <a:off x="270076" y="428263"/>
                <a:ext cx="11921924" cy="3083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2000" b="1" dirty="0">
                    <a:latin typeface="Montserrat" panose="00000500000000000000" pitchFamily="2" charset="0"/>
                    <a:cs typeface="Mongolian Baiti" panose="03000500000000000000" pitchFamily="66" charset="0"/>
                  </a:rPr>
                  <a:t>Ejercicio 1</a:t>
                </a:r>
              </a:p>
              <a:p>
                <a:endParaRPr lang="es-MX" sz="2000" b="1" dirty="0">
                  <a:latin typeface="Montserrat" panose="00000500000000000000" pitchFamily="2" charset="0"/>
                  <a:cs typeface="Mongolian Baiti" panose="03000500000000000000" pitchFamily="66" charset="0"/>
                </a:endParaRPr>
              </a:p>
              <a:p>
                <a:r>
                  <a:rPr lang="es-MX" sz="2000" b="1" dirty="0">
                    <a:latin typeface="Montserrat" panose="00000500000000000000" pitchFamily="2" charset="0"/>
                    <a:cs typeface="Mongolian Baiti" panose="03000500000000000000" pitchFamily="66" charset="0"/>
                  </a:rPr>
                  <a:t>Potencias del alfabeto</a:t>
                </a:r>
              </a:p>
              <a:p>
                <a:r>
                  <a:rPr lang="es-MX" sz="2000" dirty="0">
                    <a:latin typeface="Montserrat" panose="00000500000000000000" pitchFamily="2" charset="0"/>
                    <a:cs typeface="Mongolian Baiti" panose="03000500000000000000" pitchFamily="66" charset="0"/>
                  </a:rPr>
                  <a:t>Sea el alfabeto:</a:t>
                </a:r>
              </a:p>
              <a:p>
                <a:endParaRPr lang="es-MX" sz="2000" dirty="0">
                  <a:latin typeface="Montserrat" panose="00000500000000000000" pitchFamily="2" charset="0"/>
                  <a:cs typeface="Mongolian Baiti" panose="03000500000000000000" pitchFamily="66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={0,1</m:t>
                    </m:r>
                  </m:oMath>
                </a14:m>
                <a:r>
                  <a:rPr lang="es-MX" dirty="0"/>
                  <a:t>}</a:t>
                </a:r>
              </a:p>
              <a:p>
                <a:endParaRPr lang="es-MX" dirty="0"/>
              </a:p>
              <a:p>
                <a:endParaRPr lang="es-MX" dirty="0"/>
              </a:p>
              <a:p>
                <a:r>
                  <a:rPr lang="es-MX" dirty="0"/>
                  <a:t>Determinar formalmente: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0 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3 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57335AC-08D8-C117-B6F5-7B20A8750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76" y="428263"/>
                <a:ext cx="11921924" cy="3083023"/>
              </a:xfrm>
              <a:prstGeom prst="rect">
                <a:avLst/>
              </a:prstGeom>
              <a:blipFill>
                <a:blip r:embed="rId2"/>
                <a:stretch>
                  <a:fillRect l="-511" t="-7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81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11992E3-FE50-9348-326E-B8EBC3E8A8B4}"/>
                  </a:ext>
                </a:extLst>
              </p:cNvPr>
              <p:cNvSpPr txBox="1"/>
              <p:nvPr/>
            </p:nvSpPr>
            <p:spPr>
              <a:xfrm>
                <a:off x="139190" y="634912"/>
                <a:ext cx="11363445" cy="4314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Desarrollo del Ejercicio 1</a:t>
                </a:r>
              </a:p>
              <a:p>
                <a:r>
                  <a:rPr lang="es-MX" dirty="0">
                    <a:latin typeface="Montserrat" panose="00000500000000000000" pitchFamily="2" charset="0"/>
                  </a:rPr>
                  <a:t>Por definición: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0 </m:t>
                        </m:r>
                      </m:sup>
                    </m:sSup>
                  </m:oMath>
                </a14:m>
                <a:r>
                  <a:rPr lang="es-MX" dirty="0"/>
                  <a:t>= </a:t>
                </a:r>
                <a:r>
                  <a:rPr lang="el-GR" dirty="0"/>
                  <a:t>{λ}</a:t>
                </a:r>
                <a:r>
                  <a:rPr lang="es-MX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1 </m:t>
                        </m:r>
                      </m:sup>
                    </m:sSup>
                  </m:oMath>
                </a14:m>
                <a:r>
                  <a:rPr lang="es-MX" dirty="0"/>
                  <a:t>= </a:t>
                </a:r>
                <a:r>
                  <a:rPr lang="el-GR" dirty="0"/>
                  <a:t>{</a:t>
                </a:r>
                <a:r>
                  <a:rPr lang="es-MX" dirty="0"/>
                  <a:t>0,1</a:t>
                </a:r>
                <a:r>
                  <a:rPr lang="el-GR" dirty="0"/>
                  <a:t>}</a:t>
                </a:r>
                <a:endParaRPr lang="es-MX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</m:oMath>
                </a14:m>
                <a:r>
                  <a:rPr lang="es-MX" dirty="0"/>
                  <a:t>= {00,01,10,11}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s-MX" b="0" i="1" dirty="0" smtClean="0">
                            <a:latin typeface="Cambria Math" panose="02040503050406030204" pitchFamily="18" charset="0"/>
                          </a:rPr>
                          <m:t>3 </m:t>
                        </m:r>
                      </m:sup>
                    </m:sSup>
                  </m:oMath>
                </a14:m>
                <a:r>
                  <a:rPr lang="es-MX" dirty="0"/>
                  <a:t>= {000,001,010,011,100,101,110,111}</a:t>
                </a:r>
              </a:p>
              <a:p>
                <a:endParaRPr lang="es-MX" dirty="0"/>
              </a:p>
              <a:p>
                <a:r>
                  <a:rPr lang="es-MX" b="1" dirty="0"/>
                  <a:t>Propiedad general: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∣</m:t>
                      </m:r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d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  <a:p>
                <a:endParaRPr lang="es-MX" dirty="0"/>
              </a:p>
              <a:p>
                <a:r>
                  <a:rPr lang="es-MX" dirty="0"/>
                  <a:t>Como: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∣=2</m:t>
                      </m:r>
                    </m:oMath>
                  </m:oMathPara>
                </a14:m>
                <a:endParaRPr lang="es-MX" dirty="0"/>
              </a:p>
              <a:p>
                <a:endParaRPr lang="es-MX" dirty="0"/>
              </a:p>
              <a:p>
                <a:r>
                  <a:rPr lang="es-MX" b="1" dirty="0"/>
                  <a:t>Entonces: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∣</m:t>
                      </m:r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|= </m:t>
                      </m:r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11992E3-FE50-9348-326E-B8EBC3E8A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0" y="634912"/>
                <a:ext cx="11363445" cy="4314130"/>
              </a:xfrm>
              <a:prstGeom prst="rect">
                <a:avLst/>
              </a:prstGeom>
              <a:blipFill>
                <a:blip r:embed="rId2"/>
                <a:stretch>
                  <a:fillRect l="-483" t="-5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24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219277E-1151-078E-E903-E7C5215C3A3F}"/>
                  </a:ext>
                </a:extLst>
              </p:cNvPr>
              <p:cNvSpPr txBox="1"/>
              <p:nvPr/>
            </p:nvSpPr>
            <p:spPr>
              <a:xfrm>
                <a:off x="365916" y="420501"/>
                <a:ext cx="6097554" cy="2098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2</a:t>
                </a: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Enumeración de </a:t>
                </a:r>
                <a:r>
                  <a:rPr lang="es-MX" b="1" dirty="0"/>
                  <a:t>Σ*</a:t>
                </a:r>
              </a:p>
              <a:p>
                <a:endParaRPr lang="es-MX" b="1" dirty="0"/>
              </a:p>
              <a:p>
                <a:r>
                  <a:rPr lang="es-MX" dirty="0">
                    <a:latin typeface="Montserrat" panose="00000500000000000000" pitchFamily="2" charset="0"/>
                  </a:rPr>
                  <a:t>Enumerar las primeras 10 cadenas 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MX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  <a:p>
                <a:r>
                  <a:rPr lang="es-MX" dirty="0">
                    <a:latin typeface="Montserrat" panose="00000500000000000000" pitchFamily="2" charset="0"/>
                  </a:rPr>
                  <a:t>en orden creciente de longitud.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219277E-1151-078E-E903-E7C5215C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6" y="420501"/>
                <a:ext cx="6097554" cy="2098138"/>
              </a:xfrm>
              <a:prstGeom prst="rect">
                <a:avLst/>
              </a:prstGeom>
              <a:blipFill>
                <a:blip r:embed="rId2"/>
                <a:stretch>
                  <a:fillRect l="-800" t="-1453" b="-87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67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8B71BDA-94B5-6DA0-4C97-3B8DEAE2B0DA}"/>
                  </a:ext>
                </a:extLst>
              </p:cNvPr>
              <p:cNvSpPr txBox="1"/>
              <p:nvPr/>
            </p:nvSpPr>
            <p:spPr>
              <a:xfrm>
                <a:off x="465221" y="318518"/>
                <a:ext cx="6096000" cy="5386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Diapositiva 7 – Desarrollo del Ejercicio 2</a:t>
                </a:r>
              </a:p>
              <a:p>
                <a:r>
                  <a:rPr lang="es-MX" dirty="0">
                    <a:latin typeface="Montserrat" panose="00000500000000000000" pitchFamily="2" charset="0"/>
                  </a:rPr>
                  <a:t>Recordando: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l-GR" smtClean="0"/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⋃"/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s-MX" smtClean="0"/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l-GR" smtClean="0"/>
                                <m:t>Σ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Orden creciente por longitud: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λ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00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01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10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11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000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001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s-MX" dirty="0">
                    <a:latin typeface="Montserrat" panose="00000500000000000000" pitchFamily="2" charset="0"/>
                  </a:rPr>
                  <a:t>010</a:t>
                </a:r>
                <a:br>
                  <a:rPr lang="es-MX" dirty="0">
                    <a:latin typeface="Montserrat" panose="00000500000000000000" pitchFamily="2" charset="0"/>
                  </a:rPr>
                </a:br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Formalmente: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i="1" dirty="0" err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s-MX" i="1" dirty="0" err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∣≥0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8B71BDA-94B5-6DA0-4C97-3B8DEAE2B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1" y="318518"/>
                <a:ext cx="6096000" cy="5386346"/>
              </a:xfrm>
              <a:prstGeom prst="rect">
                <a:avLst/>
              </a:prstGeom>
              <a:blipFill>
                <a:blip r:embed="rId2"/>
                <a:stretch>
                  <a:fillRect l="-900" t="-45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48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AFACA34-79A1-03A2-6CFB-5B44B88B1C6B}"/>
                  </a:ext>
                </a:extLst>
              </p:cNvPr>
              <p:cNvSpPr txBox="1"/>
              <p:nvPr/>
            </p:nvSpPr>
            <p:spPr>
              <a:xfrm>
                <a:off x="182880" y="320040"/>
                <a:ext cx="6096000" cy="2619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3</a:t>
                </a: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Definición de un lenguaje</a:t>
                </a:r>
              </a:p>
              <a:p>
                <a:r>
                  <a:rPr lang="es-MX" dirty="0">
                    <a:latin typeface="Montserrat" panose="00000500000000000000" pitchFamily="2" charset="0"/>
                  </a:rPr>
                  <a:t>Sea: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s-MX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𝑡𝑒𝑟𝑚𝑖𝑛𝑎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 1}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Forma formal equivalente: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∣∃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s-MX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s-MX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1}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AFACA34-79A1-03A2-6CFB-5B44B88B1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320040"/>
                <a:ext cx="6096000" cy="2619115"/>
              </a:xfrm>
              <a:prstGeom prst="rect">
                <a:avLst/>
              </a:prstGeom>
              <a:blipFill>
                <a:blip r:embed="rId2"/>
                <a:stretch>
                  <a:fillRect l="-800" t="-116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10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3793B55-388F-8E7F-4C5D-4ED9D7238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67576"/>
              </p:ext>
            </p:extLst>
          </p:nvPr>
        </p:nvGraphicFramePr>
        <p:xfrm>
          <a:off x="556846" y="1739931"/>
          <a:ext cx="1051560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59621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297291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57507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Cadena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¿w ∈ L?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Justificación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493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Sí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Último símbolo = 1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8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01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Sí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Termina en 1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89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10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No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Termina en 0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316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111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Sí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Último símbolo = 1</a:t>
                      </a:r>
                      <a:endParaRPr lang="es-MX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48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000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Último símbolo = 0</a:t>
                      </a:r>
                      <a:endParaRPr lang="es-MX" dirty="0"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1050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863CF7E-5DF3-B9DB-F856-1B998DF33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46" y="616715"/>
            <a:ext cx="7022514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Verificación de pertenencia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rPr>
              <a:t>Determinar Condición si las siguientes cadenas pertenecen a L:</a:t>
            </a:r>
            <a:endParaRPr kumimoji="0" lang="es-MX" altLang="es-MX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tserrat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E5CF105-5DB6-A17A-8F93-4EAE40B86A74}"/>
                  </a:ext>
                </a:extLst>
              </p:cNvPr>
              <p:cNvSpPr txBox="1"/>
              <p:nvPr/>
            </p:nvSpPr>
            <p:spPr>
              <a:xfrm>
                <a:off x="556846" y="4396709"/>
                <a:ext cx="6096000" cy="680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dirty="0">
                    <a:latin typeface="Montserrat" panose="00000500000000000000" pitchFamily="2" charset="0"/>
                  </a:rPr>
                  <a:t>Condición formal: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ˊ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𝑙𝑡𝑖𝑚𝑜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𝑠𝚤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ˊ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𝑚𝑏𝑜𝑙𝑜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E5CF105-5DB6-A17A-8F93-4EAE40B86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46" y="4396709"/>
                <a:ext cx="6096000" cy="680123"/>
              </a:xfrm>
              <a:prstGeom prst="rect">
                <a:avLst/>
              </a:prstGeom>
              <a:blipFill>
                <a:blip r:embed="rId2"/>
                <a:stretch>
                  <a:fillRect l="-800" t="-3571" b="-1160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048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6A42837-C0A3-58A8-9684-2794995EE738}"/>
                  </a:ext>
                </a:extLst>
              </p:cNvPr>
              <p:cNvSpPr txBox="1"/>
              <p:nvPr/>
            </p:nvSpPr>
            <p:spPr>
              <a:xfrm>
                <a:off x="426720" y="239375"/>
                <a:ext cx="6096000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Ejercicio 4</a:t>
                </a: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b="1" dirty="0">
                    <a:latin typeface="Montserrat" panose="00000500000000000000" pitchFamily="2" charset="0"/>
                  </a:rPr>
                  <a:t>Definir una gramática formal</a:t>
                </a: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Construir una gramática: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pt-B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tal que: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pt-BR" dirty="0">
                    <a:latin typeface="Montserrat" panose="00000500000000000000" pitchFamily="2" charset="0"/>
                    <a:cs typeface="Mongolian Baiti" panose="03000500000000000000" pitchFamily="66" charset="0"/>
                  </a:rPr>
                  <a:t>Definimos</a:t>
                </a:r>
                <a:r>
                  <a:rPr lang="pt-BR" dirty="0">
                    <a:latin typeface="Montserrat" panose="00000500000000000000" pitchFamily="2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= {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i="0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= {0,1}</m:t>
                      </m:r>
                    </m:oMath>
                  </m:oMathPara>
                </a14:m>
                <a:endParaRPr lang="pt-BR" dirty="0"/>
              </a:p>
              <a:p>
                <a:endParaRPr lang="pt-BR" dirty="0">
                  <a:latin typeface="Montserrat" panose="00000500000000000000" pitchFamily="2" charset="0"/>
                </a:endParaRPr>
              </a:p>
              <a:p>
                <a:r>
                  <a:rPr lang="pt-BR" dirty="0" err="1">
                    <a:latin typeface="Montserrat" panose="00000500000000000000" pitchFamily="2" charset="0"/>
                  </a:rPr>
                  <a:t>Producciones</a:t>
                </a:r>
                <a:r>
                  <a:rPr lang="pt-BR" dirty="0">
                    <a:latin typeface="Montserrat" panose="00000500000000000000" pitchFamily="2" charset="0"/>
                  </a:rPr>
                  <a:t> 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→ 0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→ 1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→ 1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>
                    <a:latin typeface="Montserrat" panose="00000500000000000000" pitchFamily="2" charset="0"/>
                  </a:rPr>
                  <a:t>Símbolo inicial</a:t>
                </a:r>
                <a:r>
                  <a:rPr lang="pt-BR" dirty="0"/>
                  <a:t>: S</a:t>
                </a:r>
              </a:p>
              <a:p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6A42837-C0A3-58A8-9684-2794995EE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239375"/>
                <a:ext cx="6096000" cy="5909310"/>
              </a:xfrm>
              <a:prstGeom prst="rect">
                <a:avLst/>
              </a:prstGeom>
              <a:blipFill>
                <a:blip r:embed="rId2"/>
                <a:stretch>
                  <a:fillRect l="-800" t="-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084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4BF3137-A525-31D3-EBD6-0E9897792B21}"/>
                  </a:ext>
                </a:extLst>
              </p:cNvPr>
              <p:cNvSpPr txBox="1"/>
              <p:nvPr/>
            </p:nvSpPr>
            <p:spPr>
              <a:xfrm>
                <a:off x="304800" y="254615"/>
                <a:ext cx="609600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latin typeface="Montserrat" panose="00000500000000000000" pitchFamily="2" charset="0"/>
                  </a:rPr>
                  <a:t>Derivación formal</a:t>
                </a:r>
              </a:p>
              <a:p>
                <a:endParaRPr lang="es-MX" b="1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Derivar la cadena: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101</m:t>
                      </m:r>
                    </m:oMath>
                  </m:oMathPara>
                </a14:m>
                <a:endParaRPr lang="es-MX" dirty="0"/>
              </a:p>
              <a:p>
                <a:endParaRPr lang="es-MX" dirty="0"/>
              </a:p>
              <a:p>
                <a:r>
                  <a:rPr lang="es-MX" dirty="0">
                    <a:latin typeface="Montserrat" panose="00000500000000000000" pitchFamily="2" charset="0"/>
                  </a:rPr>
                  <a:t>Derivación: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⇒1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⇒10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⇒101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pt-BR" dirty="0">
                    <a:latin typeface="Montserrat" panose="00000500000000000000" pitchFamily="2" charset="0"/>
                  </a:rPr>
                  <a:t>Forma abreviada: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⇒∗101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  <a:p>
                <a:endParaRPr lang="es-MX" dirty="0">
                  <a:latin typeface="Montserrat" panose="00000500000000000000" pitchFamily="2" charset="0"/>
                </a:endParaRPr>
              </a:p>
              <a:p>
                <a:r>
                  <a:rPr lang="es-MX" dirty="0">
                    <a:latin typeface="Montserrat" panose="00000500000000000000" pitchFamily="2" charset="0"/>
                  </a:rPr>
                  <a:t>por lo tanto: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101∈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4BF3137-A525-31D3-EBD6-0E9897792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54615"/>
                <a:ext cx="6096000" cy="3693319"/>
              </a:xfrm>
              <a:prstGeom prst="rect">
                <a:avLst/>
              </a:prstGeom>
              <a:blipFill>
                <a:blip r:embed="rId2"/>
                <a:stretch>
                  <a:fillRect l="-800" t="-825" b="-49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963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A48DE25-A568-1C83-91D1-D1EB0876B9C8}"/>
              </a:ext>
            </a:extLst>
          </p:cNvPr>
          <p:cNvSpPr txBox="1"/>
          <p:nvPr/>
        </p:nvSpPr>
        <p:spPr>
          <a:xfrm>
            <a:off x="304800" y="25034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Clasificación según Chomsky</a:t>
            </a:r>
          </a:p>
          <a:p>
            <a:r>
              <a:rPr lang="es-MX" dirty="0">
                <a:latin typeface="Montserrat" panose="00000500000000000000" pitchFamily="2" charset="0"/>
              </a:rPr>
              <a:t>Las producciones tienen la forma:</a:t>
            </a:r>
          </a:p>
          <a:p>
            <a:r>
              <a:rPr lang="es-MX" dirty="0" err="1">
                <a:latin typeface="Montserrat" panose="00000500000000000000" pitchFamily="2" charset="0"/>
              </a:rPr>
              <a:t>A→aB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 err="1">
                <a:latin typeface="Montserrat" panose="00000500000000000000" pitchFamily="2" charset="0"/>
              </a:rPr>
              <a:t>A→a</a:t>
            </a:r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Esto corresponde a una: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Gramática Regular Lineal Derecha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Por definición pertenece a: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b="1" dirty="0">
                <a:latin typeface="Montserrat" panose="00000500000000000000" pitchFamily="2" charset="0"/>
              </a:rPr>
              <a:t>Tipo 3 – Lenguajes Regulares</a:t>
            </a:r>
            <a:endParaRPr lang="es-MX" dirty="0">
              <a:latin typeface="Montserrat" panose="00000500000000000000" pitchFamily="2" charset="0"/>
            </a:endParaRPr>
          </a:p>
          <a:p>
            <a:r>
              <a:rPr lang="es-MX" dirty="0">
                <a:latin typeface="Montserrat" panose="00000500000000000000" pitchFamily="2" charset="0"/>
              </a:rPr>
              <a:t>Jerarquía:</a:t>
            </a:r>
          </a:p>
          <a:p>
            <a:r>
              <a:rPr lang="es-MX" dirty="0">
                <a:latin typeface="Montserrat" panose="00000500000000000000" pitchFamily="2" charset="0"/>
              </a:rPr>
              <a:t>Tipo 3 ⊂ Tipo 2 ⊂ Tipo 1 ⊂ Tipo 0</a:t>
            </a:r>
          </a:p>
          <a:p>
            <a:endParaRPr lang="es-MX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88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AE62EA5-21EF-2C77-59CE-7D3A5001BBF8}"/>
              </a:ext>
            </a:extLst>
          </p:cNvPr>
          <p:cNvSpPr txBox="1"/>
          <p:nvPr/>
        </p:nvSpPr>
        <p:spPr>
          <a:xfrm>
            <a:off x="564346" y="82250"/>
            <a:ext cx="9514373" cy="544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>
                <a:latin typeface="Montserrat" panose="00000500000000000000" pitchFamily="2" charset="0"/>
              </a:rPr>
              <a:t>Conclusión técnica</a:t>
            </a:r>
          </a:p>
          <a:p>
            <a:pPr>
              <a:lnSpc>
                <a:spcPct val="150000"/>
              </a:lnSpc>
            </a:pPr>
            <a:endParaRPr lang="es-MX" b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Los ejercicios permitieron: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Construir formalmente Σⁿ.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Verificar que |Σⁿ| = |Σ|ⁿ.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Comprender la estructura infinita de Σ*.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Definir un lenguaje mediante propiedad estructural.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Construir una gramática generadora.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Realizar derivaciones formales.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Montserrat" panose="00000500000000000000" pitchFamily="2" charset="0"/>
              </a:rPr>
              <a:t>Clasificar la gramática dentro de la jerarquía de Chomsky.</a:t>
            </a:r>
          </a:p>
          <a:p>
            <a:pPr>
              <a:lnSpc>
                <a:spcPct val="150000"/>
              </a:lnSpc>
            </a:pPr>
            <a:endParaRPr lang="es-MX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dirty="0">
                <a:latin typeface="Montserrat" panose="00000500000000000000" pitchFamily="2" charset="0"/>
              </a:rPr>
              <a:t>Se confirma que el lenguaje definido por condición sobre el último símbolo es regular y puede modelarse mediante gramática tipo 3.</a:t>
            </a:r>
          </a:p>
        </p:txBody>
      </p:sp>
    </p:spTree>
    <p:extLst>
      <p:ext uri="{BB962C8B-B14F-4D97-AF65-F5344CB8AC3E}">
        <p14:creationId xmlns:p14="http://schemas.microsoft.com/office/powerpoint/2010/main" val="1747096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3AA1E66-96BC-1241-0182-8B50BE9CE835}"/>
              </a:ext>
            </a:extLst>
          </p:cNvPr>
          <p:cNvSpPr txBox="1"/>
          <p:nvPr/>
        </p:nvSpPr>
        <p:spPr>
          <a:xfrm>
            <a:off x="294640" y="196334"/>
            <a:ext cx="100990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Montserrat" panose="00000500000000000000" pitchFamily="2" charset="0"/>
              </a:rPr>
              <a:t>Fuente de información</a:t>
            </a: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s-MX" dirty="0" err="1">
                <a:latin typeface="Montserrat" panose="00000500000000000000" pitchFamily="2" charset="0"/>
              </a:rPr>
              <a:t>Hopcroft</a:t>
            </a:r>
            <a:r>
              <a:rPr lang="es-MX" dirty="0">
                <a:latin typeface="Montserrat" panose="00000500000000000000" pitchFamily="2" charset="0"/>
              </a:rPr>
              <a:t>, J. E., </a:t>
            </a:r>
            <a:r>
              <a:rPr lang="es-MX" dirty="0" err="1">
                <a:latin typeface="Montserrat" panose="00000500000000000000" pitchFamily="2" charset="0"/>
              </a:rPr>
              <a:t>Motwani</a:t>
            </a:r>
            <a:r>
              <a:rPr lang="es-MX" dirty="0">
                <a:latin typeface="Montserrat" panose="00000500000000000000" pitchFamily="2" charset="0"/>
              </a:rPr>
              <a:t>, R., &amp; Ullman, J. D. (2007).Introducción a la teoría de autómatas, lenguajes y computación (3ª ed.). Pearson Educación. </a:t>
            </a:r>
          </a:p>
          <a:p>
            <a:r>
              <a:rPr lang="es-MX" dirty="0">
                <a:latin typeface="Montserrat" panose="00000500000000000000" pitchFamily="2" charset="0"/>
                <a:hlinkClick r:id="rId2"/>
              </a:rPr>
              <a:t>https://drive.google.com/file/d/1G9rRwzd27zde_KjzGs_iC_FZQrSq-txZ/view?usp=drive_link</a:t>
            </a:r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endParaRPr lang="es-MX" dirty="0">
              <a:latin typeface="Montserrat" panose="00000500000000000000" pitchFamily="2" charset="0"/>
            </a:endParaRPr>
          </a:p>
          <a:p>
            <a:r>
              <a:rPr lang="en-US" dirty="0" err="1">
                <a:latin typeface="Montserrat" panose="00000500000000000000" pitchFamily="2" charset="0"/>
              </a:rPr>
              <a:t>Aho</a:t>
            </a:r>
            <a:r>
              <a:rPr lang="en-US" dirty="0">
                <a:latin typeface="Montserrat" panose="00000500000000000000" pitchFamily="2" charset="0"/>
              </a:rPr>
              <a:t>, A. V., Sethi, R., &amp; Ullman, J. D. (1986).Principles of Compiler Design. </a:t>
            </a:r>
          </a:p>
          <a:p>
            <a:r>
              <a:rPr lang="en-US" dirty="0">
                <a:latin typeface="Montserrat" panose="00000500000000000000" pitchFamily="2" charset="0"/>
              </a:rPr>
              <a:t>Addison-Wesley.</a:t>
            </a:r>
          </a:p>
          <a:p>
            <a:r>
              <a:rPr lang="en-US" dirty="0">
                <a:latin typeface="Montserrat" panose="00000500000000000000" pitchFamily="2" charset="0"/>
                <a:hlinkClick r:id="rId3"/>
              </a:rPr>
              <a:t>https://drive.google.com/file/d/15CE3rqPHlgk_3RwvaWDvMyYK5MZOHdBG/view?usp=drive_link</a:t>
            </a:r>
            <a:endParaRPr lang="en-US" dirty="0">
              <a:latin typeface="Montserrat" panose="00000500000000000000" pitchFamily="2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8521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756</Words>
  <Application>Microsoft Office PowerPoint</Application>
  <PresentationFormat>Panorámica</PresentationFormat>
  <Paragraphs>205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Amaury</dc:creator>
  <cp:lastModifiedBy>Amaury</cp:lastModifiedBy>
  <cp:revision>3</cp:revision>
  <dcterms:created xsi:type="dcterms:W3CDTF">2026-02-14T08:03:49Z</dcterms:created>
  <dcterms:modified xsi:type="dcterms:W3CDTF">2026-02-14T21:45:49Z</dcterms:modified>
</cp:coreProperties>
</file>