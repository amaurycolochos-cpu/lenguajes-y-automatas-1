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6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8F1D559-046D-4617-9921-C6A4988C2042}">
          <p14:sldIdLst>
            <p14:sldId id="256"/>
            <p14:sldId id="257"/>
            <p14:sldId id="258"/>
            <p14:sldId id="260"/>
            <p14:sldId id="262"/>
            <p14:sldId id="264"/>
            <p14:sldId id="266"/>
            <p14:sldId id="268"/>
            <p14:sldId id="269"/>
            <p14:sldId id="270"/>
          </p14:sldIdLst>
        </p14:section>
        <p14:section name="Sección sin título" id="{B9365A6A-60C1-4A9D-A2B8-C5BE6F7E4370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DF51-363E-27AD-7687-89E4F052A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5C37BC-02FC-A1FA-E5B7-8ACC372BF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BC5F5-8A9E-FE6F-D6BB-6A174D04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92770-5D83-D71C-2B4F-59CDFC4A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B5716-0767-0572-EAD8-1B815731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026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FE6D1-3BC9-7C12-DDDC-5FDF0C0D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41946-7ED6-2D73-D83B-DF1E8206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2FC03-E802-3FB1-DE2B-08102CF4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5DB7A-0C32-27B4-4803-1FD7A7D0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E5559-D597-3416-80D0-1A689D61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675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56175-E5DD-A4C4-5E6C-53E6A8F9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C68623-C19B-3141-103C-16AD76B0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9867A-181A-2F05-C345-285821D5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C48259-58E9-BA32-C00F-EA86BC2E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A6D31-B899-F2E0-F1ED-E12192A6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29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A9736-1027-045E-1763-719EC471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9B668D-344F-0072-87CC-E68EE93B1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196092-ECDF-1068-BE60-B3E7E49AE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43985-40EF-0E7F-BEA6-F6397D0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6B8DAA-19C0-4A20-BAFA-BC6AB605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B0ED89-529D-0471-A7A1-4AD6B02F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313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9102F-841C-66F0-F809-35B9E943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3253E7-7500-61BE-BA2F-86F970D3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25BA29-E761-9FB4-2FAA-56873195F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663C93-DDD0-3603-84AA-8E81DD94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56609F-B84A-4EF2-EC6E-9262DC4CD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088248-A0BE-E117-5B9A-A999FCC4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448233-69BC-6D98-AAD9-4C4CAAFB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65A635-040A-84F5-A41D-7D9F4A25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16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2FDDD-AA06-654E-BB50-32AA2BC5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87B390-1CB2-4717-392B-719925F6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EBEAEC-ABAC-AF59-F1D9-4804F477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CB40DA-6AFB-CD27-295B-01921117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83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0E0AC1-10AC-275C-A378-42C3FECB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7FEC36-441F-A404-5770-8AA553E7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B2FADF-2D12-4339-F6AD-D6150111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615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7678F-C848-FE57-5E50-FE83884C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BECEA-FB3F-3ED7-6DB9-25CEF6EA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0142C-8540-893F-A1F1-373D92CB5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2DE173-AF39-F674-6DF7-E7C444EC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67AC94-781A-A8FA-5B5A-7455E71E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644648-B0B5-B950-B530-0AF9340D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136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608F2-D80B-DA34-B095-4B152EF6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25C826-2462-F9E2-D388-494328D00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8BE9E-2711-A358-9230-D741AD5B5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D5C20-CF21-CE85-A834-33C1129D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3834B-28A9-27B6-C800-45ED199F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6255F6-7A10-FF9A-2737-6A0B9DFA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774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54A71-A493-E305-8616-B48F0C08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EE956C-D7DE-55DA-EE1F-25A5AFCC8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B20CE-F3A8-9539-1F9B-88318755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16B626-F0AA-3E39-869A-F3066E9A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14447D-21AA-1A6F-B77F-B34FB35D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36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F06D7A-1AFA-22BA-6B37-70BB5F660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7D12E5-FFE2-51D4-3A08-04AC9CBE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EBB76-22F9-67A2-133C-C0D93FC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4E544-15D5-1D53-2D23-E3663F0E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AD9A4D-E95A-3E8E-73E8-595358DE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57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9E231B-6417-F76D-1BB0-E784C89A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0284F-4AF9-09EA-A652-C472F33DF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7A8823-A664-A41F-302A-9AF3D71B5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BBA6F-5BC7-9B0B-EA9F-AC50D7BBD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C595F-D4B5-8F26-CB77-F07E2AFB4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97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5CE3rqPHlgk_3RwvaWDvMyYK5MZOHdBG/view?usp=drive_link" TargetMode="External"/><Relationship Id="rId2" Type="http://schemas.openxmlformats.org/officeDocument/2006/relationships/hyperlink" Target="https://drive.google.com/file/d/1G9rRwzd27zde_KjzGs_iC_FZQrSq-txZ/view?usp=drive_lin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BAF8C6B-A805-3468-B36A-19BCE68AF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45318"/>
              </p:ext>
            </p:extLst>
          </p:nvPr>
        </p:nvGraphicFramePr>
        <p:xfrm>
          <a:off x="3428281" y="3582987"/>
          <a:ext cx="4505960" cy="5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38897214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1212896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NOMBRE DEL ALUMNO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MATRICULA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5179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>
                          <a:effectLst/>
                        </a:rPr>
                        <a:t>Amaury Jahaziel Gordillo Hernandez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 dirty="0">
                          <a:effectLst/>
                        </a:rPr>
                        <a:t>231260074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0474216"/>
                  </a:ext>
                </a:extLst>
              </a:tr>
            </a:tbl>
          </a:graphicData>
        </a:graphic>
      </p:graphicFrame>
      <p:pic>
        <p:nvPicPr>
          <p:cNvPr id="2051" name="Imagen 4">
            <a:extLst>
              <a:ext uri="{FF2B5EF4-FFF2-40B4-BE49-F238E27FC236}">
                <a16:creationId xmlns:a16="http://schemas.microsoft.com/office/drawing/2014/main" id="{085B6363-E419-CC6C-DF41-D2BDF4303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960" y="282972"/>
            <a:ext cx="1284287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n 1" descr="Logotipo&#10;&#10;Descripción generada automáticamente">
            <a:extLst>
              <a:ext uri="{FF2B5EF4-FFF2-40B4-BE49-F238E27FC236}">
                <a16:creationId xmlns:a16="http://schemas.microsoft.com/office/drawing/2014/main" id="{82E184F0-B729-3F43-E1FB-F20E087CF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3" y="282972"/>
            <a:ext cx="2301875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 de texto 2">
            <a:extLst>
              <a:ext uri="{FF2B5EF4-FFF2-40B4-BE49-F238E27FC236}">
                <a16:creationId xmlns:a16="http://schemas.microsoft.com/office/drawing/2014/main" id="{E57851C2-EA2C-3C4E-B719-7A15E222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561" y="990997"/>
            <a:ext cx="561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TECNOLÓGICO NACIONAL DE MÉXICO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INSTITUTO TECNOLÓGICO DE FRONTERA COMALAPA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23079-7E7C-EE04-3C4C-6DC683158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773" y="1228666"/>
            <a:ext cx="5660973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“INGENIERÍA EN SISTEMAS COMPUTACIONALES”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6° </a:t>
            </a:r>
            <a:r>
              <a:rPr kumimoji="0" lang="en-US" altLang="es-MX" sz="1400" b="1" i="0" u="none" strike="noStrike" cap="none" normalizeH="0" baseline="0" dirty="0" err="1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Semestre</a:t>
            </a: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rgbClr val="A6A6A6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solidFill>
                <a:srgbClr val="A6A6A6"/>
              </a:solidFill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LENGUAJES Y AUTOMATAS 1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 b="1"/>
              <a:t>Actividad 1.3</a:t>
            </a:r>
            <a:r>
              <a:rPr lang="es-MX" sz="1400"/>
              <a:t> </a:t>
            </a:r>
            <a:r>
              <a:rPr lang="es-MX" sz="1400" dirty="0"/>
              <a:t>– Banco de ejercicios sobre Teoría de Lenguajes Formales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PRESENTA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DOCENTE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4471C4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06 DE FEBRERO DEL 2026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VENUSTIANO CARRANZA, CHIAPAS.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A6580B2-3D10-4CB9-AF4E-3E8B184DFAA5}"/>
              </a:ext>
            </a:extLst>
          </p:cNvPr>
          <p:cNvSpPr txBox="1"/>
          <p:nvPr/>
        </p:nvSpPr>
        <p:spPr>
          <a:xfrm>
            <a:off x="370892" y="318329"/>
            <a:ext cx="10564586" cy="420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Construir un banco estructurado de ejercicios formales que demuestre dominio en: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Alfabeto (</a:t>
            </a:r>
            <a:r>
              <a:rPr lang="el-GR" dirty="0"/>
              <a:t>Σ)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Cadenas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Clausura de Kleene (</a:t>
            </a:r>
            <a:r>
              <a:rPr lang="el-GR" dirty="0"/>
              <a:t>Σ*)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Longitud de cadenas (|w|)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Lenguajes formales (L ⊆ </a:t>
            </a:r>
            <a:r>
              <a:rPr lang="el-GR" dirty="0"/>
              <a:t>Σ*)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Gramáticas formales G = (N, </a:t>
            </a:r>
            <a:r>
              <a:rPr lang="el-GR" dirty="0"/>
              <a:t>Σ, </a:t>
            </a:r>
            <a:r>
              <a:rPr lang="es-MX" dirty="0">
                <a:latin typeface="Montserrat" panose="00000500000000000000" pitchFamily="2" charset="0"/>
              </a:rPr>
              <a:t>P, 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Derivaciones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Clasificación según la Jerarquía de Chomsky</a:t>
            </a:r>
          </a:p>
        </p:txBody>
      </p:sp>
    </p:spTree>
    <p:extLst>
      <p:ext uri="{BB962C8B-B14F-4D97-AF65-F5344CB8AC3E}">
        <p14:creationId xmlns:p14="http://schemas.microsoft.com/office/powerpoint/2010/main" val="127756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2EDBD7C-077E-298D-3915-FF1308F5F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1" y="238065"/>
            <a:ext cx="275748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600" b="1" dirty="0">
                <a:latin typeface="Montserrat" panose="00000500000000000000" pitchFamily="2" charset="0"/>
              </a:rPr>
              <a:t>SECCIÓN 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– ALFABETO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947B7B-9EA0-2707-1349-0C4FEA455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10" y="1289245"/>
            <a:ext cx="6123370" cy="5330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Montserrat" panose="00000500000000000000" pitchFamily="2" charset="0"/>
              </a:rPr>
              <a:t>Ejercicio A1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1100" b="1" dirty="0">
                <a:latin typeface="Montserrat" panose="00000500000000000000" pitchFamily="2" charset="0"/>
              </a:rPr>
              <a:t>Enunciado:</a:t>
            </a:r>
            <a:br>
              <a:rPr lang="es-MX" altLang="es-MX" sz="2000" dirty="0">
                <a:latin typeface="Montserrat" panose="00000500000000000000" pitchFamily="2" charset="0"/>
              </a:rPr>
            </a:br>
            <a:r>
              <a:rPr lang="es-MX" altLang="es-MX" sz="2000" dirty="0" err="1">
                <a:latin typeface="Montserrat" panose="00000500000000000000" pitchFamily="2" charset="0"/>
              </a:rPr>
              <a:t>Sea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= {a, b}. Determine Σ⁰, Σ¹ y Σ².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Desarrollo: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Σ⁰ = {λ}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Σ¹ = {a, b}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Σ² = {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ab,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bb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Resultado final: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Σ⁰ = {λ}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</a:b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Σ¹ = {a, b}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</a:b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Σ² = {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ab,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bb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B7231A-2DEF-3C37-01EF-7784F2A7C290}"/>
              </a:ext>
            </a:extLst>
          </p:cNvPr>
          <p:cNvSpPr txBox="1"/>
          <p:nvPr/>
        </p:nvSpPr>
        <p:spPr>
          <a:xfrm>
            <a:off x="5770880" y="1582340"/>
            <a:ext cx="98958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A2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Σ = {0,1}. Determine |Σ| y genere Σ³.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|Σ|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Σ³ contiene todas las cadenas binarias de longitud 3</a:t>
            </a:r>
          </a:p>
          <a:p>
            <a:r>
              <a:rPr lang="es-MX" dirty="0">
                <a:latin typeface="Montserrat" panose="00000500000000000000" pitchFamily="2" charset="0"/>
              </a:rPr>
              <a:t>Σ³ = {000,001,010,011,100,101,110,111}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|Σ| = 2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|Σ³| = 2³ = 8</a:t>
            </a:r>
          </a:p>
        </p:txBody>
      </p:sp>
    </p:spTree>
    <p:extLst>
      <p:ext uri="{BB962C8B-B14F-4D97-AF65-F5344CB8AC3E}">
        <p14:creationId xmlns:p14="http://schemas.microsoft.com/office/powerpoint/2010/main" val="239098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3C70327-666D-319A-40CB-A112B592F5EC}"/>
              </a:ext>
            </a:extLst>
          </p:cNvPr>
          <p:cNvSpPr txBox="1"/>
          <p:nvPr/>
        </p:nvSpPr>
        <p:spPr>
          <a:xfrm>
            <a:off x="1442720" y="149893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A3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Σ = {</a:t>
            </a:r>
            <a:r>
              <a:rPr lang="es-MX" dirty="0" err="1">
                <a:latin typeface="Montserrat" panose="00000500000000000000" pitchFamily="2" charset="0"/>
              </a:rPr>
              <a:t>x,y,z</a:t>
            </a:r>
            <a:r>
              <a:rPr lang="es-MX" dirty="0">
                <a:latin typeface="Montserrat" panose="00000500000000000000" pitchFamily="2" charset="0"/>
              </a:rPr>
              <a:t>}. Determine |Σ| y Σ¹.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|Σ| = 3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Σ¹ = {x, y, z}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|Σ| = 3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Σ¹ = {x, y, z}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B30298-6850-9DF0-C56E-3FB490D76362}"/>
              </a:ext>
            </a:extLst>
          </p:cNvPr>
          <p:cNvSpPr txBox="1"/>
          <p:nvPr/>
        </p:nvSpPr>
        <p:spPr>
          <a:xfrm>
            <a:off x="7172960" y="14989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A4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</a:t>
            </a:r>
            <a:r>
              <a:rPr lang="el-GR" dirty="0"/>
              <a:t>Σ = {</a:t>
            </a:r>
            <a:r>
              <a:rPr lang="es-MX" dirty="0">
                <a:latin typeface="Montserrat" panose="00000500000000000000" pitchFamily="2" charset="0"/>
              </a:rPr>
              <a:t>a}. Determine </a:t>
            </a:r>
            <a:r>
              <a:rPr lang="el-GR" dirty="0"/>
              <a:t>Σ*.</a:t>
            </a:r>
            <a:endParaRPr lang="es-MX" dirty="0"/>
          </a:p>
          <a:p>
            <a:endParaRPr lang="el-GR" dirty="0"/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l-GR" dirty="0"/>
              <a:t>Σ* = {λ, </a:t>
            </a:r>
            <a:r>
              <a:rPr lang="es-MX" dirty="0">
                <a:latin typeface="Montserrat" panose="00000500000000000000" pitchFamily="2" charset="0"/>
              </a:rPr>
              <a:t>a, </a:t>
            </a:r>
            <a:r>
              <a:rPr lang="es-MX" dirty="0" err="1">
                <a:latin typeface="Montserrat" panose="00000500000000000000" pitchFamily="2" charset="0"/>
              </a:rPr>
              <a:t>aa</a:t>
            </a:r>
            <a:r>
              <a:rPr lang="es-MX" dirty="0">
                <a:latin typeface="Montserrat" panose="00000500000000000000" pitchFamily="2" charset="0"/>
              </a:rPr>
              <a:t>, </a:t>
            </a:r>
            <a:r>
              <a:rPr lang="es-MX" dirty="0" err="1">
                <a:latin typeface="Montserrat" panose="00000500000000000000" pitchFamily="2" charset="0"/>
              </a:rPr>
              <a:t>aaa</a:t>
            </a:r>
            <a:r>
              <a:rPr lang="es-MX" dirty="0">
                <a:latin typeface="Montserrat" panose="00000500000000000000" pitchFamily="2" charset="0"/>
              </a:rPr>
              <a:t>, </a:t>
            </a:r>
            <a:r>
              <a:rPr lang="es-MX" dirty="0" err="1">
                <a:latin typeface="Montserrat" panose="00000500000000000000" pitchFamily="2" charset="0"/>
              </a:rPr>
              <a:t>aaaa</a:t>
            </a:r>
            <a:r>
              <a:rPr lang="es-MX" dirty="0">
                <a:latin typeface="Montserrat" panose="00000500000000000000" pitchFamily="2" charset="0"/>
              </a:rPr>
              <a:t>, …}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l-GR" dirty="0"/>
              <a:t>Σ* = {</a:t>
            </a:r>
            <a:r>
              <a:rPr lang="es-MX" dirty="0">
                <a:latin typeface="Montserrat" panose="00000500000000000000" pitchFamily="2" charset="0"/>
              </a:rPr>
              <a:t>aⁿ | n ≥ 0}</a:t>
            </a:r>
          </a:p>
        </p:txBody>
      </p:sp>
    </p:spTree>
    <p:extLst>
      <p:ext uri="{BB962C8B-B14F-4D97-AF65-F5344CB8AC3E}">
        <p14:creationId xmlns:p14="http://schemas.microsoft.com/office/powerpoint/2010/main" val="144737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4AD2897-1B7C-EC41-6610-4F000F59C792}"/>
              </a:ext>
            </a:extLst>
          </p:cNvPr>
          <p:cNvSpPr txBox="1"/>
          <p:nvPr/>
        </p:nvSpPr>
        <p:spPr>
          <a:xfrm>
            <a:off x="162560" y="94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SECCIÓN B – CADENAS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0D01D8-E7A8-F5DA-265A-02453EDE51BB}"/>
              </a:ext>
            </a:extLst>
          </p:cNvPr>
          <p:cNvSpPr txBox="1"/>
          <p:nvPr/>
        </p:nvSpPr>
        <p:spPr>
          <a:xfrm>
            <a:off x="985520" y="133637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B1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w = 01011. Determine |w|.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La cadena contiene 5 símbolos.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|w| = 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EC2252-64BE-ED31-1282-89D8F6F5937F}"/>
              </a:ext>
            </a:extLst>
          </p:cNvPr>
          <p:cNvSpPr txBox="1"/>
          <p:nvPr/>
        </p:nvSpPr>
        <p:spPr>
          <a:xfrm>
            <a:off x="6563360" y="133637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B2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Identifique la cadena vacía λ.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λ es la única cadena tal que |λ| = 0.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|λ| = 0</a:t>
            </a:r>
          </a:p>
        </p:txBody>
      </p:sp>
    </p:spTree>
    <p:extLst>
      <p:ext uri="{BB962C8B-B14F-4D97-AF65-F5344CB8AC3E}">
        <p14:creationId xmlns:p14="http://schemas.microsoft.com/office/powerpoint/2010/main" val="3426775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401671A-4D71-AE2C-F3E8-49E8D0C6B8B1}"/>
              </a:ext>
            </a:extLst>
          </p:cNvPr>
          <p:cNvSpPr txBox="1"/>
          <p:nvPr/>
        </p:nvSpPr>
        <p:spPr>
          <a:xfrm>
            <a:off x="640080" y="157005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B3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u = ab y v = </a:t>
            </a:r>
            <a:r>
              <a:rPr lang="es-MX" dirty="0" err="1">
                <a:latin typeface="Montserrat" panose="00000500000000000000" pitchFamily="2" charset="0"/>
              </a:rPr>
              <a:t>ba</a:t>
            </a:r>
            <a:r>
              <a:rPr lang="es-MX" dirty="0">
                <a:latin typeface="Montserrat" panose="00000500000000000000" pitchFamily="2" charset="0"/>
              </a:rPr>
              <a:t>. Determine </a:t>
            </a:r>
            <a:r>
              <a:rPr lang="es-MX" dirty="0" err="1">
                <a:latin typeface="Montserrat" panose="00000500000000000000" pitchFamily="2" charset="0"/>
              </a:rPr>
              <a:t>uv</a:t>
            </a:r>
            <a:r>
              <a:rPr lang="es-MX" dirty="0">
                <a:latin typeface="Montserrat" panose="00000500000000000000" pitchFamily="2" charset="0"/>
              </a:rPr>
              <a:t>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 err="1">
                <a:latin typeface="Montserrat" panose="00000500000000000000" pitchFamily="2" charset="0"/>
              </a:rPr>
              <a:t>uv</a:t>
            </a:r>
            <a:r>
              <a:rPr lang="es-MX" dirty="0">
                <a:latin typeface="Montserrat" panose="00000500000000000000" pitchFamily="2" charset="0"/>
              </a:rPr>
              <a:t> = </a:t>
            </a:r>
            <a:r>
              <a:rPr lang="es-MX" dirty="0" err="1">
                <a:latin typeface="Montserrat" panose="00000500000000000000" pitchFamily="2" charset="0"/>
              </a:rPr>
              <a:t>abba</a:t>
            </a:r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 err="1">
                <a:latin typeface="Montserrat" panose="00000500000000000000" pitchFamily="2" charset="0"/>
              </a:rPr>
              <a:t>uv</a:t>
            </a:r>
            <a:r>
              <a:rPr lang="es-MX" dirty="0">
                <a:latin typeface="Montserrat" panose="00000500000000000000" pitchFamily="2" charset="0"/>
              </a:rPr>
              <a:t> = </a:t>
            </a:r>
            <a:r>
              <a:rPr lang="es-MX" dirty="0" err="1">
                <a:latin typeface="Montserrat" panose="00000500000000000000" pitchFamily="2" charset="0"/>
              </a:rPr>
              <a:t>abba</a:t>
            </a:r>
            <a:endParaRPr lang="es-MX" dirty="0">
              <a:latin typeface="Montserrat" panose="00000500000000000000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6C5A5A-E491-E98D-F07E-EDCE173064D0}"/>
              </a:ext>
            </a:extLst>
          </p:cNvPr>
          <p:cNvSpPr txBox="1"/>
          <p:nvPr/>
        </p:nvSpPr>
        <p:spPr>
          <a:xfrm>
            <a:off x="5740400" y="157005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Ejercicio B4</a:t>
            </a:r>
          </a:p>
          <a:p>
            <a:endParaRPr lang="es-MX" b="1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Determine si w = 101 pertenece a Σ*, donde Σ = {0,1}.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w está formada por símbolos de Σ.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101 ∈ Σ*</a:t>
            </a:r>
          </a:p>
        </p:txBody>
      </p:sp>
    </p:spTree>
    <p:extLst>
      <p:ext uri="{BB962C8B-B14F-4D97-AF65-F5344CB8AC3E}">
        <p14:creationId xmlns:p14="http://schemas.microsoft.com/office/powerpoint/2010/main" val="251658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77BA159-0E10-00F8-DF33-F390F4CC41DF}"/>
              </a:ext>
            </a:extLst>
          </p:cNvPr>
          <p:cNvSpPr txBox="1"/>
          <p:nvPr/>
        </p:nvSpPr>
        <p:spPr>
          <a:xfrm>
            <a:off x="132080" y="135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– LENGUAJES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C03E25-C601-8CFA-E671-1D320BC58C5B}"/>
              </a:ext>
            </a:extLst>
          </p:cNvPr>
          <p:cNvSpPr txBox="1"/>
          <p:nvPr/>
        </p:nvSpPr>
        <p:spPr>
          <a:xfrm>
            <a:off x="792480" y="889338"/>
            <a:ext cx="6096000" cy="4616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C1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Defina L ⊆ Σ*, donde Σ = {</a:t>
            </a:r>
            <a:r>
              <a:rPr lang="es-MX" dirty="0" err="1">
                <a:latin typeface="Montserrat" panose="00000500000000000000" pitchFamily="2" charset="0"/>
              </a:rPr>
              <a:t>a,b</a:t>
            </a:r>
            <a:r>
              <a:rPr lang="es-MX" dirty="0">
                <a:latin typeface="Montserrat" panose="00000500000000000000" pitchFamily="2" charset="0"/>
              </a:rPr>
              <a:t>} tal que L contiene cadenas con número par de a.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 = { w ∈ Σ* | #a(w) es par }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 = { w | número de a es par 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0C9429-E36E-21BC-1B09-E3F5E376DEE9}"/>
              </a:ext>
            </a:extLst>
          </p:cNvPr>
          <p:cNvSpPr txBox="1"/>
          <p:nvPr/>
        </p:nvSpPr>
        <p:spPr>
          <a:xfrm>
            <a:off x="6604000" y="889338"/>
            <a:ext cx="6096000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C2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Determine si aba ∈ L, donde L = {aⁿbⁿ | n ≥ 0}.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aba no cumple la forma aⁿbⁿ.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aba ∉ L</a:t>
            </a:r>
          </a:p>
        </p:txBody>
      </p:sp>
    </p:spTree>
    <p:extLst>
      <p:ext uri="{BB962C8B-B14F-4D97-AF65-F5344CB8AC3E}">
        <p14:creationId xmlns:p14="http://schemas.microsoft.com/office/powerpoint/2010/main" val="341402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5D84265-F787-D6B8-EC7F-E83CEDE6A018}"/>
              </a:ext>
            </a:extLst>
          </p:cNvPr>
          <p:cNvSpPr txBox="1"/>
          <p:nvPr/>
        </p:nvSpPr>
        <p:spPr>
          <a:xfrm>
            <a:off x="1493520" y="405918"/>
            <a:ext cx="8656320" cy="4615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C3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Describa por comprensión: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L = {</a:t>
            </a:r>
            <a:r>
              <a:rPr lang="es-MX" dirty="0" err="1">
                <a:latin typeface="Montserrat" panose="00000500000000000000" pitchFamily="2" charset="0"/>
              </a:rPr>
              <a:t>aa</a:t>
            </a:r>
            <a:r>
              <a:rPr lang="es-MX" dirty="0">
                <a:latin typeface="Montserrat" panose="00000500000000000000" pitchFamily="2" charset="0"/>
              </a:rPr>
              <a:t>, </a:t>
            </a:r>
            <a:r>
              <a:rPr lang="es-MX" dirty="0" err="1">
                <a:latin typeface="Montserrat" panose="00000500000000000000" pitchFamily="2" charset="0"/>
              </a:rPr>
              <a:t>aaaa</a:t>
            </a:r>
            <a:r>
              <a:rPr lang="es-MX" dirty="0">
                <a:latin typeface="Montserrat" panose="00000500000000000000" pitchFamily="2" charset="0"/>
              </a:rPr>
              <a:t>, </a:t>
            </a:r>
            <a:r>
              <a:rPr lang="es-MX" dirty="0" err="1">
                <a:latin typeface="Montserrat" panose="00000500000000000000" pitchFamily="2" charset="0"/>
              </a:rPr>
              <a:t>aaaaaa</a:t>
            </a:r>
            <a:r>
              <a:rPr lang="es-MX" dirty="0">
                <a:latin typeface="Montserrat" panose="00000500000000000000" pitchFamily="2" charset="0"/>
              </a:rPr>
              <a:t>, …}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Patrón: longitud par.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 = { a²ⁿ | n ≥ 1 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FB9799-AD84-78C1-D70B-B03A1DCA022B}"/>
              </a:ext>
            </a:extLst>
          </p:cNvPr>
          <p:cNvSpPr txBox="1"/>
          <p:nvPr/>
        </p:nvSpPr>
        <p:spPr>
          <a:xfrm>
            <a:off x="5720080" y="405918"/>
            <a:ext cx="6908800" cy="420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C4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Sea Σ = {0,1}. Defina L con cadenas que terminan en 1.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 = { w ∈ Σ* | w termina en 1 }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 = (0+1)*1</a:t>
            </a:r>
          </a:p>
        </p:txBody>
      </p:sp>
    </p:spTree>
    <p:extLst>
      <p:ext uri="{BB962C8B-B14F-4D97-AF65-F5344CB8AC3E}">
        <p14:creationId xmlns:p14="http://schemas.microsoft.com/office/powerpoint/2010/main" val="198228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E78C3A-0BC1-F325-8EC2-9247DBF7E321}"/>
              </a:ext>
            </a:extLst>
          </p:cNvPr>
          <p:cNvSpPr txBox="1"/>
          <p:nvPr/>
        </p:nvSpPr>
        <p:spPr>
          <a:xfrm>
            <a:off x="4389120" y="165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SECCIÓN D – GRAMÁTICAS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7EDCCE-E1F4-B5EC-76E6-35AE9706B2C9}"/>
              </a:ext>
            </a:extLst>
          </p:cNvPr>
          <p:cNvSpPr txBox="1"/>
          <p:nvPr/>
        </p:nvSpPr>
        <p:spPr>
          <a:xfrm>
            <a:off x="894080" y="1083439"/>
            <a:ext cx="6096000" cy="503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D1</a:t>
            </a: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Defina G que genere L = {aⁿbⁿ | n ≥ 0}.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G = ( {S}, {</a:t>
            </a:r>
            <a:r>
              <a:rPr lang="es-MX" dirty="0" err="1">
                <a:latin typeface="Montserrat" panose="00000500000000000000" pitchFamily="2" charset="0"/>
              </a:rPr>
              <a:t>a,b</a:t>
            </a:r>
            <a:r>
              <a:rPr lang="es-MX" dirty="0">
                <a:latin typeface="Montserrat" panose="00000500000000000000" pitchFamily="2" charset="0"/>
              </a:rPr>
              <a:t>}, P, S )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P: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 → </a:t>
            </a:r>
            <a:r>
              <a:rPr lang="es-MX" dirty="0" err="1">
                <a:latin typeface="Montserrat" panose="00000500000000000000" pitchFamily="2" charset="0"/>
              </a:rPr>
              <a:t>aSb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S → </a:t>
            </a:r>
            <a:r>
              <a:rPr lang="el-GR" dirty="0"/>
              <a:t>λ</a:t>
            </a:r>
            <a:endParaRPr lang="es-MX" dirty="0"/>
          </a:p>
          <a:p>
            <a:pPr>
              <a:lnSpc>
                <a:spcPct val="150000"/>
              </a:lnSpc>
            </a:pPr>
            <a:endParaRPr lang="el-GR" dirty="0"/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G correctamente definida.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5EACEF-A739-C164-4441-C46E5E543A4F}"/>
              </a:ext>
            </a:extLst>
          </p:cNvPr>
          <p:cNvSpPr txBox="1"/>
          <p:nvPr/>
        </p:nvSpPr>
        <p:spPr>
          <a:xfrm>
            <a:off x="6502400" y="1083439"/>
            <a:ext cx="6096000" cy="5030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D2</a:t>
            </a: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Muestre derivación de </a:t>
            </a:r>
            <a:r>
              <a:rPr lang="es-MX" dirty="0" err="1">
                <a:latin typeface="Montserrat" panose="00000500000000000000" pitchFamily="2" charset="0"/>
              </a:rPr>
              <a:t>aabb</a:t>
            </a:r>
            <a:r>
              <a:rPr lang="es-MX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S ⇒ </a:t>
            </a:r>
            <a:r>
              <a:rPr lang="es-MX" dirty="0" err="1">
                <a:latin typeface="Montserrat" panose="00000500000000000000" pitchFamily="2" charset="0"/>
              </a:rPr>
              <a:t>aSb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⇒ </a:t>
            </a:r>
            <a:r>
              <a:rPr lang="es-MX" dirty="0" err="1">
                <a:latin typeface="Montserrat" panose="00000500000000000000" pitchFamily="2" charset="0"/>
              </a:rPr>
              <a:t>aaSbb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⇒ </a:t>
            </a:r>
            <a:r>
              <a:rPr lang="es-MX" dirty="0" err="1">
                <a:latin typeface="Montserrat" panose="00000500000000000000" pitchFamily="2" charset="0"/>
              </a:rPr>
              <a:t>aa</a:t>
            </a:r>
            <a:r>
              <a:rPr lang="el-GR" dirty="0"/>
              <a:t>λ</a:t>
            </a:r>
            <a:r>
              <a:rPr lang="es-MX" dirty="0" err="1">
                <a:latin typeface="Montserrat" panose="00000500000000000000" pitchFamily="2" charset="0"/>
              </a:rPr>
              <a:t>bb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⇒ </a:t>
            </a:r>
            <a:r>
              <a:rPr lang="es-MX" dirty="0" err="1">
                <a:latin typeface="Montserrat" panose="00000500000000000000" pitchFamily="2" charset="0"/>
              </a:rPr>
              <a:t>aabb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S ⇒* </a:t>
            </a:r>
            <a:r>
              <a:rPr lang="es-MX" dirty="0" err="1">
                <a:latin typeface="Montserrat" panose="00000500000000000000" pitchFamily="2" charset="0"/>
              </a:rPr>
              <a:t>aabb</a:t>
            </a:r>
            <a:endParaRPr lang="es-MX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1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53AE770-EB3A-5CBA-9FD0-60E1D2389352}"/>
              </a:ext>
            </a:extLst>
          </p:cNvPr>
          <p:cNvSpPr txBox="1"/>
          <p:nvPr/>
        </p:nvSpPr>
        <p:spPr>
          <a:xfrm>
            <a:off x="711200" y="1237305"/>
            <a:ext cx="6096000" cy="420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D3</a:t>
            </a: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Enunciado: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Identifique forma </a:t>
            </a:r>
            <a:r>
              <a:rPr lang="es-MX" dirty="0" err="1">
                <a:latin typeface="Montserrat" panose="00000500000000000000" pitchFamily="2" charset="0"/>
              </a:rPr>
              <a:t>sentencial</a:t>
            </a:r>
            <a:r>
              <a:rPr lang="es-MX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Desarrollo: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En derivación: </a:t>
            </a:r>
            <a:r>
              <a:rPr lang="es-MX" dirty="0" err="1">
                <a:latin typeface="Montserrat" panose="00000500000000000000" pitchFamily="2" charset="0"/>
              </a:rPr>
              <a:t>aaSbb</a:t>
            </a:r>
            <a:r>
              <a:rPr lang="es-MX" dirty="0">
                <a:latin typeface="Montserrat" panose="00000500000000000000" pitchFamily="2" charset="0"/>
              </a:rPr>
              <a:t> es forma </a:t>
            </a:r>
            <a:r>
              <a:rPr lang="es-MX" dirty="0" err="1">
                <a:latin typeface="Montserrat" panose="00000500000000000000" pitchFamily="2" charset="0"/>
              </a:rPr>
              <a:t>sentencial</a:t>
            </a:r>
            <a:r>
              <a:rPr lang="es-MX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 final: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Forma </a:t>
            </a:r>
            <a:r>
              <a:rPr lang="es-MX" dirty="0" err="1">
                <a:latin typeface="Montserrat" panose="00000500000000000000" pitchFamily="2" charset="0"/>
              </a:rPr>
              <a:t>sentencial</a:t>
            </a:r>
            <a:r>
              <a:rPr lang="es-MX" dirty="0">
                <a:latin typeface="Montserrat" panose="00000500000000000000" pitchFamily="2" charset="0"/>
              </a:rPr>
              <a:t> contiene terminales y no terminales.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822BBA-F487-C7A1-FFB5-703A332ED44F}"/>
              </a:ext>
            </a:extLst>
          </p:cNvPr>
          <p:cNvSpPr txBox="1"/>
          <p:nvPr/>
        </p:nvSpPr>
        <p:spPr>
          <a:xfrm>
            <a:off x="6807200" y="1194138"/>
            <a:ext cx="6096000" cy="4616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 err="1">
                <a:latin typeface="Montserrat" panose="00000500000000000000" pitchFamily="2" charset="0"/>
              </a:rPr>
              <a:t>Ejercicio</a:t>
            </a:r>
            <a:r>
              <a:rPr lang="pt-BR" b="1" dirty="0">
                <a:latin typeface="Montserrat" panose="00000500000000000000" pitchFamily="2" charset="0"/>
              </a:rPr>
              <a:t> D4</a:t>
            </a:r>
          </a:p>
          <a:p>
            <a:pPr>
              <a:lnSpc>
                <a:spcPct val="150000"/>
              </a:lnSpc>
            </a:pPr>
            <a:r>
              <a:rPr lang="pt-BR" b="1" dirty="0">
                <a:latin typeface="Montserrat" panose="00000500000000000000" pitchFamily="2" charset="0"/>
              </a:rPr>
              <a:t>Enunciado:</a:t>
            </a:r>
            <a:br>
              <a:rPr lang="pt-BR" dirty="0">
                <a:latin typeface="Montserrat" panose="00000500000000000000" pitchFamily="2" charset="0"/>
              </a:rPr>
            </a:br>
            <a:r>
              <a:rPr lang="pt-BR" dirty="0">
                <a:latin typeface="Montserrat" panose="00000500000000000000" pitchFamily="2" charset="0"/>
              </a:rPr>
              <a:t>Defina G = (N, Σ, P, S) para L = {aⁿ | n ≥ 1}.</a:t>
            </a:r>
          </a:p>
          <a:p>
            <a:pPr>
              <a:lnSpc>
                <a:spcPct val="150000"/>
              </a:lnSpc>
            </a:pPr>
            <a:endParaRPr lang="pt-BR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b="1" dirty="0" err="1">
                <a:latin typeface="Montserrat" panose="00000500000000000000" pitchFamily="2" charset="0"/>
              </a:rPr>
              <a:t>Desarrollo</a:t>
            </a:r>
            <a:r>
              <a:rPr lang="pt-BR" b="1" dirty="0">
                <a:latin typeface="Montserrat" panose="00000500000000000000" pitchFamily="2" charset="0"/>
              </a:rPr>
              <a:t>:</a:t>
            </a:r>
            <a:endParaRPr lang="pt-BR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Montserrat" panose="00000500000000000000" pitchFamily="2" charset="0"/>
              </a:rPr>
              <a:t>N = {S}</a:t>
            </a:r>
            <a:br>
              <a:rPr lang="pt-BR" dirty="0">
                <a:latin typeface="Montserrat" panose="00000500000000000000" pitchFamily="2" charset="0"/>
              </a:rPr>
            </a:br>
            <a:r>
              <a:rPr lang="pt-BR" dirty="0">
                <a:latin typeface="Montserrat" panose="00000500000000000000" pitchFamily="2" charset="0"/>
              </a:rPr>
              <a:t>Σ = {a}</a:t>
            </a:r>
            <a:br>
              <a:rPr lang="pt-BR" dirty="0">
                <a:latin typeface="Montserrat" panose="00000500000000000000" pitchFamily="2" charset="0"/>
              </a:rPr>
            </a:br>
            <a:r>
              <a:rPr lang="pt-BR" dirty="0">
                <a:latin typeface="Montserrat" panose="00000500000000000000" pitchFamily="2" charset="0"/>
              </a:rPr>
              <a:t>P: S → </a:t>
            </a:r>
            <a:r>
              <a:rPr lang="pt-BR" dirty="0" err="1">
                <a:latin typeface="Montserrat" panose="00000500000000000000" pitchFamily="2" charset="0"/>
              </a:rPr>
              <a:t>aS</a:t>
            </a:r>
            <a:r>
              <a:rPr lang="pt-BR" dirty="0">
                <a:latin typeface="Montserrat" panose="00000500000000000000" pitchFamily="2" charset="0"/>
              </a:rPr>
              <a:t> | a</a:t>
            </a:r>
          </a:p>
          <a:p>
            <a:pPr>
              <a:lnSpc>
                <a:spcPct val="150000"/>
              </a:lnSpc>
            </a:pPr>
            <a:endParaRPr lang="pt-BR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latin typeface="Montserrat" panose="00000500000000000000" pitchFamily="2" charset="0"/>
              </a:rPr>
              <a:t>Resultado final:</a:t>
            </a:r>
            <a:endParaRPr lang="pt-BR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Montserrat" panose="00000500000000000000" pitchFamily="2" charset="0"/>
              </a:rPr>
              <a:t>Gramática libre de contexto válida.</a:t>
            </a:r>
          </a:p>
        </p:txBody>
      </p:sp>
    </p:spTree>
    <p:extLst>
      <p:ext uri="{BB962C8B-B14F-4D97-AF65-F5344CB8AC3E}">
        <p14:creationId xmlns:p14="http://schemas.microsoft.com/office/powerpoint/2010/main" val="1826057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250D031-F0EF-540B-1DBA-A9401B887A56}"/>
              </a:ext>
            </a:extLst>
          </p:cNvPr>
          <p:cNvSpPr txBox="1"/>
          <p:nvPr/>
        </p:nvSpPr>
        <p:spPr>
          <a:xfrm>
            <a:off x="3484880" y="257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SECCIÓN E – JERARQUÍA DE CHOMSKY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F0FC62-544F-E156-8711-41D0CE4D725A}"/>
              </a:ext>
            </a:extLst>
          </p:cNvPr>
          <p:cNvSpPr txBox="1"/>
          <p:nvPr/>
        </p:nvSpPr>
        <p:spPr>
          <a:xfrm>
            <a:off x="2326640" y="1556156"/>
            <a:ext cx="6096000" cy="295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E1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Clasifique: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S → </a:t>
            </a:r>
            <a:r>
              <a:rPr lang="es-MX" dirty="0" err="1">
                <a:latin typeface="Montserrat" panose="00000500000000000000" pitchFamily="2" charset="0"/>
              </a:rPr>
              <a:t>aS</a:t>
            </a:r>
            <a:r>
              <a:rPr lang="es-MX" dirty="0">
                <a:latin typeface="Montserrat" panose="00000500000000000000" pitchFamily="2" charset="0"/>
              </a:rPr>
              <a:t> | </a:t>
            </a:r>
            <a:r>
              <a:rPr lang="es-MX" dirty="0" err="1">
                <a:latin typeface="Montserrat" panose="00000500000000000000" pitchFamily="2" charset="0"/>
              </a:rPr>
              <a:t>bS</a:t>
            </a:r>
            <a:r>
              <a:rPr lang="es-MX" dirty="0">
                <a:latin typeface="Montserrat" panose="00000500000000000000" pitchFamily="2" charset="0"/>
              </a:rPr>
              <a:t> | </a:t>
            </a:r>
            <a:r>
              <a:rPr lang="el-GR" dirty="0"/>
              <a:t>λ</a:t>
            </a:r>
            <a:endParaRPr lang="es-MX" dirty="0"/>
          </a:p>
          <a:p>
            <a:pPr>
              <a:lnSpc>
                <a:spcPct val="150000"/>
              </a:lnSpc>
            </a:pPr>
            <a:endParaRPr lang="el-GR" dirty="0"/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Tipo 3 — Regular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Reconocedor: Autómata Finito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CE9ED4-C113-52A6-FC3A-3C0A75F2DDE1}"/>
              </a:ext>
            </a:extLst>
          </p:cNvPr>
          <p:cNvSpPr txBox="1"/>
          <p:nvPr/>
        </p:nvSpPr>
        <p:spPr>
          <a:xfrm>
            <a:off x="6705600" y="1591186"/>
            <a:ext cx="6096000" cy="253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E2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S → </a:t>
            </a:r>
            <a:r>
              <a:rPr lang="es-MX" dirty="0" err="1">
                <a:latin typeface="Montserrat" panose="00000500000000000000" pitchFamily="2" charset="0"/>
              </a:rPr>
              <a:t>aSb</a:t>
            </a:r>
            <a:r>
              <a:rPr lang="es-MX" dirty="0">
                <a:latin typeface="Montserrat" panose="00000500000000000000" pitchFamily="2" charset="0"/>
              </a:rPr>
              <a:t> | </a:t>
            </a:r>
            <a:r>
              <a:rPr lang="el-GR" dirty="0"/>
              <a:t>λ</a:t>
            </a:r>
            <a:endParaRPr lang="es-MX" dirty="0"/>
          </a:p>
          <a:p>
            <a:pPr>
              <a:lnSpc>
                <a:spcPct val="150000"/>
              </a:lnSpc>
            </a:pPr>
            <a:endParaRPr lang="el-GR" dirty="0"/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Tipo 2 — Libre de contexto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Reconocedor: Autómata a Pila</a:t>
            </a:r>
          </a:p>
        </p:txBody>
      </p:sp>
    </p:spTree>
    <p:extLst>
      <p:ext uri="{BB962C8B-B14F-4D97-AF65-F5344CB8AC3E}">
        <p14:creationId xmlns:p14="http://schemas.microsoft.com/office/powerpoint/2010/main" val="1813476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E6226E-7CE9-7ACC-9EF7-BFED038E3FA6}"/>
              </a:ext>
            </a:extLst>
          </p:cNvPr>
          <p:cNvSpPr txBox="1"/>
          <p:nvPr/>
        </p:nvSpPr>
        <p:spPr>
          <a:xfrm>
            <a:off x="355600" y="1253118"/>
            <a:ext cx="6096000" cy="253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E3</a:t>
            </a:r>
          </a:p>
          <a:p>
            <a:pPr>
              <a:lnSpc>
                <a:spcPct val="150000"/>
              </a:lnSpc>
            </a:pPr>
            <a:r>
              <a:rPr lang="el-GR" dirty="0"/>
              <a:t>α</a:t>
            </a:r>
            <a:r>
              <a:rPr lang="es-MX" dirty="0">
                <a:latin typeface="Montserrat" panose="00000500000000000000" pitchFamily="2" charset="0"/>
              </a:rPr>
              <a:t>A</a:t>
            </a:r>
            <a:r>
              <a:rPr lang="el-GR" dirty="0"/>
              <a:t>β → αγβ</a:t>
            </a:r>
            <a:endParaRPr lang="es-MX" dirty="0"/>
          </a:p>
          <a:p>
            <a:pPr>
              <a:lnSpc>
                <a:spcPct val="150000"/>
              </a:lnSpc>
            </a:pPr>
            <a:endParaRPr lang="el-GR" dirty="0"/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Tipo 1 — Sensible al contexto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Reconocedor: Máquina Linealmente Acotada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4B7F1F-BDCE-B7CD-2D88-10D0BC5C46A4}"/>
              </a:ext>
            </a:extLst>
          </p:cNvPr>
          <p:cNvSpPr txBox="1"/>
          <p:nvPr/>
        </p:nvSpPr>
        <p:spPr>
          <a:xfrm>
            <a:off x="6096000" y="1253119"/>
            <a:ext cx="6096000" cy="253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Ejercicio E4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Lenguaje reconocido por Máquina de Turing.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Resultado:</a:t>
            </a: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Tipo 0 — Irrestricto</a:t>
            </a:r>
            <a:br>
              <a:rPr lang="es-MX" dirty="0">
                <a:latin typeface="Montserrat" panose="00000500000000000000" pitchFamily="2" charset="0"/>
              </a:rPr>
            </a:br>
            <a:r>
              <a:rPr lang="es-MX" dirty="0">
                <a:latin typeface="Montserrat" panose="00000500000000000000" pitchFamily="2" charset="0"/>
              </a:rPr>
              <a:t>Reconocedor: Máquina de Turing</a:t>
            </a:r>
          </a:p>
        </p:txBody>
      </p:sp>
    </p:spTree>
    <p:extLst>
      <p:ext uri="{BB962C8B-B14F-4D97-AF65-F5344CB8AC3E}">
        <p14:creationId xmlns:p14="http://schemas.microsoft.com/office/powerpoint/2010/main" val="53433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461D97-B897-47E9-CCCC-587D4864A680}"/>
              </a:ext>
            </a:extLst>
          </p:cNvPr>
          <p:cNvSpPr txBox="1"/>
          <p:nvPr/>
        </p:nvSpPr>
        <p:spPr>
          <a:xfrm>
            <a:off x="294640" y="196334"/>
            <a:ext cx="100990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Fuente de información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dirty="0" err="1">
                <a:latin typeface="Montserrat" panose="00000500000000000000" pitchFamily="2" charset="0"/>
              </a:rPr>
              <a:t>Hopcroft</a:t>
            </a:r>
            <a:r>
              <a:rPr lang="es-MX" dirty="0">
                <a:latin typeface="Montserrat" panose="00000500000000000000" pitchFamily="2" charset="0"/>
              </a:rPr>
              <a:t>, J. E., </a:t>
            </a:r>
            <a:r>
              <a:rPr lang="es-MX" dirty="0" err="1">
                <a:latin typeface="Montserrat" panose="00000500000000000000" pitchFamily="2" charset="0"/>
              </a:rPr>
              <a:t>Motwani</a:t>
            </a:r>
            <a:r>
              <a:rPr lang="es-MX" dirty="0">
                <a:latin typeface="Montserrat" panose="00000500000000000000" pitchFamily="2" charset="0"/>
              </a:rPr>
              <a:t>, R., &amp; Ullman, J. D. (2007).Introducción a la teoría de autómatas, lenguajes y computación (3ª ed.). Pearson Educación. </a:t>
            </a:r>
          </a:p>
          <a:p>
            <a:r>
              <a:rPr lang="es-MX" dirty="0">
                <a:latin typeface="Montserrat" panose="00000500000000000000" pitchFamily="2" charset="0"/>
                <a:hlinkClick r:id="rId2"/>
              </a:rPr>
              <a:t>https://drive.google.com/file/d/1G9rRwzd27zde_KjzGs_iC_FZQrSq-txZ/view?usp=drive_link</a:t>
            </a:r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n-US" dirty="0" err="1">
                <a:latin typeface="Montserrat" panose="00000500000000000000" pitchFamily="2" charset="0"/>
              </a:rPr>
              <a:t>Aho</a:t>
            </a:r>
            <a:r>
              <a:rPr lang="en-US" dirty="0">
                <a:latin typeface="Montserrat" panose="00000500000000000000" pitchFamily="2" charset="0"/>
              </a:rPr>
              <a:t>, A. V., Sethi, R., &amp; Ullman, J. D. (1986).Principles of Compiler Design. </a:t>
            </a:r>
          </a:p>
          <a:p>
            <a:r>
              <a:rPr lang="en-US" dirty="0">
                <a:latin typeface="Montserrat" panose="00000500000000000000" pitchFamily="2" charset="0"/>
              </a:rPr>
              <a:t>Addison-Wesley.</a:t>
            </a:r>
          </a:p>
          <a:p>
            <a:r>
              <a:rPr lang="en-US" dirty="0">
                <a:latin typeface="Montserrat" panose="00000500000000000000" pitchFamily="2" charset="0"/>
                <a:hlinkClick r:id="rId3"/>
              </a:rPr>
              <a:t>https://drive.google.com/file/d/15CE3rqPHlgk_3RwvaWDvMyYK5MZOHdBG/view?usp=drive_link</a:t>
            </a:r>
            <a:endParaRPr lang="en-US" dirty="0">
              <a:latin typeface="Montserrat" panose="00000500000000000000" pitchFamily="2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03756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1046</Words>
  <Application>Microsoft Office PowerPoint</Application>
  <PresentationFormat>Panorámica</PresentationFormat>
  <Paragraphs>232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Amaury</dc:creator>
  <cp:lastModifiedBy>Amaury</cp:lastModifiedBy>
  <cp:revision>5</cp:revision>
  <dcterms:created xsi:type="dcterms:W3CDTF">2026-02-14T08:03:49Z</dcterms:created>
  <dcterms:modified xsi:type="dcterms:W3CDTF">2026-02-14T21:45:59Z</dcterms:modified>
</cp:coreProperties>
</file>