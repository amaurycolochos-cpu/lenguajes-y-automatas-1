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7" r:id="rId3"/>
    <p:sldId id="258" r:id="rId4"/>
    <p:sldId id="259" r:id="rId5"/>
    <p:sldId id="267" r:id="rId6"/>
    <p:sldId id="268" r:id="rId7"/>
    <p:sldId id="269" r:id="rId8"/>
    <p:sldId id="270" r:id="rId9"/>
    <p:sldId id="271" r:id="rId10"/>
    <p:sldId id="272" r:id="rId11"/>
    <p:sldId id="273" r:id="rId12"/>
    <p:sldId id="266" r:id="rId13"/>
    <p:sldId id="265" r:id="rId14"/>
  </p:sldIdLst>
  <p:sldSz cx="18288000" cy="10287000"/>
  <p:notesSz cx="6858000" cy="9144000"/>
  <p:embeddedFontLst>
    <p:embeddedFont>
      <p:font typeface="Arimo" panose="020B0604020202020204" charset="0"/>
      <p:regular r:id="rId16"/>
    </p:embeddedFont>
    <p:embeddedFont>
      <p:font typeface="Arimo Bold" panose="020B0604020202020204" charset="0"/>
      <p:regular r:id="rId17"/>
    </p:embeddedFont>
    <p:embeddedFont>
      <p:font typeface="Montserrat" panose="00000500000000000000" pitchFamily="2" charset="0"/>
      <p:regular r:id="rId18"/>
      <p:bold r:id="rId19"/>
      <p:italic r:id="rId20"/>
      <p:boldItalic r:id="rId21"/>
    </p:embeddedFont>
    <p:embeddedFont>
      <p:font typeface="Montserrat Bold" panose="00000800000000000000" pitchFamily="2" charset="0"/>
      <p:regular r:id="rId22"/>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23.03.2026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‹Nº›</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9577136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473051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61035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36923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8076375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615337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4694570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9457737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maurycolochos-cpu/LENGUAJES-Y-AUTOMATAS-1/tree/main/UNIDAD%205/Reporte%20Act%205.2"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8763" y="241581"/>
            <a:ext cx="2193321" cy="1574239"/>
          </a:xfrm>
          <a:custGeom>
            <a:avLst/>
            <a:gdLst/>
            <a:ahLst/>
            <a:cxnLst/>
            <a:rect l="l" t="t" r="r" b="b"/>
            <a:pathLst>
              <a:path w="2193321" h="1574239">
                <a:moveTo>
                  <a:pt x="0" y="0"/>
                </a:moveTo>
                <a:lnTo>
                  <a:pt x="2193321" y="0"/>
                </a:lnTo>
                <a:lnTo>
                  <a:pt x="2193321" y="1574238"/>
                </a:lnTo>
                <a:lnTo>
                  <a:pt x="0" y="1574238"/>
                </a:lnTo>
                <a:lnTo>
                  <a:pt x="0" y="0"/>
                </a:lnTo>
                <a:close/>
              </a:path>
            </a:pathLst>
          </a:custGeom>
          <a:blipFill>
            <a:blip r:embed="rId3"/>
            <a:stretch>
              <a:fillRect/>
            </a:stretch>
          </a:blipFill>
        </p:spPr>
      </p:sp>
      <p:sp>
        <p:nvSpPr>
          <p:cNvPr id="3" name="Freeform 3"/>
          <p:cNvSpPr/>
          <p:nvPr/>
        </p:nvSpPr>
        <p:spPr>
          <a:xfrm>
            <a:off x="14576879" y="177283"/>
            <a:ext cx="3503050" cy="1538377"/>
          </a:xfrm>
          <a:custGeom>
            <a:avLst/>
            <a:gdLst/>
            <a:ahLst/>
            <a:cxnLst/>
            <a:rect l="l" t="t" r="r" b="b"/>
            <a:pathLst>
              <a:path w="3503050" h="1538377">
                <a:moveTo>
                  <a:pt x="0" y="0"/>
                </a:moveTo>
                <a:lnTo>
                  <a:pt x="3503050" y="0"/>
                </a:lnTo>
                <a:lnTo>
                  <a:pt x="3503050" y="1538377"/>
                </a:lnTo>
                <a:lnTo>
                  <a:pt x="0" y="1538377"/>
                </a:lnTo>
                <a:lnTo>
                  <a:pt x="0" y="0"/>
                </a:lnTo>
                <a:close/>
              </a:path>
            </a:pathLst>
          </a:custGeom>
          <a:blipFill>
            <a:blip r:embed="rId4"/>
            <a:stretch>
              <a:fillRect/>
            </a:stretch>
          </a:blipFill>
        </p:spPr>
      </p:sp>
      <p:sp>
        <p:nvSpPr>
          <p:cNvPr id="5" name="TextBox 5"/>
          <p:cNvSpPr txBox="1"/>
          <p:nvPr/>
        </p:nvSpPr>
        <p:spPr>
          <a:xfrm>
            <a:off x="5036284" y="917896"/>
            <a:ext cx="8215432" cy="849314"/>
          </a:xfrm>
          <a:prstGeom prst="rect">
            <a:avLst/>
          </a:prstGeom>
        </p:spPr>
        <p:txBody>
          <a:bodyPr lIns="0" tIns="0" rIns="0" bIns="0" rtlCol="0" anchor="t">
            <a:spAutoFit/>
          </a:bodyPr>
          <a:lstStyle/>
          <a:p>
            <a:pPr algn="ctr">
              <a:lnSpc>
                <a:spcPts val="3437"/>
              </a:lnSpc>
              <a:spcBef>
                <a:spcPct val="0"/>
              </a:spcBef>
            </a:pPr>
            <a:r>
              <a:rPr lang="en-US" sz="2625" b="1">
                <a:solidFill>
                  <a:srgbClr val="000000"/>
                </a:solidFill>
                <a:latin typeface="Montserrat Bold"/>
                <a:ea typeface="Montserrat Bold"/>
                <a:cs typeface="Montserrat Bold"/>
                <a:sym typeface="Montserrat Bold"/>
              </a:rPr>
              <a:t>TECNOLÓGICO NACIONAL DE MÉXICO</a:t>
            </a:r>
          </a:p>
          <a:p>
            <a:pPr algn="ctr">
              <a:lnSpc>
                <a:spcPts val="3437"/>
              </a:lnSpc>
              <a:spcBef>
                <a:spcPct val="0"/>
              </a:spcBef>
            </a:pPr>
            <a:r>
              <a:rPr lang="en-US" sz="2625" b="1">
                <a:solidFill>
                  <a:srgbClr val="000000"/>
                </a:solidFill>
                <a:latin typeface="Montserrat Bold"/>
                <a:ea typeface="Montserrat Bold"/>
                <a:cs typeface="Montserrat Bold"/>
                <a:sym typeface="Montserrat Bold"/>
              </a:rPr>
              <a:t>UNIDAD ACADÉMICA VENUSTIANO CARRANZA</a:t>
            </a:r>
          </a:p>
        </p:txBody>
      </p:sp>
      <p:sp>
        <p:nvSpPr>
          <p:cNvPr id="6" name="TextBox 6"/>
          <p:cNvSpPr txBox="1"/>
          <p:nvPr/>
        </p:nvSpPr>
        <p:spPr>
          <a:xfrm>
            <a:off x="1143000" y="2180208"/>
            <a:ext cx="14249400" cy="849400"/>
          </a:xfrm>
          <a:prstGeom prst="rect">
            <a:avLst/>
          </a:prstGeom>
        </p:spPr>
        <p:txBody>
          <a:bodyPr wrap="square" lIns="0" tIns="0" rIns="0" bIns="0" rtlCol="0" anchor="t">
            <a:spAutoFit/>
          </a:bodyPr>
          <a:lstStyle/>
          <a:p>
            <a:pPr algn="ctr">
              <a:lnSpc>
                <a:spcPts val="3436"/>
              </a:lnSpc>
              <a:spcBef>
                <a:spcPct val="0"/>
              </a:spcBef>
            </a:pPr>
            <a:r>
              <a:rPr lang="en-US" sz="2625" b="1" dirty="0">
                <a:solidFill>
                  <a:srgbClr val="000000"/>
                </a:solidFill>
                <a:latin typeface="Montserrat Bold"/>
                <a:ea typeface="Montserrat Bold"/>
                <a:cs typeface="Montserrat Bold"/>
                <a:sym typeface="Montserrat Bold"/>
              </a:rPr>
              <a:t>“INGENIERÍA EN SISTEMAS COMPUTACIONALES”</a:t>
            </a:r>
          </a:p>
          <a:p>
            <a:pPr algn="ctr">
              <a:lnSpc>
                <a:spcPts val="3437"/>
              </a:lnSpc>
              <a:spcBef>
                <a:spcPct val="0"/>
              </a:spcBef>
            </a:pPr>
            <a:r>
              <a:rPr lang="en-US" sz="2625" b="1" dirty="0">
                <a:solidFill>
                  <a:srgbClr val="000000"/>
                </a:solidFill>
                <a:latin typeface="Montserrat Bold"/>
                <a:ea typeface="Montserrat Bold"/>
                <a:cs typeface="Montserrat Bold"/>
                <a:sym typeface="Montserrat Bold"/>
              </a:rPr>
              <a:t>LENGUAJES Y AUTOMATAS 1</a:t>
            </a:r>
          </a:p>
        </p:txBody>
      </p:sp>
      <p:sp>
        <p:nvSpPr>
          <p:cNvPr id="7" name="TextBox 7"/>
          <p:cNvSpPr txBox="1"/>
          <p:nvPr/>
        </p:nvSpPr>
        <p:spPr>
          <a:xfrm>
            <a:off x="3429000" y="3439183"/>
            <a:ext cx="11147879" cy="849314"/>
          </a:xfrm>
          <a:prstGeom prst="rect">
            <a:avLst/>
          </a:prstGeom>
        </p:spPr>
        <p:txBody>
          <a:bodyPr wrap="square" lIns="0" tIns="0" rIns="0" bIns="0" rtlCol="0" anchor="t">
            <a:spAutoFit/>
          </a:bodyPr>
          <a:lstStyle/>
          <a:p>
            <a:pPr algn="ctr">
              <a:lnSpc>
                <a:spcPts val="3437"/>
              </a:lnSpc>
              <a:spcBef>
                <a:spcPct val="0"/>
              </a:spcBef>
            </a:pPr>
            <a:r>
              <a:rPr lang="en-US" sz="2625" b="1" dirty="0">
                <a:solidFill>
                  <a:srgbClr val="000000"/>
                </a:solidFill>
                <a:latin typeface="Montserrat Bold"/>
                <a:ea typeface="Montserrat Bold"/>
                <a:cs typeface="Montserrat Bold"/>
                <a:sym typeface="Montserrat Bold"/>
              </a:rPr>
              <a:t>ACTIVIDAD </a:t>
            </a:r>
          </a:p>
          <a:p>
            <a:pPr algn="ctr">
              <a:lnSpc>
                <a:spcPts val="3437"/>
              </a:lnSpc>
              <a:spcBef>
                <a:spcPct val="0"/>
              </a:spcBef>
            </a:pPr>
            <a:r>
              <a:rPr lang="en-US" sz="2625" b="1" dirty="0">
                <a:solidFill>
                  <a:srgbClr val="000000"/>
                </a:solidFill>
                <a:latin typeface="Montserrat Bold"/>
                <a:ea typeface="Montserrat Bold"/>
                <a:cs typeface="Montserrat Bold"/>
                <a:sym typeface="Montserrat Bold"/>
              </a:rPr>
              <a:t>ACTIVIDAD 5.2 </a:t>
            </a:r>
            <a:r>
              <a:rPr lang="en-US" sz="2625" b="1" dirty="0" err="1">
                <a:solidFill>
                  <a:srgbClr val="000000"/>
                </a:solidFill>
                <a:latin typeface="Montserrat Bold"/>
                <a:ea typeface="Montserrat Bold"/>
                <a:cs typeface="Montserrat Bold"/>
                <a:sym typeface="Montserrat Bold"/>
              </a:rPr>
              <a:t>Reporte</a:t>
            </a:r>
            <a:r>
              <a:rPr lang="en-US" sz="2625" b="1" dirty="0">
                <a:solidFill>
                  <a:srgbClr val="000000"/>
                </a:solidFill>
                <a:latin typeface="Montserrat Bold"/>
                <a:ea typeface="Montserrat Bold"/>
                <a:cs typeface="Montserrat Bold"/>
                <a:sym typeface="Montserrat Bold"/>
              </a:rPr>
              <a:t> De </a:t>
            </a:r>
            <a:r>
              <a:rPr lang="en-US" sz="2625" b="1" dirty="0" err="1">
                <a:solidFill>
                  <a:srgbClr val="000000"/>
                </a:solidFill>
                <a:latin typeface="Montserrat Bold"/>
                <a:ea typeface="Montserrat Bold"/>
                <a:cs typeface="Montserrat Bold"/>
                <a:sym typeface="Montserrat Bold"/>
              </a:rPr>
              <a:t>Practica</a:t>
            </a:r>
            <a:endParaRPr lang="en-US" sz="2625" b="1" dirty="0">
              <a:solidFill>
                <a:srgbClr val="000000"/>
              </a:solidFill>
              <a:latin typeface="Montserrat Bold"/>
              <a:ea typeface="Montserrat Bold"/>
              <a:cs typeface="Montserrat Bold"/>
              <a:sym typeface="Montserrat Bold"/>
            </a:endParaRPr>
          </a:p>
        </p:txBody>
      </p:sp>
      <p:sp>
        <p:nvSpPr>
          <p:cNvPr id="8" name="TextBox 8"/>
          <p:cNvSpPr txBox="1"/>
          <p:nvPr/>
        </p:nvSpPr>
        <p:spPr>
          <a:xfrm>
            <a:off x="7162800" y="4698072"/>
            <a:ext cx="3657600" cy="410177"/>
          </a:xfrm>
          <a:prstGeom prst="rect">
            <a:avLst/>
          </a:prstGeom>
        </p:spPr>
        <p:txBody>
          <a:bodyPr wrap="square" lIns="0" tIns="0" rIns="0" bIns="0" rtlCol="0" anchor="t">
            <a:spAutoFit/>
          </a:bodyPr>
          <a:lstStyle/>
          <a:p>
            <a:pPr algn="ctr">
              <a:lnSpc>
                <a:spcPts val="3437"/>
              </a:lnSpc>
              <a:spcBef>
                <a:spcPct val="0"/>
              </a:spcBef>
            </a:pPr>
            <a:r>
              <a:rPr lang="en-US" sz="2625" b="1" dirty="0">
                <a:solidFill>
                  <a:srgbClr val="000000"/>
                </a:solidFill>
                <a:latin typeface="Montserrat Bold"/>
                <a:ea typeface="Montserrat Bold"/>
                <a:cs typeface="Montserrat Bold"/>
                <a:sym typeface="Montserrat Bold"/>
              </a:rPr>
              <a:t>RPESENTA</a:t>
            </a:r>
          </a:p>
        </p:txBody>
      </p:sp>
      <p:sp>
        <p:nvSpPr>
          <p:cNvPr id="9" name="TextBox 9"/>
          <p:cNvSpPr txBox="1"/>
          <p:nvPr/>
        </p:nvSpPr>
        <p:spPr>
          <a:xfrm>
            <a:off x="4800601" y="7223786"/>
            <a:ext cx="9144000" cy="849314"/>
          </a:xfrm>
          <a:prstGeom prst="rect">
            <a:avLst/>
          </a:prstGeom>
        </p:spPr>
        <p:txBody>
          <a:bodyPr wrap="square" lIns="0" tIns="0" rIns="0" bIns="0" rtlCol="0" anchor="t">
            <a:spAutoFit/>
          </a:bodyPr>
          <a:lstStyle/>
          <a:p>
            <a:pPr algn="ctr">
              <a:lnSpc>
                <a:spcPts val="3437"/>
              </a:lnSpc>
              <a:spcBef>
                <a:spcPct val="0"/>
              </a:spcBef>
            </a:pPr>
            <a:r>
              <a:rPr lang="en-US" sz="2625" b="1" dirty="0">
                <a:solidFill>
                  <a:srgbClr val="000000"/>
                </a:solidFill>
                <a:latin typeface="Montserrat Bold"/>
                <a:ea typeface="Montserrat Bold"/>
                <a:cs typeface="Montserrat Bold"/>
                <a:sym typeface="Montserrat Bold"/>
              </a:rPr>
              <a:t>DOCENTE</a:t>
            </a:r>
          </a:p>
          <a:p>
            <a:pPr algn="ctr">
              <a:lnSpc>
                <a:spcPts val="3437"/>
              </a:lnSpc>
              <a:spcBef>
                <a:spcPct val="0"/>
              </a:spcBef>
            </a:pPr>
            <a:r>
              <a:rPr lang="en-US" sz="2625" b="1" dirty="0">
                <a:solidFill>
                  <a:srgbClr val="000000"/>
                </a:solidFill>
                <a:latin typeface="Montserrat Bold"/>
                <a:ea typeface="Montserrat Bold"/>
                <a:cs typeface="Montserrat Bold"/>
                <a:sym typeface="Montserrat Bold"/>
              </a:rPr>
              <a:t>ING. FRANCISCO JAVIER MINGO VELAZQUEZ</a:t>
            </a:r>
          </a:p>
        </p:txBody>
      </p:sp>
      <p:sp>
        <p:nvSpPr>
          <p:cNvPr id="10" name="TextBox 10"/>
          <p:cNvSpPr txBox="1"/>
          <p:nvPr/>
        </p:nvSpPr>
        <p:spPr>
          <a:xfrm>
            <a:off x="3657600" y="9134836"/>
            <a:ext cx="12512454" cy="410177"/>
          </a:xfrm>
          <a:prstGeom prst="rect">
            <a:avLst/>
          </a:prstGeom>
        </p:spPr>
        <p:txBody>
          <a:bodyPr wrap="square" lIns="0" tIns="0" rIns="0" bIns="0" rtlCol="0" anchor="t">
            <a:spAutoFit/>
          </a:bodyPr>
          <a:lstStyle/>
          <a:p>
            <a:pPr algn="ctr">
              <a:lnSpc>
                <a:spcPts val="3437"/>
              </a:lnSpc>
              <a:spcBef>
                <a:spcPct val="0"/>
              </a:spcBef>
            </a:pPr>
            <a:r>
              <a:rPr lang="en-US" sz="2625" b="1" dirty="0">
                <a:solidFill>
                  <a:srgbClr val="000000"/>
                </a:solidFill>
                <a:latin typeface="Montserrat Bold"/>
                <a:ea typeface="Montserrat Bold"/>
                <a:cs typeface="Montserrat Bold"/>
                <a:sym typeface="Montserrat Bold"/>
              </a:rPr>
              <a:t>13 DE MARZO DE 2026 VENUSTIANO CARRANZA, CHIAPAS</a:t>
            </a:r>
          </a:p>
        </p:txBody>
      </p:sp>
      <p:graphicFrame>
        <p:nvGraphicFramePr>
          <p:cNvPr id="11" name="Tabla 10">
            <a:extLst>
              <a:ext uri="{FF2B5EF4-FFF2-40B4-BE49-F238E27FC236}">
                <a16:creationId xmlns:a16="http://schemas.microsoft.com/office/drawing/2014/main" id="{323F15EB-498F-21AC-540F-B4832C9E5A89}"/>
              </a:ext>
            </a:extLst>
          </p:cNvPr>
          <p:cNvGraphicFramePr>
            <a:graphicFrameLocks noGrp="1"/>
          </p:cNvGraphicFramePr>
          <p:nvPr>
            <p:extLst>
              <p:ext uri="{D42A27DB-BD31-4B8C-83A1-F6EECF244321}">
                <p14:modId xmlns:p14="http://schemas.microsoft.com/office/powerpoint/2010/main" val="342745090"/>
              </p:ext>
            </p:extLst>
          </p:nvPr>
        </p:nvGraphicFramePr>
        <p:xfrm>
          <a:off x="5486400" y="5705826"/>
          <a:ext cx="8229600" cy="1005840"/>
        </p:xfrm>
        <a:graphic>
          <a:graphicData uri="http://schemas.openxmlformats.org/drawingml/2006/table">
            <a:tbl>
              <a:tblPr/>
              <a:tblGrid>
                <a:gridCol w="4114800">
                  <a:extLst>
                    <a:ext uri="{9D8B030D-6E8A-4147-A177-3AD203B41FA5}">
                      <a16:colId xmlns:a16="http://schemas.microsoft.com/office/drawing/2014/main" val="3099188907"/>
                    </a:ext>
                  </a:extLst>
                </a:gridCol>
                <a:gridCol w="4114800">
                  <a:extLst>
                    <a:ext uri="{9D8B030D-6E8A-4147-A177-3AD203B41FA5}">
                      <a16:colId xmlns:a16="http://schemas.microsoft.com/office/drawing/2014/main" val="3475046580"/>
                    </a:ext>
                  </a:extLst>
                </a:gridCol>
              </a:tblGrid>
              <a:tr h="502920">
                <a:tc>
                  <a:txBody>
                    <a:bodyPr/>
                    <a:lstStyle/>
                    <a:p>
                      <a:r>
                        <a:rPr lang="es-MX" b="1">
                          <a:effectLst/>
                        </a:rPr>
                        <a:t>NOMBRE DEL ALUMNO</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s-MX" b="1">
                          <a:effectLst/>
                        </a:rPr>
                        <a:t>MATRICULA</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79815266"/>
                  </a:ext>
                </a:extLst>
              </a:tr>
              <a:tr h="502920">
                <a:tc>
                  <a:txBody>
                    <a:bodyPr/>
                    <a:lstStyle/>
                    <a:p>
                      <a:r>
                        <a:rPr lang="es-MX" b="1">
                          <a:effectLst/>
                        </a:rPr>
                        <a:t>Amaury Jahaziel Gordillo Hernandez</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tc>
                  <a:txBody>
                    <a:bodyPr/>
                    <a:lstStyle/>
                    <a:p>
                      <a:r>
                        <a:rPr lang="es-MX" b="1" dirty="0">
                          <a:effectLst/>
                        </a:rPr>
                        <a:t>231260074</a:t>
                      </a:r>
                    </a:p>
                  </a:txBody>
                  <a:tcPr anchor="ctr">
                    <a:lnL w="10135" cap="flat" cmpd="sng" algn="ctr">
                      <a:solidFill>
                        <a:srgbClr val="000000"/>
                      </a:solidFill>
                      <a:prstDash val="solid"/>
                      <a:round/>
                      <a:headEnd type="none" w="med" len="med"/>
                      <a:tailEnd type="none" w="med" len="med"/>
                    </a:lnL>
                    <a:lnR w="10135" cap="flat" cmpd="sng" algn="ctr">
                      <a:solidFill>
                        <a:srgbClr val="000000"/>
                      </a:solidFill>
                      <a:prstDash val="solid"/>
                      <a:round/>
                      <a:headEnd type="none" w="med" len="med"/>
                      <a:tailEnd type="none" w="med" len="med"/>
                    </a:lnR>
                    <a:lnT w="10135" cap="flat" cmpd="sng" algn="ctr">
                      <a:solidFill>
                        <a:srgbClr val="000000"/>
                      </a:solidFill>
                      <a:prstDash val="solid"/>
                      <a:round/>
                      <a:headEnd type="none" w="med" len="med"/>
                      <a:tailEnd type="none" w="med" len="med"/>
                    </a:lnT>
                    <a:lnB w="1013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18113360"/>
                  </a:ext>
                </a:extLst>
              </a:tr>
            </a:tbl>
          </a:graphicData>
        </a:graphic>
      </p:graphicFrame>
      <p:sp>
        <p:nvSpPr>
          <p:cNvPr id="12" name="Rectangle 1">
            <a:extLst>
              <a:ext uri="{FF2B5EF4-FFF2-40B4-BE49-F238E27FC236}">
                <a16:creationId xmlns:a16="http://schemas.microsoft.com/office/drawing/2014/main" id="{04D78428-F81B-1E82-50A7-BDB098FC5F69}"/>
              </a:ext>
            </a:extLst>
          </p:cNvPr>
          <p:cNvSpPr>
            <a:spLocks noChangeArrowheads="1"/>
          </p:cNvSpPr>
          <p:nvPr/>
        </p:nvSpPr>
        <p:spPr bwMode="auto">
          <a:xfrm>
            <a:off x="5486400" y="5706303"/>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MX"/>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918240" y="962025"/>
            <a:ext cx="5556544" cy="1161351"/>
          </a:xfrm>
          <a:prstGeom prst="rect">
            <a:avLst/>
          </a:prstGeom>
        </p:spPr>
        <p:txBody>
          <a:bodyPr lIns="0" tIns="0" rIns="0" bIns="0" rtlCol="0" anchor="t">
            <a:spAutoFit/>
          </a:bodyPr>
          <a:lstStyle/>
          <a:p>
            <a:pPr algn="l">
              <a:lnSpc>
                <a:spcPts val="9032"/>
              </a:lnSpc>
            </a:pPr>
            <a:r>
              <a:rPr lang="en-US" sz="7225" b="1">
                <a:solidFill>
                  <a:srgbClr val="505468"/>
                </a:solidFill>
                <a:latin typeface="Arimo Bold"/>
                <a:ea typeface="Arimo Bold"/>
                <a:cs typeface="Arimo Bold"/>
                <a:sym typeface="Arimo Bold"/>
              </a:rPr>
              <a:t>Introduccion</a:t>
            </a:r>
          </a:p>
        </p:txBody>
      </p:sp>
      <p:sp>
        <p:nvSpPr>
          <p:cNvPr id="3" name="TextBox 3"/>
          <p:cNvSpPr txBox="1"/>
          <p:nvPr/>
        </p:nvSpPr>
        <p:spPr>
          <a:xfrm>
            <a:off x="1918240" y="2757372"/>
            <a:ext cx="15150560" cy="5459315"/>
          </a:xfrm>
          <a:prstGeom prst="rect">
            <a:avLst/>
          </a:prstGeom>
        </p:spPr>
        <p:txBody>
          <a:bodyPr wrap="square" lIns="0" tIns="0" rIns="0" bIns="0" rtlCol="0" anchor="t">
            <a:spAutoFit/>
          </a:bodyPr>
          <a:lstStyle/>
          <a:p>
            <a:pPr algn="l">
              <a:lnSpc>
                <a:spcPts val="3871"/>
              </a:lnSpc>
            </a:pPr>
            <a:r>
              <a:rPr lang="es-MX" sz="2838" dirty="0">
                <a:solidFill>
                  <a:srgbClr val="5B5F71"/>
                </a:solidFill>
                <a:latin typeface="Arimo"/>
                <a:ea typeface="Arimo"/>
                <a:cs typeface="Arimo"/>
                <a:sym typeface="Arimo"/>
              </a:rPr>
              <a:t>Un </a:t>
            </a:r>
            <a:r>
              <a:rPr lang="es-MX" sz="2838" dirty="0" err="1">
                <a:solidFill>
                  <a:srgbClr val="5B5F71"/>
                </a:solidFill>
                <a:latin typeface="Arimo"/>
                <a:ea typeface="Arimo"/>
                <a:cs typeface="Arimo"/>
                <a:sym typeface="Arimo"/>
              </a:rPr>
              <a:t>parser</a:t>
            </a:r>
            <a:r>
              <a:rPr lang="es-MX" sz="2838" dirty="0">
                <a:solidFill>
                  <a:srgbClr val="5B5F71"/>
                </a:solidFill>
                <a:latin typeface="Arimo"/>
                <a:ea typeface="Arimo"/>
                <a:cs typeface="Arimo"/>
                <a:sym typeface="Arimo"/>
              </a:rPr>
              <a:t>, o analizador sintáctico, es un componente fundamental en el proceso de compilación que se encarga de analizar la estructura de una secuencia de tokens para verificar si cumple con las reglas gramaticales de un lenguaje.</a:t>
            </a:r>
          </a:p>
          <a:p>
            <a:pPr algn="l">
              <a:lnSpc>
                <a:spcPts val="3871"/>
              </a:lnSpc>
            </a:pPr>
            <a:r>
              <a:rPr lang="es-MX" sz="2838" dirty="0">
                <a:solidFill>
                  <a:srgbClr val="5B5F71"/>
                </a:solidFill>
                <a:latin typeface="Arimo"/>
                <a:ea typeface="Arimo"/>
                <a:cs typeface="Arimo"/>
                <a:sym typeface="Arimo"/>
              </a:rPr>
              <a:t>En otras palabras, el </a:t>
            </a:r>
            <a:r>
              <a:rPr lang="es-MX" sz="2838" dirty="0" err="1">
                <a:solidFill>
                  <a:srgbClr val="5B5F71"/>
                </a:solidFill>
                <a:latin typeface="Arimo"/>
                <a:ea typeface="Arimo"/>
                <a:cs typeface="Arimo"/>
                <a:sym typeface="Arimo"/>
              </a:rPr>
              <a:t>parser</a:t>
            </a:r>
            <a:r>
              <a:rPr lang="es-MX" sz="2838" dirty="0">
                <a:solidFill>
                  <a:srgbClr val="5B5F71"/>
                </a:solidFill>
                <a:latin typeface="Arimo"/>
                <a:ea typeface="Arimo"/>
                <a:cs typeface="Arimo"/>
                <a:sym typeface="Arimo"/>
              </a:rPr>
              <a:t> toma como entrada los tokens generados por el análisis léxico y valida si están organizados correctamente. Si la estructura es válida, se considera que la expresión o programa está bien formado.</a:t>
            </a:r>
          </a:p>
          <a:p>
            <a:pPr algn="l">
              <a:lnSpc>
                <a:spcPts val="3871"/>
              </a:lnSpc>
            </a:pPr>
            <a:endParaRPr lang="es-MX" sz="2838" dirty="0">
              <a:solidFill>
                <a:srgbClr val="5B5F71"/>
              </a:solidFill>
              <a:latin typeface="Arimo"/>
              <a:ea typeface="Arimo"/>
              <a:cs typeface="Arimo"/>
              <a:sym typeface="Arimo"/>
            </a:endParaRPr>
          </a:p>
          <a:p>
            <a:pPr algn="l">
              <a:lnSpc>
                <a:spcPts val="3871"/>
              </a:lnSpc>
            </a:pPr>
            <a:r>
              <a:rPr lang="es-MX" sz="2838" dirty="0">
                <a:solidFill>
                  <a:srgbClr val="5B5F71"/>
                </a:solidFill>
                <a:latin typeface="Arimo"/>
                <a:ea typeface="Arimo"/>
                <a:cs typeface="Arimo"/>
                <a:sym typeface="Arimo"/>
              </a:rPr>
              <a:t>Dentro de un compilador, el análisis sintáctico es la segunda etapa y tiene como objetivo detectar errores de sintaxis y construir estructuras como árboles de derivación. Esta etapa es clave porque permite asegurar que el código tenga sentido estructural antes de pasar a fases más avanzadas.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46770" y="981075"/>
            <a:ext cx="9076140" cy="709890"/>
          </a:xfrm>
          <a:prstGeom prst="rect">
            <a:avLst/>
          </a:prstGeom>
        </p:spPr>
        <p:txBody>
          <a:bodyPr lIns="0" tIns="0" rIns="0" bIns="0" rtlCol="0" anchor="t">
            <a:spAutoFit/>
          </a:bodyPr>
          <a:lstStyle/>
          <a:p>
            <a:pPr algn="l">
              <a:lnSpc>
                <a:spcPts val="5522"/>
              </a:lnSpc>
            </a:pPr>
            <a:r>
              <a:rPr lang="en-US" sz="4403" b="1">
                <a:solidFill>
                  <a:srgbClr val="505468"/>
                </a:solidFill>
                <a:latin typeface="Arimo Bold"/>
                <a:ea typeface="Arimo Bold"/>
                <a:cs typeface="Arimo Bold"/>
                <a:sym typeface="Arimo Bold"/>
              </a:rPr>
              <a:t> Justificación</a:t>
            </a:r>
          </a:p>
        </p:txBody>
      </p:sp>
      <p:sp>
        <p:nvSpPr>
          <p:cNvPr id="3" name="TextBox 3"/>
          <p:cNvSpPr txBox="1"/>
          <p:nvPr/>
        </p:nvSpPr>
        <p:spPr>
          <a:xfrm>
            <a:off x="1346770" y="2737229"/>
            <a:ext cx="15912530" cy="6242991"/>
          </a:xfrm>
          <a:prstGeom prst="rect">
            <a:avLst/>
          </a:prstGeom>
        </p:spPr>
        <p:txBody>
          <a:bodyPr lIns="0" tIns="0" rIns="0" bIns="0" rtlCol="0" anchor="t">
            <a:spAutoFit/>
          </a:bodyPr>
          <a:lstStyle/>
          <a:p>
            <a:pPr algn="l">
              <a:lnSpc>
                <a:spcPts val="3524"/>
              </a:lnSpc>
            </a:pPr>
            <a:r>
              <a:rPr lang="es-MX" sz="2447" dirty="0">
                <a:solidFill>
                  <a:srgbClr val="5B5F71"/>
                </a:solidFill>
                <a:latin typeface="Arimo"/>
                <a:ea typeface="Arimo"/>
                <a:cs typeface="Arimo"/>
                <a:sym typeface="Arimo"/>
              </a:rPr>
              <a:t>La implementación de un analizador sintáctico permite comprender de manera práctica cómo funcionan los compiladores internamente.</a:t>
            </a:r>
          </a:p>
          <a:p>
            <a:pPr algn="l">
              <a:lnSpc>
                <a:spcPts val="3524"/>
              </a:lnSpc>
            </a:pPr>
            <a:endParaRPr lang="es-MX" sz="2447" dirty="0">
              <a:solidFill>
                <a:srgbClr val="5B5F71"/>
              </a:solidFill>
              <a:latin typeface="Arimo"/>
              <a:ea typeface="Arimo"/>
              <a:cs typeface="Arimo"/>
              <a:sym typeface="Arimo"/>
            </a:endParaRPr>
          </a:p>
          <a:p>
            <a:pPr algn="l">
              <a:lnSpc>
                <a:spcPts val="3524"/>
              </a:lnSpc>
            </a:pPr>
            <a:r>
              <a:rPr lang="es-MX" sz="2447" dirty="0">
                <a:solidFill>
                  <a:srgbClr val="5B5F71"/>
                </a:solidFill>
                <a:latin typeface="Arimo"/>
                <a:ea typeface="Arimo"/>
                <a:cs typeface="Arimo"/>
                <a:sym typeface="Arimo"/>
              </a:rPr>
              <a:t>Desde mi punto de vista, no es lo mismo ver la teoría que construir un </a:t>
            </a:r>
            <a:r>
              <a:rPr lang="es-MX" sz="2447" dirty="0" err="1">
                <a:solidFill>
                  <a:srgbClr val="5B5F71"/>
                </a:solidFill>
                <a:latin typeface="Arimo"/>
                <a:ea typeface="Arimo"/>
                <a:cs typeface="Arimo"/>
                <a:sym typeface="Arimo"/>
              </a:rPr>
              <a:t>parser</a:t>
            </a:r>
            <a:r>
              <a:rPr lang="es-MX" sz="2447" dirty="0">
                <a:solidFill>
                  <a:srgbClr val="5B5F71"/>
                </a:solidFill>
                <a:latin typeface="Arimo"/>
                <a:ea typeface="Arimo"/>
                <a:cs typeface="Arimo"/>
                <a:sym typeface="Arimo"/>
              </a:rPr>
              <a:t>, ya que al programarlo se entiende realmente cómo se validan expresiones, cómo se detectan errores y cómo se aplican reglas gramaticales.</a:t>
            </a:r>
          </a:p>
          <a:p>
            <a:pPr algn="l">
              <a:lnSpc>
                <a:spcPts val="3524"/>
              </a:lnSpc>
            </a:pPr>
            <a:endParaRPr lang="es-MX" sz="2447" dirty="0">
              <a:solidFill>
                <a:srgbClr val="5B5F71"/>
              </a:solidFill>
              <a:latin typeface="Arimo"/>
              <a:ea typeface="Arimo"/>
              <a:cs typeface="Arimo"/>
              <a:sym typeface="Arimo"/>
            </a:endParaRPr>
          </a:p>
          <a:p>
            <a:pPr algn="l">
              <a:lnSpc>
                <a:spcPts val="3524"/>
              </a:lnSpc>
            </a:pPr>
            <a:r>
              <a:rPr lang="es-MX" sz="2447" dirty="0">
                <a:solidFill>
                  <a:srgbClr val="5B5F71"/>
                </a:solidFill>
                <a:latin typeface="Arimo"/>
                <a:ea typeface="Arimo"/>
                <a:cs typeface="Arimo"/>
                <a:sym typeface="Arimo"/>
              </a:rPr>
              <a:t>Además, este tipo de herramientas tiene aplicaciones reales como:</a:t>
            </a:r>
          </a:p>
          <a:p>
            <a:pPr algn="l">
              <a:lnSpc>
                <a:spcPts val="3524"/>
              </a:lnSpc>
            </a:pPr>
            <a:r>
              <a:rPr lang="es-MX" sz="2447" dirty="0">
                <a:solidFill>
                  <a:srgbClr val="5B5F71"/>
                </a:solidFill>
                <a:latin typeface="Arimo"/>
                <a:ea typeface="Arimo"/>
                <a:cs typeface="Arimo"/>
                <a:sym typeface="Arimo"/>
              </a:rPr>
              <a:t>•	Validación de código en compiladores </a:t>
            </a:r>
          </a:p>
          <a:p>
            <a:pPr algn="l">
              <a:lnSpc>
                <a:spcPts val="3524"/>
              </a:lnSpc>
            </a:pPr>
            <a:r>
              <a:rPr lang="es-MX" sz="2447" dirty="0">
                <a:solidFill>
                  <a:srgbClr val="5B5F71"/>
                </a:solidFill>
                <a:latin typeface="Arimo"/>
                <a:ea typeface="Arimo"/>
                <a:cs typeface="Arimo"/>
                <a:sym typeface="Arimo"/>
              </a:rPr>
              <a:t>•	Editores de código (IDE) </a:t>
            </a:r>
          </a:p>
          <a:p>
            <a:pPr algn="l">
              <a:lnSpc>
                <a:spcPts val="3524"/>
              </a:lnSpc>
            </a:pPr>
            <a:r>
              <a:rPr lang="es-MX" sz="2447" dirty="0">
                <a:solidFill>
                  <a:srgbClr val="5B5F71"/>
                </a:solidFill>
                <a:latin typeface="Arimo"/>
                <a:ea typeface="Arimo"/>
                <a:cs typeface="Arimo"/>
                <a:sym typeface="Arimo"/>
              </a:rPr>
              <a:t>•	Sistemas que interpretan datos estructurados </a:t>
            </a:r>
          </a:p>
          <a:p>
            <a:pPr algn="l">
              <a:lnSpc>
                <a:spcPts val="3524"/>
              </a:lnSpc>
            </a:pPr>
            <a:r>
              <a:rPr lang="es-MX" sz="2447" dirty="0">
                <a:solidFill>
                  <a:srgbClr val="5B5F71"/>
                </a:solidFill>
                <a:latin typeface="Arimo"/>
                <a:ea typeface="Arimo"/>
                <a:cs typeface="Arimo"/>
                <a:sym typeface="Arimo"/>
              </a:rPr>
              <a:t>•	Lenguajes personalizados </a:t>
            </a:r>
          </a:p>
          <a:p>
            <a:pPr algn="l">
              <a:lnSpc>
                <a:spcPts val="3524"/>
              </a:lnSpc>
            </a:pPr>
            <a:endParaRPr lang="es-MX" sz="2447" dirty="0">
              <a:solidFill>
                <a:srgbClr val="5B5F71"/>
              </a:solidFill>
              <a:latin typeface="Arimo"/>
              <a:ea typeface="Arimo"/>
              <a:cs typeface="Arimo"/>
              <a:sym typeface="Arimo"/>
            </a:endParaRPr>
          </a:p>
          <a:p>
            <a:pPr algn="l">
              <a:lnSpc>
                <a:spcPts val="3524"/>
              </a:lnSpc>
            </a:pPr>
            <a:r>
              <a:rPr lang="es-MX" sz="2447" dirty="0">
                <a:solidFill>
                  <a:srgbClr val="5B5F71"/>
                </a:solidFill>
                <a:latin typeface="Arimo"/>
                <a:ea typeface="Arimo"/>
                <a:cs typeface="Arimo"/>
                <a:sym typeface="Arimo"/>
              </a:rPr>
              <a:t>Por lo tanto, esta práctica ayuda a reforzar tanto la lógica como la comprensión del análisis sintáctico.</a:t>
            </a:r>
          </a:p>
          <a:p>
            <a:pPr algn="l">
              <a:lnSpc>
                <a:spcPts val="3524"/>
              </a:lnSpc>
            </a:pPr>
            <a:endParaRPr lang="en-US" sz="2447" dirty="0">
              <a:solidFill>
                <a:srgbClr val="5B5F71"/>
              </a:solidFill>
              <a:latin typeface="Arimo"/>
              <a:ea typeface="Arimo"/>
              <a:cs typeface="Arimo"/>
              <a:sym typeface="Arim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5"/>
          <p:cNvSpPr txBox="1"/>
          <p:nvPr/>
        </p:nvSpPr>
        <p:spPr>
          <a:xfrm>
            <a:off x="1524000" y="495300"/>
            <a:ext cx="9299077" cy="513923"/>
          </a:xfrm>
          <a:prstGeom prst="rect">
            <a:avLst/>
          </a:prstGeom>
        </p:spPr>
        <p:txBody>
          <a:bodyPr wrap="square" lIns="0" tIns="0" rIns="0" bIns="0" rtlCol="0" anchor="t">
            <a:spAutoFit/>
          </a:bodyPr>
          <a:lstStyle/>
          <a:p>
            <a:pPr algn="l">
              <a:lnSpc>
                <a:spcPts val="4312"/>
              </a:lnSpc>
            </a:pPr>
            <a:r>
              <a:rPr lang="en-US" sz="3437" b="1" dirty="0">
                <a:solidFill>
                  <a:srgbClr val="505468"/>
                </a:solidFill>
                <a:latin typeface="Arimo Bold"/>
                <a:ea typeface="Arimo Bold"/>
                <a:cs typeface="Arimo Bold"/>
                <a:sym typeface="Arimo Bold"/>
              </a:rPr>
              <a:t>PLANTEAMIENTO DEL PROBLEMA</a:t>
            </a:r>
          </a:p>
        </p:txBody>
      </p:sp>
      <p:sp>
        <p:nvSpPr>
          <p:cNvPr id="46" name="TextBox 46"/>
          <p:cNvSpPr txBox="1"/>
          <p:nvPr/>
        </p:nvSpPr>
        <p:spPr>
          <a:xfrm>
            <a:off x="1752600" y="1409700"/>
            <a:ext cx="11889877" cy="8863965"/>
          </a:xfrm>
          <a:prstGeom prst="rect">
            <a:avLst/>
          </a:prstGeom>
        </p:spPr>
        <p:txBody>
          <a:bodyPr wrap="square" lIns="0" tIns="0" rIns="0" bIns="0" rtlCol="0" anchor="t">
            <a:spAutoFit/>
          </a:bodyPr>
          <a:lstStyle/>
          <a:p>
            <a:pPr algn="l"/>
            <a:r>
              <a:rPr lang="es-MX" sz="3200" dirty="0">
                <a:solidFill>
                  <a:srgbClr val="5B5F71"/>
                </a:solidFill>
                <a:latin typeface="Arimo"/>
                <a:ea typeface="Arimo"/>
                <a:cs typeface="Arimo"/>
                <a:sym typeface="Arimo"/>
              </a:rPr>
              <a:t>El problema consiste en desarrollar un programa en Java que sea capaz de validar si una expresión aritmética es correcta o incorrecta según una gramática definida.</a:t>
            </a:r>
          </a:p>
          <a:p>
            <a:pPr algn="l"/>
            <a:r>
              <a:rPr lang="es-MX" sz="3200" dirty="0">
                <a:solidFill>
                  <a:srgbClr val="5B5F71"/>
                </a:solidFill>
                <a:latin typeface="Arimo"/>
                <a:ea typeface="Arimo"/>
                <a:cs typeface="Arimo"/>
                <a:sym typeface="Arimo"/>
              </a:rPr>
              <a:t>Ejemplos:</a:t>
            </a:r>
          </a:p>
          <a:p>
            <a:pPr algn="l"/>
            <a:endParaRPr lang="es-MX" sz="3200" dirty="0">
              <a:solidFill>
                <a:srgbClr val="5B5F71"/>
              </a:solidFill>
              <a:latin typeface="Arimo"/>
              <a:ea typeface="Arimo"/>
              <a:cs typeface="Arimo"/>
              <a:sym typeface="Arimo"/>
            </a:endParaRPr>
          </a:p>
          <a:p>
            <a:pPr algn="l"/>
            <a:r>
              <a:rPr lang="es-MX" sz="3200" dirty="0">
                <a:solidFill>
                  <a:srgbClr val="5B5F71"/>
                </a:solidFill>
                <a:latin typeface="Arimo"/>
                <a:ea typeface="Arimo"/>
                <a:cs typeface="Arimo"/>
                <a:sym typeface="Arimo"/>
              </a:rPr>
              <a:t>Correcto:</a:t>
            </a:r>
          </a:p>
          <a:p>
            <a:pPr marL="342900" indent="-342900" algn="l">
              <a:buFont typeface="Arial" panose="020B0604020202020204" pitchFamily="34" charset="0"/>
              <a:buChar char="•"/>
            </a:pPr>
            <a:r>
              <a:rPr lang="es-MX" sz="3200" dirty="0">
                <a:solidFill>
                  <a:srgbClr val="5B5F71"/>
                </a:solidFill>
                <a:latin typeface="Arimo"/>
                <a:ea typeface="Arimo"/>
                <a:cs typeface="Arimo"/>
                <a:sym typeface="Arimo"/>
              </a:rPr>
              <a:t>a + b </a:t>
            </a:r>
          </a:p>
          <a:p>
            <a:pPr marL="342900" indent="-342900" algn="l">
              <a:buFont typeface="Arial" panose="020B0604020202020204" pitchFamily="34" charset="0"/>
              <a:buChar char="•"/>
            </a:pPr>
            <a:r>
              <a:rPr lang="es-MX" sz="3200" dirty="0">
                <a:solidFill>
                  <a:srgbClr val="5B5F71"/>
                </a:solidFill>
                <a:latin typeface="Arimo"/>
                <a:ea typeface="Arimo"/>
                <a:cs typeface="Arimo"/>
                <a:sym typeface="Arimo"/>
              </a:rPr>
              <a:t>a + b + c </a:t>
            </a:r>
          </a:p>
          <a:p>
            <a:pPr algn="l"/>
            <a:endParaRPr lang="es-MX" sz="3200" dirty="0">
              <a:solidFill>
                <a:srgbClr val="5B5F71"/>
              </a:solidFill>
              <a:latin typeface="Arimo"/>
              <a:ea typeface="Arimo"/>
              <a:cs typeface="Arimo"/>
              <a:sym typeface="Arimo"/>
            </a:endParaRPr>
          </a:p>
          <a:p>
            <a:pPr algn="l"/>
            <a:r>
              <a:rPr lang="es-MX" sz="3200" dirty="0">
                <a:solidFill>
                  <a:srgbClr val="5B5F71"/>
                </a:solidFill>
                <a:latin typeface="Arimo"/>
                <a:ea typeface="Arimo"/>
                <a:cs typeface="Arimo"/>
                <a:sym typeface="Arimo"/>
              </a:rPr>
              <a:t> Incorrecto:</a:t>
            </a:r>
          </a:p>
          <a:p>
            <a:pPr marL="342900" indent="-342900" algn="l">
              <a:buFont typeface="Arial" panose="020B0604020202020204" pitchFamily="34" charset="0"/>
              <a:buChar char="•"/>
            </a:pPr>
            <a:r>
              <a:rPr lang="es-MX" sz="3200" dirty="0">
                <a:solidFill>
                  <a:srgbClr val="5B5F71"/>
                </a:solidFill>
                <a:latin typeface="Arimo"/>
                <a:ea typeface="Arimo"/>
                <a:cs typeface="Arimo"/>
                <a:sym typeface="Arimo"/>
              </a:rPr>
              <a:t>a ++ b 	</a:t>
            </a:r>
          </a:p>
          <a:p>
            <a:pPr marL="342900" indent="-342900" algn="l">
              <a:buFont typeface="Arial" panose="020B0604020202020204" pitchFamily="34" charset="0"/>
              <a:buChar char="•"/>
            </a:pPr>
            <a:r>
              <a:rPr lang="es-MX" sz="3200" dirty="0">
                <a:solidFill>
                  <a:srgbClr val="5B5F71"/>
                </a:solidFill>
                <a:latin typeface="Arimo"/>
                <a:ea typeface="Arimo"/>
                <a:cs typeface="Arimo"/>
                <a:sym typeface="Arimo"/>
              </a:rPr>
              <a:t>a b </a:t>
            </a:r>
          </a:p>
          <a:p>
            <a:pPr marL="342900" indent="-342900" algn="l">
              <a:buFont typeface="Arial" panose="020B0604020202020204" pitchFamily="34" charset="0"/>
              <a:buChar char="•"/>
            </a:pPr>
            <a:r>
              <a:rPr lang="es-MX" sz="3200" dirty="0">
                <a:solidFill>
                  <a:srgbClr val="5B5F71"/>
                </a:solidFill>
                <a:latin typeface="Arimo"/>
                <a:ea typeface="Arimo"/>
                <a:cs typeface="Arimo"/>
                <a:sym typeface="Arimo"/>
              </a:rPr>
              <a:t>a + </a:t>
            </a:r>
          </a:p>
          <a:p>
            <a:pPr algn="l"/>
            <a:endParaRPr lang="es-MX" sz="3200" dirty="0">
              <a:solidFill>
                <a:srgbClr val="5B5F71"/>
              </a:solidFill>
              <a:latin typeface="Arimo"/>
              <a:ea typeface="Arimo"/>
              <a:cs typeface="Arimo"/>
              <a:sym typeface="Arimo"/>
            </a:endParaRPr>
          </a:p>
          <a:p>
            <a:pPr algn="l"/>
            <a:r>
              <a:rPr lang="es-MX" sz="3200" dirty="0">
                <a:solidFill>
                  <a:srgbClr val="5B5F71"/>
                </a:solidFill>
                <a:latin typeface="Arimo"/>
                <a:ea typeface="Arimo"/>
                <a:cs typeface="Arimo"/>
                <a:sym typeface="Arimo"/>
              </a:rPr>
              <a:t>El sistema debe identificar cuándo una expresión está mal formada.</a:t>
            </a:r>
          </a:p>
          <a:p>
            <a:pPr algn="l"/>
            <a:endParaRPr lang="en-US" sz="3200" dirty="0">
              <a:solidFill>
                <a:srgbClr val="5B5F71"/>
              </a:solidFill>
              <a:latin typeface="Arimo"/>
              <a:ea typeface="Arimo"/>
              <a:cs typeface="Arimo"/>
              <a:sym typeface="Arimo"/>
            </a:endParaRPr>
          </a:p>
          <a:p>
            <a:pPr algn="l"/>
            <a:endParaRPr lang="en-US" sz="3200" dirty="0">
              <a:solidFill>
                <a:srgbClr val="5B5F71"/>
              </a:solidFill>
              <a:latin typeface="Arimo"/>
              <a:ea typeface="Arimo"/>
              <a:cs typeface="Arimo"/>
              <a:sym typeface="Arim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5"/>
          <p:cNvSpPr txBox="1"/>
          <p:nvPr/>
        </p:nvSpPr>
        <p:spPr>
          <a:xfrm>
            <a:off x="1524000" y="495300"/>
            <a:ext cx="9299077" cy="513923"/>
          </a:xfrm>
          <a:prstGeom prst="rect">
            <a:avLst/>
          </a:prstGeom>
        </p:spPr>
        <p:txBody>
          <a:bodyPr wrap="square" lIns="0" tIns="0" rIns="0" bIns="0" rtlCol="0" anchor="t">
            <a:spAutoFit/>
          </a:bodyPr>
          <a:lstStyle/>
          <a:p>
            <a:pPr algn="l">
              <a:lnSpc>
                <a:spcPts val="4312"/>
              </a:lnSpc>
            </a:pPr>
            <a:r>
              <a:rPr lang="en-US" sz="3437" b="1" dirty="0">
                <a:solidFill>
                  <a:srgbClr val="505468"/>
                </a:solidFill>
                <a:latin typeface="Arimo Bold"/>
                <a:ea typeface="Arimo Bold"/>
                <a:cs typeface="Arimo Bold"/>
                <a:sym typeface="Arimo Bold"/>
              </a:rPr>
              <a:t>METODOLOGÍA</a:t>
            </a:r>
          </a:p>
        </p:txBody>
      </p:sp>
      <p:sp>
        <p:nvSpPr>
          <p:cNvPr id="46" name="TextBox 46"/>
          <p:cNvSpPr txBox="1"/>
          <p:nvPr/>
        </p:nvSpPr>
        <p:spPr>
          <a:xfrm>
            <a:off x="1828800" y="2552700"/>
            <a:ext cx="11889877" cy="6563015"/>
          </a:xfrm>
          <a:prstGeom prst="rect">
            <a:avLst/>
          </a:prstGeom>
        </p:spPr>
        <p:txBody>
          <a:bodyPr wrap="square" lIns="0" tIns="0" rIns="0" bIns="0" rtlCol="0" anchor="t">
            <a:spAutoFit/>
          </a:bodyPr>
          <a:lstStyle/>
          <a:p>
            <a:pPr algn="l"/>
            <a:r>
              <a:rPr lang="es-MX" sz="2800" dirty="0">
                <a:solidFill>
                  <a:srgbClr val="5B5F71"/>
                </a:solidFill>
                <a:latin typeface="Arimo"/>
                <a:ea typeface="Arimo"/>
                <a:cs typeface="Arimo"/>
                <a:sym typeface="Arimo"/>
              </a:rPr>
              <a:t>Para el desarrollo de esta práctica se utilizó:</a:t>
            </a:r>
          </a:p>
          <a:p>
            <a:pPr algn="l"/>
            <a:endParaRPr lang="es-MX" sz="2800" dirty="0">
              <a:solidFill>
                <a:srgbClr val="5B5F71"/>
              </a:solidFill>
              <a:latin typeface="Arimo"/>
              <a:ea typeface="Arimo"/>
              <a:cs typeface="Arimo"/>
              <a:sym typeface="Arimo"/>
            </a:endParaRPr>
          </a:p>
          <a:p>
            <a:pPr marL="342900" indent="-342900" algn="l">
              <a:buFont typeface="Arial" panose="020B0604020202020204" pitchFamily="34" charset="0"/>
              <a:buChar char="•"/>
            </a:pPr>
            <a:r>
              <a:rPr lang="es-MX" sz="2800" dirty="0">
                <a:solidFill>
                  <a:srgbClr val="5B5F71"/>
                </a:solidFill>
                <a:latin typeface="Arimo"/>
                <a:ea typeface="Arimo"/>
                <a:cs typeface="Arimo"/>
                <a:sym typeface="Arimo"/>
              </a:rPr>
              <a:t>Lenguaje: Java </a:t>
            </a:r>
          </a:p>
          <a:p>
            <a:pPr marL="342900" indent="-342900" algn="l">
              <a:buFont typeface="Arial" panose="020B0604020202020204" pitchFamily="34" charset="0"/>
              <a:buChar char="•"/>
            </a:pPr>
            <a:r>
              <a:rPr lang="es-MX" sz="2800" dirty="0">
                <a:solidFill>
                  <a:srgbClr val="5B5F71"/>
                </a:solidFill>
                <a:latin typeface="Arimo"/>
                <a:ea typeface="Arimo"/>
                <a:cs typeface="Arimo"/>
                <a:sym typeface="Arimo"/>
              </a:rPr>
              <a:t>Tipo de </a:t>
            </a:r>
            <a:r>
              <a:rPr lang="es-MX" sz="2800" dirty="0" err="1">
                <a:solidFill>
                  <a:srgbClr val="5B5F71"/>
                </a:solidFill>
                <a:latin typeface="Arimo"/>
                <a:ea typeface="Arimo"/>
                <a:cs typeface="Arimo"/>
                <a:sym typeface="Arimo"/>
              </a:rPr>
              <a:t>parser</a:t>
            </a:r>
            <a:r>
              <a:rPr lang="es-MX" sz="2800" dirty="0">
                <a:solidFill>
                  <a:srgbClr val="5B5F71"/>
                </a:solidFill>
                <a:latin typeface="Arimo"/>
                <a:ea typeface="Arimo"/>
                <a:cs typeface="Arimo"/>
                <a:sym typeface="Arimo"/>
              </a:rPr>
              <a:t>: Descendente recursivo (Top-</a:t>
            </a:r>
            <a:r>
              <a:rPr lang="es-MX" sz="2800" dirty="0" err="1">
                <a:solidFill>
                  <a:srgbClr val="5B5F71"/>
                </a:solidFill>
                <a:latin typeface="Arimo"/>
                <a:ea typeface="Arimo"/>
                <a:cs typeface="Arimo"/>
                <a:sym typeface="Arimo"/>
              </a:rPr>
              <a:t>down</a:t>
            </a:r>
            <a:r>
              <a:rPr lang="es-MX" sz="2800" dirty="0">
                <a:solidFill>
                  <a:srgbClr val="5B5F71"/>
                </a:solidFill>
                <a:latin typeface="Arimo"/>
                <a:ea typeface="Arimo"/>
                <a:cs typeface="Arimo"/>
                <a:sym typeface="Arimo"/>
              </a:rPr>
              <a:t>) </a:t>
            </a:r>
          </a:p>
          <a:p>
            <a:pPr algn="l"/>
            <a:endParaRPr lang="es-MX" sz="2800" dirty="0">
              <a:solidFill>
                <a:srgbClr val="5B5F71"/>
              </a:solidFill>
              <a:latin typeface="Arimo"/>
              <a:ea typeface="Arimo"/>
              <a:cs typeface="Arimo"/>
              <a:sym typeface="Arimo"/>
            </a:endParaRPr>
          </a:p>
          <a:p>
            <a:pPr algn="l"/>
            <a:endParaRPr lang="es-MX" sz="2800" dirty="0">
              <a:solidFill>
                <a:srgbClr val="5B5F71"/>
              </a:solidFill>
              <a:latin typeface="Arimo"/>
              <a:ea typeface="Arimo"/>
              <a:cs typeface="Arimo"/>
              <a:sym typeface="Arimo"/>
            </a:endParaRPr>
          </a:p>
          <a:p>
            <a:pPr algn="l"/>
            <a:r>
              <a:rPr lang="es-MX" sz="2800" dirty="0">
                <a:solidFill>
                  <a:srgbClr val="5B5F71"/>
                </a:solidFill>
                <a:latin typeface="Arimo"/>
                <a:ea typeface="Arimo"/>
                <a:cs typeface="Arimo"/>
                <a:sym typeface="Arimo"/>
              </a:rPr>
              <a:t>Herramientas: </a:t>
            </a:r>
          </a:p>
          <a:p>
            <a:pPr algn="l"/>
            <a:r>
              <a:rPr lang="es-MX" sz="2800" dirty="0">
                <a:solidFill>
                  <a:srgbClr val="5B5F71"/>
                </a:solidFill>
                <a:latin typeface="Arimo"/>
                <a:ea typeface="Arimo"/>
                <a:cs typeface="Arimo"/>
                <a:sym typeface="Arimo"/>
              </a:rPr>
              <a:t>VS </a:t>
            </a:r>
            <a:r>
              <a:rPr lang="es-MX" sz="2800" dirty="0" err="1">
                <a:solidFill>
                  <a:srgbClr val="5B5F71"/>
                </a:solidFill>
                <a:latin typeface="Arimo"/>
                <a:ea typeface="Arimo"/>
                <a:cs typeface="Arimo"/>
                <a:sym typeface="Arimo"/>
              </a:rPr>
              <a:t>Code</a:t>
            </a:r>
            <a:r>
              <a:rPr lang="es-MX" sz="2800" dirty="0">
                <a:solidFill>
                  <a:srgbClr val="5B5F71"/>
                </a:solidFill>
                <a:latin typeface="Arimo"/>
                <a:ea typeface="Arimo"/>
                <a:cs typeface="Arimo"/>
                <a:sym typeface="Arimo"/>
              </a:rPr>
              <a:t> </a:t>
            </a:r>
          </a:p>
          <a:p>
            <a:pPr algn="l"/>
            <a:endParaRPr lang="es-MX" sz="2800" dirty="0">
              <a:solidFill>
                <a:srgbClr val="5B5F71"/>
              </a:solidFill>
              <a:latin typeface="Arimo"/>
              <a:ea typeface="Arimo"/>
              <a:cs typeface="Arimo"/>
              <a:sym typeface="Arimo"/>
            </a:endParaRPr>
          </a:p>
          <a:p>
            <a:pPr algn="l"/>
            <a:r>
              <a:rPr lang="es-MX" sz="2800" dirty="0">
                <a:solidFill>
                  <a:srgbClr val="5B5F71"/>
                </a:solidFill>
                <a:latin typeface="Arimo"/>
                <a:ea typeface="Arimo"/>
                <a:cs typeface="Arimo"/>
                <a:sym typeface="Arimo"/>
              </a:rPr>
              <a:t>Gramática utilizada:</a:t>
            </a:r>
          </a:p>
          <a:p>
            <a:pPr algn="l"/>
            <a:r>
              <a:rPr lang="es-MX" sz="2800" dirty="0">
                <a:solidFill>
                  <a:srgbClr val="5B5F71"/>
                </a:solidFill>
                <a:latin typeface="Arimo"/>
                <a:ea typeface="Arimo"/>
                <a:cs typeface="Arimo"/>
                <a:sym typeface="Arimo"/>
              </a:rPr>
              <a:t>Se definió una gramática simple para expresiones:</a:t>
            </a:r>
          </a:p>
          <a:p>
            <a:pPr marL="342900" indent="-342900" algn="l">
              <a:buFont typeface="Arial" panose="020B0604020202020204" pitchFamily="34" charset="0"/>
              <a:buChar char="•"/>
            </a:pPr>
            <a:r>
              <a:rPr lang="es-MX" sz="2800" dirty="0" err="1">
                <a:solidFill>
                  <a:srgbClr val="5B5F71"/>
                </a:solidFill>
                <a:latin typeface="Arimo"/>
                <a:ea typeface="Arimo"/>
                <a:cs typeface="Arimo"/>
                <a:sym typeface="Arimo"/>
              </a:rPr>
              <a:t>Expr</a:t>
            </a:r>
            <a:r>
              <a:rPr lang="es-MX" sz="2800" dirty="0">
                <a:solidFill>
                  <a:srgbClr val="5B5F71"/>
                </a:solidFill>
                <a:latin typeface="Arimo"/>
                <a:ea typeface="Arimo"/>
                <a:cs typeface="Arimo"/>
                <a:sym typeface="Arimo"/>
              </a:rPr>
              <a:t> → </a:t>
            </a:r>
            <a:r>
              <a:rPr lang="es-MX" sz="2800" dirty="0" err="1">
                <a:solidFill>
                  <a:srgbClr val="5B5F71"/>
                </a:solidFill>
                <a:latin typeface="Arimo"/>
                <a:ea typeface="Arimo"/>
                <a:cs typeface="Arimo"/>
                <a:sym typeface="Arimo"/>
              </a:rPr>
              <a:t>Term</a:t>
            </a:r>
            <a:r>
              <a:rPr lang="es-MX" sz="2800" dirty="0">
                <a:solidFill>
                  <a:srgbClr val="5B5F71"/>
                </a:solidFill>
                <a:latin typeface="Arimo"/>
                <a:ea typeface="Arimo"/>
                <a:cs typeface="Arimo"/>
                <a:sym typeface="Arimo"/>
              </a:rPr>
              <a:t> { + </a:t>
            </a:r>
            <a:r>
              <a:rPr lang="es-MX" sz="2800" dirty="0" err="1">
                <a:solidFill>
                  <a:srgbClr val="5B5F71"/>
                </a:solidFill>
                <a:latin typeface="Arimo"/>
                <a:ea typeface="Arimo"/>
                <a:cs typeface="Arimo"/>
                <a:sym typeface="Arimo"/>
              </a:rPr>
              <a:t>Term</a:t>
            </a:r>
            <a:r>
              <a:rPr lang="es-MX" sz="2800" dirty="0">
                <a:solidFill>
                  <a:srgbClr val="5B5F71"/>
                </a:solidFill>
                <a:latin typeface="Arimo"/>
                <a:ea typeface="Arimo"/>
                <a:cs typeface="Arimo"/>
                <a:sym typeface="Arimo"/>
              </a:rPr>
              <a:t> }</a:t>
            </a:r>
          </a:p>
          <a:p>
            <a:pPr marL="342900" indent="-342900" algn="l">
              <a:buFont typeface="Arial" panose="020B0604020202020204" pitchFamily="34" charset="0"/>
              <a:buChar char="•"/>
            </a:pPr>
            <a:r>
              <a:rPr lang="es-MX" sz="2800" dirty="0" err="1">
                <a:solidFill>
                  <a:srgbClr val="5B5F71"/>
                </a:solidFill>
                <a:latin typeface="Arimo"/>
                <a:ea typeface="Arimo"/>
                <a:cs typeface="Arimo"/>
                <a:sym typeface="Arimo"/>
              </a:rPr>
              <a:t>Term</a:t>
            </a:r>
            <a:r>
              <a:rPr lang="es-MX" sz="2800" dirty="0">
                <a:solidFill>
                  <a:srgbClr val="5B5F71"/>
                </a:solidFill>
                <a:latin typeface="Arimo"/>
                <a:ea typeface="Arimo"/>
                <a:cs typeface="Arimo"/>
                <a:sym typeface="Arimo"/>
              </a:rPr>
              <a:t> → id</a:t>
            </a:r>
          </a:p>
          <a:p>
            <a:pPr algn="l"/>
            <a:endParaRPr lang="es-MX" sz="2800" dirty="0">
              <a:solidFill>
                <a:srgbClr val="5B5F71"/>
              </a:solidFill>
              <a:latin typeface="Arimo"/>
              <a:ea typeface="Arimo"/>
              <a:cs typeface="Arimo"/>
              <a:sym typeface="Arimo"/>
            </a:endParaRPr>
          </a:p>
          <a:p>
            <a:pPr algn="l">
              <a:lnSpc>
                <a:spcPts val="2010"/>
              </a:lnSpc>
            </a:pPr>
            <a:endParaRPr lang="en-US" sz="2800" dirty="0">
              <a:solidFill>
                <a:srgbClr val="5B5F71"/>
              </a:solidFill>
              <a:latin typeface="Arimo"/>
              <a:ea typeface="Arimo"/>
              <a:cs typeface="Arimo"/>
              <a:sym typeface="Arimo"/>
            </a:endParaRPr>
          </a:p>
          <a:p>
            <a:pPr algn="l">
              <a:lnSpc>
                <a:spcPts val="2011"/>
              </a:lnSpc>
            </a:pPr>
            <a:endParaRPr lang="en-US" sz="2800" dirty="0">
              <a:solidFill>
                <a:srgbClr val="5B5F71"/>
              </a:solidFill>
              <a:latin typeface="Arimo"/>
              <a:ea typeface="Arimo"/>
              <a:cs typeface="Arimo"/>
              <a:sym typeface="Arimo"/>
            </a:endParaRPr>
          </a:p>
        </p:txBody>
      </p:sp>
    </p:spTree>
    <p:extLst>
      <p:ext uri="{BB962C8B-B14F-4D97-AF65-F5344CB8AC3E}">
        <p14:creationId xmlns:p14="http://schemas.microsoft.com/office/powerpoint/2010/main" val="790122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5"/>
          <p:cNvSpPr txBox="1"/>
          <p:nvPr/>
        </p:nvSpPr>
        <p:spPr>
          <a:xfrm>
            <a:off x="1524000" y="495300"/>
            <a:ext cx="9299077" cy="513923"/>
          </a:xfrm>
          <a:prstGeom prst="rect">
            <a:avLst/>
          </a:prstGeom>
        </p:spPr>
        <p:txBody>
          <a:bodyPr wrap="square" lIns="0" tIns="0" rIns="0" bIns="0" rtlCol="0" anchor="t">
            <a:spAutoFit/>
          </a:bodyPr>
          <a:lstStyle/>
          <a:p>
            <a:pPr algn="l">
              <a:lnSpc>
                <a:spcPts val="4312"/>
              </a:lnSpc>
            </a:pPr>
            <a:r>
              <a:rPr lang="en-US" sz="3437" b="1" dirty="0">
                <a:solidFill>
                  <a:srgbClr val="505468"/>
                </a:solidFill>
                <a:latin typeface="Arimo Bold"/>
                <a:ea typeface="Arimo Bold"/>
                <a:cs typeface="Arimo Bold"/>
                <a:sym typeface="Arimo Bold"/>
              </a:rPr>
              <a:t>IMPLEMENTACIÓN</a:t>
            </a:r>
          </a:p>
        </p:txBody>
      </p:sp>
      <p:sp>
        <p:nvSpPr>
          <p:cNvPr id="46" name="TextBox 46"/>
          <p:cNvSpPr txBox="1"/>
          <p:nvPr/>
        </p:nvSpPr>
        <p:spPr>
          <a:xfrm>
            <a:off x="1514168" y="1044865"/>
            <a:ext cx="11889877" cy="961482"/>
          </a:xfrm>
          <a:prstGeom prst="rect">
            <a:avLst/>
          </a:prstGeom>
        </p:spPr>
        <p:txBody>
          <a:bodyPr wrap="square" lIns="0" tIns="0" rIns="0" bIns="0" rtlCol="0" anchor="t">
            <a:spAutoFit/>
          </a:bodyPr>
          <a:lstStyle/>
          <a:p>
            <a:pPr algn="l"/>
            <a:r>
              <a:rPr lang="es-MX" sz="2800" dirty="0">
                <a:solidFill>
                  <a:srgbClr val="5B5F71"/>
                </a:solidFill>
                <a:latin typeface="Arimo"/>
                <a:ea typeface="Arimo"/>
                <a:cs typeface="Arimo"/>
                <a:sym typeface="Arimo"/>
              </a:rPr>
              <a:t>A continuación se muestra el código completo del analizador sintáctico:</a:t>
            </a:r>
          </a:p>
          <a:p>
            <a:pPr algn="l">
              <a:lnSpc>
                <a:spcPts val="2010"/>
              </a:lnSpc>
            </a:pPr>
            <a:endParaRPr lang="en-US" sz="2800" dirty="0">
              <a:solidFill>
                <a:srgbClr val="5B5F71"/>
              </a:solidFill>
              <a:latin typeface="Arimo"/>
              <a:ea typeface="Arimo"/>
              <a:cs typeface="Arimo"/>
              <a:sym typeface="Arimo"/>
            </a:endParaRPr>
          </a:p>
          <a:p>
            <a:pPr algn="l">
              <a:lnSpc>
                <a:spcPts val="2011"/>
              </a:lnSpc>
            </a:pPr>
            <a:endParaRPr lang="en-US" sz="2800" dirty="0">
              <a:solidFill>
                <a:srgbClr val="5B5F71"/>
              </a:solidFill>
              <a:latin typeface="Arimo"/>
              <a:ea typeface="Arimo"/>
              <a:cs typeface="Arimo"/>
              <a:sym typeface="Arimo"/>
            </a:endParaRPr>
          </a:p>
        </p:txBody>
      </p:sp>
      <p:sp>
        <p:nvSpPr>
          <p:cNvPr id="3" name="CuadroTexto 2">
            <a:extLst>
              <a:ext uri="{FF2B5EF4-FFF2-40B4-BE49-F238E27FC236}">
                <a16:creationId xmlns:a16="http://schemas.microsoft.com/office/drawing/2014/main" id="{861EB1E2-0689-0981-1C80-044F08AC6539}"/>
              </a:ext>
            </a:extLst>
          </p:cNvPr>
          <p:cNvSpPr txBox="1"/>
          <p:nvPr/>
        </p:nvSpPr>
        <p:spPr>
          <a:xfrm>
            <a:off x="2057400" y="2033386"/>
            <a:ext cx="5105400" cy="7965642"/>
          </a:xfrm>
          <a:prstGeom prst="rect">
            <a:avLst/>
          </a:prstGeom>
          <a:noFill/>
        </p:spPr>
        <p:txBody>
          <a:bodyPr wrap="square">
            <a:spAutoFit/>
          </a:bodyPr>
          <a:lstStyle/>
          <a:p>
            <a:pPr algn="just">
              <a:lnSpc>
                <a:spcPct val="150000"/>
              </a:lnSpc>
            </a:pPr>
            <a:r>
              <a:rPr lang="es-MX" sz="1400" b="1" dirty="0">
                <a:solidFill>
                  <a:srgbClr val="000000"/>
                </a:solidFill>
                <a:effectLst/>
                <a:latin typeface="Montserrat" panose="00000500000000000000" pitchFamily="2" charset="0"/>
                <a:ea typeface="Arial" panose="020B0604020202020204" pitchFamily="34" charset="0"/>
              </a:rPr>
              <a:t>Código en Java (</a:t>
            </a:r>
            <a:r>
              <a:rPr lang="es-MX" sz="1400" b="1" dirty="0" err="1">
                <a:solidFill>
                  <a:srgbClr val="000000"/>
                </a:solidFill>
                <a:effectLst/>
                <a:latin typeface="Montserrat" panose="00000500000000000000" pitchFamily="2" charset="0"/>
                <a:ea typeface="Arial" panose="020B0604020202020204" pitchFamily="34" charset="0"/>
              </a:rPr>
              <a:t>Parser</a:t>
            </a:r>
            <a:r>
              <a:rPr lang="es-MX" sz="1400" b="1" dirty="0">
                <a:solidFill>
                  <a:srgbClr val="000000"/>
                </a:solidFill>
                <a:effectLst/>
                <a:latin typeface="Montserrat" panose="00000500000000000000" pitchFamily="2" charset="0"/>
                <a:ea typeface="Arial" panose="020B0604020202020204" pitchFamily="34" charset="0"/>
              </a:rPr>
              <a:t> Descendente Recursivo)</a:t>
            </a:r>
            <a:endParaRPr lang="es-MX" sz="1200" dirty="0">
              <a:effectLst/>
              <a:latin typeface="Arial" panose="020B0604020202020204" pitchFamily="34" charset="0"/>
              <a:ea typeface="Arial" panose="020B0604020202020204" pitchFamily="34" charset="0"/>
            </a:endParaRPr>
          </a:p>
          <a:p>
            <a:pPr algn="just">
              <a:lnSpc>
                <a:spcPct val="150000"/>
              </a:lnSpc>
            </a:pPr>
            <a:r>
              <a:rPr lang="es-MX" sz="800" dirty="0" err="1">
                <a:solidFill>
                  <a:srgbClr val="000000"/>
                </a:solidFill>
                <a:effectLst/>
                <a:latin typeface="Montserrat" panose="00000500000000000000" pitchFamily="2" charset="0"/>
                <a:ea typeface="Arial" panose="020B0604020202020204" pitchFamily="34" charset="0"/>
              </a:rPr>
              <a:t>import</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java.util.Scanner</a:t>
            </a:r>
            <a:r>
              <a:rPr lang="es-MX" sz="800" dirty="0">
                <a:solidFill>
                  <a:srgbClr val="000000"/>
                </a:solidFill>
                <a:effectLst/>
                <a:latin typeface="Montserrat" panose="00000500000000000000" pitchFamily="2" charset="0"/>
                <a:ea typeface="Arial" panose="020B0604020202020204" pitchFamily="34" charset="0"/>
              </a:rPr>
              <a:t>;</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err="1">
                <a:solidFill>
                  <a:srgbClr val="000000"/>
                </a:solidFill>
                <a:effectLst/>
                <a:latin typeface="Montserrat" panose="00000500000000000000" pitchFamily="2" charset="0"/>
                <a:ea typeface="Arial" panose="020B0604020202020204" pitchFamily="34" charset="0"/>
              </a:rPr>
              <a:t>public</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class</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AnalizadorSintactico</a:t>
            </a:r>
            <a:r>
              <a:rPr lang="es-MX" sz="800" dirty="0">
                <a:solidFill>
                  <a:srgbClr val="000000"/>
                </a:solidFill>
                <a:effectLst/>
                <a:latin typeface="Montserrat" panose="00000500000000000000" pitchFamily="2" charset="0"/>
                <a:ea typeface="Arial" panose="020B0604020202020204" pitchFamily="34" charset="0"/>
              </a:rPr>
              <a:t>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private</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static</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String</a:t>
            </a:r>
            <a:r>
              <a:rPr lang="es-MX" sz="800" dirty="0">
                <a:solidFill>
                  <a:srgbClr val="000000"/>
                </a:solidFill>
                <a:effectLst/>
                <a:latin typeface="Montserrat" panose="00000500000000000000" pitchFamily="2" charset="0"/>
                <a:ea typeface="Arial" panose="020B0604020202020204" pitchFamily="34" charset="0"/>
              </a:rPr>
              <a:t> input;</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private</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static</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int</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pos</a:t>
            </a:r>
            <a:r>
              <a:rPr lang="es-MX" sz="800" dirty="0">
                <a:solidFill>
                  <a:srgbClr val="000000"/>
                </a:solidFill>
                <a:effectLst/>
                <a:latin typeface="Montserrat" panose="00000500000000000000" pitchFamily="2" charset="0"/>
                <a:ea typeface="Arial" panose="020B0604020202020204" pitchFamily="34" charset="0"/>
              </a:rPr>
              <a:t> = 0;</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public</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static</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void</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main</a:t>
            </a:r>
            <a:r>
              <a:rPr lang="es-MX" sz="800" dirty="0">
                <a:solidFill>
                  <a:srgbClr val="000000"/>
                </a:solidFill>
                <a:effectLst/>
                <a:latin typeface="Montserrat" panose="00000500000000000000" pitchFamily="2" charset="0"/>
                <a:ea typeface="Arial" panose="020B0604020202020204" pitchFamily="34" charset="0"/>
              </a:rPr>
              <a:t>(</a:t>
            </a:r>
            <a:r>
              <a:rPr lang="es-MX" sz="800" dirty="0" err="1">
                <a:solidFill>
                  <a:srgbClr val="000000"/>
                </a:solidFill>
                <a:effectLst/>
                <a:latin typeface="Montserrat" panose="00000500000000000000" pitchFamily="2" charset="0"/>
                <a:ea typeface="Arial" panose="020B0604020202020204" pitchFamily="34" charset="0"/>
              </a:rPr>
              <a:t>String</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args</a:t>
            </a:r>
            <a:r>
              <a:rPr lang="es-MX" sz="800" dirty="0">
                <a:solidFill>
                  <a:srgbClr val="000000"/>
                </a:solidFill>
                <a:effectLst/>
                <a:latin typeface="Montserrat" panose="00000500000000000000" pitchFamily="2" charset="0"/>
                <a:ea typeface="Arial" panose="020B0604020202020204" pitchFamily="34" charset="0"/>
              </a:rPr>
              <a:t>)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Scanner </a:t>
            </a:r>
            <a:r>
              <a:rPr lang="es-MX" sz="800" dirty="0" err="1">
                <a:solidFill>
                  <a:srgbClr val="000000"/>
                </a:solidFill>
                <a:effectLst/>
                <a:latin typeface="Montserrat" panose="00000500000000000000" pitchFamily="2" charset="0"/>
                <a:ea typeface="Arial" panose="020B0604020202020204" pitchFamily="34" charset="0"/>
              </a:rPr>
              <a:t>scanner</a:t>
            </a:r>
            <a:r>
              <a:rPr lang="es-MX" sz="800" dirty="0">
                <a:solidFill>
                  <a:srgbClr val="000000"/>
                </a:solidFill>
                <a:effectLst/>
                <a:latin typeface="Montserrat" panose="00000500000000000000" pitchFamily="2" charset="0"/>
                <a:ea typeface="Arial" panose="020B0604020202020204" pitchFamily="34" charset="0"/>
              </a:rPr>
              <a:t> = new Scanner(System.in);</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System.out.println</a:t>
            </a:r>
            <a:r>
              <a:rPr lang="es-MX" sz="800" dirty="0">
                <a:solidFill>
                  <a:srgbClr val="000000"/>
                </a:solidFill>
                <a:effectLst/>
                <a:latin typeface="Montserrat" panose="00000500000000000000" pitchFamily="2" charset="0"/>
                <a:ea typeface="Arial" panose="020B0604020202020204" pitchFamily="34" charset="0"/>
              </a:rPr>
              <a:t>("Ingresa una </a:t>
            </a:r>
            <a:r>
              <a:rPr lang="es-MX" sz="800" dirty="0" err="1">
                <a:solidFill>
                  <a:srgbClr val="000000"/>
                </a:solidFill>
                <a:effectLst/>
                <a:latin typeface="Montserrat" panose="00000500000000000000" pitchFamily="2" charset="0"/>
                <a:ea typeface="Arial" panose="020B0604020202020204" pitchFamily="34" charset="0"/>
              </a:rPr>
              <a:t>expresion</a:t>
            </a:r>
            <a:r>
              <a:rPr lang="es-MX" sz="800" dirty="0">
                <a:solidFill>
                  <a:srgbClr val="000000"/>
                </a:solidFill>
                <a:effectLst/>
                <a:latin typeface="Montserrat" panose="00000500000000000000" pitchFamily="2" charset="0"/>
                <a:ea typeface="Arial" panose="020B0604020202020204" pitchFamily="34" charset="0"/>
              </a:rPr>
              <a:t>:");</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input = </a:t>
            </a:r>
            <a:r>
              <a:rPr lang="es-MX" sz="800" dirty="0" err="1">
                <a:solidFill>
                  <a:srgbClr val="000000"/>
                </a:solidFill>
                <a:effectLst/>
                <a:latin typeface="Montserrat" panose="00000500000000000000" pitchFamily="2" charset="0"/>
                <a:ea typeface="Arial" panose="020B0604020202020204" pitchFamily="34" charset="0"/>
              </a:rPr>
              <a:t>scanner.nextLine</a:t>
            </a:r>
            <a:r>
              <a:rPr lang="es-MX" sz="800" dirty="0">
                <a:solidFill>
                  <a:srgbClr val="000000"/>
                </a:solidFill>
                <a:effectLst/>
                <a:latin typeface="Montserrat" panose="00000500000000000000" pitchFamily="2" charset="0"/>
                <a:ea typeface="Arial" panose="020B0604020202020204" pitchFamily="34" charset="0"/>
              </a:rPr>
              <a:t>().</a:t>
            </a:r>
            <a:r>
              <a:rPr lang="es-MX" sz="800" dirty="0" err="1">
                <a:solidFill>
                  <a:srgbClr val="000000"/>
                </a:solidFill>
                <a:effectLst/>
                <a:latin typeface="Montserrat" panose="00000500000000000000" pitchFamily="2" charset="0"/>
                <a:ea typeface="Arial" panose="020B0604020202020204" pitchFamily="34" charset="0"/>
              </a:rPr>
              <a:t>replaceAll</a:t>
            </a:r>
            <a:r>
              <a:rPr lang="es-MX" sz="800" dirty="0">
                <a:solidFill>
                  <a:srgbClr val="000000"/>
                </a:solidFill>
                <a:effectLst/>
                <a:latin typeface="Montserrat" panose="00000500000000000000" pitchFamily="2" charset="0"/>
                <a:ea typeface="Arial" panose="020B0604020202020204" pitchFamily="34" charset="0"/>
              </a:rPr>
              <a:t>("\\s+",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if</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expr</a:t>
            </a:r>
            <a:r>
              <a:rPr lang="es-MX" sz="800" dirty="0">
                <a:solidFill>
                  <a:srgbClr val="000000"/>
                </a:solidFill>
                <a:effectLst/>
                <a:latin typeface="Montserrat" panose="00000500000000000000" pitchFamily="2" charset="0"/>
                <a:ea typeface="Arial" panose="020B0604020202020204" pitchFamily="34" charset="0"/>
              </a:rPr>
              <a:t>() &amp;&amp; </a:t>
            </a:r>
            <a:r>
              <a:rPr lang="es-MX" sz="800" dirty="0" err="1">
                <a:solidFill>
                  <a:srgbClr val="000000"/>
                </a:solidFill>
                <a:effectLst/>
                <a:latin typeface="Montserrat" panose="00000500000000000000" pitchFamily="2" charset="0"/>
                <a:ea typeface="Arial" panose="020B0604020202020204" pitchFamily="34" charset="0"/>
              </a:rPr>
              <a:t>pos</a:t>
            </a:r>
            <a:r>
              <a:rPr lang="es-MX" sz="800" dirty="0">
                <a:solidFill>
                  <a:srgbClr val="000000"/>
                </a:solidFill>
                <a:effectLst/>
                <a:latin typeface="Montserrat" panose="00000500000000000000" pitchFamily="2" charset="0"/>
                <a:ea typeface="Arial" panose="020B0604020202020204" pitchFamily="34" charset="0"/>
              </a:rPr>
              <a:t> == </a:t>
            </a:r>
            <a:r>
              <a:rPr lang="es-MX" sz="800" dirty="0" err="1">
                <a:solidFill>
                  <a:srgbClr val="000000"/>
                </a:solidFill>
                <a:effectLst/>
                <a:latin typeface="Montserrat" panose="00000500000000000000" pitchFamily="2" charset="0"/>
                <a:ea typeface="Arial" panose="020B0604020202020204" pitchFamily="34" charset="0"/>
              </a:rPr>
              <a:t>input.length</a:t>
            </a:r>
            <a:r>
              <a:rPr lang="es-MX" sz="800" dirty="0">
                <a:solidFill>
                  <a:srgbClr val="000000"/>
                </a:solidFill>
                <a:effectLst/>
                <a:latin typeface="Montserrat" panose="00000500000000000000" pitchFamily="2" charset="0"/>
                <a:ea typeface="Arial" panose="020B0604020202020204" pitchFamily="34" charset="0"/>
              </a:rPr>
              <a:t>())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System.out.println</a:t>
            </a:r>
            <a:r>
              <a:rPr lang="es-MX" sz="800" dirty="0">
                <a:solidFill>
                  <a:srgbClr val="000000"/>
                </a:solidFill>
                <a:effectLst/>
                <a:latin typeface="Montserrat" panose="00000500000000000000" pitchFamily="2" charset="0"/>
                <a:ea typeface="Arial" panose="020B0604020202020204" pitchFamily="34" charset="0"/>
              </a:rPr>
              <a:t>("</a:t>
            </a:r>
            <a:r>
              <a:rPr lang="es-MX" sz="800" dirty="0" err="1">
                <a:solidFill>
                  <a:srgbClr val="000000"/>
                </a:solidFill>
                <a:effectLst/>
                <a:latin typeface="Montserrat" panose="00000500000000000000" pitchFamily="2" charset="0"/>
                <a:ea typeface="Arial" panose="020B0604020202020204" pitchFamily="34" charset="0"/>
              </a:rPr>
              <a:t>Expresion</a:t>
            </a:r>
            <a:r>
              <a:rPr lang="es-MX" sz="800" dirty="0">
                <a:solidFill>
                  <a:srgbClr val="000000"/>
                </a:solidFill>
                <a:effectLst/>
                <a:latin typeface="Montserrat" panose="00000500000000000000" pitchFamily="2" charset="0"/>
                <a:ea typeface="Arial" panose="020B0604020202020204" pitchFamily="34" charset="0"/>
              </a:rPr>
              <a:t> valida");</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 </a:t>
            </a:r>
            <a:r>
              <a:rPr lang="es-MX" sz="800" dirty="0" err="1">
                <a:solidFill>
                  <a:srgbClr val="000000"/>
                </a:solidFill>
                <a:effectLst/>
                <a:latin typeface="Montserrat" panose="00000500000000000000" pitchFamily="2" charset="0"/>
                <a:ea typeface="Arial" panose="020B0604020202020204" pitchFamily="34" charset="0"/>
              </a:rPr>
              <a:t>else</a:t>
            </a:r>
            <a:r>
              <a:rPr lang="es-MX" sz="800" dirty="0">
                <a:solidFill>
                  <a:srgbClr val="000000"/>
                </a:solidFill>
                <a:effectLst/>
                <a:latin typeface="Montserrat" panose="00000500000000000000" pitchFamily="2" charset="0"/>
                <a:ea typeface="Arial" panose="020B0604020202020204" pitchFamily="34" charset="0"/>
              </a:rPr>
              <a:t>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System.out.println</a:t>
            </a:r>
            <a:r>
              <a:rPr lang="es-MX" sz="800" dirty="0">
                <a:solidFill>
                  <a:srgbClr val="000000"/>
                </a:solidFill>
                <a:effectLst/>
                <a:latin typeface="Montserrat" panose="00000500000000000000" pitchFamily="2" charset="0"/>
                <a:ea typeface="Arial" panose="020B0604020202020204" pitchFamily="34" charset="0"/>
              </a:rPr>
              <a:t>("</a:t>
            </a:r>
            <a:r>
              <a:rPr lang="es-MX" sz="800" dirty="0" err="1">
                <a:solidFill>
                  <a:srgbClr val="000000"/>
                </a:solidFill>
                <a:effectLst/>
                <a:latin typeface="Montserrat" panose="00000500000000000000" pitchFamily="2" charset="0"/>
                <a:ea typeface="Arial" panose="020B0604020202020204" pitchFamily="34" charset="0"/>
              </a:rPr>
              <a:t>Expresion</a:t>
            </a:r>
            <a:r>
              <a:rPr lang="es-MX" sz="800" dirty="0">
                <a:solidFill>
                  <a:srgbClr val="000000"/>
                </a:solidFill>
                <a:effectLst/>
                <a:latin typeface="Montserrat" panose="00000500000000000000" pitchFamily="2" charset="0"/>
                <a:ea typeface="Arial" panose="020B0604020202020204" pitchFamily="34" charset="0"/>
              </a:rPr>
              <a:t> invalida");</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 </a:t>
            </a:r>
            <a:r>
              <a:rPr lang="es-MX" sz="800" dirty="0" err="1">
                <a:solidFill>
                  <a:srgbClr val="000000"/>
                </a:solidFill>
                <a:effectLst/>
                <a:latin typeface="Montserrat" panose="00000500000000000000" pitchFamily="2" charset="0"/>
                <a:ea typeface="Arial" panose="020B0604020202020204" pitchFamily="34" charset="0"/>
              </a:rPr>
              <a:t>Expr</a:t>
            </a:r>
            <a:r>
              <a:rPr lang="es-MX" sz="800" dirty="0">
                <a:solidFill>
                  <a:srgbClr val="000000"/>
                </a:solidFill>
                <a:effectLst/>
                <a:latin typeface="Montserrat" panose="00000500000000000000" pitchFamily="2" charset="0"/>
                <a:ea typeface="Arial" panose="020B0604020202020204" pitchFamily="34" charset="0"/>
              </a:rPr>
              <a:t> -&gt; </a:t>
            </a:r>
            <a:r>
              <a:rPr lang="es-MX" sz="800" dirty="0" err="1">
                <a:solidFill>
                  <a:srgbClr val="000000"/>
                </a:solidFill>
                <a:effectLst/>
                <a:latin typeface="Montserrat" panose="00000500000000000000" pitchFamily="2" charset="0"/>
                <a:ea typeface="Arial" panose="020B0604020202020204" pitchFamily="34" charset="0"/>
              </a:rPr>
              <a:t>Term</a:t>
            </a:r>
            <a:r>
              <a:rPr lang="es-MX" sz="800" dirty="0">
                <a:solidFill>
                  <a:srgbClr val="000000"/>
                </a:solidFill>
                <a:effectLst/>
                <a:latin typeface="Montserrat" panose="00000500000000000000" pitchFamily="2" charset="0"/>
                <a:ea typeface="Arial" panose="020B0604020202020204" pitchFamily="34" charset="0"/>
              </a:rPr>
              <a:t> { + </a:t>
            </a:r>
            <a:r>
              <a:rPr lang="es-MX" sz="800" dirty="0" err="1">
                <a:solidFill>
                  <a:srgbClr val="000000"/>
                </a:solidFill>
                <a:effectLst/>
                <a:latin typeface="Montserrat" panose="00000500000000000000" pitchFamily="2" charset="0"/>
                <a:ea typeface="Arial" panose="020B0604020202020204" pitchFamily="34" charset="0"/>
              </a:rPr>
              <a:t>Term</a:t>
            </a:r>
            <a:r>
              <a:rPr lang="es-MX" sz="800" dirty="0">
                <a:solidFill>
                  <a:srgbClr val="000000"/>
                </a:solidFill>
                <a:effectLst/>
                <a:latin typeface="Montserrat" panose="00000500000000000000" pitchFamily="2" charset="0"/>
                <a:ea typeface="Arial" panose="020B0604020202020204" pitchFamily="34" charset="0"/>
              </a:rPr>
              <a:t>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private</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static</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boolean</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expr</a:t>
            </a:r>
            <a:r>
              <a:rPr lang="es-MX" sz="800" dirty="0">
                <a:solidFill>
                  <a:srgbClr val="000000"/>
                </a:solidFill>
                <a:effectLst/>
                <a:latin typeface="Montserrat" panose="00000500000000000000" pitchFamily="2" charset="0"/>
                <a:ea typeface="Arial" panose="020B0604020202020204" pitchFamily="34" charset="0"/>
              </a:rPr>
              <a:t>()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if</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term</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return</a:t>
            </a:r>
            <a:r>
              <a:rPr lang="es-MX" sz="800" dirty="0">
                <a:solidFill>
                  <a:srgbClr val="000000"/>
                </a:solidFill>
                <a:effectLst/>
                <a:latin typeface="Montserrat" panose="00000500000000000000" pitchFamily="2" charset="0"/>
                <a:ea typeface="Arial" panose="020B0604020202020204" pitchFamily="34" charset="0"/>
              </a:rPr>
              <a:t> false;</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while</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pos</a:t>
            </a:r>
            <a:r>
              <a:rPr lang="es-MX" sz="800" dirty="0">
                <a:solidFill>
                  <a:srgbClr val="000000"/>
                </a:solidFill>
                <a:effectLst/>
                <a:latin typeface="Montserrat" panose="00000500000000000000" pitchFamily="2" charset="0"/>
                <a:ea typeface="Arial" panose="020B0604020202020204" pitchFamily="34" charset="0"/>
              </a:rPr>
              <a:t> &lt; </a:t>
            </a:r>
            <a:r>
              <a:rPr lang="es-MX" sz="800" dirty="0" err="1">
                <a:solidFill>
                  <a:srgbClr val="000000"/>
                </a:solidFill>
                <a:effectLst/>
                <a:latin typeface="Montserrat" panose="00000500000000000000" pitchFamily="2" charset="0"/>
                <a:ea typeface="Arial" panose="020B0604020202020204" pitchFamily="34" charset="0"/>
              </a:rPr>
              <a:t>input.length</a:t>
            </a:r>
            <a:r>
              <a:rPr lang="es-MX" sz="800" dirty="0">
                <a:solidFill>
                  <a:srgbClr val="000000"/>
                </a:solidFill>
                <a:effectLst/>
                <a:latin typeface="Montserrat" panose="00000500000000000000" pitchFamily="2" charset="0"/>
                <a:ea typeface="Arial" panose="020B0604020202020204" pitchFamily="34" charset="0"/>
              </a:rPr>
              <a:t>() &amp;&amp; </a:t>
            </a:r>
            <a:r>
              <a:rPr lang="es-MX" sz="800" dirty="0" err="1">
                <a:solidFill>
                  <a:srgbClr val="000000"/>
                </a:solidFill>
                <a:effectLst/>
                <a:latin typeface="Montserrat" panose="00000500000000000000" pitchFamily="2" charset="0"/>
                <a:ea typeface="Arial" panose="020B0604020202020204" pitchFamily="34" charset="0"/>
              </a:rPr>
              <a:t>input.charAt</a:t>
            </a:r>
            <a:r>
              <a:rPr lang="es-MX" sz="800" dirty="0">
                <a:solidFill>
                  <a:srgbClr val="000000"/>
                </a:solidFill>
                <a:effectLst/>
                <a:latin typeface="Montserrat" panose="00000500000000000000" pitchFamily="2" charset="0"/>
                <a:ea typeface="Arial" panose="020B0604020202020204" pitchFamily="34" charset="0"/>
              </a:rPr>
              <a:t>(</a:t>
            </a:r>
            <a:r>
              <a:rPr lang="es-MX" sz="800" dirty="0" err="1">
                <a:solidFill>
                  <a:srgbClr val="000000"/>
                </a:solidFill>
                <a:effectLst/>
                <a:latin typeface="Montserrat" panose="00000500000000000000" pitchFamily="2" charset="0"/>
                <a:ea typeface="Arial" panose="020B0604020202020204" pitchFamily="34" charset="0"/>
              </a:rPr>
              <a:t>pos</a:t>
            </a:r>
            <a:r>
              <a:rPr lang="es-MX" sz="800" dirty="0">
                <a:solidFill>
                  <a:srgbClr val="000000"/>
                </a:solidFill>
                <a:effectLst/>
                <a:latin typeface="Montserrat" panose="00000500000000000000" pitchFamily="2" charset="0"/>
                <a:ea typeface="Arial" panose="020B0604020202020204" pitchFamily="34" charset="0"/>
              </a:rPr>
              <a:t>) == '+')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pos</a:t>
            </a:r>
            <a:r>
              <a:rPr lang="es-MX" sz="800" dirty="0">
                <a:solidFill>
                  <a:srgbClr val="000000"/>
                </a:solidFill>
                <a:effectLst/>
                <a:latin typeface="Montserrat" panose="00000500000000000000" pitchFamily="2" charset="0"/>
                <a:ea typeface="Arial" panose="020B0604020202020204" pitchFamily="34" charset="0"/>
              </a:rPr>
              <a:t>++; // consumir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if</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term</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return</a:t>
            </a:r>
            <a:r>
              <a:rPr lang="es-MX" sz="800" dirty="0">
                <a:solidFill>
                  <a:srgbClr val="000000"/>
                </a:solidFill>
                <a:effectLst/>
                <a:latin typeface="Montserrat" panose="00000500000000000000" pitchFamily="2" charset="0"/>
                <a:ea typeface="Arial" panose="020B0604020202020204" pitchFamily="34" charset="0"/>
              </a:rPr>
              <a:t> false;</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return</a:t>
            </a:r>
            <a:r>
              <a:rPr lang="es-MX" sz="800" dirty="0">
                <a:solidFill>
                  <a:srgbClr val="000000"/>
                </a:solidFill>
                <a:effectLst/>
                <a:latin typeface="Montserrat" panose="00000500000000000000" pitchFamily="2" charset="0"/>
                <a:ea typeface="Arial" panose="020B0604020202020204" pitchFamily="34" charset="0"/>
              </a:rPr>
              <a:t> true;</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 </a:t>
            </a:r>
            <a:r>
              <a:rPr lang="es-MX" sz="800" dirty="0" err="1">
                <a:solidFill>
                  <a:srgbClr val="000000"/>
                </a:solidFill>
                <a:effectLst/>
                <a:latin typeface="Montserrat" panose="00000500000000000000" pitchFamily="2" charset="0"/>
                <a:ea typeface="Arial" panose="020B0604020202020204" pitchFamily="34" charset="0"/>
              </a:rPr>
              <a:t>Term</a:t>
            </a:r>
            <a:r>
              <a:rPr lang="es-MX" sz="800" dirty="0">
                <a:solidFill>
                  <a:srgbClr val="000000"/>
                </a:solidFill>
                <a:effectLst/>
                <a:latin typeface="Montserrat" panose="00000500000000000000" pitchFamily="2" charset="0"/>
                <a:ea typeface="Arial" panose="020B0604020202020204" pitchFamily="34" charset="0"/>
              </a:rPr>
              <a:t> -&gt; id (letra)</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private</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static</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boolean</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term</a:t>
            </a:r>
            <a:r>
              <a:rPr lang="es-MX" sz="800" dirty="0">
                <a:solidFill>
                  <a:srgbClr val="000000"/>
                </a:solidFill>
                <a:effectLst/>
                <a:latin typeface="Montserrat" panose="00000500000000000000" pitchFamily="2" charset="0"/>
                <a:ea typeface="Arial" panose="020B0604020202020204" pitchFamily="34" charset="0"/>
              </a:rPr>
              <a:t>()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if</a:t>
            </a: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pos</a:t>
            </a:r>
            <a:r>
              <a:rPr lang="es-MX" sz="800" dirty="0">
                <a:solidFill>
                  <a:srgbClr val="000000"/>
                </a:solidFill>
                <a:effectLst/>
                <a:latin typeface="Montserrat" panose="00000500000000000000" pitchFamily="2" charset="0"/>
                <a:ea typeface="Arial" panose="020B0604020202020204" pitchFamily="34" charset="0"/>
              </a:rPr>
              <a:t> &lt; </a:t>
            </a:r>
            <a:r>
              <a:rPr lang="es-MX" sz="800" dirty="0" err="1">
                <a:solidFill>
                  <a:srgbClr val="000000"/>
                </a:solidFill>
                <a:effectLst/>
                <a:latin typeface="Montserrat" panose="00000500000000000000" pitchFamily="2" charset="0"/>
                <a:ea typeface="Arial" panose="020B0604020202020204" pitchFamily="34" charset="0"/>
              </a:rPr>
              <a:t>input.length</a:t>
            </a:r>
            <a:r>
              <a:rPr lang="es-MX" sz="800" dirty="0">
                <a:solidFill>
                  <a:srgbClr val="000000"/>
                </a:solidFill>
                <a:effectLst/>
                <a:latin typeface="Montserrat" panose="00000500000000000000" pitchFamily="2" charset="0"/>
                <a:ea typeface="Arial" panose="020B0604020202020204" pitchFamily="34" charset="0"/>
              </a:rPr>
              <a:t>() &amp;&amp; </a:t>
            </a:r>
            <a:r>
              <a:rPr lang="es-MX" sz="800" dirty="0" err="1">
                <a:solidFill>
                  <a:srgbClr val="000000"/>
                </a:solidFill>
                <a:effectLst/>
                <a:latin typeface="Montserrat" panose="00000500000000000000" pitchFamily="2" charset="0"/>
                <a:ea typeface="Arial" panose="020B0604020202020204" pitchFamily="34" charset="0"/>
              </a:rPr>
              <a:t>Character.isLetter</a:t>
            </a:r>
            <a:r>
              <a:rPr lang="es-MX" sz="800" dirty="0">
                <a:solidFill>
                  <a:srgbClr val="000000"/>
                </a:solidFill>
                <a:effectLst/>
                <a:latin typeface="Montserrat" panose="00000500000000000000" pitchFamily="2" charset="0"/>
                <a:ea typeface="Arial" panose="020B0604020202020204" pitchFamily="34" charset="0"/>
              </a:rPr>
              <a:t>(</a:t>
            </a:r>
            <a:r>
              <a:rPr lang="es-MX" sz="800" dirty="0" err="1">
                <a:solidFill>
                  <a:srgbClr val="000000"/>
                </a:solidFill>
                <a:effectLst/>
                <a:latin typeface="Montserrat" panose="00000500000000000000" pitchFamily="2" charset="0"/>
                <a:ea typeface="Arial" panose="020B0604020202020204" pitchFamily="34" charset="0"/>
              </a:rPr>
              <a:t>input.charAt</a:t>
            </a:r>
            <a:r>
              <a:rPr lang="es-MX" sz="800" dirty="0">
                <a:solidFill>
                  <a:srgbClr val="000000"/>
                </a:solidFill>
                <a:effectLst/>
                <a:latin typeface="Montserrat" panose="00000500000000000000" pitchFamily="2" charset="0"/>
                <a:ea typeface="Arial" panose="020B0604020202020204" pitchFamily="34" charset="0"/>
              </a:rPr>
              <a:t>(</a:t>
            </a:r>
            <a:r>
              <a:rPr lang="es-MX" sz="800" dirty="0" err="1">
                <a:solidFill>
                  <a:srgbClr val="000000"/>
                </a:solidFill>
                <a:effectLst/>
                <a:latin typeface="Montserrat" panose="00000500000000000000" pitchFamily="2" charset="0"/>
                <a:ea typeface="Arial" panose="020B0604020202020204" pitchFamily="34" charset="0"/>
              </a:rPr>
              <a:t>pos</a:t>
            </a:r>
            <a:r>
              <a:rPr lang="es-MX" sz="800" dirty="0">
                <a:solidFill>
                  <a:srgbClr val="000000"/>
                </a:solidFill>
                <a:effectLst/>
                <a:latin typeface="Montserrat" panose="00000500000000000000" pitchFamily="2" charset="0"/>
                <a:ea typeface="Arial" panose="020B0604020202020204" pitchFamily="34" charset="0"/>
              </a:rPr>
              <a:t>)))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pos</a:t>
            </a:r>
            <a:r>
              <a:rPr lang="es-MX" sz="800" dirty="0">
                <a:solidFill>
                  <a:srgbClr val="000000"/>
                </a:solidFill>
                <a:effectLst/>
                <a:latin typeface="Montserrat" panose="00000500000000000000" pitchFamily="2" charset="0"/>
                <a:ea typeface="Arial" panose="020B0604020202020204" pitchFamily="34" charset="0"/>
              </a:rPr>
              <a:t>++; // consumir identificador</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return</a:t>
            </a:r>
            <a:r>
              <a:rPr lang="es-MX" sz="800" dirty="0">
                <a:solidFill>
                  <a:srgbClr val="000000"/>
                </a:solidFill>
                <a:effectLst/>
                <a:latin typeface="Montserrat" panose="00000500000000000000" pitchFamily="2" charset="0"/>
                <a:ea typeface="Arial" panose="020B0604020202020204" pitchFamily="34" charset="0"/>
              </a:rPr>
              <a:t> true;</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r>
              <a:rPr lang="es-MX" sz="800" dirty="0" err="1">
                <a:solidFill>
                  <a:srgbClr val="000000"/>
                </a:solidFill>
                <a:effectLst/>
                <a:latin typeface="Montserrat" panose="00000500000000000000" pitchFamily="2" charset="0"/>
                <a:ea typeface="Arial" panose="020B0604020202020204" pitchFamily="34" charset="0"/>
              </a:rPr>
              <a:t>return</a:t>
            </a:r>
            <a:r>
              <a:rPr lang="es-MX" sz="800" dirty="0">
                <a:solidFill>
                  <a:srgbClr val="000000"/>
                </a:solidFill>
                <a:effectLst/>
                <a:latin typeface="Montserrat" panose="00000500000000000000" pitchFamily="2" charset="0"/>
                <a:ea typeface="Arial" panose="020B0604020202020204" pitchFamily="34" charset="0"/>
              </a:rPr>
              <a:t> false;</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    }</a:t>
            </a:r>
            <a:endParaRPr lang="es-MX" sz="700" dirty="0">
              <a:effectLst/>
              <a:latin typeface="Arial" panose="020B0604020202020204" pitchFamily="34" charset="0"/>
              <a:ea typeface="Arial" panose="020B0604020202020204" pitchFamily="34" charset="0"/>
            </a:endParaRPr>
          </a:p>
          <a:p>
            <a:pPr algn="just">
              <a:lnSpc>
                <a:spcPct val="150000"/>
              </a:lnSpc>
            </a:pPr>
            <a:r>
              <a:rPr lang="es-MX" sz="800" dirty="0">
                <a:solidFill>
                  <a:srgbClr val="000000"/>
                </a:solidFill>
                <a:effectLst/>
                <a:latin typeface="Montserrat" panose="00000500000000000000" pitchFamily="2" charset="0"/>
                <a:ea typeface="Arial" panose="020B0604020202020204" pitchFamily="34" charset="0"/>
              </a:rPr>
              <a:t>}</a:t>
            </a:r>
            <a:endParaRPr lang="es-MX" sz="700" dirty="0">
              <a:effectLst/>
              <a:latin typeface="Arial" panose="020B0604020202020204" pitchFamily="34" charset="0"/>
              <a:ea typeface="Arial" panose="020B0604020202020204" pitchFamily="34" charset="0"/>
            </a:endParaRPr>
          </a:p>
        </p:txBody>
      </p:sp>
      <p:pic>
        <p:nvPicPr>
          <p:cNvPr id="5" name="Imagen 4">
            <a:extLst>
              <a:ext uri="{FF2B5EF4-FFF2-40B4-BE49-F238E27FC236}">
                <a16:creationId xmlns:a16="http://schemas.microsoft.com/office/drawing/2014/main" id="{697E42F3-ADD9-18E7-E626-738E2401AC0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458200" y="2679820"/>
            <a:ext cx="8962946" cy="5596654"/>
          </a:xfrm>
          <a:prstGeom prst="rect">
            <a:avLst/>
          </a:prstGeom>
        </p:spPr>
      </p:pic>
    </p:spTree>
    <p:extLst>
      <p:ext uri="{BB962C8B-B14F-4D97-AF65-F5344CB8AC3E}">
        <p14:creationId xmlns:p14="http://schemas.microsoft.com/office/powerpoint/2010/main" val="1978790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5"/>
          <p:cNvSpPr txBox="1"/>
          <p:nvPr/>
        </p:nvSpPr>
        <p:spPr>
          <a:xfrm>
            <a:off x="914400" y="266700"/>
            <a:ext cx="9299077" cy="513923"/>
          </a:xfrm>
          <a:prstGeom prst="rect">
            <a:avLst/>
          </a:prstGeom>
        </p:spPr>
        <p:txBody>
          <a:bodyPr wrap="square" lIns="0" tIns="0" rIns="0" bIns="0" rtlCol="0" anchor="t">
            <a:spAutoFit/>
          </a:bodyPr>
          <a:lstStyle/>
          <a:p>
            <a:pPr algn="l">
              <a:lnSpc>
                <a:spcPts val="4312"/>
              </a:lnSpc>
            </a:pPr>
            <a:r>
              <a:rPr lang="en-US" sz="3437" b="1" dirty="0" err="1">
                <a:solidFill>
                  <a:srgbClr val="505468"/>
                </a:solidFill>
                <a:latin typeface="Arimo Bold"/>
                <a:ea typeface="Arimo Bold"/>
                <a:cs typeface="Arimo Bold"/>
                <a:sym typeface="Arimo Bold"/>
              </a:rPr>
              <a:t>Explicación</a:t>
            </a:r>
            <a:r>
              <a:rPr lang="en-US" sz="3437" b="1" dirty="0">
                <a:solidFill>
                  <a:srgbClr val="505468"/>
                </a:solidFill>
                <a:latin typeface="Arimo Bold"/>
                <a:ea typeface="Arimo Bold"/>
                <a:cs typeface="Arimo Bold"/>
                <a:sym typeface="Arimo Bold"/>
              </a:rPr>
              <a:t> del </a:t>
            </a:r>
            <a:r>
              <a:rPr lang="en-US" sz="3437" b="1" dirty="0" err="1">
                <a:solidFill>
                  <a:srgbClr val="505468"/>
                </a:solidFill>
                <a:latin typeface="Arimo Bold"/>
                <a:ea typeface="Arimo Bold"/>
                <a:cs typeface="Arimo Bold"/>
                <a:sym typeface="Arimo Bold"/>
              </a:rPr>
              <a:t>código</a:t>
            </a:r>
            <a:endParaRPr lang="en-US" sz="3437" b="1" dirty="0">
              <a:solidFill>
                <a:srgbClr val="505468"/>
              </a:solidFill>
              <a:latin typeface="Arimo Bold"/>
              <a:ea typeface="Arimo Bold"/>
              <a:cs typeface="Arimo Bold"/>
              <a:sym typeface="Arimo Bold"/>
            </a:endParaRPr>
          </a:p>
        </p:txBody>
      </p:sp>
      <p:sp>
        <p:nvSpPr>
          <p:cNvPr id="46" name="TextBox 46"/>
          <p:cNvSpPr txBox="1"/>
          <p:nvPr/>
        </p:nvSpPr>
        <p:spPr>
          <a:xfrm>
            <a:off x="723900" y="1009223"/>
            <a:ext cx="16840200" cy="8891986"/>
          </a:xfrm>
          <a:prstGeom prst="rect">
            <a:avLst/>
          </a:prstGeom>
        </p:spPr>
        <p:txBody>
          <a:bodyPr wrap="square" lIns="0" tIns="0" rIns="0" bIns="0" rtlCol="0" anchor="t">
            <a:spAutoFit/>
          </a:bodyPr>
          <a:lstStyle/>
          <a:p>
            <a:pPr algn="l"/>
            <a:r>
              <a:rPr lang="es-MX" sz="1400" dirty="0">
                <a:solidFill>
                  <a:srgbClr val="5B5F71"/>
                </a:solidFill>
                <a:latin typeface="Arimo"/>
                <a:ea typeface="Arimo"/>
                <a:cs typeface="Arimo"/>
                <a:sym typeface="Arimo"/>
              </a:rPr>
              <a:t>El programa desarrollado funciona mediante un analizador sintáctico descendente recursivo, el cual evalúa si una expresión ingresada cumple con una gramática definida.</a:t>
            </a:r>
          </a:p>
          <a:p>
            <a:pPr algn="l"/>
            <a:r>
              <a:rPr lang="es-MX" sz="1400" dirty="0">
                <a:solidFill>
                  <a:srgbClr val="5B5F71"/>
                </a:solidFill>
                <a:latin typeface="Arimo"/>
                <a:ea typeface="Arimo"/>
                <a:cs typeface="Arimo"/>
                <a:sym typeface="Arimo"/>
              </a:rPr>
              <a:t>Su funcionamiento se describe a continuación:</a:t>
            </a:r>
          </a:p>
          <a:p>
            <a:pPr algn="l"/>
            <a:endParaRPr lang="es-MX" sz="1400" dirty="0">
              <a:solidFill>
                <a:srgbClr val="5B5F71"/>
              </a:solidFill>
              <a:latin typeface="Arimo"/>
              <a:ea typeface="Arimo"/>
              <a:cs typeface="Arimo"/>
              <a:sym typeface="Arimo"/>
            </a:endParaRPr>
          </a:p>
          <a:p>
            <a:pPr algn="l"/>
            <a:r>
              <a:rPr lang="es-MX" sz="1400" b="1" dirty="0">
                <a:solidFill>
                  <a:srgbClr val="5B5F71"/>
                </a:solidFill>
                <a:latin typeface="Arimo"/>
                <a:ea typeface="Arimo"/>
                <a:cs typeface="Arimo"/>
                <a:sym typeface="Arimo"/>
              </a:rPr>
              <a:t>1. Lectura de entrada</a:t>
            </a:r>
          </a:p>
          <a:p>
            <a:pPr algn="l"/>
            <a:r>
              <a:rPr lang="es-MX" sz="1400" dirty="0">
                <a:solidFill>
                  <a:srgbClr val="5B5F71"/>
                </a:solidFill>
                <a:latin typeface="Arimo"/>
                <a:ea typeface="Arimo"/>
                <a:cs typeface="Arimo"/>
                <a:sym typeface="Arimo"/>
              </a:rPr>
              <a:t>El programa solicita al usuario ingresar una expresión desde el teclado mediante la clase Scanner.</a:t>
            </a:r>
          </a:p>
          <a:p>
            <a:pPr algn="l"/>
            <a:r>
              <a:rPr lang="es-MX" sz="1400" dirty="0">
                <a:solidFill>
                  <a:srgbClr val="5B5F71"/>
                </a:solidFill>
                <a:latin typeface="Arimo"/>
                <a:ea typeface="Arimo"/>
                <a:cs typeface="Arimo"/>
                <a:sym typeface="Arimo"/>
              </a:rPr>
              <a:t>Posteriormente, se eliminan los espacios en blanco utilizando el método </a:t>
            </a:r>
            <a:r>
              <a:rPr lang="es-MX" sz="1400" dirty="0" err="1">
                <a:solidFill>
                  <a:srgbClr val="5B5F71"/>
                </a:solidFill>
                <a:latin typeface="Arimo"/>
                <a:ea typeface="Arimo"/>
                <a:cs typeface="Arimo"/>
                <a:sym typeface="Arimo"/>
              </a:rPr>
              <a:t>replaceAll</a:t>
            </a:r>
            <a:r>
              <a:rPr lang="es-MX" sz="1400" dirty="0">
                <a:solidFill>
                  <a:srgbClr val="5B5F71"/>
                </a:solidFill>
                <a:latin typeface="Arimo"/>
                <a:ea typeface="Arimo"/>
                <a:cs typeface="Arimo"/>
                <a:sym typeface="Arimo"/>
              </a:rPr>
              <a:t>, con el fin de evitar errores durante el análisis.</a:t>
            </a:r>
          </a:p>
          <a:p>
            <a:pPr algn="l"/>
            <a:endParaRPr lang="es-MX" sz="1400" dirty="0">
              <a:solidFill>
                <a:srgbClr val="5B5F71"/>
              </a:solidFill>
              <a:latin typeface="Arimo"/>
              <a:ea typeface="Arimo"/>
              <a:cs typeface="Arimo"/>
              <a:sym typeface="Arimo"/>
            </a:endParaRPr>
          </a:p>
          <a:p>
            <a:pPr algn="l"/>
            <a:r>
              <a:rPr lang="es-MX" sz="1400" b="1" dirty="0">
                <a:solidFill>
                  <a:srgbClr val="5B5F71"/>
                </a:solidFill>
                <a:latin typeface="Arimo"/>
                <a:ea typeface="Arimo"/>
                <a:cs typeface="Arimo"/>
                <a:sym typeface="Arimo"/>
              </a:rPr>
              <a:t>2. Validación de la expresión</a:t>
            </a:r>
          </a:p>
          <a:p>
            <a:pPr algn="l"/>
            <a:r>
              <a:rPr lang="es-MX" sz="1400" dirty="0">
                <a:solidFill>
                  <a:srgbClr val="5B5F71"/>
                </a:solidFill>
                <a:latin typeface="Arimo"/>
                <a:ea typeface="Arimo"/>
                <a:cs typeface="Arimo"/>
                <a:sym typeface="Arimo"/>
              </a:rPr>
              <a:t>Una vez obtenida la entrada, el programa llama al método </a:t>
            </a:r>
            <a:r>
              <a:rPr lang="es-MX" sz="1400" dirty="0" err="1">
                <a:solidFill>
                  <a:srgbClr val="5B5F71"/>
                </a:solidFill>
                <a:latin typeface="Arimo"/>
                <a:ea typeface="Arimo"/>
                <a:cs typeface="Arimo"/>
                <a:sym typeface="Arimo"/>
              </a:rPr>
              <a:t>expr</a:t>
            </a:r>
            <a:r>
              <a:rPr lang="es-MX" sz="1400" dirty="0">
                <a:solidFill>
                  <a:srgbClr val="5B5F71"/>
                </a:solidFill>
                <a:latin typeface="Arimo"/>
                <a:ea typeface="Arimo"/>
                <a:cs typeface="Arimo"/>
                <a:sym typeface="Arimo"/>
              </a:rPr>
              <a:t>(), que es el encargado de iniciar el análisis sintáctico.</a:t>
            </a:r>
          </a:p>
          <a:p>
            <a:pPr algn="l"/>
            <a:r>
              <a:rPr lang="es-MX" sz="1400" dirty="0">
                <a:solidFill>
                  <a:srgbClr val="5B5F71"/>
                </a:solidFill>
                <a:latin typeface="Arimo"/>
                <a:ea typeface="Arimo"/>
                <a:cs typeface="Arimo"/>
                <a:sym typeface="Arimo"/>
              </a:rPr>
              <a:t>Además, se verifica que toda la cadena haya sido procesada correctamente mediante la condición:</a:t>
            </a:r>
          </a:p>
          <a:p>
            <a:pPr algn="l"/>
            <a:r>
              <a:rPr lang="es-MX" sz="1400" dirty="0" err="1">
                <a:solidFill>
                  <a:srgbClr val="5B5F71"/>
                </a:solidFill>
                <a:latin typeface="Arimo"/>
                <a:ea typeface="Arimo"/>
                <a:cs typeface="Arimo"/>
                <a:sym typeface="Arimo"/>
              </a:rPr>
              <a:t>pos</a:t>
            </a:r>
            <a:r>
              <a:rPr lang="es-MX" sz="1400" dirty="0">
                <a:solidFill>
                  <a:srgbClr val="5B5F71"/>
                </a:solidFill>
                <a:latin typeface="Arimo"/>
                <a:ea typeface="Arimo"/>
                <a:cs typeface="Arimo"/>
                <a:sym typeface="Arimo"/>
              </a:rPr>
              <a:t> == </a:t>
            </a:r>
            <a:r>
              <a:rPr lang="es-MX" sz="1400" dirty="0" err="1">
                <a:solidFill>
                  <a:srgbClr val="5B5F71"/>
                </a:solidFill>
                <a:latin typeface="Arimo"/>
                <a:ea typeface="Arimo"/>
                <a:cs typeface="Arimo"/>
                <a:sym typeface="Arimo"/>
              </a:rPr>
              <a:t>input.length</a:t>
            </a:r>
            <a:r>
              <a:rPr lang="es-MX" sz="1400" dirty="0">
                <a:solidFill>
                  <a:srgbClr val="5B5F71"/>
                </a:solidFill>
                <a:latin typeface="Arimo"/>
                <a:ea typeface="Arimo"/>
                <a:cs typeface="Arimo"/>
                <a:sym typeface="Arimo"/>
              </a:rPr>
              <a:t>()</a:t>
            </a:r>
          </a:p>
          <a:p>
            <a:pPr algn="l"/>
            <a:r>
              <a:rPr lang="es-MX" sz="1400" dirty="0">
                <a:solidFill>
                  <a:srgbClr val="5B5F71"/>
                </a:solidFill>
                <a:latin typeface="Arimo"/>
                <a:ea typeface="Arimo"/>
                <a:cs typeface="Arimo"/>
                <a:sym typeface="Arimo"/>
              </a:rPr>
              <a:t>Esto asegura que no queden caracteres sin analizar.</a:t>
            </a:r>
          </a:p>
          <a:p>
            <a:pPr algn="l"/>
            <a:endParaRPr lang="es-MX" sz="1400" dirty="0">
              <a:solidFill>
                <a:srgbClr val="5B5F71"/>
              </a:solidFill>
              <a:latin typeface="Arimo"/>
              <a:ea typeface="Arimo"/>
              <a:cs typeface="Arimo"/>
              <a:sym typeface="Arimo"/>
            </a:endParaRPr>
          </a:p>
          <a:p>
            <a:pPr algn="l"/>
            <a:r>
              <a:rPr lang="es-MX" sz="1400" b="1" dirty="0">
                <a:solidFill>
                  <a:srgbClr val="5B5F71"/>
                </a:solidFill>
                <a:latin typeface="Arimo"/>
                <a:ea typeface="Arimo"/>
                <a:cs typeface="Arimo"/>
                <a:sym typeface="Arimo"/>
              </a:rPr>
              <a:t>3. Funciones principales</a:t>
            </a:r>
          </a:p>
          <a:p>
            <a:pPr algn="l"/>
            <a:r>
              <a:rPr lang="es-MX" sz="1400" dirty="0">
                <a:solidFill>
                  <a:srgbClr val="5B5F71"/>
                </a:solidFill>
                <a:latin typeface="Arimo"/>
                <a:ea typeface="Arimo"/>
                <a:cs typeface="Arimo"/>
                <a:sym typeface="Arimo"/>
              </a:rPr>
              <a:t>El analizador está compuesto por dos funciones principales:</a:t>
            </a:r>
          </a:p>
          <a:p>
            <a:pPr algn="l"/>
            <a:r>
              <a:rPr lang="es-MX" sz="1400" dirty="0">
                <a:solidFill>
                  <a:srgbClr val="5B5F71"/>
                </a:solidFill>
                <a:latin typeface="Arimo"/>
                <a:ea typeface="Arimo"/>
                <a:cs typeface="Arimo"/>
                <a:sym typeface="Arimo"/>
              </a:rPr>
              <a:t>•</a:t>
            </a:r>
            <a:r>
              <a:rPr lang="es-MX" sz="1400" dirty="0" err="1">
                <a:solidFill>
                  <a:srgbClr val="5B5F71"/>
                </a:solidFill>
                <a:latin typeface="Arimo"/>
                <a:ea typeface="Arimo"/>
                <a:cs typeface="Arimo"/>
                <a:sym typeface="Arimo"/>
              </a:rPr>
              <a:t>expr</a:t>
            </a:r>
            <a:r>
              <a:rPr lang="es-MX" sz="1400" dirty="0">
                <a:solidFill>
                  <a:srgbClr val="5B5F71"/>
                </a:solidFill>
                <a:latin typeface="Arimo"/>
                <a:ea typeface="Arimo"/>
                <a:cs typeface="Arimo"/>
                <a:sym typeface="Arimo"/>
              </a:rPr>
              <a:t>():</a:t>
            </a:r>
          </a:p>
          <a:p>
            <a:pPr algn="l"/>
            <a:r>
              <a:rPr lang="es-MX" sz="1400" dirty="0">
                <a:solidFill>
                  <a:srgbClr val="5B5F71"/>
                </a:solidFill>
                <a:latin typeface="Arimo"/>
                <a:ea typeface="Arimo"/>
                <a:cs typeface="Arimo"/>
                <a:sym typeface="Arimo"/>
              </a:rPr>
              <a:t>Representa la regla gramatical:</a:t>
            </a:r>
          </a:p>
          <a:p>
            <a:pPr algn="l"/>
            <a:r>
              <a:rPr lang="es-MX" sz="1400" dirty="0" err="1">
                <a:solidFill>
                  <a:srgbClr val="5B5F71"/>
                </a:solidFill>
                <a:latin typeface="Arimo"/>
                <a:ea typeface="Arimo"/>
                <a:cs typeface="Arimo"/>
                <a:sym typeface="Arimo"/>
              </a:rPr>
              <a:t>Expr</a:t>
            </a:r>
            <a:r>
              <a:rPr lang="es-MX" sz="1400" dirty="0">
                <a:solidFill>
                  <a:srgbClr val="5B5F71"/>
                </a:solidFill>
                <a:latin typeface="Arimo"/>
                <a:ea typeface="Arimo"/>
                <a:cs typeface="Arimo"/>
                <a:sym typeface="Arimo"/>
              </a:rPr>
              <a:t> -&gt; </a:t>
            </a:r>
            <a:r>
              <a:rPr lang="es-MX" sz="1400" dirty="0" err="1">
                <a:solidFill>
                  <a:srgbClr val="5B5F71"/>
                </a:solidFill>
                <a:latin typeface="Arimo"/>
                <a:ea typeface="Arimo"/>
                <a:cs typeface="Arimo"/>
                <a:sym typeface="Arimo"/>
              </a:rPr>
              <a:t>Term</a:t>
            </a:r>
            <a:r>
              <a:rPr lang="es-MX" sz="1400" dirty="0">
                <a:solidFill>
                  <a:srgbClr val="5B5F71"/>
                </a:solidFill>
                <a:latin typeface="Arimo"/>
                <a:ea typeface="Arimo"/>
                <a:cs typeface="Arimo"/>
                <a:sym typeface="Arimo"/>
              </a:rPr>
              <a:t> { + </a:t>
            </a:r>
            <a:r>
              <a:rPr lang="es-MX" sz="1400" dirty="0" err="1">
                <a:solidFill>
                  <a:srgbClr val="5B5F71"/>
                </a:solidFill>
                <a:latin typeface="Arimo"/>
                <a:ea typeface="Arimo"/>
                <a:cs typeface="Arimo"/>
                <a:sym typeface="Arimo"/>
              </a:rPr>
              <a:t>Term</a:t>
            </a:r>
            <a:r>
              <a:rPr lang="es-MX" sz="1400" dirty="0">
                <a:solidFill>
                  <a:srgbClr val="5B5F71"/>
                </a:solidFill>
                <a:latin typeface="Arimo"/>
                <a:ea typeface="Arimo"/>
                <a:cs typeface="Arimo"/>
                <a:sym typeface="Arimo"/>
              </a:rPr>
              <a:t> }</a:t>
            </a:r>
          </a:p>
          <a:p>
            <a:pPr algn="l"/>
            <a:endParaRPr lang="es-MX" sz="1400" dirty="0">
              <a:solidFill>
                <a:srgbClr val="5B5F71"/>
              </a:solidFill>
              <a:latin typeface="Arimo"/>
              <a:ea typeface="Arimo"/>
              <a:cs typeface="Arimo"/>
              <a:sym typeface="Arimo"/>
            </a:endParaRPr>
          </a:p>
          <a:p>
            <a:pPr algn="l"/>
            <a:r>
              <a:rPr lang="es-MX" sz="1400" dirty="0">
                <a:solidFill>
                  <a:srgbClr val="5B5F71"/>
                </a:solidFill>
                <a:latin typeface="Arimo"/>
                <a:ea typeface="Arimo"/>
                <a:cs typeface="Arimo"/>
                <a:sym typeface="Arimo"/>
              </a:rPr>
              <a:t>Se encarga de validar expresiones que contienen uno o más términos separados por el operador +.</a:t>
            </a:r>
          </a:p>
          <a:p>
            <a:pPr algn="l"/>
            <a:r>
              <a:rPr lang="es-MX" sz="1400" dirty="0">
                <a:solidFill>
                  <a:srgbClr val="5B5F71"/>
                </a:solidFill>
                <a:latin typeface="Arimo"/>
                <a:ea typeface="Arimo"/>
                <a:cs typeface="Arimo"/>
                <a:sym typeface="Arimo"/>
              </a:rPr>
              <a:t>•</a:t>
            </a:r>
            <a:r>
              <a:rPr lang="es-MX" sz="1400" dirty="0" err="1">
                <a:solidFill>
                  <a:srgbClr val="5B5F71"/>
                </a:solidFill>
                <a:latin typeface="Arimo"/>
                <a:ea typeface="Arimo"/>
                <a:cs typeface="Arimo"/>
                <a:sym typeface="Arimo"/>
              </a:rPr>
              <a:t>term</a:t>
            </a:r>
            <a:r>
              <a:rPr lang="es-MX" sz="1400" dirty="0">
                <a:solidFill>
                  <a:srgbClr val="5B5F71"/>
                </a:solidFill>
                <a:latin typeface="Arimo"/>
                <a:ea typeface="Arimo"/>
                <a:cs typeface="Arimo"/>
                <a:sym typeface="Arimo"/>
              </a:rPr>
              <a:t>():</a:t>
            </a:r>
          </a:p>
          <a:p>
            <a:pPr algn="l"/>
            <a:endParaRPr lang="es-MX" sz="1400" dirty="0">
              <a:solidFill>
                <a:srgbClr val="5B5F71"/>
              </a:solidFill>
              <a:latin typeface="Arimo"/>
              <a:ea typeface="Arimo"/>
              <a:cs typeface="Arimo"/>
              <a:sym typeface="Arimo"/>
            </a:endParaRPr>
          </a:p>
          <a:p>
            <a:pPr algn="l"/>
            <a:r>
              <a:rPr lang="es-MX" sz="1400" dirty="0">
                <a:solidFill>
                  <a:srgbClr val="5B5F71"/>
                </a:solidFill>
                <a:latin typeface="Arimo"/>
                <a:ea typeface="Arimo"/>
                <a:cs typeface="Arimo"/>
                <a:sym typeface="Arimo"/>
              </a:rPr>
              <a:t>Representa la regla:</a:t>
            </a:r>
          </a:p>
          <a:p>
            <a:pPr algn="l"/>
            <a:r>
              <a:rPr lang="es-MX" sz="1400" dirty="0" err="1">
                <a:solidFill>
                  <a:srgbClr val="5B5F71"/>
                </a:solidFill>
                <a:latin typeface="Arimo"/>
                <a:ea typeface="Arimo"/>
                <a:cs typeface="Arimo"/>
                <a:sym typeface="Arimo"/>
              </a:rPr>
              <a:t>Term</a:t>
            </a:r>
            <a:r>
              <a:rPr lang="es-MX" sz="1400" dirty="0">
                <a:solidFill>
                  <a:srgbClr val="5B5F71"/>
                </a:solidFill>
                <a:latin typeface="Arimo"/>
                <a:ea typeface="Arimo"/>
                <a:cs typeface="Arimo"/>
                <a:sym typeface="Arimo"/>
              </a:rPr>
              <a:t> -&gt; id</a:t>
            </a:r>
          </a:p>
          <a:p>
            <a:pPr algn="l"/>
            <a:r>
              <a:rPr lang="es-MX" sz="1400" dirty="0">
                <a:solidFill>
                  <a:srgbClr val="5B5F71"/>
                </a:solidFill>
                <a:latin typeface="Arimo"/>
                <a:ea typeface="Arimo"/>
                <a:cs typeface="Arimo"/>
                <a:sym typeface="Arimo"/>
              </a:rPr>
              <a:t>Valida que el carácter actual sea una letra, es decir, un identificador válido.</a:t>
            </a:r>
          </a:p>
          <a:p>
            <a:pPr algn="l"/>
            <a:endParaRPr lang="es-MX" sz="1400" b="1" dirty="0">
              <a:solidFill>
                <a:srgbClr val="5B5F71"/>
              </a:solidFill>
              <a:latin typeface="Arimo"/>
              <a:ea typeface="Arimo"/>
              <a:cs typeface="Arimo"/>
              <a:sym typeface="Arimo"/>
            </a:endParaRPr>
          </a:p>
          <a:p>
            <a:pPr algn="l"/>
            <a:r>
              <a:rPr lang="es-MX" sz="1400" b="1" dirty="0">
                <a:solidFill>
                  <a:srgbClr val="5B5F71"/>
                </a:solidFill>
                <a:latin typeface="Arimo"/>
                <a:ea typeface="Arimo"/>
                <a:cs typeface="Arimo"/>
                <a:sym typeface="Arimo"/>
              </a:rPr>
              <a:t>4. Manejo de la posición</a:t>
            </a:r>
          </a:p>
          <a:p>
            <a:pPr algn="l"/>
            <a:r>
              <a:rPr lang="es-MX" sz="1400" dirty="0">
                <a:solidFill>
                  <a:srgbClr val="5B5F71"/>
                </a:solidFill>
                <a:latin typeface="Arimo"/>
                <a:ea typeface="Arimo"/>
                <a:cs typeface="Arimo"/>
                <a:sym typeface="Arimo"/>
              </a:rPr>
              <a:t>El programa utiliza una variable </a:t>
            </a:r>
            <a:r>
              <a:rPr lang="es-MX" sz="1400" dirty="0" err="1">
                <a:solidFill>
                  <a:srgbClr val="5B5F71"/>
                </a:solidFill>
                <a:latin typeface="Arimo"/>
                <a:ea typeface="Arimo"/>
                <a:cs typeface="Arimo"/>
                <a:sym typeface="Arimo"/>
              </a:rPr>
              <a:t>pos</a:t>
            </a:r>
            <a:r>
              <a:rPr lang="es-MX" sz="1400" dirty="0">
                <a:solidFill>
                  <a:srgbClr val="5B5F71"/>
                </a:solidFill>
                <a:latin typeface="Arimo"/>
                <a:ea typeface="Arimo"/>
                <a:cs typeface="Arimo"/>
                <a:sym typeface="Arimo"/>
              </a:rPr>
              <a:t> que indica la posición actual dentro de la cadena.</a:t>
            </a:r>
          </a:p>
          <a:p>
            <a:pPr algn="l"/>
            <a:r>
              <a:rPr lang="es-MX" sz="1400" dirty="0">
                <a:solidFill>
                  <a:srgbClr val="5B5F71"/>
                </a:solidFill>
                <a:latin typeface="Arimo"/>
                <a:ea typeface="Arimo"/>
                <a:cs typeface="Arimo"/>
                <a:sym typeface="Arimo"/>
              </a:rPr>
              <a:t>Cada vez que se reconoce un símbolo válido, esta posición se incrementa, permitiendo avanzar en el análisis de la expresión.</a:t>
            </a:r>
          </a:p>
          <a:p>
            <a:pPr algn="l"/>
            <a:endParaRPr lang="es-MX" sz="1400" dirty="0">
              <a:solidFill>
                <a:srgbClr val="5B5F71"/>
              </a:solidFill>
              <a:latin typeface="Arimo"/>
              <a:ea typeface="Arimo"/>
              <a:cs typeface="Arimo"/>
              <a:sym typeface="Arimo"/>
            </a:endParaRPr>
          </a:p>
          <a:p>
            <a:pPr algn="l"/>
            <a:r>
              <a:rPr lang="es-MX" sz="1400" dirty="0">
                <a:solidFill>
                  <a:srgbClr val="5B5F71"/>
                </a:solidFill>
                <a:latin typeface="Arimo"/>
                <a:ea typeface="Arimo"/>
                <a:cs typeface="Arimo"/>
                <a:sym typeface="Arimo"/>
              </a:rPr>
              <a:t>5. Control de errores</a:t>
            </a:r>
          </a:p>
          <a:p>
            <a:pPr algn="l"/>
            <a:r>
              <a:rPr lang="es-MX" sz="1400" dirty="0">
                <a:solidFill>
                  <a:srgbClr val="5B5F71"/>
                </a:solidFill>
                <a:latin typeface="Arimo"/>
                <a:ea typeface="Arimo"/>
                <a:cs typeface="Arimo"/>
                <a:sym typeface="Arimo"/>
              </a:rPr>
              <a:t>El sistema detecta errores cuando:</a:t>
            </a:r>
          </a:p>
          <a:p>
            <a:pPr algn="l"/>
            <a:r>
              <a:rPr lang="es-MX" sz="1400" dirty="0">
                <a:solidFill>
                  <a:srgbClr val="5B5F71"/>
                </a:solidFill>
                <a:latin typeface="Arimo"/>
                <a:ea typeface="Arimo"/>
                <a:cs typeface="Arimo"/>
                <a:sym typeface="Arimo"/>
              </a:rPr>
              <a:t>•No se encuentra un identificador donde debería haber uno </a:t>
            </a:r>
          </a:p>
          <a:p>
            <a:pPr algn="l"/>
            <a:r>
              <a:rPr lang="es-MX" sz="1400" dirty="0">
                <a:solidFill>
                  <a:srgbClr val="5B5F71"/>
                </a:solidFill>
                <a:latin typeface="Arimo"/>
                <a:ea typeface="Arimo"/>
                <a:cs typeface="Arimo"/>
                <a:sym typeface="Arimo"/>
              </a:rPr>
              <a:t>•Se utilizan operadores de forma incorrecta (ejemplo: a++b) </a:t>
            </a:r>
          </a:p>
          <a:p>
            <a:pPr algn="l"/>
            <a:r>
              <a:rPr lang="es-MX" sz="1400" dirty="0">
                <a:solidFill>
                  <a:srgbClr val="5B5F71"/>
                </a:solidFill>
                <a:latin typeface="Arimo"/>
                <a:ea typeface="Arimo"/>
                <a:cs typeface="Arimo"/>
                <a:sym typeface="Arimo"/>
              </a:rPr>
              <a:t>•La expresión queda incompleta (ejemplo: a+) </a:t>
            </a:r>
          </a:p>
          <a:p>
            <a:pPr algn="l"/>
            <a:endParaRPr lang="es-MX" sz="1400" dirty="0">
              <a:solidFill>
                <a:srgbClr val="5B5F71"/>
              </a:solidFill>
              <a:latin typeface="Arimo"/>
              <a:ea typeface="Arimo"/>
              <a:cs typeface="Arimo"/>
              <a:sym typeface="Arimo"/>
            </a:endParaRPr>
          </a:p>
          <a:p>
            <a:pPr algn="l"/>
            <a:r>
              <a:rPr lang="es-MX" sz="1400" dirty="0">
                <a:solidFill>
                  <a:srgbClr val="5B5F71"/>
                </a:solidFill>
                <a:latin typeface="Arimo"/>
                <a:ea typeface="Arimo"/>
                <a:cs typeface="Arimo"/>
                <a:sym typeface="Arimo"/>
              </a:rPr>
              <a:t>En estos casos, el método retorna false y se muestra el mensaje:</a:t>
            </a:r>
          </a:p>
          <a:p>
            <a:pPr algn="l"/>
            <a:r>
              <a:rPr lang="es-MX" sz="1400" b="1" dirty="0" err="1">
                <a:solidFill>
                  <a:srgbClr val="5B5F71"/>
                </a:solidFill>
                <a:latin typeface="Arimo"/>
                <a:ea typeface="Arimo"/>
                <a:cs typeface="Arimo"/>
                <a:sym typeface="Arimo"/>
              </a:rPr>
              <a:t>Expresion</a:t>
            </a:r>
            <a:r>
              <a:rPr lang="es-MX" sz="1400" b="1" dirty="0">
                <a:solidFill>
                  <a:srgbClr val="5B5F71"/>
                </a:solidFill>
                <a:latin typeface="Arimo"/>
                <a:ea typeface="Arimo"/>
                <a:cs typeface="Arimo"/>
                <a:sym typeface="Arimo"/>
              </a:rPr>
              <a:t> invalida</a:t>
            </a:r>
          </a:p>
          <a:p>
            <a:pPr algn="l"/>
            <a:endParaRPr lang="es-MX" sz="1400" dirty="0">
              <a:solidFill>
                <a:srgbClr val="5B5F71"/>
              </a:solidFill>
              <a:latin typeface="Arimo"/>
              <a:ea typeface="Arimo"/>
              <a:cs typeface="Arimo"/>
              <a:sym typeface="Arimo"/>
            </a:endParaRPr>
          </a:p>
          <a:p>
            <a:pPr algn="l">
              <a:lnSpc>
                <a:spcPts val="2010"/>
              </a:lnSpc>
            </a:pPr>
            <a:endParaRPr lang="en-US" sz="1400" dirty="0">
              <a:solidFill>
                <a:srgbClr val="5B5F71"/>
              </a:solidFill>
              <a:latin typeface="Arimo"/>
              <a:ea typeface="Arimo"/>
              <a:cs typeface="Arimo"/>
              <a:sym typeface="Arimo"/>
            </a:endParaRPr>
          </a:p>
          <a:p>
            <a:pPr algn="l">
              <a:lnSpc>
                <a:spcPts val="2011"/>
              </a:lnSpc>
            </a:pPr>
            <a:endParaRPr lang="en-US" sz="1400" dirty="0">
              <a:solidFill>
                <a:srgbClr val="5B5F71"/>
              </a:solidFill>
              <a:latin typeface="Arimo"/>
              <a:ea typeface="Arimo"/>
              <a:cs typeface="Arimo"/>
              <a:sym typeface="Arimo"/>
            </a:endParaRPr>
          </a:p>
        </p:txBody>
      </p:sp>
    </p:spTree>
    <p:extLst>
      <p:ext uri="{BB962C8B-B14F-4D97-AF65-F5344CB8AC3E}">
        <p14:creationId xmlns:p14="http://schemas.microsoft.com/office/powerpoint/2010/main" val="1693061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5"/>
          <p:cNvSpPr txBox="1"/>
          <p:nvPr/>
        </p:nvSpPr>
        <p:spPr>
          <a:xfrm>
            <a:off x="914400" y="266700"/>
            <a:ext cx="9299077" cy="513923"/>
          </a:xfrm>
          <a:prstGeom prst="rect">
            <a:avLst/>
          </a:prstGeom>
        </p:spPr>
        <p:txBody>
          <a:bodyPr wrap="square" lIns="0" tIns="0" rIns="0" bIns="0" rtlCol="0" anchor="t">
            <a:spAutoFit/>
          </a:bodyPr>
          <a:lstStyle/>
          <a:p>
            <a:pPr algn="l">
              <a:lnSpc>
                <a:spcPts val="4312"/>
              </a:lnSpc>
            </a:pPr>
            <a:r>
              <a:rPr lang="en-US" sz="3437" b="1" dirty="0" err="1">
                <a:solidFill>
                  <a:srgbClr val="505468"/>
                </a:solidFill>
                <a:latin typeface="Arimo Bold"/>
                <a:ea typeface="Arimo Bold"/>
                <a:cs typeface="Arimo Bold"/>
                <a:sym typeface="Arimo Bold"/>
              </a:rPr>
              <a:t>Resultados</a:t>
            </a:r>
            <a:endParaRPr lang="en-US" sz="3437" b="1" dirty="0">
              <a:solidFill>
                <a:srgbClr val="505468"/>
              </a:solidFill>
              <a:latin typeface="Arimo Bold"/>
              <a:ea typeface="Arimo Bold"/>
              <a:cs typeface="Arimo Bold"/>
              <a:sym typeface="Arimo Bold"/>
            </a:endParaRPr>
          </a:p>
        </p:txBody>
      </p:sp>
      <p:graphicFrame>
        <p:nvGraphicFramePr>
          <p:cNvPr id="2" name="Tabla 1">
            <a:extLst>
              <a:ext uri="{FF2B5EF4-FFF2-40B4-BE49-F238E27FC236}">
                <a16:creationId xmlns:a16="http://schemas.microsoft.com/office/drawing/2014/main" id="{A6E05DD4-B084-0ECE-DDA1-3909CD14136F}"/>
              </a:ext>
            </a:extLst>
          </p:cNvPr>
          <p:cNvGraphicFramePr>
            <a:graphicFrameLocks noGrp="1"/>
          </p:cNvGraphicFramePr>
          <p:nvPr>
            <p:extLst>
              <p:ext uri="{D42A27DB-BD31-4B8C-83A1-F6EECF244321}">
                <p14:modId xmlns:p14="http://schemas.microsoft.com/office/powerpoint/2010/main" val="4266788182"/>
              </p:ext>
            </p:extLst>
          </p:nvPr>
        </p:nvGraphicFramePr>
        <p:xfrm>
          <a:off x="5334000" y="432548"/>
          <a:ext cx="11201400" cy="2937510"/>
        </p:xfrm>
        <a:graphic>
          <a:graphicData uri="http://schemas.openxmlformats.org/drawingml/2006/table">
            <a:tbl>
              <a:tblPr firstRow="1" firstCol="1" bandRow="1">
                <a:tableStyleId>{5C22544A-7EE6-4342-B048-85BDC9FD1C3A}</a:tableStyleId>
              </a:tblPr>
              <a:tblGrid>
                <a:gridCol w="5600700">
                  <a:extLst>
                    <a:ext uri="{9D8B030D-6E8A-4147-A177-3AD203B41FA5}">
                      <a16:colId xmlns:a16="http://schemas.microsoft.com/office/drawing/2014/main" val="2952949372"/>
                    </a:ext>
                  </a:extLst>
                </a:gridCol>
                <a:gridCol w="5600700">
                  <a:extLst>
                    <a:ext uri="{9D8B030D-6E8A-4147-A177-3AD203B41FA5}">
                      <a16:colId xmlns:a16="http://schemas.microsoft.com/office/drawing/2014/main" val="786816583"/>
                    </a:ext>
                  </a:extLst>
                </a:gridCol>
              </a:tblGrid>
              <a:tr h="444926">
                <a:tc>
                  <a:txBody>
                    <a:bodyPr/>
                    <a:lstStyle/>
                    <a:p>
                      <a:pPr algn="just">
                        <a:lnSpc>
                          <a:spcPct val="150000"/>
                        </a:lnSpc>
                      </a:pPr>
                      <a:r>
                        <a:rPr lang="es-MX" sz="2400" kern="100">
                          <a:effectLst/>
                        </a:rPr>
                        <a:t>Entrada</a:t>
                      </a:r>
                      <a:endParaRPr lang="es-MX" sz="2000" kern="1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50000"/>
                        </a:lnSpc>
                      </a:pPr>
                      <a:r>
                        <a:rPr lang="es-MX" sz="2400" kern="100">
                          <a:effectLst/>
                        </a:rPr>
                        <a:t>Resultado</a:t>
                      </a:r>
                      <a:endParaRPr lang="es-MX" sz="2000" kern="1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4189986196"/>
                  </a:ext>
                </a:extLst>
              </a:tr>
              <a:tr h="444926">
                <a:tc>
                  <a:txBody>
                    <a:bodyPr/>
                    <a:lstStyle/>
                    <a:p>
                      <a:pPr algn="just">
                        <a:lnSpc>
                          <a:spcPct val="150000"/>
                        </a:lnSpc>
                      </a:pPr>
                      <a:r>
                        <a:rPr lang="es-MX" sz="2400" kern="100">
                          <a:effectLst/>
                        </a:rPr>
                        <a:t>a+b</a:t>
                      </a:r>
                      <a:endParaRPr lang="es-MX" sz="2000" kern="1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50000"/>
                        </a:lnSpc>
                      </a:pPr>
                      <a:r>
                        <a:rPr lang="es-MX" sz="2400" kern="100">
                          <a:effectLst/>
                        </a:rPr>
                        <a:t>= Válido</a:t>
                      </a:r>
                      <a:endParaRPr lang="es-MX" sz="2000" kern="1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531745472"/>
                  </a:ext>
                </a:extLst>
              </a:tr>
              <a:tr h="444926">
                <a:tc>
                  <a:txBody>
                    <a:bodyPr/>
                    <a:lstStyle/>
                    <a:p>
                      <a:pPr algn="just">
                        <a:lnSpc>
                          <a:spcPct val="150000"/>
                        </a:lnSpc>
                      </a:pPr>
                      <a:r>
                        <a:rPr lang="es-MX" sz="2400" kern="100">
                          <a:effectLst/>
                        </a:rPr>
                        <a:t>a+b+c</a:t>
                      </a:r>
                      <a:endParaRPr lang="es-MX" sz="2000" kern="1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50000"/>
                        </a:lnSpc>
                      </a:pPr>
                      <a:r>
                        <a:rPr lang="es-MX" sz="2400" kern="100">
                          <a:effectLst/>
                        </a:rPr>
                        <a:t>= Válido</a:t>
                      </a:r>
                      <a:endParaRPr lang="es-MX" sz="2000" kern="1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949908711"/>
                  </a:ext>
                </a:extLst>
              </a:tr>
              <a:tr h="444926">
                <a:tc>
                  <a:txBody>
                    <a:bodyPr/>
                    <a:lstStyle/>
                    <a:p>
                      <a:pPr algn="just">
                        <a:lnSpc>
                          <a:spcPct val="150000"/>
                        </a:lnSpc>
                      </a:pPr>
                      <a:r>
                        <a:rPr lang="es-MX" sz="2400" kern="100">
                          <a:effectLst/>
                        </a:rPr>
                        <a:t>a++b</a:t>
                      </a:r>
                      <a:endParaRPr lang="es-MX" sz="2000" kern="1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50000"/>
                        </a:lnSpc>
                      </a:pPr>
                      <a:r>
                        <a:rPr lang="es-MX" sz="2400" kern="100">
                          <a:effectLst/>
                          <a:highlight>
                            <a:srgbClr val="FFFF00"/>
                          </a:highlight>
                        </a:rPr>
                        <a:t>= Inválido</a:t>
                      </a:r>
                      <a:endParaRPr lang="es-MX" sz="2000" kern="1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566899571"/>
                  </a:ext>
                </a:extLst>
              </a:tr>
              <a:tr h="444926">
                <a:tc>
                  <a:txBody>
                    <a:bodyPr/>
                    <a:lstStyle/>
                    <a:p>
                      <a:pPr algn="just">
                        <a:lnSpc>
                          <a:spcPct val="150000"/>
                        </a:lnSpc>
                      </a:pPr>
                      <a:r>
                        <a:rPr lang="es-MX" sz="2400" kern="100">
                          <a:effectLst/>
                        </a:rPr>
                        <a:t>+ab</a:t>
                      </a:r>
                      <a:endParaRPr lang="es-MX" sz="2000" kern="1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50000"/>
                        </a:lnSpc>
                      </a:pPr>
                      <a:r>
                        <a:rPr lang="es-MX" sz="2400" kern="100">
                          <a:effectLst/>
                          <a:highlight>
                            <a:srgbClr val="FFFF00"/>
                          </a:highlight>
                        </a:rPr>
                        <a:t>= Inválido</a:t>
                      </a:r>
                      <a:endParaRPr lang="es-MX" sz="2000" kern="1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928342014"/>
                  </a:ext>
                </a:extLst>
              </a:tr>
              <a:tr h="444926">
                <a:tc>
                  <a:txBody>
                    <a:bodyPr/>
                    <a:lstStyle/>
                    <a:p>
                      <a:pPr algn="just">
                        <a:lnSpc>
                          <a:spcPct val="150000"/>
                        </a:lnSpc>
                      </a:pPr>
                      <a:r>
                        <a:rPr lang="es-MX" sz="2400" kern="100" dirty="0">
                          <a:effectLst/>
                        </a:rPr>
                        <a:t>a+</a:t>
                      </a:r>
                      <a:endParaRPr lang="es-MX" sz="2000" kern="1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50000"/>
                        </a:lnSpc>
                      </a:pPr>
                      <a:r>
                        <a:rPr lang="es-MX" sz="2400" kern="100" dirty="0">
                          <a:effectLst/>
                          <a:highlight>
                            <a:srgbClr val="FFFF00"/>
                          </a:highlight>
                        </a:rPr>
                        <a:t>= Inválido</a:t>
                      </a:r>
                      <a:endParaRPr lang="es-MX" sz="2000" kern="1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052981038"/>
                  </a:ext>
                </a:extLst>
              </a:tr>
            </a:tbl>
          </a:graphicData>
        </a:graphic>
      </p:graphicFrame>
      <p:sp>
        <p:nvSpPr>
          <p:cNvPr id="3" name="Rectangle 1">
            <a:extLst>
              <a:ext uri="{FF2B5EF4-FFF2-40B4-BE49-F238E27FC236}">
                <a16:creationId xmlns:a16="http://schemas.microsoft.com/office/drawing/2014/main" id="{BA0572F6-459F-3DA1-C715-8113260CB582}"/>
              </a:ext>
            </a:extLst>
          </p:cNvPr>
          <p:cNvSpPr>
            <a:spLocks noChangeArrowheads="1"/>
          </p:cNvSpPr>
          <p:nvPr/>
        </p:nvSpPr>
        <p:spPr bwMode="auto">
          <a:xfrm>
            <a:off x="457200" y="1721397"/>
            <a:ext cx="48768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4000" b="1" i="0" u="none" strike="noStrike" cap="none" normalizeH="0" baseline="0" dirty="0">
                <a:ln>
                  <a:noFill/>
                </a:ln>
                <a:solidFill>
                  <a:srgbClr val="000000"/>
                </a:solidFill>
                <a:effectLst/>
                <a:latin typeface="Montserrat" panose="00000500000000000000" pitchFamily="2" charset="0"/>
                <a:ea typeface="Arial" panose="020B0604020202020204" pitchFamily="34" charset="0"/>
              </a:rPr>
              <a:t>Casos probados:</a:t>
            </a:r>
            <a:endParaRPr kumimoji="0" lang="es-MX" altLang="es-MX" sz="5400" b="0" i="0" u="none" strike="noStrike" cap="none" normalizeH="0" baseline="0" dirty="0">
              <a:ln>
                <a:noFill/>
              </a:ln>
              <a:solidFill>
                <a:schemeClr val="tx1"/>
              </a:solidFill>
              <a:effectLst/>
              <a:latin typeface="Arial" panose="020B0604020202020204" pitchFamily="34" charset="0"/>
            </a:endParaRPr>
          </a:p>
        </p:txBody>
      </p:sp>
      <p:pic>
        <p:nvPicPr>
          <p:cNvPr id="4" name="Imagen 3">
            <a:extLst>
              <a:ext uri="{FF2B5EF4-FFF2-40B4-BE49-F238E27FC236}">
                <a16:creationId xmlns:a16="http://schemas.microsoft.com/office/drawing/2014/main" id="{09BD1686-1097-C156-CDDB-E9947164C56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7200" y="4273728"/>
            <a:ext cx="8091791" cy="4549458"/>
          </a:xfrm>
          <a:prstGeom prst="rect">
            <a:avLst/>
          </a:prstGeom>
        </p:spPr>
      </p:pic>
      <p:pic>
        <p:nvPicPr>
          <p:cNvPr id="5" name="Imagen 4">
            <a:extLst>
              <a:ext uri="{FF2B5EF4-FFF2-40B4-BE49-F238E27FC236}">
                <a16:creationId xmlns:a16="http://schemas.microsoft.com/office/drawing/2014/main" id="{D4D5BECB-ADDC-2F62-E92D-6971B53A8A51}"/>
              </a:ext>
            </a:extLst>
          </p:cNvPr>
          <p:cNvPicPr>
            <a:picLocks noChangeAspect="1"/>
          </p:cNvPicPr>
          <p:nvPr/>
        </p:nvPicPr>
        <p:blipFill>
          <a:blip r:embed="rId4"/>
          <a:stretch>
            <a:fillRect/>
          </a:stretch>
        </p:blipFill>
        <p:spPr>
          <a:xfrm>
            <a:off x="9372600" y="4270040"/>
            <a:ext cx="8091790" cy="4549457"/>
          </a:xfrm>
          <a:prstGeom prst="rect">
            <a:avLst/>
          </a:prstGeom>
        </p:spPr>
      </p:pic>
      <p:sp>
        <p:nvSpPr>
          <p:cNvPr id="6" name="Rectangle 1">
            <a:extLst>
              <a:ext uri="{FF2B5EF4-FFF2-40B4-BE49-F238E27FC236}">
                <a16:creationId xmlns:a16="http://schemas.microsoft.com/office/drawing/2014/main" id="{F8C45B41-15DE-7A75-2C1D-3FFB8341E6CA}"/>
              </a:ext>
            </a:extLst>
          </p:cNvPr>
          <p:cNvSpPr>
            <a:spLocks noChangeArrowheads="1"/>
          </p:cNvSpPr>
          <p:nvPr/>
        </p:nvSpPr>
        <p:spPr bwMode="auto">
          <a:xfrm>
            <a:off x="4114800" y="8900908"/>
            <a:ext cx="48768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4000" b="1" i="0" u="none" strike="noStrike" cap="none" normalizeH="0" baseline="0" dirty="0">
                <a:ln>
                  <a:noFill/>
                </a:ln>
                <a:solidFill>
                  <a:srgbClr val="000000"/>
                </a:solidFill>
                <a:effectLst/>
                <a:latin typeface="Montserrat" panose="00000500000000000000" pitchFamily="2" charset="0"/>
                <a:ea typeface="Arial" panose="020B0604020202020204" pitchFamily="34" charset="0"/>
              </a:rPr>
              <a:t>1</a:t>
            </a:r>
            <a:endParaRPr kumimoji="0" lang="es-MX" altLang="es-MX" sz="5400" b="0" i="0" u="none" strike="noStrike" cap="none" normalizeH="0" baseline="0" dirty="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94DCBA4A-B8C1-3D49-DFDC-513FEC477437}"/>
              </a:ext>
            </a:extLst>
          </p:cNvPr>
          <p:cNvSpPr>
            <a:spLocks noChangeArrowheads="1"/>
          </p:cNvSpPr>
          <p:nvPr/>
        </p:nvSpPr>
        <p:spPr bwMode="auto">
          <a:xfrm>
            <a:off x="13408741" y="8819497"/>
            <a:ext cx="48768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4000" b="1" dirty="0">
                <a:solidFill>
                  <a:srgbClr val="000000"/>
                </a:solidFill>
                <a:latin typeface="Montserrat" panose="00000500000000000000" pitchFamily="2" charset="0"/>
              </a:rPr>
              <a:t>2</a:t>
            </a:r>
          </a:p>
        </p:txBody>
      </p:sp>
    </p:spTree>
    <p:extLst>
      <p:ext uri="{BB962C8B-B14F-4D97-AF65-F5344CB8AC3E}">
        <p14:creationId xmlns:p14="http://schemas.microsoft.com/office/powerpoint/2010/main" val="420982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5"/>
          <p:cNvSpPr txBox="1"/>
          <p:nvPr/>
        </p:nvSpPr>
        <p:spPr>
          <a:xfrm>
            <a:off x="914400" y="266700"/>
            <a:ext cx="9299077" cy="513923"/>
          </a:xfrm>
          <a:prstGeom prst="rect">
            <a:avLst/>
          </a:prstGeom>
        </p:spPr>
        <p:txBody>
          <a:bodyPr wrap="square" lIns="0" tIns="0" rIns="0" bIns="0" rtlCol="0" anchor="t">
            <a:spAutoFit/>
          </a:bodyPr>
          <a:lstStyle/>
          <a:p>
            <a:pPr algn="l">
              <a:lnSpc>
                <a:spcPts val="4312"/>
              </a:lnSpc>
            </a:pPr>
            <a:r>
              <a:rPr lang="en-US" sz="3437" b="1" dirty="0" err="1">
                <a:solidFill>
                  <a:srgbClr val="505468"/>
                </a:solidFill>
                <a:latin typeface="Arimo Bold"/>
                <a:ea typeface="Arimo Bold"/>
                <a:cs typeface="Arimo Bold"/>
                <a:sym typeface="Arimo Bold"/>
              </a:rPr>
              <a:t>Resultados</a:t>
            </a:r>
            <a:endParaRPr lang="en-US" sz="3437" b="1" dirty="0">
              <a:solidFill>
                <a:srgbClr val="505468"/>
              </a:solidFill>
              <a:latin typeface="Arimo Bold"/>
              <a:ea typeface="Arimo Bold"/>
              <a:cs typeface="Arimo Bold"/>
              <a:sym typeface="Arimo Bold"/>
            </a:endParaRPr>
          </a:p>
        </p:txBody>
      </p:sp>
      <p:graphicFrame>
        <p:nvGraphicFramePr>
          <p:cNvPr id="2" name="Tabla 1">
            <a:extLst>
              <a:ext uri="{FF2B5EF4-FFF2-40B4-BE49-F238E27FC236}">
                <a16:creationId xmlns:a16="http://schemas.microsoft.com/office/drawing/2014/main" id="{A6E05DD4-B084-0ECE-DDA1-3909CD14136F}"/>
              </a:ext>
            </a:extLst>
          </p:cNvPr>
          <p:cNvGraphicFramePr>
            <a:graphicFrameLocks noGrp="1"/>
          </p:cNvGraphicFramePr>
          <p:nvPr/>
        </p:nvGraphicFramePr>
        <p:xfrm>
          <a:off x="5334000" y="432548"/>
          <a:ext cx="11201400" cy="2937510"/>
        </p:xfrm>
        <a:graphic>
          <a:graphicData uri="http://schemas.openxmlformats.org/drawingml/2006/table">
            <a:tbl>
              <a:tblPr firstRow="1" firstCol="1" bandRow="1">
                <a:tableStyleId>{5C22544A-7EE6-4342-B048-85BDC9FD1C3A}</a:tableStyleId>
              </a:tblPr>
              <a:tblGrid>
                <a:gridCol w="5600700">
                  <a:extLst>
                    <a:ext uri="{9D8B030D-6E8A-4147-A177-3AD203B41FA5}">
                      <a16:colId xmlns:a16="http://schemas.microsoft.com/office/drawing/2014/main" val="2952949372"/>
                    </a:ext>
                  </a:extLst>
                </a:gridCol>
                <a:gridCol w="5600700">
                  <a:extLst>
                    <a:ext uri="{9D8B030D-6E8A-4147-A177-3AD203B41FA5}">
                      <a16:colId xmlns:a16="http://schemas.microsoft.com/office/drawing/2014/main" val="786816583"/>
                    </a:ext>
                  </a:extLst>
                </a:gridCol>
              </a:tblGrid>
              <a:tr h="444926">
                <a:tc>
                  <a:txBody>
                    <a:bodyPr/>
                    <a:lstStyle/>
                    <a:p>
                      <a:pPr algn="just">
                        <a:lnSpc>
                          <a:spcPct val="150000"/>
                        </a:lnSpc>
                      </a:pPr>
                      <a:r>
                        <a:rPr lang="es-MX" sz="2400" kern="100">
                          <a:effectLst/>
                        </a:rPr>
                        <a:t>Entrada</a:t>
                      </a:r>
                      <a:endParaRPr lang="es-MX" sz="2000" kern="1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50000"/>
                        </a:lnSpc>
                      </a:pPr>
                      <a:r>
                        <a:rPr lang="es-MX" sz="2400" kern="100">
                          <a:effectLst/>
                        </a:rPr>
                        <a:t>Resultado</a:t>
                      </a:r>
                      <a:endParaRPr lang="es-MX" sz="2000" kern="1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4189986196"/>
                  </a:ext>
                </a:extLst>
              </a:tr>
              <a:tr h="444926">
                <a:tc>
                  <a:txBody>
                    <a:bodyPr/>
                    <a:lstStyle/>
                    <a:p>
                      <a:pPr algn="just">
                        <a:lnSpc>
                          <a:spcPct val="150000"/>
                        </a:lnSpc>
                      </a:pPr>
                      <a:r>
                        <a:rPr lang="es-MX" sz="2400" kern="100">
                          <a:effectLst/>
                        </a:rPr>
                        <a:t>a+b</a:t>
                      </a:r>
                      <a:endParaRPr lang="es-MX" sz="2000" kern="1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50000"/>
                        </a:lnSpc>
                      </a:pPr>
                      <a:r>
                        <a:rPr lang="es-MX" sz="2400" kern="100">
                          <a:effectLst/>
                        </a:rPr>
                        <a:t>= Válido</a:t>
                      </a:r>
                      <a:endParaRPr lang="es-MX" sz="2000" kern="1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531745472"/>
                  </a:ext>
                </a:extLst>
              </a:tr>
              <a:tr h="444926">
                <a:tc>
                  <a:txBody>
                    <a:bodyPr/>
                    <a:lstStyle/>
                    <a:p>
                      <a:pPr algn="just">
                        <a:lnSpc>
                          <a:spcPct val="150000"/>
                        </a:lnSpc>
                      </a:pPr>
                      <a:r>
                        <a:rPr lang="es-MX" sz="2400" kern="100">
                          <a:effectLst/>
                        </a:rPr>
                        <a:t>a+b+c</a:t>
                      </a:r>
                      <a:endParaRPr lang="es-MX" sz="2000" kern="1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50000"/>
                        </a:lnSpc>
                      </a:pPr>
                      <a:r>
                        <a:rPr lang="es-MX" sz="2400" kern="100">
                          <a:effectLst/>
                        </a:rPr>
                        <a:t>= Válido</a:t>
                      </a:r>
                      <a:endParaRPr lang="es-MX" sz="2000" kern="1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949908711"/>
                  </a:ext>
                </a:extLst>
              </a:tr>
              <a:tr h="444926">
                <a:tc>
                  <a:txBody>
                    <a:bodyPr/>
                    <a:lstStyle/>
                    <a:p>
                      <a:pPr algn="just">
                        <a:lnSpc>
                          <a:spcPct val="150000"/>
                        </a:lnSpc>
                      </a:pPr>
                      <a:r>
                        <a:rPr lang="es-MX" sz="2400" kern="100">
                          <a:effectLst/>
                        </a:rPr>
                        <a:t>a++b</a:t>
                      </a:r>
                      <a:endParaRPr lang="es-MX" sz="2000" kern="1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50000"/>
                        </a:lnSpc>
                      </a:pPr>
                      <a:r>
                        <a:rPr lang="es-MX" sz="2400" kern="100">
                          <a:effectLst/>
                          <a:highlight>
                            <a:srgbClr val="FFFF00"/>
                          </a:highlight>
                        </a:rPr>
                        <a:t>= Inválido</a:t>
                      </a:r>
                      <a:endParaRPr lang="es-MX" sz="2000" kern="1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566899571"/>
                  </a:ext>
                </a:extLst>
              </a:tr>
              <a:tr h="444926">
                <a:tc>
                  <a:txBody>
                    <a:bodyPr/>
                    <a:lstStyle/>
                    <a:p>
                      <a:pPr algn="just">
                        <a:lnSpc>
                          <a:spcPct val="150000"/>
                        </a:lnSpc>
                      </a:pPr>
                      <a:r>
                        <a:rPr lang="es-MX" sz="2400" kern="100">
                          <a:effectLst/>
                        </a:rPr>
                        <a:t>+ab</a:t>
                      </a:r>
                      <a:endParaRPr lang="es-MX" sz="2000" kern="1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50000"/>
                        </a:lnSpc>
                      </a:pPr>
                      <a:r>
                        <a:rPr lang="es-MX" sz="2400" kern="100">
                          <a:effectLst/>
                          <a:highlight>
                            <a:srgbClr val="FFFF00"/>
                          </a:highlight>
                        </a:rPr>
                        <a:t>= Inválido</a:t>
                      </a:r>
                      <a:endParaRPr lang="es-MX" sz="2000" kern="10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928342014"/>
                  </a:ext>
                </a:extLst>
              </a:tr>
              <a:tr h="444926">
                <a:tc>
                  <a:txBody>
                    <a:bodyPr/>
                    <a:lstStyle/>
                    <a:p>
                      <a:pPr algn="just">
                        <a:lnSpc>
                          <a:spcPct val="150000"/>
                        </a:lnSpc>
                      </a:pPr>
                      <a:r>
                        <a:rPr lang="es-MX" sz="2400" kern="100" dirty="0">
                          <a:effectLst/>
                        </a:rPr>
                        <a:t>a+</a:t>
                      </a:r>
                      <a:endParaRPr lang="es-MX" sz="2000" kern="1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just">
                        <a:lnSpc>
                          <a:spcPct val="150000"/>
                        </a:lnSpc>
                      </a:pPr>
                      <a:r>
                        <a:rPr lang="es-MX" sz="2400" kern="100" dirty="0">
                          <a:effectLst/>
                          <a:highlight>
                            <a:srgbClr val="FFFF00"/>
                          </a:highlight>
                        </a:rPr>
                        <a:t>= Inválido</a:t>
                      </a:r>
                      <a:endParaRPr lang="es-MX" sz="2000" kern="1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052981038"/>
                  </a:ext>
                </a:extLst>
              </a:tr>
            </a:tbl>
          </a:graphicData>
        </a:graphic>
      </p:graphicFrame>
      <p:sp>
        <p:nvSpPr>
          <p:cNvPr id="3" name="Rectangle 1">
            <a:extLst>
              <a:ext uri="{FF2B5EF4-FFF2-40B4-BE49-F238E27FC236}">
                <a16:creationId xmlns:a16="http://schemas.microsoft.com/office/drawing/2014/main" id="{BA0572F6-459F-3DA1-C715-8113260CB582}"/>
              </a:ext>
            </a:extLst>
          </p:cNvPr>
          <p:cNvSpPr>
            <a:spLocks noChangeArrowheads="1"/>
          </p:cNvSpPr>
          <p:nvPr/>
        </p:nvSpPr>
        <p:spPr bwMode="auto">
          <a:xfrm>
            <a:off x="457200" y="1721397"/>
            <a:ext cx="48768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4000" b="1" i="0" u="none" strike="noStrike" cap="none" normalizeH="0" baseline="0" dirty="0">
                <a:ln>
                  <a:noFill/>
                </a:ln>
                <a:solidFill>
                  <a:srgbClr val="000000"/>
                </a:solidFill>
                <a:effectLst/>
                <a:latin typeface="Montserrat" panose="00000500000000000000" pitchFamily="2" charset="0"/>
                <a:ea typeface="Arial" panose="020B0604020202020204" pitchFamily="34" charset="0"/>
              </a:rPr>
              <a:t>Casos probados:</a:t>
            </a:r>
            <a:endParaRPr kumimoji="0" lang="es-MX" altLang="es-MX" sz="5400" b="0" i="0" u="none" strike="noStrike" cap="none" normalizeH="0" baseline="0" dirty="0">
              <a:ln>
                <a:noFill/>
              </a:ln>
              <a:solidFill>
                <a:schemeClr val="tx1"/>
              </a:solidFill>
              <a:effectLst/>
              <a:latin typeface="Arial" panose="020B0604020202020204" pitchFamily="34" charset="0"/>
            </a:endParaRPr>
          </a:p>
        </p:txBody>
      </p:sp>
      <p:pic>
        <p:nvPicPr>
          <p:cNvPr id="7" name="Imagen 6">
            <a:extLst>
              <a:ext uri="{FF2B5EF4-FFF2-40B4-BE49-F238E27FC236}">
                <a16:creationId xmlns:a16="http://schemas.microsoft.com/office/drawing/2014/main" id="{6D67491E-C999-36C4-0D7F-9EEEA7F5896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04800" y="3946423"/>
            <a:ext cx="6072243" cy="3414005"/>
          </a:xfrm>
          <a:prstGeom prst="rect">
            <a:avLst/>
          </a:prstGeom>
        </p:spPr>
      </p:pic>
      <p:pic>
        <p:nvPicPr>
          <p:cNvPr id="8" name="Imagen 7">
            <a:extLst>
              <a:ext uri="{FF2B5EF4-FFF2-40B4-BE49-F238E27FC236}">
                <a16:creationId xmlns:a16="http://schemas.microsoft.com/office/drawing/2014/main" id="{4EF5AAFD-EFDB-0AAC-B1D2-BC75E088D84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629400" y="3932657"/>
            <a:ext cx="6113953" cy="3427771"/>
          </a:xfrm>
          <a:prstGeom prst="rect">
            <a:avLst/>
          </a:prstGeom>
        </p:spPr>
      </p:pic>
      <p:sp>
        <p:nvSpPr>
          <p:cNvPr id="9" name="Rectangle 1">
            <a:extLst>
              <a:ext uri="{FF2B5EF4-FFF2-40B4-BE49-F238E27FC236}">
                <a16:creationId xmlns:a16="http://schemas.microsoft.com/office/drawing/2014/main" id="{D950DE7E-850C-1545-55B5-CEC26FCCED7E}"/>
              </a:ext>
            </a:extLst>
          </p:cNvPr>
          <p:cNvSpPr>
            <a:spLocks noChangeArrowheads="1"/>
          </p:cNvSpPr>
          <p:nvPr/>
        </p:nvSpPr>
        <p:spPr bwMode="auto">
          <a:xfrm>
            <a:off x="2667000" y="7582850"/>
            <a:ext cx="209305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4000" b="1" i="0" u="none" strike="noStrike" cap="none" normalizeH="0" baseline="0" dirty="0">
                <a:ln>
                  <a:noFill/>
                </a:ln>
                <a:solidFill>
                  <a:srgbClr val="000000"/>
                </a:solidFill>
                <a:effectLst/>
                <a:latin typeface="Montserrat" panose="00000500000000000000" pitchFamily="2" charset="0"/>
                <a:ea typeface="Arial" panose="020B0604020202020204" pitchFamily="34" charset="0"/>
              </a:rPr>
              <a:t>3</a:t>
            </a:r>
            <a:endParaRPr kumimoji="0" lang="es-MX" altLang="es-MX" sz="5400" b="0" i="0" u="none" strike="noStrike" cap="none" normalizeH="0" baseline="0" dirty="0">
              <a:ln>
                <a:noFill/>
              </a:ln>
              <a:solidFill>
                <a:schemeClr val="tx1"/>
              </a:solidFill>
              <a:effectLst/>
              <a:latin typeface="Arial" panose="020B0604020202020204" pitchFamily="34" charset="0"/>
            </a:endParaRPr>
          </a:p>
        </p:txBody>
      </p:sp>
      <p:sp>
        <p:nvSpPr>
          <p:cNvPr id="10" name="Rectangle 1">
            <a:extLst>
              <a:ext uri="{FF2B5EF4-FFF2-40B4-BE49-F238E27FC236}">
                <a16:creationId xmlns:a16="http://schemas.microsoft.com/office/drawing/2014/main" id="{3BF92A2F-71A0-33FA-ECF4-A0AC8C3FF83C}"/>
              </a:ext>
            </a:extLst>
          </p:cNvPr>
          <p:cNvSpPr>
            <a:spLocks noChangeArrowheads="1"/>
          </p:cNvSpPr>
          <p:nvPr/>
        </p:nvSpPr>
        <p:spPr bwMode="auto">
          <a:xfrm>
            <a:off x="9686376" y="7569084"/>
            <a:ext cx="209305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sz="4000" b="1" dirty="0">
                <a:solidFill>
                  <a:srgbClr val="000000"/>
                </a:solidFill>
                <a:latin typeface="Montserrat" panose="00000500000000000000" pitchFamily="2" charset="0"/>
              </a:rPr>
              <a:t>4</a:t>
            </a:r>
            <a:endParaRPr kumimoji="0" lang="es-MX" altLang="es-MX" sz="5400" b="0" i="0" u="none" strike="noStrike" cap="none" normalizeH="0" baseline="0" dirty="0">
              <a:ln>
                <a:noFill/>
              </a:ln>
              <a:solidFill>
                <a:schemeClr val="tx1"/>
              </a:solidFill>
              <a:effectLst/>
              <a:latin typeface="Arial" panose="020B0604020202020204" pitchFamily="34" charset="0"/>
            </a:endParaRPr>
          </a:p>
        </p:txBody>
      </p:sp>
      <p:pic>
        <p:nvPicPr>
          <p:cNvPr id="11" name="Imagen 10">
            <a:extLst>
              <a:ext uri="{FF2B5EF4-FFF2-40B4-BE49-F238E27FC236}">
                <a16:creationId xmlns:a16="http://schemas.microsoft.com/office/drawing/2014/main" id="{D94FAD86-2003-0762-39EA-E1F95858EE48}"/>
              </a:ext>
            </a:extLst>
          </p:cNvPr>
          <p:cNvPicPr>
            <a:picLocks noChangeAspect="1"/>
          </p:cNvPicPr>
          <p:nvPr/>
        </p:nvPicPr>
        <p:blipFill>
          <a:blip r:embed="rId5"/>
          <a:stretch>
            <a:fillRect/>
          </a:stretch>
        </p:blipFill>
        <p:spPr>
          <a:xfrm>
            <a:off x="12995709" y="3967317"/>
            <a:ext cx="6035081" cy="3393111"/>
          </a:xfrm>
          <a:prstGeom prst="rect">
            <a:avLst/>
          </a:prstGeom>
        </p:spPr>
      </p:pic>
      <p:sp>
        <p:nvSpPr>
          <p:cNvPr id="12" name="Rectangle 1">
            <a:extLst>
              <a:ext uri="{FF2B5EF4-FFF2-40B4-BE49-F238E27FC236}">
                <a16:creationId xmlns:a16="http://schemas.microsoft.com/office/drawing/2014/main" id="{AB7B3000-89A5-29C0-4181-D3148F6E4FAD}"/>
              </a:ext>
            </a:extLst>
          </p:cNvPr>
          <p:cNvSpPr>
            <a:spLocks noChangeArrowheads="1"/>
          </p:cNvSpPr>
          <p:nvPr/>
        </p:nvSpPr>
        <p:spPr bwMode="auto">
          <a:xfrm>
            <a:off x="15659226" y="7569084"/>
            <a:ext cx="209305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MX" altLang="es-MX" sz="4000" b="1" i="0" u="none" strike="noStrike" cap="none" normalizeH="0" baseline="0" dirty="0">
                <a:ln>
                  <a:noFill/>
                </a:ln>
                <a:solidFill>
                  <a:srgbClr val="000000"/>
                </a:solidFill>
                <a:effectLst/>
                <a:latin typeface="Montserrat" panose="00000500000000000000" pitchFamily="2" charset="0"/>
              </a:rPr>
              <a:t>5</a:t>
            </a:r>
            <a:endParaRPr kumimoji="0" lang="es-MX" altLang="es-MX" sz="5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96889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5"/>
          <p:cNvSpPr txBox="1"/>
          <p:nvPr/>
        </p:nvSpPr>
        <p:spPr>
          <a:xfrm>
            <a:off x="914400" y="266700"/>
            <a:ext cx="9299077" cy="513923"/>
          </a:xfrm>
          <a:prstGeom prst="rect">
            <a:avLst/>
          </a:prstGeom>
        </p:spPr>
        <p:txBody>
          <a:bodyPr wrap="square" lIns="0" tIns="0" rIns="0" bIns="0" rtlCol="0" anchor="t">
            <a:spAutoFit/>
          </a:bodyPr>
          <a:lstStyle/>
          <a:p>
            <a:pPr algn="l">
              <a:lnSpc>
                <a:spcPts val="4312"/>
              </a:lnSpc>
            </a:pPr>
            <a:r>
              <a:rPr lang="en-US" sz="3437" b="1" dirty="0" err="1">
                <a:solidFill>
                  <a:srgbClr val="505468"/>
                </a:solidFill>
                <a:latin typeface="Arimo Bold"/>
                <a:ea typeface="Arimo Bold"/>
                <a:cs typeface="Arimo Bold"/>
                <a:sym typeface="Arimo Bold"/>
              </a:rPr>
              <a:t>Análisis</a:t>
            </a:r>
            <a:r>
              <a:rPr lang="en-US" sz="3437" b="1" dirty="0">
                <a:solidFill>
                  <a:srgbClr val="505468"/>
                </a:solidFill>
                <a:latin typeface="Arimo Bold"/>
                <a:ea typeface="Arimo Bold"/>
                <a:cs typeface="Arimo Bold"/>
                <a:sym typeface="Arimo Bold"/>
              </a:rPr>
              <a:t> de </a:t>
            </a:r>
            <a:r>
              <a:rPr lang="en-US" sz="3437" b="1" dirty="0" err="1">
                <a:solidFill>
                  <a:srgbClr val="505468"/>
                </a:solidFill>
                <a:latin typeface="Arimo Bold"/>
                <a:ea typeface="Arimo Bold"/>
                <a:cs typeface="Arimo Bold"/>
                <a:sym typeface="Arimo Bold"/>
              </a:rPr>
              <a:t>resultados</a:t>
            </a:r>
            <a:endParaRPr lang="en-US" sz="3437" b="1" dirty="0">
              <a:solidFill>
                <a:srgbClr val="505468"/>
              </a:solidFill>
              <a:latin typeface="Arimo Bold"/>
              <a:ea typeface="Arimo Bold"/>
              <a:cs typeface="Arimo Bold"/>
              <a:sym typeface="Arimo Bold"/>
            </a:endParaRPr>
          </a:p>
        </p:txBody>
      </p:sp>
      <p:sp>
        <p:nvSpPr>
          <p:cNvPr id="46" name="TextBox 46"/>
          <p:cNvSpPr txBox="1"/>
          <p:nvPr/>
        </p:nvSpPr>
        <p:spPr>
          <a:xfrm>
            <a:off x="723900" y="1009223"/>
            <a:ext cx="16840200" cy="6132128"/>
          </a:xfrm>
          <a:prstGeom prst="rect">
            <a:avLst/>
          </a:prstGeom>
        </p:spPr>
        <p:txBody>
          <a:bodyPr wrap="square" lIns="0" tIns="0" rIns="0" bIns="0" rtlCol="0" anchor="t">
            <a:spAutoFit/>
          </a:bodyPr>
          <a:lstStyle/>
          <a:p>
            <a:pPr algn="l"/>
            <a:r>
              <a:rPr lang="es-MX" sz="2800" dirty="0">
                <a:solidFill>
                  <a:srgbClr val="5B5F71"/>
                </a:solidFill>
                <a:latin typeface="Arimo"/>
                <a:ea typeface="Arimo"/>
                <a:cs typeface="Arimo"/>
                <a:sym typeface="Arimo"/>
              </a:rPr>
              <a:t>El programa funciona correctamente para:</a:t>
            </a:r>
          </a:p>
          <a:p>
            <a:pPr algn="l"/>
            <a:r>
              <a:rPr lang="es-MX" sz="2800" dirty="0">
                <a:solidFill>
                  <a:srgbClr val="5B5F71"/>
                </a:solidFill>
                <a:latin typeface="Arimo"/>
                <a:ea typeface="Arimo"/>
                <a:cs typeface="Arimo"/>
                <a:sym typeface="Arimo"/>
              </a:rPr>
              <a:t>•Detectar expresiones bien formadas </a:t>
            </a:r>
          </a:p>
          <a:p>
            <a:pPr algn="l"/>
            <a:r>
              <a:rPr lang="es-MX" sz="2800" dirty="0">
                <a:solidFill>
                  <a:srgbClr val="5B5F71"/>
                </a:solidFill>
                <a:latin typeface="Arimo"/>
                <a:ea typeface="Arimo"/>
                <a:cs typeface="Arimo"/>
                <a:sym typeface="Arimo"/>
              </a:rPr>
              <a:t>•Identificar errores básicos de sintaxis </a:t>
            </a:r>
          </a:p>
          <a:p>
            <a:pPr algn="l"/>
            <a:r>
              <a:rPr lang="es-MX" sz="2800" dirty="0">
                <a:solidFill>
                  <a:srgbClr val="5B5F71"/>
                </a:solidFill>
                <a:latin typeface="Arimo"/>
                <a:ea typeface="Arimo"/>
                <a:cs typeface="Arimo"/>
                <a:sym typeface="Arimo"/>
              </a:rPr>
              <a:t>•Validar operadores correctamente </a:t>
            </a:r>
          </a:p>
          <a:p>
            <a:pPr algn="l"/>
            <a:endParaRPr lang="es-MX" sz="2800" dirty="0">
              <a:solidFill>
                <a:srgbClr val="5B5F71"/>
              </a:solidFill>
              <a:latin typeface="Arimo"/>
              <a:ea typeface="Arimo"/>
              <a:cs typeface="Arimo"/>
              <a:sym typeface="Arimo"/>
            </a:endParaRPr>
          </a:p>
          <a:p>
            <a:pPr algn="l"/>
            <a:r>
              <a:rPr lang="es-MX" sz="2800" dirty="0">
                <a:solidFill>
                  <a:srgbClr val="5B5F71"/>
                </a:solidFill>
                <a:latin typeface="Arimo"/>
                <a:ea typeface="Arimo"/>
                <a:cs typeface="Arimo"/>
                <a:sym typeface="Arimo"/>
              </a:rPr>
              <a:t>Limitaciones:</a:t>
            </a:r>
          </a:p>
          <a:p>
            <a:pPr algn="l"/>
            <a:r>
              <a:rPr lang="es-MX" sz="2800" dirty="0">
                <a:solidFill>
                  <a:srgbClr val="5B5F71"/>
                </a:solidFill>
                <a:latin typeface="Arimo"/>
                <a:ea typeface="Arimo"/>
                <a:cs typeface="Arimo"/>
                <a:sym typeface="Arimo"/>
              </a:rPr>
              <a:t>•Solo acepta el operador + </a:t>
            </a:r>
          </a:p>
          <a:p>
            <a:pPr algn="l"/>
            <a:r>
              <a:rPr lang="es-MX" sz="2800" dirty="0">
                <a:solidFill>
                  <a:srgbClr val="5B5F71"/>
                </a:solidFill>
                <a:latin typeface="Arimo"/>
                <a:ea typeface="Arimo"/>
                <a:cs typeface="Arimo"/>
                <a:sym typeface="Arimo"/>
              </a:rPr>
              <a:t>•Solo acepta identificadores simples (una letra) </a:t>
            </a:r>
          </a:p>
          <a:p>
            <a:pPr algn="l"/>
            <a:r>
              <a:rPr lang="es-MX" sz="2800" dirty="0">
                <a:solidFill>
                  <a:srgbClr val="5B5F71"/>
                </a:solidFill>
                <a:latin typeface="Arimo"/>
                <a:ea typeface="Arimo"/>
                <a:cs typeface="Arimo"/>
                <a:sym typeface="Arimo"/>
              </a:rPr>
              <a:t>•No maneja paréntesis </a:t>
            </a:r>
          </a:p>
          <a:p>
            <a:pPr algn="l"/>
            <a:r>
              <a:rPr lang="es-MX" sz="2800" dirty="0">
                <a:solidFill>
                  <a:srgbClr val="5B5F71"/>
                </a:solidFill>
                <a:latin typeface="Arimo"/>
                <a:ea typeface="Arimo"/>
                <a:cs typeface="Arimo"/>
                <a:sym typeface="Arimo"/>
              </a:rPr>
              <a:t>•No incluye números ni otros operadores </a:t>
            </a:r>
          </a:p>
          <a:p>
            <a:pPr algn="l"/>
            <a:endParaRPr lang="es-MX" sz="2800" dirty="0">
              <a:solidFill>
                <a:srgbClr val="5B5F71"/>
              </a:solidFill>
              <a:latin typeface="Arimo"/>
              <a:ea typeface="Arimo"/>
              <a:cs typeface="Arimo"/>
              <a:sym typeface="Arimo"/>
            </a:endParaRPr>
          </a:p>
          <a:p>
            <a:pPr algn="l"/>
            <a:r>
              <a:rPr lang="es-MX" sz="2800" dirty="0">
                <a:solidFill>
                  <a:srgbClr val="5B5F71"/>
                </a:solidFill>
                <a:latin typeface="Arimo"/>
                <a:ea typeface="Arimo"/>
                <a:cs typeface="Arimo"/>
                <a:sym typeface="Arimo"/>
              </a:rPr>
              <a:t>A pesar de esto, cumple correctamente con el objetivo de implementar un analizador sintáctico básico.</a:t>
            </a:r>
          </a:p>
          <a:p>
            <a:pPr algn="l"/>
            <a:endParaRPr lang="es-MX" sz="2800" dirty="0">
              <a:solidFill>
                <a:srgbClr val="5B5F71"/>
              </a:solidFill>
              <a:latin typeface="Arimo"/>
              <a:ea typeface="Arimo"/>
              <a:cs typeface="Arimo"/>
              <a:sym typeface="Arimo"/>
            </a:endParaRPr>
          </a:p>
          <a:p>
            <a:pPr algn="l">
              <a:lnSpc>
                <a:spcPts val="2010"/>
              </a:lnSpc>
            </a:pPr>
            <a:endParaRPr lang="en-US" sz="2800" dirty="0">
              <a:solidFill>
                <a:srgbClr val="5B5F71"/>
              </a:solidFill>
              <a:latin typeface="Arimo"/>
              <a:ea typeface="Arimo"/>
              <a:cs typeface="Arimo"/>
              <a:sym typeface="Arimo"/>
            </a:endParaRPr>
          </a:p>
          <a:p>
            <a:pPr algn="l">
              <a:lnSpc>
                <a:spcPts val="2011"/>
              </a:lnSpc>
            </a:pPr>
            <a:endParaRPr lang="en-US" sz="2800" dirty="0">
              <a:solidFill>
                <a:srgbClr val="5B5F71"/>
              </a:solidFill>
              <a:latin typeface="Arimo"/>
              <a:ea typeface="Arimo"/>
              <a:cs typeface="Arimo"/>
              <a:sym typeface="Arimo"/>
            </a:endParaRPr>
          </a:p>
        </p:txBody>
      </p:sp>
    </p:spTree>
    <p:extLst>
      <p:ext uri="{BB962C8B-B14F-4D97-AF65-F5344CB8AC3E}">
        <p14:creationId xmlns:p14="http://schemas.microsoft.com/office/powerpoint/2010/main" val="508001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5"/>
          <p:cNvSpPr txBox="1"/>
          <p:nvPr/>
        </p:nvSpPr>
        <p:spPr>
          <a:xfrm>
            <a:off x="914400" y="266700"/>
            <a:ext cx="9299077" cy="735522"/>
          </a:xfrm>
          <a:prstGeom prst="rect">
            <a:avLst/>
          </a:prstGeom>
        </p:spPr>
        <p:txBody>
          <a:bodyPr wrap="square" lIns="0" tIns="0" rIns="0" bIns="0" rtlCol="0" anchor="t">
            <a:spAutoFit/>
          </a:bodyPr>
          <a:lstStyle/>
          <a:p>
            <a:pPr algn="just">
              <a:lnSpc>
                <a:spcPct val="150000"/>
              </a:lnSpc>
            </a:pPr>
            <a:r>
              <a:rPr lang="es-MX" sz="3600" b="1" dirty="0">
                <a:solidFill>
                  <a:srgbClr val="000000"/>
                </a:solidFill>
                <a:effectLst/>
                <a:latin typeface="Montserrat" panose="00000500000000000000" pitchFamily="2" charset="0"/>
                <a:ea typeface="Arial" panose="020B0604020202020204" pitchFamily="34" charset="0"/>
              </a:rPr>
              <a:t>Conclusión</a:t>
            </a:r>
            <a:endParaRPr lang="es-MX" sz="3600" dirty="0">
              <a:effectLst/>
              <a:latin typeface="Arial" panose="020B0604020202020204" pitchFamily="34" charset="0"/>
              <a:ea typeface="Arial" panose="020B0604020202020204" pitchFamily="34" charset="0"/>
            </a:endParaRPr>
          </a:p>
        </p:txBody>
      </p:sp>
      <p:sp>
        <p:nvSpPr>
          <p:cNvPr id="46" name="TextBox 46"/>
          <p:cNvSpPr txBox="1"/>
          <p:nvPr/>
        </p:nvSpPr>
        <p:spPr>
          <a:xfrm>
            <a:off x="723900" y="1009223"/>
            <a:ext cx="16840200" cy="6772431"/>
          </a:xfrm>
          <a:prstGeom prst="rect">
            <a:avLst/>
          </a:prstGeom>
        </p:spPr>
        <p:txBody>
          <a:bodyPr wrap="square" lIns="0" tIns="0" rIns="0" bIns="0" rtlCol="0" anchor="t">
            <a:spAutoFit/>
          </a:bodyPr>
          <a:lstStyle/>
          <a:p>
            <a:pPr algn="just">
              <a:lnSpc>
                <a:spcPct val="150000"/>
              </a:lnSpc>
            </a:pPr>
            <a:r>
              <a:rPr lang="es-MX" sz="2800" dirty="0">
                <a:solidFill>
                  <a:srgbClr val="000000"/>
                </a:solidFill>
                <a:effectLst/>
                <a:latin typeface="Montserrat" panose="00000500000000000000" pitchFamily="2" charset="0"/>
                <a:ea typeface="Arial" panose="020B0604020202020204" pitchFamily="34" charset="0"/>
              </a:rPr>
              <a:t>En esta práctica pude comprender de forma más clara cómo funciona el análisis sintáctico en un compilador.</a:t>
            </a:r>
          </a:p>
          <a:p>
            <a:pPr algn="just">
              <a:lnSpc>
                <a:spcPct val="150000"/>
              </a:lnSpc>
            </a:pPr>
            <a:endParaRPr lang="es-MX" sz="2800" dirty="0">
              <a:effectLst/>
              <a:latin typeface="Arial" panose="020B0604020202020204" pitchFamily="34" charset="0"/>
              <a:ea typeface="Arial" panose="020B0604020202020204" pitchFamily="34" charset="0"/>
            </a:endParaRPr>
          </a:p>
          <a:p>
            <a:pPr algn="just">
              <a:lnSpc>
                <a:spcPct val="150000"/>
              </a:lnSpc>
            </a:pPr>
            <a:r>
              <a:rPr lang="es-MX" sz="2800" dirty="0">
                <a:solidFill>
                  <a:srgbClr val="000000"/>
                </a:solidFill>
                <a:effectLst/>
                <a:latin typeface="Montserrat" panose="00000500000000000000" pitchFamily="2" charset="0"/>
                <a:ea typeface="Arial" panose="020B0604020202020204" pitchFamily="34" charset="0"/>
              </a:rPr>
              <a:t>El hecho de implementar un </a:t>
            </a:r>
            <a:r>
              <a:rPr lang="es-MX" sz="2800" dirty="0" err="1">
                <a:solidFill>
                  <a:srgbClr val="000000"/>
                </a:solidFill>
                <a:effectLst/>
                <a:latin typeface="Montserrat" panose="00000500000000000000" pitchFamily="2" charset="0"/>
                <a:ea typeface="Arial" panose="020B0604020202020204" pitchFamily="34" charset="0"/>
              </a:rPr>
              <a:t>parser</a:t>
            </a:r>
            <a:r>
              <a:rPr lang="es-MX" sz="2800" dirty="0">
                <a:solidFill>
                  <a:srgbClr val="000000"/>
                </a:solidFill>
                <a:effectLst/>
                <a:latin typeface="Montserrat" panose="00000500000000000000" pitchFamily="2" charset="0"/>
                <a:ea typeface="Arial" panose="020B0604020202020204" pitchFamily="34" charset="0"/>
              </a:rPr>
              <a:t> desde cero me ayudó a entender cómo se aplican las gramáticas y cómo una computadora valida la estructura del código.</a:t>
            </a:r>
            <a:endParaRPr lang="es-MX" sz="2800" dirty="0">
              <a:effectLst/>
              <a:latin typeface="Arial" panose="020B0604020202020204" pitchFamily="34" charset="0"/>
              <a:ea typeface="Arial" panose="020B0604020202020204" pitchFamily="34" charset="0"/>
            </a:endParaRPr>
          </a:p>
          <a:p>
            <a:pPr algn="just">
              <a:lnSpc>
                <a:spcPct val="150000"/>
              </a:lnSpc>
            </a:pPr>
            <a:r>
              <a:rPr lang="es-MX" sz="2800" dirty="0">
                <a:solidFill>
                  <a:srgbClr val="000000"/>
                </a:solidFill>
                <a:effectLst/>
                <a:latin typeface="Montserrat" panose="00000500000000000000" pitchFamily="2" charset="0"/>
                <a:ea typeface="Arial" panose="020B0604020202020204" pitchFamily="34" charset="0"/>
              </a:rPr>
              <a:t>Además, aprendí que los analizadores sintácticos no son algo abstracto, sino herramientas reales que están presentes en compiladores, intérpretes y muchos sistemas actuales.</a:t>
            </a:r>
          </a:p>
          <a:p>
            <a:pPr algn="just">
              <a:lnSpc>
                <a:spcPct val="150000"/>
              </a:lnSpc>
            </a:pPr>
            <a:endParaRPr lang="es-MX" sz="2800" dirty="0">
              <a:effectLst/>
              <a:latin typeface="Arial" panose="020B0604020202020204" pitchFamily="34" charset="0"/>
              <a:ea typeface="Arial" panose="020B0604020202020204" pitchFamily="34" charset="0"/>
            </a:endParaRPr>
          </a:p>
          <a:p>
            <a:pPr algn="just">
              <a:lnSpc>
                <a:spcPct val="150000"/>
              </a:lnSpc>
            </a:pPr>
            <a:r>
              <a:rPr lang="es-MX" sz="2800" dirty="0">
                <a:solidFill>
                  <a:srgbClr val="000000"/>
                </a:solidFill>
                <a:effectLst/>
                <a:latin typeface="Montserrat" panose="00000500000000000000" pitchFamily="2" charset="0"/>
                <a:ea typeface="Arial" panose="020B0604020202020204" pitchFamily="34" charset="0"/>
              </a:rPr>
              <a:t>Considero que esta práctica fue clave para reforzar tanto la teoría como la lógica de programación.</a:t>
            </a:r>
            <a:endParaRPr lang="es-MX" sz="2800" dirty="0">
              <a:effectLst/>
              <a:latin typeface="Arial" panose="020B0604020202020204" pitchFamily="34" charset="0"/>
              <a:ea typeface="Arial" panose="020B0604020202020204" pitchFamily="34" charset="0"/>
            </a:endParaRPr>
          </a:p>
          <a:p>
            <a:pPr algn="l">
              <a:lnSpc>
                <a:spcPts val="2011"/>
              </a:lnSpc>
            </a:pPr>
            <a:endParaRPr lang="en-US" sz="4000" dirty="0">
              <a:solidFill>
                <a:srgbClr val="5B5F71"/>
              </a:solidFill>
              <a:latin typeface="Arimo"/>
              <a:ea typeface="Arimo"/>
              <a:cs typeface="Arimo"/>
              <a:sym typeface="Arimo"/>
            </a:endParaRPr>
          </a:p>
        </p:txBody>
      </p:sp>
    </p:spTree>
    <p:extLst>
      <p:ext uri="{BB962C8B-B14F-4D97-AF65-F5344CB8AC3E}">
        <p14:creationId xmlns:p14="http://schemas.microsoft.com/office/powerpoint/2010/main" val="623241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3"/>
          <p:cNvSpPr txBox="1"/>
          <p:nvPr/>
        </p:nvSpPr>
        <p:spPr>
          <a:xfrm>
            <a:off x="619705" y="300628"/>
            <a:ext cx="8337976" cy="500650"/>
          </a:xfrm>
          <a:prstGeom prst="rect">
            <a:avLst/>
          </a:prstGeom>
        </p:spPr>
        <p:txBody>
          <a:bodyPr wrap="square" lIns="0" tIns="0" rIns="0" bIns="0" rtlCol="0" anchor="t">
            <a:spAutoFit/>
          </a:bodyPr>
          <a:lstStyle/>
          <a:p>
            <a:pPr algn="l">
              <a:lnSpc>
                <a:spcPts val="4187"/>
              </a:lnSpc>
            </a:pPr>
            <a:r>
              <a:rPr lang="en-US" sz="3312" b="1" dirty="0">
                <a:solidFill>
                  <a:srgbClr val="505468"/>
                </a:solidFill>
                <a:latin typeface="Arimo Bold"/>
                <a:ea typeface="Arimo Bold"/>
                <a:cs typeface="Arimo Bold"/>
                <a:sym typeface="Arimo Bold"/>
              </a:rPr>
              <a:t>Link de </a:t>
            </a:r>
            <a:r>
              <a:rPr lang="en-US" sz="3312" b="1" dirty="0" err="1">
                <a:solidFill>
                  <a:srgbClr val="505468"/>
                </a:solidFill>
                <a:latin typeface="Arimo Bold"/>
                <a:ea typeface="Arimo Bold"/>
                <a:cs typeface="Arimo Bold"/>
                <a:sym typeface="Arimo Bold"/>
              </a:rPr>
              <a:t>Repositorio</a:t>
            </a:r>
            <a:r>
              <a:rPr lang="en-US" sz="3312" b="1" dirty="0">
                <a:solidFill>
                  <a:srgbClr val="505468"/>
                </a:solidFill>
                <a:latin typeface="Arimo Bold"/>
                <a:ea typeface="Arimo Bold"/>
                <a:cs typeface="Arimo Bold"/>
                <a:sym typeface="Arimo Bold"/>
              </a:rPr>
              <a:t> </a:t>
            </a:r>
          </a:p>
        </p:txBody>
      </p:sp>
      <p:sp>
        <p:nvSpPr>
          <p:cNvPr id="65" name="CuadroTexto 64">
            <a:extLst>
              <a:ext uri="{FF2B5EF4-FFF2-40B4-BE49-F238E27FC236}">
                <a16:creationId xmlns:a16="http://schemas.microsoft.com/office/drawing/2014/main" id="{4B9366A9-73F0-5EDD-2C82-C952BF0D867D}"/>
              </a:ext>
            </a:extLst>
          </p:cNvPr>
          <p:cNvSpPr txBox="1"/>
          <p:nvPr/>
        </p:nvSpPr>
        <p:spPr>
          <a:xfrm>
            <a:off x="619704" y="1181100"/>
            <a:ext cx="17439696" cy="830997"/>
          </a:xfrm>
          <a:prstGeom prst="rect">
            <a:avLst/>
          </a:prstGeom>
          <a:noFill/>
        </p:spPr>
        <p:txBody>
          <a:bodyPr wrap="square">
            <a:spAutoFit/>
          </a:bodyPr>
          <a:lstStyle/>
          <a:p>
            <a:r>
              <a:rPr lang="es-MX" sz="2400" dirty="0">
                <a:hlinkClick r:id="rId3"/>
              </a:rPr>
              <a:t>https://github.com/amaurycolochos-cpu/LENGUAJES-Y-AUTOMATAS-1/tree/main/UNIDAD%205/Reporte%20Act%205.2</a:t>
            </a:r>
            <a:endParaRPr lang="es-MX" sz="2400" dirty="0"/>
          </a:p>
          <a:p>
            <a:endParaRPr lang="es-MX" sz="2400" dirty="0"/>
          </a:p>
        </p:txBody>
      </p:sp>
    </p:spTree>
    <p:extLst>
      <p:ext uri="{BB962C8B-B14F-4D97-AF65-F5344CB8AC3E}">
        <p14:creationId xmlns:p14="http://schemas.microsoft.com/office/powerpoint/2010/main" val="2189507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53177" y="846830"/>
            <a:ext cx="12809981" cy="1103251"/>
          </a:xfrm>
          <a:prstGeom prst="rect">
            <a:avLst/>
          </a:prstGeom>
        </p:spPr>
        <p:txBody>
          <a:bodyPr lIns="0" tIns="0" rIns="0" bIns="0" rtlCol="0" anchor="t">
            <a:spAutoFit/>
          </a:bodyPr>
          <a:lstStyle/>
          <a:p>
            <a:pPr algn="just">
              <a:lnSpc>
                <a:spcPct val="150000"/>
              </a:lnSpc>
            </a:pPr>
            <a:r>
              <a:rPr lang="es-MX" sz="5400" b="1" dirty="0">
                <a:solidFill>
                  <a:srgbClr val="000000"/>
                </a:solidFill>
                <a:effectLst/>
                <a:latin typeface="Montserrat" panose="00000500000000000000" pitchFamily="2" charset="0"/>
                <a:ea typeface="Arial" panose="020B0604020202020204" pitchFamily="34" charset="0"/>
              </a:rPr>
              <a:t>Fuentes de información</a:t>
            </a:r>
            <a:endParaRPr lang="es-MX" sz="5400" dirty="0">
              <a:effectLst/>
              <a:latin typeface="Arial" panose="020B0604020202020204" pitchFamily="34" charset="0"/>
              <a:ea typeface="Arial" panose="020B0604020202020204" pitchFamily="34" charset="0"/>
            </a:endParaRPr>
          </a:p>
        </p:txBody>
      </p:sp>
      <p:grpSp>
        <p:nvGrpSpPr>
          <p:cNvPr id="3" name="Group 3"/>
          <p:cNvGrpSpPr/>
          <p:nvPr/>
        </p:nvGrpSpPr>
        <p:grpSpPr>
          <a:xfrm>
            <a:off x="1028700" y="2017814"/>
            <a:ext cx="16230600" cy="7697686"/>
            <a:chOff x="0" y="0"/>
            <a:chExt cx="21640800" cy="3276994"/>
          </a:xfrm>
        </p:grpSpPr>
        <p:sp>
          <p:nvSpPr>
            <p:cNvPr id="4" name="Freeform 4"/>
            <p:cNvSpPr/>
            <p:nvPr/>
          </p:nvSpPr>
          <p:spPr>
            <a:xfrm>
              <a:off x="32636" y="19050"/>
              <a:ext cx="21575399" cy="3238881"/>
            </a:xfrm>
            <a:custGeom>
              <a:avLst/>
              <a:gdLst/>
              <a:ahLst/>
              <a:cxnLst/>
              <a:rect l="l" t="t" r="r" b="b"/>
              <a:pathLst>
                <a:path w="21575399" h="3238881">
                  <a:moveTo>
                    <a:pt x="0" y="138938"/>
                  </a:moveTo>
                  <a:cubicBezTo>
                    <a:pt x="0" y="62230"/>
                    <a:pt x="107480" y="0"/>
                    <a:pt x="239980" y="0"/>
                  </a:cubicBezTo>
                  <a:lnTo>
                    <a:pt x="21335418" y="0"/>
                  </a:lnTo>
                  <a:cubicBezTo>
                    <a:pt x="21467918" y="0"/>
                    <a:pt x="21575399" y="62230"/>
                    <a:pt x="21575399" y="138938"/>
                  </a:cubicBezTo>
                  <a:lnTo>
                    <a:pt x="21575399" y="3099943"/>
                  </a:lnTo>
                  <a:cubicBezTo>
                    <a:pt x="21575399" y="3176651"/>
                    <a:pt x="21467918" y="3238881"/>
                    <a:pt x="21335418" y="3238881"/>
                  </a:cubicBezTo>
                  <a:lnTo>
                    <a:pt x="239980" y="3238881"/>
                  </a:lnTo>
                  <a:cubicBezTo>
                    <a:pt x="107480" y="3238881"/>
                    <a:pt x="0" y="3176651"/>
                    <a:pt x="0" y="3099943"/>
                  </a:cubicBezTo>
                  <a:close/>
                </a:path>
              </a:pathLst>
            </a:custGeom>
            <a:solidFill>
              <a:srgbClr val="FFFFFF">
                <a:alpha val="90196"/>
              </a:srgbClr>
            </a:solidFill>
          </p:spPr>
        </p:sp>
        <p:sp>
          <p:nvSpPr>
            <p:cNvPr id="5" name="Freeform 5"/>
            <p:cNvSpPr/>
            <p:nvPr/>
          </p:nvSpPr>
          <p:spPr>
            <a:xfrm>
              <a:off x="0" y="0"/>
              <a:ext cx="21640670" cy="3276981"/>
            </a:xfrm>
            <a:custGeom>
              <a:avLst/>
              <a:gdLst/>
              <a:ahLst/>
              <a:cxnLst/>
              <a:rect l="l" t="t" r="r" b="b"/>
              <a:pathLst>
                <a:path w="21640670" h="3276981">
                  <a:moveTo>
                    <a:pt x="0" y="157988"/>
                  </a:moveTo>
                  <a:cubicBezTo>
                    <a:pt x="0" y="70612"/>
                    <a:pt x="122275" y="0"/>
                    <a:pt x="272616" y="0"/>
                  </a:cubicBezTo>
                  <a:lnTo>
                    <a:pt x="21368054" y="0"/>
                  </a:lnTo>
                  <a:lnTo>
                    <a:pt x="21368054" y="19050"/>
                  </a:lnTo>
                  <a:lnTo>
                    <a:pt x="21368054" y="0"/>
                  </a:lnTo>
                  <a:cubicBezTo>
                    <a:pt x="21518394" y="0"/>
                    <a:pt x="21640670" y="70612"/>
                    <a:pt x="21640670" y="157988"/>
                  </a:cubicBezTo>
                  <a:lnTo>
                    <a:pt x="21608035" y="157988"/>
                  </a:lnTo>
                  <a:lnTo>
                    <a:pt x="21640670" y="157988"/>
                  </a:lnTo>
                  <a:lnTo>
                    <a:pt x="21640670" y="3118993"/>
                  </a:lnTo>
                  <a:lnTo>
                    <a:pt x="21608035" y="3118993"/>
                  </a:lnTo>
                  <a:lnTo>
                    <a:pt x="21640670" y="3118993"/>
                  </a:lnTo>
                  <a:cubicBezTo>
                    <a:pt x="21640670" y="3206369"/>
                    <a:pt x="21518394" y="3276981"/>
                    <a:pt x="21368054" y="3276981"/>
                  </a:cubicBezTo>
                  <a:lnTo>
                    <a:pt x="21368054" y="3257931"/>
                  </a:lnTo>
                  <a:lnTo>
                    <a:pt x="21368054" y="3276981"/>
                  </a:lnTo>
                  <a:lnTo>
                    <a:pt x="272616" y="3276981"/>
                  </a:lnTo>
                  <a:lnTo>
                    <a:pt x="272616" y="3257931"/>
                  </a:lnTo>
                  <a:lnTo>
                    <a:pt x="272616" y="3276981"/>
                  </a:lnTo>
                  <a:cubicBezTo>
                    <a:pt x="122275" y="3276981"/>
                    <a:pt x="0" y="3206369"/>
                    <a:pt x="0" y="3118993"/>
                  </a:cubicBezTo>
                  <a:lnTo>
                    <a:pt x="0" y="157988"/>
                  </a:lnTo>
                  <a:lnTo>
                    <a:pt x="32636" y="157988"/>
                  </a:lnTo>
                  <a:lnTo>
                    <a:pt x="0" y="157988"/>
                  </a:lnTo>
                  <a:moveTo>
                    <a:pt x="65271" y="157988"/>
                  </a:moveTo>
                  <a:lnTo>
                    <a:pt x="65271" y="3118993"/>
                  </a:lnTo>
                  <a:lnTo>
                    <a:pt x="32636" y="3118993"/>
                  </a:lnTo>
                  <a:lnTo>
                    <a:pt x="65271" y="3118993"/>
                  </a:lnTo>
                  <a:cubicBezTo>
                    <a:pt x="65271" y="3185033"/>
                    <a:pt x="157956" y="3238881"/>
                    <a:pt x="272616" y="3238881"/>
                  </a:cubicBezTo>
                  <a:lnTo>
                    <a:pt x="21368054" y="3238881"/>
                  </a:lnTo>
                  <a:cubicBezTo>
                    <a:pt x="21482931" y="3238881"/>
                    <a:pt x="21575399" y="3185033"/>
                    <a:pt x="21575399" y="3118993"/>
                  </a:cubicBezTo>
                  <a:lnTo>
                    <a:pt x="21575399" y="157988"/>
                  </a:lnTo>
                  <a:cubicBezTo>
                    <a:pt x="21575399" y="91948"/>
                    <a:pt x="21482714" y="38100"/>
                    <a:pt x="21368054" y="38100"/>
                  </a:cubicBezTo>
                  <a:lnTo>
                    <a:pt x="272616" y="38100"/>
                  </a:lnTo>
                  <a:lnTo>
                    <a:pt x="272616" y="19050"/>
                  </a:lnTo>
                  <a:lnTo>
                    <a:pt x="272616" y="38100"/>
                  </a:lnTo>
                  <a:cubicBezTo>
                    <a:pt x="157956" y="38100"/>
                    <a:pt x="65271" y="91948"/>
                    <a:pt x="65271" y="157988"/>
                  </a:cubicBezTo>
                  <a:close/>
                </a:path>
              </a:pathLst>
            </a:custGeom>
            <a:solidFill>
              <a:srgbClr val="C8C9CF"/>
            </a:solidFill>
          </p:spPr>
        </p:sp>
      </p:grpSp>
      <p:sp>
        <p:nvSpPr>
          <p:cNvPr id="6" name="TextBox 6"/>
          <p:cNvSpPr txBox="1"/>
          <p:nvPr/>
        </p:nvSpPr>
        <p:spPr>
          <a:xfrm>
            <a:off x="1792100" y="3390900"/>
            <a:ext cx="14703702" cy="5096395"/>
          </a:xfrm>
          <a:prstGeom prst="rect">
            <a:avLst/>
          </a:prstGeom>
        </p:spPr>
        <p:txBody>
          <a:bodyPr wrap="square" lIns="0" tIns="0" rIns="0" bIns="0" rtlCol="0" anchor="t">
            <a:spAutoFit/>
          </a:bodyPr>
          <a:lstStyle/>
          <a:p>
            <a:pPr marL="342900" lvl="0" indent="-342900" algn="just">
              <a:lnSpc>
                <a:spcPct val="150000"/>
              </a:lnSpc>
              <a:buSzPts val="1000"/>
              <a:buFont typeface="Symbol" panose="05050102010706020507" pitchFamily="18" charset="2"/>
              <a:buChar char=""/>
              <a:tabLst>
                <a:tab pos="457200" algn="l"/>
              </a:tabLst>
            </a:pPr>
            <a:r>
              <a:rPr lang="es-MX" sz="2800" dirty="0" err="1">
                <a:solidFill>
                  <a:srgbClr val="000000"/>
                </a:solidFill>
                <a:effectLst/>
                <a:latin typeface="Montserrat" panose="00000500000000000000" pitchFamily="2" charset="0"/>
                <a:ea typeface="Arial" panose="020B0604020202020204" pitchFamily="34" charset="0"/>
              </a:rPr>
              <a:t>Hopcroft</a:t>
            </a:r>
            <a:r>
              <a:rPr lang="es-MX" sz="2800" dirty="0">
                <a:solidFill>
                  <a:srgbClr val="000000"/>
                </a:solidFill>
                <a:effectLst/>
                <a:latin typeface="Montserrat" panose="00000500000000000000" pitchFamily="2" charset="0"/>
                <a:ea typeface="Arial" panose="020B0604020202020204" pitchFamily="34" charset="0"/>
              </a:rPr>
              <a:t>, J. E., </a:t>
            </a:r>
            <a:r>
              <a:rPr lang="es-MX" sz="2800" dirty="0" err="1">
                <a:solidFill>
                  <a:srgbClr val="000000"/>
                </a:solidFill>
                <a:effectLst/>
                <a:latin typeface="Montserrat" panose="00000500000000000000" pitchFamily="2" charset="0"/>
                <a:ea typeface="Arial" panose="020B0604020202020204" pitchFamily="34" charset="0"/>
              </a:rPr>
              <a:t>Motwani</a:t>
            </a:r>
            <a:r>
              <a:rPr lang="es-MX" sz="2800" dirty="0">
                <a:solidFill>
                  <a:srgbClr val="000000"/>
                </a:solidFill>
                <a:effectLst/>
                <a:latin typeface="Montserrat" panose="00000500000000000000" pitchFamily="2" charset="0"/>
                <a:ea typeface="Arial" panose="020B0604020202020204" pitchFamily="34" charset="0"/>
              </a:rPr>
              <a:t>, R., &amp; Ullman, J. D. (2007). </a:t>
            </a:r>
            <a:r>
              <a:rPr lang="es-MX" sz="2800" i="1" dirty="0">
                <a:solidFill>
                  <a:srgbClr val="000000"/>
                </a:solidFill>
                <a:effectLst/>
                <a:latin typeface="Montserrat" panose="00000500000000000000" pitchFamily="2" charset="0"/>
                <a:ea typeface="Arial" panose="020B0604020202020204" pitchFamily="34" charset="0"/>
              </a:rPr>
              <a:t>Teoría de autómatas, lenguajes y computación</a:t>
            </a:r>
            <a:r>
              <a:rPr lang="es-MX" sz="2800" dirty="0">
                <a:solidFill>
                  <a:srgbClr val="000000"/>
                </a:solidFill>
                <a:effectLst/>
                <a:latin typeface="Montserrat" panose="00000500000000000000" pitchFamily="2" charset="0"/>
                <a:ea typeface="Arial" panose="020B0604020202020204" pitchFamily="34" charset="0"/>
              </a:rPr>
              <a:t>. Pearson. </a:t>
            </a:r>
          </a:p>
          <a:p>
            <a:pPr lvl="0" algn="just">
              <a:lnSpc>
                <a:spcPct val="150000"/>
              </a:lnSpc>
              <a:buSzPts val="1000"/>
              <a:tabLst>
                <a:tab pos="457200" algn="l"/>
              </a:tabLst>
            </a:pPr>
            <a:endParaRPr lang="es-MX" sz="2800" dirty="0">
              <a:solidFill>
                <a:srgbClr val="000000"/>
              </a:solidFill>
              <a:effectLst/>
              <a:latin typeface="Arial" panose="020B0604020202020204" pitchFamily="34" charset="0"/>
              <a:ea typeface="Arial" panose="020B0604020202020204" pitchFamily="34" charset="0"/>
            </a:endParaRPr>
          </a:p>
          <a:p>
            <a:pPr marL="342900" lvl="0" indent="-342900" algn="just">
              <a:lnSpc>
                <a:spcPct val="150000"/>
              </a:lnSpc>
              <a:buSzPts val="1000"/>
              <a:buFont typeface="Symbol" panose="05050102010706020507" pitchFamily="18" charset="2"/>
              <a:buChar char=""/>
              <a:tabLst>
                <a:tab pos="457200" algn="l"/>
              </a:tabLst>
            </a:pPr>
            <a:r>
              <a:rPr lang="es-MX" sz="2800" dirty="0">
                <a:solidFill>
                  <a:srgbClr val="000000"/>
                </a:solidFill>
                <a:effectLst/>
                <a:latin typeface="Montserrat" panose="00000500000000000000" pitchFamily="2" charset="0"/>
                <a:ea typeface="Arial" panose="020B0604020202020204" pitchFamily="34" charset="0"/>
              </a:rPr>
              <a:t>Aho, A. V., </a:t>
            </a:r>
            <a:r>
              <a:rPr lang="es-MX" sz="2800" dirty="0" err="1">
                <a:solidFill>
                  <a:srgbClr val="000000"/>
                </a:solidFill>
                <a:effectLst/>
                <a:latin typeface="Montserrat" panose="00000500000000000000" pitchFamily="2" charset="0"/>
                <a:ea typeface="Arial" panose="020B0604020202020204" pitchFamily="34" charset="0"/>
              </a:rPr>
              <a:t>Sethi</a:t>
            </a:r>
            <a:r>
              <a:rPr lang="es-MX" sz="2800" dirty="0">
                <a:solidFill>
                  <a:srgbClr val="000000"/>
                </a:solidFill>
                <a:effectLst/>
                <a:latin typeface="Montserrat" panose="00000500000000000000" pitchFamily="2" charset="0"/>
                <a:ea typeface="Arial" panose="020B0604020202020204" pitchFamily="34" charset="0"/>
              </a:rPr>
              <a:t>, R., &amp; Ullman, J. D. (2008). </a:t>
            </a:r>
            <a:r>
              <a:rPr lang="es-MX" sz="2800" i="1" dirty="0">
                <a:solidFill>
                  <a:srgbClr val="000000"/>
                </a:solidFill>
                <a:effectLst/>
                <a:latin typeface="Montserrat" panose="00000500000000000000" pitchFamily="2" charset="0"/>
                <a:ea typeface="Arial" panose="020B0604020202020204" pitchFamily="34" charset="0"/>
              </a:rPr>
              <a:t>Compiladores: Principios, técnicas y herramientas</a:t>
            </a:r>
            <a:r>
              <a:rPr lang="es-MX" sz="2800" dirty="0">
                <a:solidFill>
                  <a:srgbClr val="000000"/>
                </a:solidFill>
                <a:effectLst/>
                <a:latin typeface="Montserrat" panose="00000500000000000000" pitchFamily="2" charset="0"/>
                <a:ea typeface="Arial" panose="020B0604020202020204" pitchFamily="34" charset="0"/>
              </a:rPr>
              <a:t>. Pearson. </a:t>
            </a:r>
          </a:p>
          <a:p>
            <a:pPr lvl="0" algn="just">
              <a:lnSpc>
                <a:spcPct val="150000"/>
              </a:lnSpc>
              <a:buSzPts val="1000"/>
              <a:tabLst>
                <a:tab pos="457200" algn="l"/>
              </a:tabLst>
            </a:pPr>
            <a:endParaRPr lang="es-MX" sz="2800" dirty="0">
              <a:solidFill>
                <a:srgbClr val="000000"/>
              </a:solidFill>
              <a:effectLst/>
              <a:latin typeface="Arial" panose="020B0604020202020204" pitchFamily="34" charset="0"/>
              <a:ea typeface="Arial" panose="020B0604020202020204" pitchFamily="34" charset="0"/>
            </a:endParaRPr>
          </a:p>
          <a:p>
            <a:pPr marL="342900" lvl="0" indent="-342900" algn="just">
              <a:lnSpc>
                <a:spcPct val="150000"/>
              </a:lnSpc>
              <a:buSzPts val="1000"/>
              <a:buFont typeface="Symbol" panose="05050102010706020507" pitchFamily="18" charset="2"/>
              <a:buChar char=""/>
              <a:tabLst>
                <a:tab pos="457200" algn="l"/>
              </a:tabLst>
            </a:pPr>
            <a:r>
              <a:rPr lang="es-MX" sz="2800" dirty="0">
                <a:solidFill>
                  <a:srgbClr val="000000"/>
                </a:solidFill>
                <a:effectLst/>
                <a:latin typeface="Montserrat" panose="00000500000000000000" pitchFamily="2" charset="0"/>
                <a:ea typeface="Arial" panose="020B0604020202020204" pitchFamily="34" charset="0"/>
              </a:rPr>
              <a:t>Rao, D. C., et al. </a:t>
            </a:r>
            <a:r>
              <a:rPr lang="es-MX" sz="2800" i="1" dirty="0" err="1">
                <a:solidFill>
                  <a:srgbClr val="000000"/>
                </a:solidFill>
                <a:effectLst/>
                <a:latin typeface="Montserrat" panose="00000500000000000000" pitchFamily="2" charset="0"/>
                <a:ea typeface="Arial" panose="020B0604020202020204" pitchFamily="34" charset="0"/>
              </a:rPr>
              <a:t>Compiler</a:t>
            </a:r>
            <a:r>
              <a:rPr lang="es-MX" sz="2800" i="1" dirty="0">
                <a:solidFill>
                  <a:srgbClr val="000000"/>
                </a:solidFill>
                <a:effectLst/>
                <a:latin typeface="Montserrat" panose="00000500000000000000" pitchFamily="2" charset="0"/>
                <a:ea typeface="Arial" panose="020B0604020202020204" pitchFamily="34" charset="0"/>
              </a:rPr>
              <a:t> </a:t>
            </a:r>
            <a:r>
              <a:rPr lang="es-MX" sz="2800" i="1" dirty="0" err="1">
                <a:solidFill>
                  <a:srgbClr val="000000"/>
                </a:solidFill>
                <a:effectLst/>
                <a:latin typeface="Montserrat" panose="00000500000000000000" pitchFamily="2" charset="0"/>
                <a:ea typeface="Arial" panose="020B0604020202020204" pitchFamily="34" charset="0"/>
              </a:rPr>
              <a:t>Design</a:t>
            </a:r>
            <a:r>
              <a:rPr lang="es-MX" sz="2800" i="1" dirty="0">
                <a:solidFill>
                  <a:srgbClr val="000000"/>
                </a:solidFill>
                <a:effectLst/>
                <a:latin typeface="Montserrat" panose="00000500000000000000" pitchFamily="2" charset="0"/>
                <a:ea typeface="Arial" panose="020B0604020202020204" pitchFamily="34" charset="0"/>
              </a:rPr>
              <a:t> </a:t>
            </a:r>
            <a:r>
              <a:rPr lang="es-MX" sz="2800" i="1" dirty="0" err="1">
                <a:solidFill>
                  <a:srgbClr val="000000"/>
                </a:solidFill>
                <a:effectLst/>
                <a:latin typeface="Montserrat" panose="00000500000000000000" pitchFamily="2" charset="0"/>
                <a:ea typeface="Arial" panose="020B0604020202020204" pitchFamily="34" charset="0"/>
              </a:rPr>
              <a:t>Lecture</a:t>
            </a:r>
            <a:r>
              <a:rPr lang="es-MX" sz="2800" i="1" dirty="0">
                <a:solidFill>
                  <a:srgbClr val="000000"/>
                </a:solidFill>
                <a:effectLst/>
                <a:latin typeface="Montserrat" panose="00000500000000000000" pitchFamily="2" charset="0"/>
                <a:ea typeface="Arial" panose="020B0604020202020204" pitchFamily="34" charset="0"/>
              </a:rPr>
              <a:t> Notes</a:t>
            </a:r>
            <a:r>
              <a:rPr lang="es-MX" sz="2800" dirty="0">
                <a:solidFill>
                  <a:srgbClr val="000000"/>
                </a:solidFill>
                <a:effectLst/>
                <a:latin typeface="Montserrat" panose="00000500000000000000" pitchFamily="2" charset="0"/>
                <a:ea typeface="Arial" panose="020B0604020202020204" pitchFamily="34" charset="0"/>
              </a:rPr>
              <a:t>. </a:t>
            </a:r>
            <a:endParaRPr lang="es-MX" sz="2800" dirty="0">
              <a:solidFill>
                <a:srgbClr val="000000"/>
              </a:solidFill>
              <a:effectLst/>
              <a:latin typeface="Arial" panose="020B0604020202020204" pitchFamily="34" charset="0"/>
              <a:ea typeface="Arial" panose="020B0604020202020204" pitchFamily="34" charset="0"/>
            </a:endParaRPr>
          </a:p>
          <a:p>
            <a:pPr algn="just">
              <a:lnSpc>
                <a:spcPct val="150000"/>
              </a:lnSpc>
            </a:pPr>
            <a:r>
              <a:rPr lang="en-US" sz="2800" dirty="0">
                <a:solidFill>
                  <a:srgbClr val="000000"/>
                </a:solidFill>
                <a:effectLst/>
                <a:latin typeface="Montserrat" panose="00000500000000000000" pitchFamily="2" charset="0"/>
                <a:ea typeface="Arial" panose="020B0604020202020204" pitchFamily="34" charset="0"/>
              </a:rPr>
              <a:t> </a:t>
            </a:r>
            <a:endParaRPr lang="es-MX" sz="2800" dirty="0">
              <a:effectLst/>
              <a:latin typeface="Arial" panose="020B0604020202020204" pitchFamily="34" charset="0"/>
              <a:ea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1350</Words>
  <Application>Microsoft Office PowerPoint</Application>
  <PresentationFormat>Personalizado</PresentationFormat>
  <Paragraphs>246</Paragraphs>
  <Slides>13</Slides>
  <Notes>13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13</vt:i4>
      </vt:variant>
    </vt:vector>
  </HeadingPairs>
  <TitlesOfParts>
    <vt:vector size="21" baseType="lpstr">
      <vt:lpstr>Calibri</vt:lpstr>
      <vt:lpstr>Arimo</vt:lpstr>
      <vt:lpstr>Montserrat</vt:lpstr>
      <vt:lpstr>Arimo Bold</vt:lpstr>
      <vt:lpstr>Symbol</vt:lpstr>
      <vt:lpstr>Montserrat Bold</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Actividad 4.3</dc:title>
  <cp:lastModifiedBy>amaury rokete</cp:lastModifiedBy>
  <cp:revision>7</cp:revision>
  <dcterms:created xsi:type="dcterms:W3CDTF">2006-08-16T00:00:00Z</dcterms:created>
  <dcterms:modified xsi:type="dcterms:W3CDTF">2026-03-23T08:00:08Z</dcterms:modified>
  <dc:identifier>DAHECOMg0wc</dc:identifier>
</cp:coreProperties>
</file>