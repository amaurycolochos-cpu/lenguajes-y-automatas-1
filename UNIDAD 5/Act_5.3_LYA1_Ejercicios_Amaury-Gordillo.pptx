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73" r:id="rId12"/>
    <p:sldId id="266" r:id="rId13"/>
    <p:sldId id="265" r:id="rId14"/>
  </p:sldIdLst>
  <p:sldSz cx="18288000" cy="10287000"/>
  <p:notesSz cx="6858000" cy="9144000"/>
  <p:embeddedFontLst>
    <p:embeddedFont>
      <p:font typeface="Arimo" panose="020B0604020202020204" charset="0"/>
      <p:regular r:id="rId16"/>
    </p:embeddedFont>
    <p:embeddedFont>
      <p:font typeface="Arimo Bold" panose="020B0604020202020204" charset="0"/>
      <p:regular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old" panose="00000800000000000000" pitchFamily="2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098556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828555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78072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063178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98641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2388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676495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469457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457737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maurycolochos-cpu/LENGUAJES-Y-AUTOMATAS-1/tree/main/UNIDAD%205/Reporte%20Act%205.2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8763" y="241581"/>
            <a:ext cx="2193321" cy="1574239"/>
          </a:xfrm>
          <a:custGeom>
            <a:avLst/>
            <a:gdLst/>
            <a:ahLst/>
            <a:cxnLst/>
            <a:rect l="l" t="t" r="r" b="b"/>
            <a:pathLst>
              <a:path w="2193321" h="1574239">
                <a:moveTo>
                  <a:pt x="0" y="0"/>
                </a:moveTo>
                <a:lnTo>
                  <a:pt x="2193321" y="0"/>
                </a:lnTo>
                <a:lnTo>
                  <a:pt x="2193321" y="1574238"/>
                </a:lnTo>
                <a:lnTo>
                  <a:pt x="0" y="1574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576879" y="177283"/>
            <a:ext cx="3503050" cy="1538377"/>
          </a:xfrm>
          <a:custGeom>
            <a:avLst/>
            <a:gdLst/>
            <a:ahLst/>
            <a:cxnLst/>
            <a:rect l="l" t="t" r="r" b="b"/>
            <a:pathLst>
              <a:path w="3503050" h="1538377">
                <a:moveTo>
                  <a:pt x="0" y="0"/>
                </a:moveTo>
                <a:lnTo>
                  <a:pt x="3503050" y="0"/>
                </a:lnTo>
                <a:lnTo>
                  <a:pt x="3503050" y="1538377"/>
                </a:lnTo>
                <a:lnTo>
                  <a:pt x="0" y="1538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036284" y="917896"/>
            <a:ext cx="8215432" cy="849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TECNOLÓGICO NACIONAL DE MÉXICO</a:t>
            </a:r>
          </a:p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UNIDAD ACADÉMICA VENUSTIANO CARRANZA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43000" y="2180208"/>
            <a:ext cx="14249400" cy="8494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  <a:spcBef>
                <a:spcPct val="0"/>
              </a:spcBef>
            </a:pPr>
            <a:r>
              <a:rPr lang="en-US" sz="26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“INGENIERÍA EN SISTEMAS COMPUTACIONALES”</a:t>
            </a:r>
          </a:p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LENGUAJES Y AUTOMATAS 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29000" y="3439183"/>
            <a:ext cx="11147879" cy="849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</a:t>
            </a:r>
          </a:p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ACTIVIDAD 5.3 </a:t>
            </a:r>
            <a:r>
              <a:rPr lang="en-US" sz="2625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Ejercicios</a:t>
            </a:r>
            <a:endParaRPr lang="en-US" sz="2625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162800" y="4698072"/>
            <a:ext cx="3657600" cy="410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RPESENTA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800601" y="7223786"/>
            <a:ext cx="9144000" cy="849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DOCENTE</a:t>
            </a:r>
          </a:p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ING. FRANCISCO JAVIER MINGO VELAZQUEZ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57600" y="9134836"/>
            <a:ext cx="12512454" cy="4101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2625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13 DE MARZO DE 2026 VENUSTIANO CARRANZA, CHIAPAS</a:t>
            </a: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323F15EB-498F-21AC-540F-B4832C9E5A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45090"/>
              </p:ext>
            </p:extLst>
          </p:nvPr>
        </p:nvGraphicFramePr>
        <p:xfrm>
          <a:off x="5486400" y="5705826"/>
          <a:ext cx="8229600" cy="10058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09918890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475046580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lang="es-MX" b="1">
                          <a:effectLst/>
                        </a:rPr>
                        <a:t>NOMBRE DEL ALUMNO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b="1">
                          <a:effectLst/>
                        </a:rPr>
                        <a:t>MATRICULA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81526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s-MX" b="1">
                          <a:effectLst/>
                        </a:rPr>
                        <a:t>Amaury Jahaziel Gordillo Hernandez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b="1" dirty="0">
                          <a:effectLst/>
                        </a:rPr>
                        <a:t>231260074</a:t>
                      </a:r>
                    </a:p>
                  </a:txBody>
                  <a:tcPr anchor="ctr">
                    <a:lnL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3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8113360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04D78428-F81B-1E82-50A7-BDB098FC5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5706303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18240" y="962025"/>
            <a:ext cx="5556544" cy="1161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32"/>
              </a:lnSpc>
            </a:pPr>
            <a:r>
              <a:rPr lang="en-US" sz="7225" b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Introduccion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18240" y="2757372"/>
            <a:ext cx="15150560" cy="5416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MX" sz="3200" dirty="0"/>
              <a:t>El análisis sintáctico es una etapa fundamental dentro del proceso de compilación, ya que se encarga de verificar que la estructura de una cadena o programa cumpla con las reglas definidas por una gramática formal.</a:t>
            </a:r>
          </a:p>
          <a:p>
            <a:endParaRPr lang="es-MX" sz="3200" dirty="0"/>
          </a:p>
          <a:p>
            <a:r>
              <a:rPr lang="es-MX" sz="3200" dirty="0"/>
              <a:t>Esta etapa permite identificar errores en la forma en la que están organizados los elementos del lenguaje, como operadores, identificadores y expresiones. A diferencia del análisis léxico, que solo reconoce tokens, el análisis sintáctico valida la estructura completa.</a:t>
            </a:r>
          </a:p>
          <a:p>
            <a:endParaRPr lang="es-MX" sz="3200" dirty="0"/>
          </a:p>
          <a:p>
            <a:r>
              <a:rPr lang="es-MX" sz="3200" dirty="0"/>
              <a:t>La realización de ejercicios es importante porque permite comprender de forma práctica cómo funcionan las gramáticas, las derivaciones y los árboles sintácticos, los cuales son la base de los compiladores.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6770" y="981075"/>
            <a:ext cx="9076140" cy="709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2"/>
              </a:lnSpc>
            </a:pPr>
            <a:r>
              <a:rPr lang="en-US" sz="4403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Justificación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46770" y="2737229"/>
            <a:ext cx="15912530" cy="63276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MX" sz="3200" dirty="0"/>
              <a:t>La resolución de ejercicios en análisis sintáctico es necesaria para reforzar los conocimientos teóricos y llevarlos a un contexto práctico.</a:t>
            </a:r>
          </a:p>
          <a:p>
            <a:endParaRPr lang="es-MX" sz="3200" dirty="0"/>
          </a:p>
          <a:p>
            <a:r>
              <a:rPr lang="es-MX" sz="3200" dirty="0"/>
              <a:t>A través de estos ejercicios se logra: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/>
              <a:t>Comprender cómo se construyen las gramáticas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/>
              <a:t>Analizar paso a paso la generación de cadenas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/>
              <a:t>Identificar errores sintácticos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3200" b="1" dirty="0"/>
              <a:t>Relacionar estos conceptos con la programación real 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3200" dirty="0"/>
          </a:p>
          <a:p>
            <a:r>
              <a:rPr lang="es-MX" sz="3200" dirty="0"/>
              <a:t>Desde mi punto de vista, practicar este tipo de ejercicios permite desarrollar una mejor lógica estructural, la cual es fundamental en el desarrollo de software y en la construcción de compiladores.</a:t>
            </a:r>
          </a:p>
          <a:p>
            <a:pPr algn="l">
              <a:lnSpc>
                <a:spcPts val="3524"/>
              </a:lnSpc>
            </a:pPr>
            <a:endParaRPr lang="en-US" sz="2800" dirty="0">
              <a:solidFill>
                <a:srgbClr val="5B5F7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6770" y="981075"/>
            <a:ext cx="9076140" cy="1352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2"/>
              </a:lnSpc>
            </a:pPr>
            <a:r>
              <a:rPr lang="en-US" sz="4403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403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Ejercicios</a:t>
            </a:r>
            <a:r>
              <a:rPr lang="en-US" sz="4403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403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resueltos</a:t>
            </a:r>
            <a:endParaRPr lang="en-US" sz="4403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5522"/>
              </a:lnSpc>
            </a:pPr>
            <a:r>
              <a:rPr lang="es-MX" sz="3600" dirty="0"/>
              <a:t>Ejercicio 1: Definición de gramática</a:t>
            </a:r>
            <a:endParaRPr lang="en-US" sz="3600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46770" y="2737229"/>
            <a:ext cx="15912530" cy="984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MX" sz="3200" b="1" dirty="0"/>
              <a:t>Enunciado: </a:t>
            </a:r>
            <a:r>
              <a:rPr lang="es-MX" sz="3200" dirty="0"/>
              <a:t>Definir una gramática libre de contexto que genere cadenas con igual número de </a:t>
            </a:r>
          </a:p>
          <a:p>
            <a:r>
              <a:rPr lang="es-MX" sz="3200" dirty="0"/>
              <a:t>a y b, e identificar sus elementos.</a:t>
            </a:r>
            <a:endParaRPr lang="en-US" sz="2800" dirty="0">
              <a:solidFill>
                <a:srgbClr val="5B5F7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84485C-EA7D-6C01-6CF4-8808C051A001}"/>
              </a:ext>
            </a:extLst>
          </p:cNvPr>
          <p:cNvSpPr txBox="1"/>
          <p:nvPr/>
        </p:nvSpPr>
        <p:spPr>
          <a:xfrm>
            <a:off x="1312840" y="4000500"/>
            <a:ext cx="1560356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Se propone la siguiente </a:t>
            </a:r>
            <a:r>
              <a:rPr lang="es-MX" sz="2800" dirty="0" err="1"/>
              <a:t>gramática:S</a:t>
            </a:r>
            <a:r>
              <a:rPr lang="es-MX" sz="2800" dirty="0"/>
              <a:t> → </a:t>
            </a:r>
            <a:r>
              <a:rPr lang="es-MX" sz="2800" dirty="0" err="1"/>
              <a:t>aSb</a:t>
            </a:r>
            <a:r>
              <a:rPr lang="es-MX" sz="2800" dirty="0"/>
              <a:t> | </a:t>
            </a:r>
            <a:r>
              <a:rPr lang="el-GR" sz="2800" dirty="0"/>
              <a:t>ε</a:t>
            </a:r>
            <a:endParaRPr lang="es-MX" sz="2800" dirty="0"/>
          </a:p>
          <a:p>
            <a:r>
              <a:rPr lang="es-MX" sz="2800" dirty="0"/>
              <a:t>Elementos: </a:t>
            </a:r>
          </a:p>
          <a:p>
            <a:r>
              <a:rPr lang="es-MX" sz="2800" dirty="0"/>
              <a:t>No terminales: {S}</a:t>
            </a:r>
          </a:p>
          <a:p>
            <a:r>
              <a:rPr lang="es-MX" sz="2800" dirty="0"/>
              <a:t>Terminales: {a, b}</a:t>
            </a:r>
          </a:p>
          <a:p>
            <a:r>
              <a:rPr lang="es-MX" sz="2800" dirty="0"/>
              <a:t>Producciones: S → </a:t>
            </a:r>
            <a:r>
              <a:rPr lang="es-MX" sz="2800" dirty="0" err="1"/>
              <a:t>aSb</a:t>
            </a:r>
            <a:r>
              <a:rPr lang="es-MX" sz="2800" dirty="0"/>
              <a:t>, S → </a:t>
            </a:r>
            <a:r>
              <a:rPr lang="el-GR" sz="2800" dirty="0"/>
              <a:t>ε</a:t>
            </a:r>
            <a:endParaRPr lang="es-MX" sz="2800" dirty="0"/>
          </a:p>
          <a:p>
            <a:r>
              <a:rPr lang="es-MX" sz="2800" dirty="0"/>
              <a:t>Símbolo inicial: S</a:t>
            </a:r>
          </a:p>
          <a:p>
            <a:r>
              <a:rPr lang="es-MX" sz="2800" b="1" dirty="0"/>
              <a:t>Como resultado: </a:t>
            </a:r>
            <a:r>
              <a:rPr lang="es-MX" sz="2800" dirty="0"/>
              <a:t>Gramática correctamente definida.</a:t>
            </a:r>
          </a:p>
          <a:p>
            <a:r>
              <a:rPr lang="es-MX" sz="2800" dirty="0"/>
              <a:t>Esta gramática permite generar cadenas donde cada a tiene su correspondiente b, como ab, </a:t>
            </a:r>
            <a:r>
              <a:rPr lang="es-MX" sz="2800" dirty="0" err="1"/>
              <a:t>aabb</a:t>
            </a:r>
            <a:r>
              <a:rPr lang="es-MX" sz="2800" dirty="0"/>
              <a:t>, </a:t>
            </a:r>
            <a:r>
              <a:rPr lang="es-MX" sz="2800" dirty="0" err="1"/>
              <a:t>aaabbb</a:t>
            </a:r>
            <a:r>
              <a:rPr lang="es-MX" sz="2800" dirty="0"/>
              <a:t>. Esto asegura una estructura balanceada.</a:t>
            </a:r>
          </a:p>
          <a:p>
            <a:endParaRPr lang="es-MX" sz="2800" dirty="0"/>
          </a:p>
          <a:p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3854972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6770" y="981075"/>
            <a:ext cx="9076140" cy="1352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2"/>
              </a:lnSpc>
            </a:pPr>
            <a:r>
              <a:rPr lang="en-US" sz="4403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403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Ejercicios</a:t>
            </a:r>
            <a:r>
              <a:rPr lang="en-US" sz="4403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403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resueltos</a:t>
            </a:r>
            <a:endParaRPr lang="en-US" sz="4403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5522"/>
              </a:lnSpc>
            </a:pPr>
            <a:r>
              <a:rPr lang="es-MX" sz="3600" dirty="0"/>
              <a:t>Ejercicio 2: Derivación de cadenas</a:t>
            </a:r>
            <a:endParaRPr lang="en-US" sz="3600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46770" y="2737229"/>
            <a:ext cx="15912530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MX" sz="3200" b="1" dirty="0"/>
              <a:t>Enunciado: </a:t>
            </a:r>
            <a:r>
              <a:rPr lang="es-MX" sz="3200" dirty="0"/>
              <a:t>Obtener la derivación de la cadena </a:t>
            </a:r>
            <a:r>
              <a:rPr lang="es-MX" sz="3200" dirty="0" err="1"/>
              <a:t>aabb</a:t>
            </a:r>
            <a:r>
              <a:rPr lang="es-MX" sz="3200" dirty="0"/>
              <a:t>.</a:t>
            </a:r>
            <a:endParaRPr lang="en-US" sz="2800" dirty="0">
              <a:solidFill>
                <a:srgbClr val="5B5F7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84485C-EA7D-6C01-6CF4-8808C051A001}"/>
              </a:ext>
            </a:extLst>
          </p:cNvPr>
          <p:cNvSpPr txBox="1"/>
          <p:nvPr/>
        </p:nvSpPr>
        <p:spPr>
          <a:xfrm>
            <a:off x="1312840" y="4000500"/>
            <a:ext cx="156035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S → </a:t>
            </a:r>
            <a:r>
              <a:rPr lang="es-MX" sz="2800" dirty="0" err="1"/>
              <a:t>aSb</a:t>
            </a:r>
            <a:r>
              <a:rPr lang="es-MX" sz="2800" dirty="0"/>
              <a:t>  → </a:t>
            </a:r>
            <a:r>
              <a:rPr lang="es-MX" sz="2800" dirty="0" err="1"/>
              <a:t>aaSbb</a:t>
            </a:r>
            <a:r>
              <a:rPr lang="es-MX" sz="2800" dirty="0"/>
              <a:t>  → </a:t>
            </a:r>
            <a:r>
              <a:rPr lang="es-MX" sz="2800" dirty="0" err="1"/>
              <a:t>aa</a:t>
            </a:r>
            <a:r>
              <a:rPr lang="el-GR" sz="2800" dirty="0"/>
              <a:t>ε</a:t>
            </a:r>
            <a:r>
              <a:rPr lang="es-MX" sz="2800" dirty="0" err="1"/>
              <a:t>bb</a:t>
            </a:r>
            <a:r>
              <a:rPr lang="es-MX" sz="2800" dirty="0"/>
              <a:t>  → </a:t>
            </a:r>
            <a:r>
              <a:rPr lang="es-MX" sz="2800" dirty="0" err="1"/>
              <a:t>aabb</a:t>
            </a:r>
            <a:endParaRPr lang="es-MX" sz="2800" dirty="0"/>
          </a:p>
          <a:p>
            <a:endParaRPr lang="es-MX" sz="2800" dirty="0"/>
          </a:p>
          <a:p>
            <a:r>
              <a:rPr lang="es-MX" sz="2800" b="1" dirty="0"/>
              <a:t>Como resultado: </a:t>
            </a:r>
            <a:r>
              <a:rPr lang="es-MX" sz="2800" dirty="0"/>
              <a:t>La cadena pertenece al lenguaje.</a:t>
            </a:r>
          </a:p>
          <a:p>
            <a:r>
              <a:rPr lang="es-MX" sz="2800" dirty="0"/>
              <a:t>Se aplican las reglas hasta eliminar el símbolo no terminal, obteniendo solo terminales.</a:t>
            </a:r>
          </a:p>
          <a:p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1055071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6770" y="981075"/>
            <a:ext cx="9076140" cy="1352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2"/>
              </a:lnSpc>
            </a:pPr>
            <a:r>
              <a:rPr lang="en-US" sz="4403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403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Ejercicios</a:t>
            </a:r>
            <a:r>
              <a:rPr lang="en-US" sz="4403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403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resueltos</a:t>
            </a:r>
            <a:endParaRPr lang="en-US" sz="4403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5522"/>
              </a:lnSpc>
            </a:pPr>
            <a:r>
              <a:rPr lang="es-MX" sz="3600" dirty="0"/>
              <a:t>Ejercicio 3: Árbol de derivación</a:t>
            </a:r>
            <a:endParaRPr lang="en-US" sz="3600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46770" y="2737229"/>
            <a:ext cx="15912530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MX" sz="3200" b="1" dirty="0"/>
              <a:t>Enunciado: </a:t>
            </a:r>
            <a:r>
              <a:rPr lang="es-MX" sz="3200" dirty="0"/>
              <a:t>Construir el árbol de derivación de la cadena </a:t>
            </a:r>
            <a:r>
              <a:rPr lang="es-MX" sz="3200" dirty="0" err="1"/>
              <a:t>aabb</a:t>
            </a:r>
            <a:r>
              <a:rPr lang="es-MX" sz="3200" dirty="0"/>
              <a:t>.</a:t>
            </a:r>
            <a:endParaRPr lang="en-US" sz="2800" dirty="0">
              <a:solidFill>
                <a:srgbClr val="5B5F7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84485C-EA7D-6C01-6CF4-8808C051A001}"/>
              </a:ext>
            </a:extLst>
          </p:cNvPr>
          <p:cNvSpPr txBox="1"/>
          <p:nvPr/>
        </p:nvSpPr>
        <p:spPr>
          <a:xfrm>
            <a:off x="1501255" y="4042946"/>
            <a:ext cx="962394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Se construye el árbol con base en las derivaciones.</a:t>
            </a:r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endParaRPr lang="es-MX" sz="2800" dirty="0"/>
          </a:p>
          <a:p>
            <a:r>
              <a:rPr lang="es-MX" sz="2800" b="1" dirty="0"/>
              <a:t>Como resultado: </a:t>
            </a:r>
            <a:r>
              <a:rPr lang="es-MX" sz="2800" dirty="0"/>
              <a:t>Se obtiene el árbol que genera la cadena.</a:t>
            </a:r>
          </a:p>
          <a:p>
            <a:r>
              <a:rPr lang="es-MX" sz="2800" dirty="0"/>
              <a:t>El árbol representa la estructura jerárquica de la derivación.</a:t>
            </a:r>
          </a:p>
        </p:txBody>
      </p:sp>
      <p:pic>
        <p:nvPicPr>
          <p:cNvPr id="5" name="Imagen 4" descr="Gráfico, Gráfico radial&#10;&#10;El contenido generado por IA puede ser incorrecto.">
            <a:extLst>
              <a:ext uri="{FF2B5EF4-FFF2-40B4-BE49-F238E27FC236}">
                <a16:creationId xmlns:a16="http://schemas.microsoft.com/office/drawing/2014/main" id="{2151F122-E940-FBF5-9269-04B22AD2E7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3229672"/>
            <a:ext cx="6743700" cy="67437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59DFB6A-7DC4-138E-A442-4E1D3E79E05D}"/>
              </a:ext>
            </a:extLst>
          </p:cNvPr>
          <p:cNvSpPr txBox="1"/>
          <p:nvPr/>
        </p:nvSpPr>
        <p:spPr>
          <a:xfrm>
            <a:off x="12039600" y="9788706"/>
            <a:ext cx="472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Figura 1. Árbol de derivación de la cadena </a:t>
            </a:r>
            <a:r>
              <a:rPr lang="es-MX" dirty="0" err="1"/>
              <a:t>aabb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87937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6770" y="981075"/>
            <a:ext cx="9076140" cy="1352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2"/>
              </a:lnSpc>
            </a:pPr>
            <a:r>
              <a:rPr lang="en-US" sz="4403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403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Ejercicios</a:t>
            </a:r>
            <a:r>
              <a:rPr lang="en-US" sz="4403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403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resueltos</a:t>
            </a:r>
            <a:endParaRPr lang="en-US" sz="4403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5522"/>
              </a:lnSpc>
            </a:pPr>
            <a:r>
              <a:rPr lang="es-MX" sz="3600" dirty="0"/>
              <a:t>Ejercicio 4: Ambigüedad</a:t>
            </a:r>
            <a:endParaRPr lang="en-US" sz="3600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46770" y="2737229"/>
            <a:ext cx="1591253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MX" sz="3200" b="1" dirty="0"/>
              <a:t>Enunciado: </a:t>
            </a:r>
            <a:r>
              <a:rPr lang="es-MX" sz="3200" dirty="0"/>
              <a:t>Determinar si la gramática es ambigua:</a:t>
            </a:r>
          </a:p>
          <a:p>
            <a:r>
              <a:rPr lang="en-US" sz="2800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E → E + E | id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84485C-EA7D-6C01-6CF4-8808C051A001}"/>
              </a:ext>
            </a:extLst>
          </p:cNvPr>
          <p:cNvSpPr txBox="1"/>
          <p:nvPr/>
        </p:nvSpPr>
        <p:spPr>
          <a:xfrm>
            <a:off x="1501255" y="4042946"/>
            <a:ext cx="962394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dirty="0"/>
              <a:t>id + id + id</a:t>
            </a:r>
          </a:p>
          <a:p>
            <a:r>
              <a:rPr lang="es-MX" sz="2800" b="1" dirty="0"/>
              <a:t>Interpretaciones</a:t>
            </a:r>
            <a:r>
              <a:rPr lang="es-MX" sz="2800" dirty="0"/>
              <a:t>: (id + id) + </a:t>
            </a:r>
            <a:r>
              <a:rPr lang="es-MX" sz="2800" dirty="0" err="1"/>
              <a:t>idid</a:t>
            </a:r>
            <a:r>
              <a:rPr lang="es-MX" sz="2800" dirty="0"/>
              <a:t> + (id + id)</a:t>
            </a:r>
          </a:p>
          <a:p>
            <a:r>
              <a:rPr lang="es-MX" sz="2800" b="1" dirty="0"/>
              <a:t>Como resultado: </a:t>
            </a:r>
            <a:r>
              <a:rPr lang="es-MX" sz="2800" dirty="0"/>
              <a:t>La gramática es ambigua..</a:t>
            </a:r>
          </a:p>
          <a:p>
            <a:endParaRPr lang="es-MX" sz="2800" dirty="0"/>
          </a:p>
          <a:p>
            <a:r>
              <a:rPr lang="es-MX" sz="2800" dirty="0"/>
              <a:t>Una misma cadena puede tener más de un árbol sintáctico, lo que genera ambigüedad.</a:t>
            </a:r>
          </a:p>
        </p:txBody>
      </p:sp>
    </p:spTree>
    <p:extLst>
      <p:ext uri="{BB962C8B-B14F-4D97-AF65-F5344CB8AC3E}">
        <p14:creationId xmlns:p14="http://schemas.microsoft.com/office/powerpoint/2010/main" val="350677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6770" y="981075"/>
            <a:ext cx="9076140" cy="1352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2"/>
              </a:lnSpc>
            </a:pPr>
            <a:r>
              <a:rPr lang="en-US" sz="4403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403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Ejercicios</a:t>
            </a:r>
            <a:r>
              <a:rPr lang="en-US" sz="4403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403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resueltos</a:t>
            </a:r>
            <a:endParaRPr lang="en-US" sz="4403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5522"/>
              </a:lnSpc>
            </a:pPr>
            <a:r>
              <a:rPr lang="es-MX" sz="3600" dirty="0"/>
              <a:t>Ejercicio 5: Validación de cadenas</a:t>
            </a:r>
            <a:endParaRPr lang="en-US" sz="3600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46770" y="2737229"/>
            <a:ext cx="15912530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MX" sz="3200" b="1" dirty="0"/>
              <a:t>Enunciado: </a:t>
            </a:r>
            <a:r>
              <a:rPr lang="es-MX" sz="3200" dirty="0"/>
              <a:t>Determinar si las cadenas pertenecen al lenguaje.</a:t>
            </a:r>
            <a:endParaRPr lang="en-US" sz="2800" dirty="0">
              <a:solidFill>
                <a:srgbClr val="5B5F7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84485C-EA7D-6C01-6CF4-8808C051A001}"/>
              </a:ext>
            </a:extLst>
          </p:cNvPr>
          <p:cNvSpPr txBox="1"/>
          <p:nvPr/>
        </p:nvSpPr>
        <p:spPr>
          <a:xfrm>
            <a:off x="1219200" y="6819900"/>
            <a:ext cx="962394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Como resultado: </a:t>
            </a:r>
            <a:r>
              <a:rPr lang="es-MX" sz="2800" dirty="0"/>
              <a:t>Clasificación correcta.</a:t>
            </a:r>
          </a:p>
          <a:p>
            <a:endParaRPr lang="es-MX" sz="2800" dirty="0"/>
          </a:p>
          <a:p>
            <a:r>
              <a:rPr lang="es-MX" sz="2800" dirty="0"/>
              <a:t>El lenguaje exige equilibrio y orden.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259EEE42-9ED0-3987-AE34-2D4673981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505332"/>
              </p:ext>
            </p:extLst>
          </p:nvPr>
        </p:nvGraphicFramePr>
        <p:xfrm>
          <a:off x="1346770" y="3516026"/>
          <a:ext cx="8229600" cy="30175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25243307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773156098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195326078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lang="es-MX">
                          <a:effectLst/>
                        </a:rPr>
                        <a:t>Cadena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>
                          <a:effectLst/>
                        </a:rPr>
                        <a:t>Resultado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>
                          <a:effectLst/>
                        </a:rPr>
                        <a:t>Justificación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20724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s-MX">
                          <a:effectLst/>
                        </a:rPr>
                        <a:t>ab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>
                          <a:effectLst/>
                        </a:rPr>
                        <a:t>Válida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>
                          <a:effectLst/>
                        </a:rPr>
                        <a:t>1 a y 1 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15801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s-MX">
                          <a:effectLst/>
                        </a:rPr>
                        <a:t>aabb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>
                          <a:effectLst/>
                        </a:rPr>
                        <a:t>Válida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>
                          <a:effectLst/>
                        </a:rPr>
                        <a:t>balance correcto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206348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s-MX">
                          <a:effectLst/>
                        </a:rPr>
                        <a:t>aaabbb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>
                          <a:effectLst/>
                        </a:rPr>
                        <a:t>Válida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>
                          <a:effectLst/>
                        </a:rPr>
                        <a:t>cumple regla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8656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s-MX">
                          <a:effectLst/>
                        </a:rPr>
                        <a:t>aab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>
                          <a:effectLst/>
                        </a:rPr>
                        <a:t>Inválida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>
                          <a:effectLst/>
                        </a:rPr>
                        <a:t>desigual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12346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lang="es-MX">
                          <a:effectLst/>
                        </a:rPr>
                        <a:t>abb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>
                          <a:effectLst/>
                        </a:rPr>
                        <a:t>Inválida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dirty="0">
                          <a:effectLst/>
                        </a:rPr>
                        <a:t>orden incorrecto</a:t>
                      </a:r>
                    </a:p>
                  </a:txBody>
                  <a:tcPr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296550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84794873-1C5B-EE83-71A0-4802A1C4C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770" y="3515868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48240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6770" y="981075"/>
            <a:ext cx="9076140" cy="1352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2"/>
              </a:lnSpc>
            </a:pPr>
            <a:r>
              <a:rPr lang="en-US" sz="4403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403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Ejercicios</a:t>
            </a:r>
            <a:r>
              <a:rPr lang="en-US" sz="4403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403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resueltos</a:t>
            </a:r>
            <a:endParaRPr lang="en-US" sz="4403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5522"/>
              </a:lnSpc>
            </a:pPr>
            <a:r>
              <a:rPr lang="es-MX" sz="3600" dirty="0"/>
              <a:t>Ejercicio 6: Clasificación de </a:t>
            </a:r>
            <a:r>
              <a:rPr lang="es-MX" sz="3600" dirty="0" err="1"/>
              <a:t>parser</a:t>
            </a:r>
            <a:endParaRPr lang="en-US" sz="3600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346770" y="2737229"/>
            <a:ext cx="15912530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MX" sz="3200" b="1" dirty="0"/>
              <a:t>Enunciado: </a:t>
            </a:r>
            <a:r>
              <a:rPr lang="es-MX" sz="3200" dirty="0"/>
              <a:t>Clasificar la gramática:</a:t>
            </a:r>
          </a:p>
          <a:p>
            <a:r>
              <a:rPr lang="en-US" sz="2800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S → </a:t>
            </a:r>
            <a:r>
              <a:rPr lang="en-US" sz="2800" dirty="0" err="1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aSb</a:t>
            </a:r>
            <a:r>
              <a:rPr lang="en-US" sz="2800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 | </a:t>
            </a:r>
            <a:r>
              <a:rPr lang="el-GR" sz="2800" dirty="0">
                <a:solidFill>
                  <a:srgbClr val="5B5F71"/>
                </a:solidFill>
                <a:latin typeface="Arimo"/>
                <a:ea typeface="Arimo"/>
                <a:cs typeface="Arimo"/>
                <a:sym typeface="Arimo"/>
              </a:rPr>
              <a:t>ε</a:t>
            </a:r>
            <a:endParaRPr lang="es-MX" sz="3200" dirty="0">
              <a:solidFill>
                <a:srgbClr val="5B5F71"/>
              </a:solidFill>
              <a:latin typeface="Arimo"/>
              <a:ea typeface="Arimo"/>
              <a:cs typeface="Arimo"/>
              <a:sym typeface="Arimo"/>
            </a:endParaRPr>
          </a:p>
          <a:p>
            <a:endParaRPr lang="en-US" sz="2800" dirty="0">
              <a:solidFill>
                <a:srgbClr val="5B5F7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84485C-EA7D-6C01-6CF4-8808C051A001}"/>
              </a:ext>
            </a:extLst>
          </p:cNvPr>
          <p:cNvSpPr txBox="1"/>
          <p:nvPr/>
        </p:nvSpPr>
        <p:spPr>
          <a:xfrm>
            <a:off x="1314815" y="4091446"/>
            <a:ext cx="962394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No tiene ambigüedad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No tiene recursividad izquierda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MX" sz="2800" dirty="0"/>
              <a:t>Puede analizarse de arriba hacia abajo</a:t>
            </a:r>
          </a:p>
          <a:p>
            <a:endParaRPr lang="es-MX" sz="2800" dirty="0"/>
          </a:p>
          <a:p>
            <a:r>
              <a:rPr lang="es-MX" sz="2800" b="1" dirty="0"/>
              <a:t>Como resultado: </a:t>
            </a:r>
            <a:r>
              <a:rPr lang="es-MX" sz="2800" dirty="0"/>
              <a:t>Parser tipo LL (descendente)</a:t>
            </a:r>
          </a:p>
          <a:p>
            <a:endParaRPr lang="es-MX" sz="2800" dirty="0"/>
          </a:p>
          <a:p>
            <a:r>
              <a:rPr lang="es-MX" sz="2800" dirty="0"/>
              <a:t>Este tipo de gramática permite un análisis directo sin conflictos.</a:t>
            </a:r>
          </a:p>
        </p:txBody>
      </p:sp>
    </p:spTree>
    <p:extLst>
      <p:ext uri="{BB962C8B-B14F-4D97-AF65-F5344CB8AC3E}">
        <p14:creationId xmlns:p14="http://schemas.microsoft.com/office/powerpoint/2010/main" val="3017123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46770" y="981075"/>
            <a:ext cx="9076140" cy="1352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22"/>
              </a:lnSpc>
            </a:pPr>
            <a:r>
              <a:rPr lang="en-US" sz="4403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403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Ejercicios</a:t>
            </a:r>
            <a:r>
              <a:rPr lang="en-US" sz="4403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4403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resueltos</a:t>
            </a:r>
            <a:endParaRPr lang="en-US" sz="4403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5522"/>
              </a:lnSpc>
            </a:pPr>
            <a:r>
              <a:rPr lang="es-MX" sz="3600" dirty="0"/>
              <a:t>Ejercicio 7: Relación con implementación</a:t>
            </a:r>
            <a:endParaRPr lang="en-US" sz="3600" b="1" dirty="0">
              <a:solidFill>
                <a:srgbClr val="505468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172247" y="2502235"/>
            <a:ext cx="794963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s-MX" sz="3200" b="1" dirty="0"/>
              <a:t>Enunciado: </a:t>
            </a:r>
            <a:r>
              <a:rPr lang="es-MX" sz="3200" dirty="0"/>
              <a:t>Relacionar una gramática con su implementación.</a:t>
            </a:r>
          </a:p>
          <a:p>
            <a:endParaRPr lang="es-MX" sz="3200" dirty="0">
              <a:solidFill>
                <a:srgbClr val="5B5F71"/>
              </a:solidFill>
              <a:latin typeface="Arimo"/>
              <a:ea typeface="Arimo"/>
              <a:cs typeface="Arimo"/>
              <a:sym typeface="Arimo"/>
            </a:endParaRPr>
          </a:p>
          <a:p>
            <a:r>
              <a:rPr lang="es-MX" sz="2800" dirty="0">
                <a:latin typeface="Arimo"/>
                <a:ea typeface="Arimo"/>
                <a:cs typeface="Arimo"/>
                <a:sym typeface="Arimo"/>
              </a:rPr>
              <a:t>Gramática usada en Java:</a:t>
            </a:r>
          </a:p>
          <a:p>
            <a:r>
              <a:rPr lang="es-MX" sz="2800" dirty="0" err="1">
                <a:latin typeface="Arimo"/>
                <a:ea typeface="Arimo"/>
                <a:cs typeface="Arimo"/>
                <a:sym typeface="Arimo"/>
              </a:rPr>
              <a:t>Expr</a:t>
            </a:r>
            <a:r>
              <a:rPr lang="es-MX" sz="2800" dirty="0">
                <a:latin typeface="Arimo"/>
                <a:ea typeface="Arimo"/>
                <a:cs typeface="Arimo"/>
                <a:sym typeface="Arimo"/>
              </a:rPr>
              <a:t> → </a:t>
            </a:r>
            <a:r>
              <a:rPr lang="es-MX" sz="2800" dirty="0" err="1">
                <a:latin typeface="Arimo"/>
                <a:ea typeface="Arimo"/>
                <a:cs typeface="Arimo"/>
                <a:sym typeface="Arimo"/>
              </a:rPr>
              <a:t>Term</a:t>
            </a:r>
            <a:r>
              <a:rPr lang="es-MX" sz="2800" dirty="0">
                <a:latin typeface="Arimo"/>
                <a:ea typeface="Arimo"/>
                <a:cs typeface="Arimo"/>
                <a:sym typeface="Arimo"/>
              </a:rPr>
              <a:t> { + </a:t>
            </a:r>
            <a:r>
              <a:rPr lang="es-MX" sz="2800" dirty="0" err="1">
                <a:latin typeface="Arimo"/>
                <a:ea typeface="Arimo"/>
                <a:cs typeface="Arimo"/>
                <a:sym typeface="Arimo"/>
              </a:rPr>
              <a:t>Term</a:t>
            </a:r>
            <a:r>
              <a:rPr lang="es-MX" sz="2800" dirty="0">
                <a:latin typeface="Arimo"/>
                <a:ea typeface="Arimo"/>
                <a:cs typeface="Arimo"/>
                <a:sym typeface="Arimo"/>
              </a:rPr>
              <a:t> }</a:t>
            </a:r>
          </a:p>
          <a:p>
            <a:r>
              <a:rPr lang="es-MX" sz="2800" dirty="0" err="1">
                <a:latin typeface="Arimo"/>
                <a:ea typeface="Arimo"/>
                <a:cs typeface="Arimo"/>
                <a:sym typeface="Arimo"/>
              </a:rPr>
              <a:t>Term</a:t>
            </a:r>
            <a:r>
              <a:rPr lang="es-MX" sz="2800" dirty="0">
                <a:latin typeface="Arimo"/>
                <a:ea typeface="Arimo"/>
                <a:cs typeface="Arimo"/>
                <a:sym typeface="Arimo"/>
              </a:rPr>
              <a:t> → id</a:t>
            </a:r>
            <a:endParaRPr lang="en-US" sz="2800" dirty="0"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84485C-EA7D-6C01-6CF4-8808C051A001}"/>
              </a:ext>
            </a:extLst>
          </p:cNvPr>
          <p:cNvSpPr txBox="1"/>
          <p:nvPr/>
        </p:nvSpPr>
        <p:spPr>
          <a:xfrm>
            <a:off x="990600" y="5272225"/>
            <a:ext cx="962394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 err="1"/>
              <a:t>Ejemplos</a:t>
            </a:r>
            <a:r>
              <a:rPr lang="es-MX" sz="2800" dirty="0" err="1"/>
              <a:t>:a+ba+b+c</a:t>
            </a:r>
            <a:endParaRPr lang="es-MX" sz="2800" dirty="0"/>
          </a:p>
          <a:p>
            <a:r>
              <a:rPr lang="es-MX" sz="2800" b="1" dirty="0"/>
              <a:t>Como resultado: </a:t>
            </a:r>
            <a:r>
              <a:rPr lang="es-MX" sz="2800" dirty="0"/>
              <a:t>La gramática coincide con el analizador desarrollado.</a:t>
            </a:r>
          </a:p>
          <a:p>
            <a:endParaRPr lang="es-MX" sz="2800" dirty="0"/>
          </a:p>
          <a:p>
            <a:r>
              <a:rPr lang="es-MX" sz="2800" dirty="0"/>
              <a:t>Esto demuestra cómo los conceptos teóricos se aplican directamente en programación.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3F79129-1F52-1878-54DC-0D0722413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1389096"/>
            <a:ext cx="7601274" cy="376300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F9430AF-A03E-6592-2A70-7871E3B50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0" y="5560124"/>
            <a:ext cx="5663616" cy="358433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FBC2DFDD-3C3E-2B0C-E203-F9DCB7714E57}"/>
              </a:ext>
            </a:extLst>
          </p:cNvPr>
          <p:cNvSpPr txBox="1"/>
          <p:nvPr/>
        </p:nvSpPr>
        <p:spPr>
          <a:xfrm>
            <a:off x="9448800" y="9319444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Figura 2 y  3. Ejecución del analizador sintáctico en Java</a:t>
            </a:r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3068652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5"/>
          <p:cNvSpPr txBox="1"/>
          <p:nvPr/>
        </p:nvSpPr>
        <p:spPr>
          <a:xfrm>
            <a:off x="914400" y="266700"/>
            <a:ext cx="9299077" cy="735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3600" b="1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Conclusión</a:t>
            </a:r>
            <a:endParaRPr lang="es-MX" sz="3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723900" y="1009223"/>
            <a:ext cx="16840200" cy="68312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s-MX" sz="2400" dirty="0">
                <a:latin typeface="Montserrat" panose="00000500000000000000" pitchFamily="2" charset="0"/>
              </a:rPr>
              <a:t>En esta actividad pude comprender mejor cómo funcionan las gramáticas y el análisis sintáctico a través de la práctica.</a:t>
            </a:r>
          </a:p>
          <a:p>
            <a:pPr>
              <a:lnSpc>
                <a:spcPct val="150000"/>
              </a:lnSpc>
            </a:pPr>
            <a:endParaRPr lang="es-MX" sz="24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sz="2400" dirty="0">
                <a:latin typeface="Montserrat" panose="00000500000000000000" pitchFamily="2" charset="0"/>
              </a:rPr>
              <a:t>Aprendí a: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dirty="0">
                <a:latin typeface="Montserrat" panose="00000500000000000000" pitchFamily="2" charset="0"/>
              </a:rPr>
              <a:t>Definir gramáticas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dirty="0">
                <a:latin typeface="Montserrat" panose="00000500000000000000" pitchFamily="2" charset="0"/>
              </a:rPr>
              <a:t>Realizar derivaciones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dirty="0">
                <a:latin typeface="Montserrat" panose="00000500000000000000" pitchFamily="2" charset="0"/>
              </a:rPr>
              <a:t>Construir árboles sintácticos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2400" dirty="0">
                <a:latin typeface="Montserrat" panose="00000500000000000000" pitchFamily="2" charset="0"/>
              </a:rPr>
              <a:t>Detectar ambigüedad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MX" sz="2400" dirty="0"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MX" sz="2400" dirty="0">
                <a:latin typeface="Montserrat" panose="00000500000000000000" pitchFamily="2" charset="0"/>
              </a:rPr>
              <a:t>También pude relacionar estos conceptos con la implementación en Java, lo cual me ayudó a entender cómo funcionan los compiladores en la vida real.</a:t>
            </a:r>
          </a:p>
          <a:p>
            <a:pPr algn="l">
              <a:lnSpc>
                <a:spcPct val="150000"/>
              </a:lnSpc>
            </a:pPr>
            <a:endParaRPr lang="en-US" sz="3600" dirty="0">
              <a:solidFill>
                <a:srgbClr val="5B5F71"/>
              </a:solidFill>
              <a:latin typeface="Montserrat" panose="00000500000000000000" pitchFamily="2" charset="0"/>
              <a:ea typeface="Arimo"/>
              <a:cs typeface="Arimo"/>
              <a:sym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623241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3"/>
          <p:cNvSpPr txBox="1"/>
          <p:nvPr/>
        </p:nvSpPr>
        <p:spPr>
          <a:xfrm>
            <a:off x="619705" y="300628"/>
            <a:ext cx="8337976" cy="5006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187"/>
              </a:lnSpc>
            </a:pPr>
            <a:r>
              <a:rPr lang="en-US" sz="3312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Link de </a:t>
            </a:r>
            <a:r>
              <a:rPr lang="en-US" sz="3312" b="1" dirty="0" err="1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Repositorio</a:t>
            </a:r>
            <a:r>
              <a:rPr lang="en-US" sz="3312" b="1" dirty="0">
                <a:solidFill>
                  <a:srgbClr val="50546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4B9366A9-73F0-5EDD-2C82-C952BF0D867D}"/>
              </a:ext>
            </a:extLst>
          </p:cNvPr>
          <p:cNvSpPr txBox="1"/>
          <p:nvPr/>
        </p:nvSpPr>
        <p:spPr>
          <a:xfrm>
            <a:off x="619704" y="1181100"/>
            <a:ext cx="174396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400" dirty="0">
                <a:hlinkClick r:id="rId3"/>
              </a:rPr>
              <a:t>https://github.com/amaurycolochos-cpu/LENGUAJES-Y-AUTOMATAS-1/tree/main/UNIDAD%205/Reporte%20Act%205.2</a:t>
            </a:r>
            <a:endParaRPr lang="es-MX" sz="2400" dirty="0"/>
          </a:p>
          <a:p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2189507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53177" y="846830"/>
            <a:ext cx="12809981" cy="1103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MX" sz="5400" b="1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Fuentes de información</a:t>
            </a:r>
            <a:endParaRPr lang="es-MX" sz="5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28700" y="2017814"/>
            <a:ext cx="16230600" cy="7697686"/>
            <a:chOff x="0" y="0"/>
            <a:chExt cx="21640800" cy="3276994"/>
          </a:xfrm>
        </p:grpSpPr>
        <p:sp>
          <p:nvSpPr>
            <p:cNvPr id="4" name="Freeform 4"/>
            <p:cNvSpPr/>
            <p:nvPr/>
          </p:nvSpPr>
          <p:spPr>
            <a:xfrm>
              <a:off x="32636" y="19050"/>
              <a:ext cx="21575399" cy="3238881"/>
            </a:xfrm>
            <a:custGeom>
              <a:avLst/>
              <a:gdLst/>
              <a:ahLst/>
              <a:cxnLst/>
              <a:rect l="l" t="t" r="r" b="b"/>
              <a:pathLst>
                <a:path w="21575399" h="3238881">
                  <a:moveTo>
                    <a:pt x="0" y="138938"/>
                  </a:moveTo>
                  <a:cubicBezTo>
                    <a:pt x="0" y="62230"/>
                    <a:pt x="107480" y="0"/>
                    <a:pt x="239980" y="0"/>
                  </a:cubicBezTo>
                  <a:lnTo>
                    <a:pt x="21335418" y="0"/>
                  </a:lnTo>
                  <a:cubicBezTo>
                    <a:pt x="21467918" y="0"/>
                    <a:pt x="21575399" y="62230"/>
                    <a:pt x="21575399" y="138938"/>
                  </a:cubicBezTo>
                  <a:lnTo>
                    <a:pt x="21575399" y="3099943"/>
                  </a:lnTo>
                  <a:cubicBezTo>
                    <a:pt x="21575399" y="3176651"/>
                    <a:pt x="21467918" y="3238881"/>
                    <a:pt x="21335418" y="3238881"/>
                  </a:cubicBezTo>
                  <a:lnTo>
                    <a:pt x="239980" y="3238881"/>
                  </a:lnTo>
                  <a:cubicBezTo>
                    <a:pt x="107480" y="3238881"/>
                    <a:pt x="0" y="3176651"/>
                    <a:pt x="0" y="3099943"/>
                  </a:cubicBez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21640670" cy="3276981"/>
            </a:xfrm>
            <a:custGeom>
              <a:avLst/>
              <a:gdLst/>
              <a:ahLst/>
              <a:cxnLst/>
              <a:rect l="l" t="t" r="r" b="b"/>
              <a:pathLst>
                <a:path w="21640670" h="3276981">
                  <a:moveTo>
                    <a:pt x="0" y="157988"/>
                  </a:moveTo>
                  <a:cubicBezTo>
                    <a:pt x="0" y="70612"/>
                    <a:pt x="122275" y="0"/>
                    <a:pt x="272616" y="0"/>
                  </a:cubicBezTo>
                  <a:lnTo>
                    <a:pt x="21368054" y="0"/>
                  </a:lnTo>
                  <a:lnTo>
                    <a:pt x="21368054" y="19050"/>
                  </a:lnTo>
                  <a:lnTo>
                    <a:pt x="21368054" y="0"/>
                  </a:lnTo>
                  <a:cubicBezTo>
                    <a:pt x="21518394" y="0"/>
                    <a:pt x="21640670" y="70612"/>
                    <a:pt x="21640670" y="157988"/>
                  </a:cubicBezTo>
                  <a:lnTo>
                    <a:pt x="21608035" y="157988"/>
                  </a:lnTo>
                  <a:lnTo>
                    <a:pt x="21640670" y="157988"/>
                  </a:lnTo>
                  <a:lnTo>
                    <a:pt x="21640670" y="3118993"/>
                  </a:lnTo>
                  <a:lnTo>
                    <a:pt x="21608035" y="3118993"/>
                  </a:lnTo>
                  <a:lnTo>
                    <a:pt x="21640670" y="3118993"/>
                  </a:lnTo>
                  <a:cubicBezTo>
                    <a:pt x="21640670" y="3206369"/>
                    <a:pt x="21518394" y="3276981"/>
                    <a:pt x="21368054" y="3276981"/>
                  </a:cubicBezTo>
                  <a:lnTo>
                    <a:pt x="21368054" y="3257931"/>
                  </a:lnTo>
                  <a:lnTo>
                    <a:pt x="21368054" y="3276981"/>
                  </a:lnTo>
                  <a:lnTo>
                    <a:pt x="272616" y="3276981"/>
                  </a:lnTo>
                  <a:lnTo>
                    <a:pt x="272616" y="3257931"/>
                  </a:lnTo>
                  <a:lnTo>
                    <a:pt x="272616" y="3276981"/>
                  </a:lnTo>
                  <a:cubicBezTo>
                    <a:pt x="122275" y="3276981"/>
                    <a:pt x="0" y="3206369"/>
                    <a:pt x="0" y="3118993"/>
                  </a:cubicBezTo>
                  <a:lnTo>
                    <a:pt x="0" y="157988"/>
                  </a:lnTo>
                  <a:lnTo>
                    <a:pt x="32636" y="157988"/>
                  </a:lnTo>
                  <a:lnTo>
                    <a:pt x="0" y="157988"/>
                  </a:lnTo>
                  <a:moveTo>
                    <a:pt x="65271" y="157988"/>
                  </a:moveTo>
                  <a:lnTo>
                    <a:pt x="65271" y="3118993"/>
                  </a:lnTo>
                  <a:lnTo>
                    <a:pt x="32636" y="3118993"/>
                  </a:lnTo>
                  <a:lnTo>
                    <a:pt x="65271" y="3118993"/>
                  </a:lnTo>
                  <a:cubicBezTo>
                    <a:pt x="65271" y="3185033"/>
                    <a:pt x="157956" y="3238881"/>
                    <a:pt x="272616" y="3238881"/>
                  </a:cubicBezTo>
                  <a:lnTo>
                    <a:pt x="21368054" y="3238881"/>
                  </a:lnTo>
                  <a:cubicBezTo>
                    <a:pt x="21482931" y="3238881"/>
                    <a:pt x="21575399" y="3185033"/>
                    <a:pt x="21575399" y="3118993"/>
                  </a:cubicBezTo>
                  <a:lnTo>
                    <a:pt x="21575399" y="157988"/>
                  </a:lnTo>
                  <a:cubicBezTo>
                    <a:pt x="21575399" y="91948"/>
                    <a:pt x="21482714" y="38100"/>
                    <a:pt x="21368054" y="38100"/>
                  </a:cubicBezTo>
                  <a:lnTo>
                    <a:pt x="272616" y="38100"/>
                  </a:lnTo>
                  <a:lnTo>
                    <a:pt x="272616" y="19050"/>
                  </a:lnTo>
                  <a:lnTo>
                    <a:pt x="272616" y="38100"/>
                  </a:lnTo>
                  <a:cubicBezTo>
                    <a:pt x="157956" y="38100"/>
                    <a:pt x="65271" y="91948"/>
                    <a:pt x="65271" y="157988"/>
                  </a:cubicBezTo>
                  <a:close/>
                </a:path>
              </a:pathLst>
            </a:custGeom>
            <a:solidFill>
              <a:srgbClr val="C8C9C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792100" y="3390900"/>
            <a:ext cx="14703702" cy="5096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2800" dirty="0" err="1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Hopcroft</a:t>
            </a:r>
            <a:r>
              <a:rPr lang="es-MX" sz="2800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, J. E., </a:t>
            </a:r>
            <a:r>
              <a:rPr lang="es-MX" sz="2800" dirty="0" err="1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Motwani</a:t>
            </a:r>
            <a:r>
              <a:rPr lang="es-MX" sz="2800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, R., &amp; Ullman, J. D. (2007). </a:t>
            </a:r>
            <a:r>
              <a:rPr lang="es-MX" sz="2800" i="1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Teoría de autómatas, lenguajes y computación</a:t>
            </a:r>
            <a:r>
              <a:rPr lang="es-MX" sz="2800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. Pearson. </a:t>
            </a:r>
          </a:p>
          <a:p>
            <a:pPr lvl="0" algn="just">
              <a:lnSpc>
                <a:spcPct val="150000"/>
              </a:lnSpc>
              <a:buSzPts val="1000"/>
              <a:tabLst>
                <a:tab pos="457200" algn="l"/>
              </a:tabLst>
            </a:pPr>
            <a:endParaRPr lang="es-MX" sz="28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2800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Aho, A. V., </a:t>
            </a:r>
            <a:r>
              <a:rPr lang="es-MX" sz="2800" dirty="0" err="1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Sethi</a:t>
            </a:r>
            <a:r>
              <a:rPr lang="es-MX" sz="2800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, R., &amp; Ullman, J. D. (2008). </a:t>
            </a:r>
            <a:r>
              <a:rPr lang="es-MX" sz="2800" i="1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Compiladores: Principios, técnicas y herramientas</a:t>
            </a:r>
            <a:r>
              <a:rPr lang="es-MX" sz="2800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. Pearson. </a:t>
            </a:r>
          </a:p>
          <a:p>
            <a:pPr lvl="0" algn="just">
              <a:lnSpc>
                <a:spcPct val="150000"/>
              </a:lnSpc>
              <a:buSzPts val="1000"/>
              <a:tabLst>
                <a:tab pos="457200" algn="l"/>
              </a:tabLst>
            </a:pPr>
            <a:endParaRPr lang="es-MX" sz="28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MX" sz="2800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Rao, D. C., et al. </a:t>
            </a:r>
            <a:r>
              <a:rPr lang="es-MX" sz="2800" i="1" dirty="0" err="1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Compiler</a:t>
            </a:r>
            <a:r>
              <a:rPr lang="es-MX" sz="2800" i="1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 </a:t>
            </a:r>
            <a:r>
              <a:rPr lang="es-MX" sz="2800" i="1" dirty="0" err="1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Design</a:t>
            </a:r>
            <a:r>
              <a:rPr lang="es-MX" sz="2800" i="1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 </a:t>
            </a:r>
            <a:r>
              <a:rPr lang="es-MX" sz="2800" i="1" dirty="0" err="1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Lecture</a:t>
            </a:r>
            <a:r>
              <a:rPr lang="es-MX" sz="2800" i="1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 Notes</a:t>
            </a:r>
            <a:r>
              <a:rPr lang="es-MX" sz="2800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. </a:t>
            </a:r>
            <a:endParaRPr lang="es-MX" sz="28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rgbClr val="000000"/>
                </a:solidFill>
                <a:effectLst/>
                <a:latin typeface="Montserrat" panose="00000500000000000000" pitchFamily="2" charset="0"/>
                <a:ea typeface="Arial" panose="020B0604020202020204" pitchFamily="34" charset="0"/>
              </a:rPr>
              <a:t> </a:t>
            </a:r>
            <a:endParaRPr lang="es-MX" sz="2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929</Words>
  <Application>Microsoft Office PowerPoint</Application>
  <PresentationFormat>Personalizado</PresentationFormat>
  <Paragraphs>177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Arimo</vt:lpstr>
      <vt:lpstr>Arial</vt:lpstr>
      <vt:lpstr>Montserrat</vt:lpstr>
      <vt:lpstr>Calibri</vt:lpstr>
      <vt:lpstr>Arimo Bold</vt:lpstr>
      <vt:lpstr>Montserrat Bold</vt:lpstr>
      <vt:lpstr>Symbol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4.3</dc:title>
  <cp:lastModifiedBy>amaury rokete</cp:lastModifiedBy>
  <cp:revision>8</cp:revision>
  <dcterms:created xsi:type="dcterms:W3CDTF">2006-08-16T00:00:00Z</dcterms:created>
  <dcterms:modified xsi:type="dcterms:W3CDTF">2026-03-25T21:42:08Z</dcterms:modified>
  <dc:identifier>DAHECOMg0wc</dc:identifier>
</cp:coreProperties>
</file>