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3DF51-363E-27AD-7687-89E4F052A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5C37BC-02FC-A1FA-E5B7-8ACC372BF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CBC5F5-8A9E-FE6F-D6BB-6A174D04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792770-5D83-D71C-2B4F-59CDFC4A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7B5716-0767-0572-EAD8-1B815731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026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FE6D1-3BC9-7C12-DDDC-5FDF0C0D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241946-7ED6-2D73-D83B-DF1E82064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02FC03-E802-3FB1-DE2B-08102CF4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5DB7A-0C32-27B4-4803-1FD7A7D0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E5559-D597-3416-80D0-1A689D61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675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56175-E5DD-A4C4-5E6C-53E6A8F9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C68623-C19B-3141-103C-16AD76B01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9867A-181A-2F05-C345-285821D5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C48259-58E9-BA32-C00F-EA86BC2E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A6D31-B899-F2E0-F1ED-E12192A6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29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A9736-1027-045E-1763-719EC471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9B668D-344F-0072-87CC-E68EE93B1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196092-ECDF-1068-BE60-B3E7E49AE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643985-40EF-0E7F-BEA6-F6397D06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6B8DAA-19C0-4A20-BAFA-BC6AB605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B0ED89-529D-0471-A7A1-4AD6B02F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313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9102F-841C-66F0-F809-35B9E943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3253E7-7500-61BE-BA2F-86F970D32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25BA29-E761-9FB4-2FAA-56873195F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663C93-DDD0-3603-84AA-8E81DD94C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56609F-B84A-4EF2-EC6E-9262DC4CD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088248-A0BE-E117-5B9A-A999FCC4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448233-69BC-6D98-AAD9-4C4CAAFB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65A635-040A-84F5-A41D-7D9F4A25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168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2FDDD-AA06-654E-BB50-32AA2BC5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87B390-1CB2-4717-392B-719925F6F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EBEAEC-ABAC-AF59-F1D9-4804F477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CB40DA-6AFB-CD27-295B-01921117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832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0E0AC1-10AC-275C-A378-42C3FECB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7FEC36-441F-A404-5770-8AA553E7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B2FADF-2D12-4339-F6AD-D6150111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615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7678F-C848-FE57-5E50-FE83884C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7BECEA-FB3F-3ED7-6DB9-25CEF6EA4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0142C-8540-893F-A1F1-373D92CB5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2DE173-AF39-F674-6DF7-E7C444ECB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67AC94-781A-A8FA-5B5A-7455E71E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644648-B0B5-B950-B530-0AF9340D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136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608F2-D80B-DA34-B095-4B152EF6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25C826-2462-F9E2-D388-494328D00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F8BE9E-2711-A358-9230-D741AD5B5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AD5C20-CF21-CE85-A834-33C1129D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03834B-28A9-27B6-C800-45ED199F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6255F6-7A10-FF9A-2737-6A0B9DFA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774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54A71-A493-E305-8616-B48F0C08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EE956C-D7DE-55DA-EE1F-25A5AFCC8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B20CE-F3A8-9539-1F9B-88318755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16B626-F0AA-3E39-869A-F3066E9A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14447D-21AA-1A6F-B77F-B34FB35D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136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F06D7A-1AFA-22BA-6B37-70BB5F660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7D12E5-FFE2-51D4-3A08-04AC9CBE5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1EBB76-22F9-67A2-133C-C0D93FCB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64E544-15D5-1D53-2D23-E3663F0E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AD9A4D-E95A-3E8E-73E8-595358DE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657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9E231B-6417-F76D-1BB0-E784C89A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50284F-4AF9-09EA-A652-C472F33DF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7A8823-A664-A41F-302A-9AF3D71B5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749C6-BD26-49B3-9F1A-3F102C0447A3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7BBA6F-5BC7-9B0B-EA9F-AC50D7BBD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CC595F-D4B5-8F26-CB77-F07E2AFB4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497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BAF8C6B-A805-3468-B36A-19BCE68AF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445318"/>
              </p:ext>
            </p:extLst>
          </p:nvPr>
        </p:nvGraphicFramePr>
        <p:xfrm>
          <a:off x="3428281" y="3582987"/>
          <a:ext cx="4505960" cy="50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388972141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1212896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NOMBRE DEL ALUMNO</a:t>
                      </a:r>
                      <a:endParaRPr lang="es-MX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MATRICULA</a:t>
                      </a:r>
                      <a:endParaRPr lang="es-MX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251794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US" sz="1100" kern="100">
                          <a:effectLst/>
                        </a:rPr>
                        <a:t>Amaury Jahaziel Gordillo Hernandez</a:t>
                      </a:r>
                      <a:endParaRPr lang="es-MX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00" dirty="0">
                          <a:effectLst/>
                        </a:rPr>
                        <a:t>231260074</a:t>
                      </a:r>
                      <a:endParaRPr lang="es-MX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0474216"/>
                  </a:ext>
                </a:extLst>
              </a:tr>
            </a:tbl>
          </a:graphicData>
        </a:graphic>
      </p:graphicFrame>
      <p:pic>
        <p:nvPicPr>
          <p:cNvPr id="2051" name="Imagen 4">
            <a:extLst>
              <a:ext uri="{FF2B5EF4-FFF2-40B4-BE49-F238E27FC236}">
                <a16:creationId xmlns:a16="http://schemas.microsoft.com/office/drawing/2014/main" id="{085B6363-E419-CC6C-DF41-D2BDF4303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960" y="282972"/>
            <a:ext cx="1284287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Imagen 1" descr="Logotipo&#10;&#10;Descripción generada automáticamente">
            <a:extLst>
              <a:ext uri="{FF2B5EF4-FFF2-40B4-BE49-F238E27FC236}">
                <a16:creationId xmlns:a16="http://schemas.microsoft.com/office/drawing/2014/main" id="{82E184F0-B729-3F43-E1FB-F20E087CF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3" y="282972"/>
            <a:ext cx="2301875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 de texto 2">
            <a:extLst>
              <a:ext uri="{FF2B5EF4-FFF2-40B4-BE49-F238E27FC236}">
                <a16:creationId xmlns:a16="http://schemas.microsoft.com/office/drawing/2014/main" id="{E57851C2-EA2C-3C4E-B719-7A15E222D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561" y="990997"/>
            <a:ext cx="561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TECNOLÓGICO NACIONAL DE MÉXICO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INSTITUTO TECNOLÓGICO DE FRONTERA COMALAPA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23079-7E7C-EE04-3C4C-6DC683158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774" y="1505665"/>
            <a:ext cx="484696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“INGENIERÍA EN SISTEMAS COMPUTACIONALES”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rgbClr val="A6A6A6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6° </a:t>
            </a:r>
            <a:r>
              <a:rPr kumimoji="0" lang="en-US" altLang="es-MX" sz="1400" b="1" i="0" u="none" strike="noStrike" cap="none" normalizeH="0" baseline="0" dirty="0" err="1">
                <a:ln>
                  <a:noFill/>
                </a:ln>
                <a:solidFill>
                  <a:srgbClr val="A6A6A6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Semestre</a:t>
            </a: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rgbClr val="A6A6A6"/>
              </a:solidFill>
              <a:effectLst/>
              <a:latin typeface="Montserrat" panose="00000500000000000000" pitchFamily="2" charset="0"/>
              <a:ea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solidFill>
                <a:srgbClr val="A6A6A6"/>
              </a:solidFill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LENGUAJES Y AUTOMATAS 1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400" dirty="0" err="1"/>
              <a:t>Aactividad</a:t>
            </a:r>
            <a:r>
              <a:rPr lang="es-MX" sz="1400" dirty="0"/>
              <a:t> 2.3 Ejercicios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PRESENTA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DOCENTE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s-MX" sz="1400" b="1" dirty="0">
                <a:solidFill>
                  <a:srgbClr val="4471C4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19 DE FEBRERO D</a:t>
            </a: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rgbClr val="4471C4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EL 2026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VENUSTIANO CARRANZA, CHIAPAS.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4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59F979-6B9C-DC2D-FBBE-EA69333019FA}"/>
              </a:ext>
            </a:extLst>
          </p:cNvPr>
          <p:cNvSpPr txBox="1"/>
          <p:nvPr/>
        </p:nvSpPr>
        <p:spPr>
          <a:xfrm>
            <a:off x="1175657" y="1092198"/>
            <a:ext cx="1044095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</a:t>
            </a:r>
          </a:p>
          <a:p>
            <a:pPr algn="just"/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En esta actividad el objetivo es practicar la relación directa entre </a:t>
            </a:r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expresiones regulares</a:t>
            </a:r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 y </a:t>
            </a:r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autómatas finitos no deterministas (AFND)</a:t>
            </a:r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. En clase vimos que los lenguajes regulares se pueden describir de dos formas equivalentes: con una </a:t>
            </a:r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ER</a:t>
            </a:r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 o con un </a:t>
            </a:r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autómata finito</a:t>
            </a:r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. Entonces, lo importante aquí no es memorizar una “receta”, sino entender que ambos modelos describen el mismo lenguaje, solo que con distinta representación.</a:t>
            </a:r>
          </a:p>
          <a:p>
            <a:pPr algn="just"/>
            <a:endParaRPr lang="es-MX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algn="just"/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Para la parte de ER → AFND utilicé la idea típica de construcción por fragmentos (tipo Thompson), donde se combinan autómatas pequeños usando </a:t>
            </a:r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unión</a:t>
            </a:r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, </a:t>
            </a:r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concatenación</a:t>
            </a:r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 y </a:t>
            </a:r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cerradura</a:t>
            </a:r>
            <a:r>
              <a:rPr lang="es-MX" dirty="0">
                <a:latin typeface="Montserrat" panose="00000500000000000000" pitchFamily="2" charset="0"/>
                <a:cs typeface="Mongolian Baiti" panose="03000500000000000000" pitchFamily="66" charset="0"/>
              </a:rPr>
              <a:t>. Para la parte inversa (AFND → ER), se usa la lógica de “ir eliminando estados” o encontrar patrones que el autómata acepta, hasta obtener una ER equivalente.</a:t>
            </a:r>
          </a:p>
        </p:txBody>
      </p:sp>
    </p:spTree>
    <p:extLst>
      <p:ext uri="{BB962C8B-B14F-4D97-AF65-F5344CB8AC3E}">
        <p14:creationId xmlns:p14="http://schemas.microsoft.com/office/powerpoint/2010/main" val="344745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452A312-930B-E44E-1478-C5CA106F9918}"/>
                  </a:ext>
                </a:extLst>
              </p:cNvPr>
              <p:cNvSpPr txBox="1"/>
              <p:nvPr/>
            </p:nvSpPr>
            <p:spPr>
              <a:xfrm>
                <a:off x="361563" y="376344"/>
                <a:ext cx="8838422" cy="1851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>
                    <a:latin typeface="Montserrat" panose="00000500000000000000" pitchFamily="2" charset="0"/>
                  </a:rPr>
                  <a:t>Desarrollo</a:t>
                </a:r>
              </a:p>
              <a:p>
                <a:endParaRPr lang="es-MX" sz="2800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Tipo A: Expresión Regular → AFND (5 ejercicios)</a:t>
                </a: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Ejercicio A1) ER: </a:t>
                </a:r>
                <a14:m>
                  <m:oMath xmlns:m="http://schemas.openxmlformats.org/officeDocument/2006/math"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s-MX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i="1" dirty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es-MX" b="1" dirty="0"/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Lenguaje:</a:t>
                </a:r>
                <a:r>
                  <a:rPr lang="es-MX" dirty="0">
                    <a:latin typeface="Montserrat" panose="00000500000000000000" pitchFamily="2" charset="0"/>
                  </a:rPr>
                  <a:t> todas las cadenas sobre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MX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s-MX" dirty="0"/>
                  <a:t> </a:t>
                </a:r>
                <a:r>
                  <a:rPr lang="es-MX" dirty="0">
                    <a:latin typeface="Montserrat" panose="00000500000000000000" pitchFamily="2" charset="0"/>
                  </a:rPr>
                  <a:t>que terminan en </a:t>
                </a:r>
                <a:r>
                  <a:rPr lang="es-MX" b="1" dirty="0">
                    <a:latin typeface="Montserrat" panose="00000500000000000000" pitchFamily="2" charset="0"/>
                  </a:rPr>
                  <a:t>ab</a:t>
                </a:r>
                <a:r>
                  <a:rPr lang="es-MX" dirty="0">
                    <a:latin typeface="Montserrat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452A312-930B-E44E-1478-C5CA106F9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63" y="376344"/>
                <a:ext cx="8838422" cy="1851917"/>
              </a:xfrm>
              <a:prstGeom prst="rect">
                <a:avLst/>
              </a:prstGeom>
              <a:blipFill>
                <a:blip r:embed="rId2"/>
                <a:stretch>
                  <a:fillRect l="-1379" t="-3289" b="-65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453FB1E-7323-45A3-7F9C-B693C8749C98}"/>
                  </a:ext>
                </a:extLst>
              </p:cNvPr>
              <p:cNvSpPr txBox="1"/>
              <p:nvPr/>
            </p:nvSpPr>
            <p:spPr>
              <a:xfrm>
                <a:off x="520182" y="2228261"/>
                <a:ext cx="6097554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AFND (formal):</a:t>
                </a:r>
                <a:endParaRPr lang="es-MX" dirty="0">
                  <a:latin typeface="Montserrat" panose="00000500000000000000" pitchFamily="2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s-MX" i="1" dirty="0" err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s-MX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s-MX" i="1" dirty="0" err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Montserrat" panose="00000500000000000000" pitchFamily="2" charset="0"/>
                  </a:rPr>
                  <a:t>Inicial: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Montserrat" panose="00000500000000000000" pitchFamily="2" charset="0"/>
                  </a:rPr>
                  <a:t>Finales: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2}</m:t>
                    </m:r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Montserrat" panose="00000500000000000000" pitchFamily="2" charset="0"/>
                  </a:rPr>
                  <a:t>Transiciones:</a:t>
                </a:r>
              </a:p>
              <a:p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453FB1E-7323-45A3-7F9C-B693C8749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82" y="2228261"/>
                <a:ext cx="6097554" cy="2031325"/>
              </a:xfrm>
              <a:prstGeom prst="rect">
                <a:avLst/>
              </a:prstGeom>
              <a:blipFill>
                <a:blip r:embed="rId3"/>
                <a:stretch>
                  <a:fillRect l="-799" t="-150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264B8C35-E697-F42D-BE34-71F8B08EB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18" y="3955692"/>
            <a:ext cx="1514686" cy="1409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4DE371B-C09A-7DAD-997F-4405A6297422}"/>
                  </a:ext>
                </a:extLst>
              </p:cNvPr>
              <p:cNvSpPr txBox="1"/>
              <p:nvPr/>
            </p:nvSpPr>
            <p:spPr>
              <a:xfrm>
                <a:off x="785317" y="5525352"/>
                <a:ext cx="1078464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Idea:</a:t>
                </a:r>
                <a:r>
                  <a:rPr lang="es-MX" dirty="0">
                    <a:latin typeface="Montserrat" panose="00000500000000000000" pitchFamily="2" charset="0"/>
                  </a:rPr>
                  <a:t> en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dirty="0">
                    <a:latin typeface="Montserrat" panose="00000500000000000000" pitchFamily="2" charset="0"/>
                  </a:rPr>
                  <a:t> se permite cualquier cosa (por el ∗), y cuando aparece el último “a” se brinca a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MX" dirty="0">
                    <a:latin typeface="Montserrat" panose="00000500000000000000" pitchFamily="2" charset="0"/>
                  </a:rPr>
                  <a:t>, y luego “b” te deja aceptando.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4DE371B-C09A-7DAD-997F-4405A6297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17" y="5525352"/>
                <a:ext cx="10784641" cy="646331"/>
              </a:xfrm>
              <a:prstGeom prst="rect">
                <a:avLst/>
              </a:prstGeom>
              <a:blipFill>
                <a:blip r:embed="rId5"/>
                <a:stretch>
                  <a:fillRect l="-509" t="-5660" r="-339" b="-1509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05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5B44B80-DBF8-FFFD-DB7E-3AFD983BB556}"/>
                  </a:ext>
                </a:extLst>
              </p:cNvPr>
              <p:cNvSpPr txBox="1"/>
              <p:nvPr/>
            </p:nvSpPr>
            <p:spPr>
              <a:xfrm>
                <a:off x="650811" y="252127"/>
                <a:ext cx="9183654" cy="66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Ejercicio A2) 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MX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s-MX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MX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MX" b="1" dirty="0">
                    <a:latin typeface="Montserrat" panose="00000500000000000000" pitchFamily="2" charset="0"/>
                  </a:rPr>
                  <a:t>Lenguaje:</a:t>
                </a:r>
                <a:r>
                  <a:rPr lang="es-MX" dirty="0">
                    <a:latin typeface="Montserrat" panose="00000500000000000000" pitchFamily="2" charset="0"/>
                  </a:rPr>
                  <a:t> cadenas con </a:t>
                </a:r>
                <a:r>
                  <a:rPr lang="es-MX" b="1" dirty="0">
                    <a:latin typeface="Montserrat" panose="00000500000000000000" pitchFamily="2" charset="0"/>
                  </a:rPr>
                  <a:t>exactamente una b</a:t>
                </a:r>
                <a:r>
                  <a:rPr lang="es-MX" dirty="0">
                    <a:latin typeface="Montserrat" panose="00000500000000000000" pitchFamily="2" charset="0"/>
                  </a:rPr>
                  <a:t> (y cualquier número de a antes y después).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5B44B80-DBF8-FFFD-DB7E-3AFD983BB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11" y="252127"/>
                <a:ext cx="9183654" cy="669992"/>
              </a:xfrm>
              <a:prstGeom prst="rect">
                <a:avLst/>
              </a:prstGeom>
              <a:blipFill>
                <a:blip r:embed="rId2"/>
                <a:stretch>
                  <a:fillRect l="-598" t="-3636" r="-398" b="-109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79121448-B074-7C06-FF3D-4C7C161C9C59}"/>
              </a:ext>
            </a:extLst>
          </p:cNvPr>
          <p:cNvSpPr txBox="1"/>
          <p:nvPr/>
        </p:nvSpPr>
        <p:spPr>
          <a:xfrm>
            <a:off x="650811" y="119159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AFND: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56B8496-7D6B-7D8E-1514-68761C57C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11" y="1560931"/>
            <a:ext cx="1961760" cy="7847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4B6FF72-DC97-CBC9-1831-B9C9873A8FBF}"/>
                  </a:ext>
                </a:extLst>
              </p:cNvPr>
              <p:cNvSpPr txBox="1"/>
              <p:nvPr/>
            </p:nvSpPr>
            <p:spPr>
              <a:xfrm>
                <a:off x="650811" y="2345635"/>
                <a:ext cx="60975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dirty="0">
                    <a:latin typeface="Montserrat" panose="00000500000000000000" pitchFamily="2" charset="0"/>
                  </a:rPr>
                  <a:t>Inicial: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4B6FF72-DC97-CBC9-1831-B9C9873A8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11" y="2345635"/>
                <a:ext cx="6097554" cy="369332"/>
              </a:xfrm>
              <a:prstGeom prst="rect">
                <a:avLst/>
              </a:prstGeom>
              <a:blipFill>
                <a:blip r:embed="rId4"/>
                <a:stretch>
                  <a:fillRect l="-900" t="-8333" b="-28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3AE9C3C-9A93-EB78-96A7-FF989ECBD52A}"/>
                  </a:ext>
                </a:extLst>
              </p:cNvPr>
              <p:cNvSpPr txBox="1"/>
              <p:nvPr/>
            </p:nvSpPr>
            <p:spPr>
              <a:xfrm>
                <a:off x="650811" y="2853340"/>
                <a:ext cx="6097554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dirty="0"/>
                  <a:t>Finales: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3AE9C3C-9A93-EB78-96A7-FF989ECBD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11" y="2853340"/>
                <a:ext cx="6097554" cy="381451"/>
              </a:xfrm>
              <a:prstGeom prst="rect">
                <a:avLst/>
              </a:prstGeom>
              <a:blipFill>
                <a:blip r:embed="rId5"/>
                <a:stretch>
                  <a:fillRect l="-900" t="-6349" b="-222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adroTexto 12">
            <a:extLst>
              <a:ext uri="{FF2B5EF4-FFF2-40B4-BE49-F238E27FC236}">
                <a16:creationId xmlns:a16="http://schemas.microsoft.com/office/drawing/2014/main" id="{B8840DAE-37C8-F319-D39D-9E32D0AFE680}"/>
              </a:ext>
            </a:extLst>
          </p:cNvPr>
          <p:cNvSpPr txBox="1"/>
          <p:nvPr/>
        </p:nvSpPr>
        <p:spPr>
          <a:xfrm>
            <a:off x="669472" y="336104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Transiciones: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E5B1B13-C12F-057F-19B3-FE9586AAE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72" y="3717026"/>
            <a:ext cx="1485780" cy="15961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1BF77DD-D6FB-577E-A7E0-925A617A3872}"/>
                  </a:ext>
                </a:extLst>
              </p:cNvPr>
              <p:cNvSpPr txBox="1"/>
              <p:nvPr/>
            </p:nvSpPr>
            <p:spPr>
              <a:xfrm>
                <a:off x="6967268" y="1322346"/>
                <a:ext cx="65804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Ejercicio A3) ER: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MX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i="1" dirty="0" err="1">
                        <a:latin typeface="Cambria Math" panose="02040503050406030204" pitchFamily="18" charset="0"/>
                      </a:rPr>
                      <m:t>𝑏𝑎</m:t>
                    </m:r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Lenguaje:</a:t>
                </a:r>
                <a:r>
                  <a:rPr lang="es-MX" dirty="0">
                    <a:latin typeface="Montserrat" panose="00000500000000000000" pitchFamily="2" charset="0"/>
                  </a:rPr>
                  <a:t> acepta </a:t>
                </a:r>
                <a:r>
                  <a:rPr lang="es-MX" b="1" dirty="0">
                    <a:latin typeface="Montserrat" panose="00000500000000000000" pitchFamily="2" charset="0"/>
                  </a:rPr>
                  <a:t>solo</a:t>
                </a:r>
                <a:r>
                  <a:rPr lang="es-MX" dirty="0">
                    <a:latin typeface="Montserrat" panose="00000500000000000000" pitchFamily="2" charset="0"/>
                  </a:rPr>
                  <a:t> “ab” o “</a:t>
                </a:r>
                <a:r>
                  <a:rPr lang="es-MX" dirty="0" err="1">
                    <a:latin typeface="Montserrat" panose="00000500000000000000" pitchFamily="2" charset="0"/>
                  </a:rPr>
                  <a:t>ba</a:t>
                </a:r>
                <a:r>
                  <a:rPr lang="es-MX" dirty="0">
                    <a:latin typeface="Montserrat" panose="00000500000000000000" pitchFamily="2" charset="0"/>
                  </a:rPr>
                  <a:t>”.</a:t>
                </a: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AFND:</a:t>
                </a:r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1BF77DD-D6FB-577E-A7E0-925A617A3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268" y="1322346"/>
                <a:ext cx="6580414" cy="1200329"/>
              </a:xfrm>
              <a:prstGeom prst="rect">
                <a:avLst/>
              </a:prstGeom>
              <a:blipFill>
                <a:blip r:embed="rId7"/>
                <a:stretch>
                  <a:fillRect l="-834" t="-2538" b="-76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n 19">
            <a:extLst>
              <a:ext uri="{FF2B5EF4-FFF2-40B4-BE49-F238E27FC236}">
                <a16:creationId xmlns:a16="http://schemas.microsoft.com/office/drawing/2014/main" id="{EC2BEC5E-F274-56B3-997F-CE289CDBC0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925" y="2530301"/>
            <a:ext cx="2581447" cy="3021249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A88D5714-DD12-E18B-50C0-5F7D2B3F522C}"/>
              </a:ext>
            </a:extLst>
          </p:cNvPr>
          <p:cNvSpPr txBox="1"/>
          <p:nvPr/>
        </p:nvSpPr>
        <p:spPr>
          <a:xfrm>
            <a:off x="7247552" y="5815690"/>
            <a:ext cx="4649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se “ramifica” desde el inicio: una rama reconoce “ab” y otra “</a:t>
            </a:r>
            <a:r>
              <a:rPr lang="es-MX" dirty="0" err="1">
                <a:latin typeface="Montserrat" panose="00000500000000000000" pitchFamily="2" charset="0"/>
              </a:rPr>
              <a:t>ba</a:t>
            </a:r>
            <a:r>
              <a:rPr lang="es-MX" dirty="0">
                <a:latin typeface="Montserrat" panose="00000500000000000000" pitchFamily="2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98476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BD399B6-8ADB-CF76-9547-69566919621E}"/>
                  </a:ext>
                </a:extLst>
              </p:cNvPr>
              <p:cNvSpPr txBox="1"/>
              <p:nvPr/>
            </p:nvSpPr>
            <p:spPr>
              <a:xfrm>
                <a:off x="3132754" y="376344"/>
                <a:ext cx="6160536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Ejercicio A4) ER: </a:t>
                </a:r>
                <a14:m>
                  <m:oMath xmlns:m="http://schemas.openxmlformats.org/officeDocument/2006/math"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b="0" i="1" dirty="0" err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s-MX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𝑎𝑎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s-MX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s-MX" b="1" dirty="0">
                  <a:latin typeface="Montserrat" panose="00000500000000000000" pitchFamily="2" charset="0"/>
                </a:endParaRP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Lenguaje:</a:t>
                </a:r>
                <a:r>
                  <a:rPr lang="es-MX" dirty="0">
                    <a:latin typeface="Montserrat" panose="00000500000000000000" pitchFamily="2" charset="0"/>
                  </a:rPr>
                  <a:t> cadenas que contienen la </a:t>
                </a:r>
                <a:r>
                  <a:rPr lang="es-MX" dirty="0" err="1">
                    <a:latin typeface="Montserrat" panose="00000500000000000000" pitchFamily="2" charset="0"/>
                  </a:rPr>
                  <a:t>subcadena</a:t>
                </a:r>
                <a:r>
                  <a:rPr lang="es-MX" dirty="0">
                    <a:latin typeface="Montserrat" panose="00000500000000000000" pitchFamily="2" charset="0"/>
                  </a:rPr>
                  <a:t> </a:t>
                </a:r>
                <a:r>
                  <a:rPr lang="es-MX" b="1" dirty="0" err="1">
                    <a:latin typeface="Montserrat" panose="00000500000000000000" pitchFamily="2" charset="0"/>
                  </a:rPr>
                  <a:t>aa</a:t>
                </a:r>
                <a:r>
                  <a:rPr lang="es-MX" dirty="0">
                    <a:latin typeface="Montserrat" panose="00000500000000000000" pitchFamily="2" charset="0"/>
                  </a:rPr>
                  <a:t> en cualquier parte.</a:t>
                </a: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AFND:</a:t>
                </a:r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BD399B6-8ADB-CF76-9547-695669196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754" y="376344"/>
                <a:ext cx="6160536" cy="1754326"/>
              </a:xfrm>
              <a:prstGeom prst="rect">
                <a:avLst/>
              </a:prstGeom>
              <a:blipFill>
                <a:blip r:embed="rId2"/>
                <a:stretch>
                  <a:fillRect l="-891" t="-1736" b="-486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F995FC4C-4306-124C-2FD0-D9096F969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682" y="2130670"/>
            <a:ext cx="2242214" cy="43160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418429D-B428-862C-94F1-E86B2F5B95DF}"/>
                  </a:ext>
                </a:extLst>
              </p:cNvPr>
              <p:cNvSpPr txBox="1"/>
              <p:nvPr/>
            </p:nvSpPr>
            <p:spPr>
              <a:xfrm>
                <a:off x="7413949" y="5998326"/>
                <a:ext cx="4090695" cy="66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s-MX" dirty="0"/>
                  <a:t>“busca” una a; si ve otra a seguida, cae en aceptación y ya no sale.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418429D-B428-862C-94F1-E86B2F5B9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949" y="5998326"/>
                <a:ext cx="4090695" cy="669992"/>
              </a:xfrm>
              <a:prstGeom prst="rect">
                <a:avLst/>
              </a:prstGeom>
              <a:blipFill>
                <a:blip r:embed="rId4"/>
                <a:stretch>
                  <a:fillRect l="-1192" t="-4545" b="-109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727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A4C6ADC-1680-FF91-38DC-A31426842C16}"/>
                  </a:ext>
                </a:extLst>
              </p:cNvPr>
              <p:cNvSpPr txBox="1"/>
              <p:nvPr/>
            </p:nvSpPr>
            <p:spPr>
              <a:xfrm>
                <a:off x="454867" y="255046"/>
                <a:ext cx="623518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/>
                  <a:t>Ejercicio A5) ER: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𝑎𝑏</m:t>
                    </m:r>
                    <m:sSup>
                      <m:sSupPr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s-MX" b="1" dirty="0"/>
              </a:p>
              <a:p>
                <a:r>
                  <a:rPr lang="es-MX" b="1" dirty="0"/>
                  <a:t>Lenguaje:</a:t>
                </a:r>
                <a:r>
                  <a:rPr lang="es-MX" dirty="0"/>
                  <a:t> repeticiones de “ab”:</a:t>
                </a:r>
                <a:r>
                  <a:rPr lang="el-GR" dirty="0"/>
                  <a:t>ϵ,</a:t>
                </a:r>
                <a:r>
                  <a:rPr lang="es-MX" dirty="0" err="1"/>
                  <a:t>ab,abab,ababab</a:t>
                </a:r>
                <a:r>
                  <a:rPr lang="es-MX" dirty="0"/>
                  <a:t>,…</a:t>
                </a:r>
              </a:p>
              <a:p>
                <a:endParaRPr lang="es-MX" dirty="0"/>
              </a:p>
              <a:p>
                <a:r>
                  <a:rPr lang="es-MX" b="1" dirty="0"/>
                  <a:t>AFND (sin </a:t>
                </a:r>
                <a:r>
                  <a:rPr lang="el-GR" b="1" dirty="0"/>
                  <a:t>ε, </a:t>
                </a:r>
                <a:r>
                  <a:rPr lang="es-MX" b="1" dirty="0"/>
                  <a:t>versión simple):</a:t>
                </a:r>
                <a:endParaRPr lang="es-MX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A4C6ADC-1680-FF91-38DC-A31426842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67" y="255046"/>
                <a:ext cx="6235181" cy="1200329"/>
              </a:xfrm>
              <a:prstGeom prst="rect">
                <a:avLst/>
              </a:prstGeom>
              <a:blipFill>
                <a:blip r:embed="rId2"/>
                <a:stretch>
                  <a:fillRect l="-881" t="-2538" b="-76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A7C8FAEE-3E56-08D5-D357-A438FDA0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81" y="1542557"/>
            <a:ext cx="2639775" cy="1886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981A47-7D1E-8AF8-7CEC-38490FD788F7}"/>
                  </a:ext>
                </a:extLst>
              </p:cNvPr>
              <p:cNvSpPr txBox="1"/>
              <p:nvPr/>
            </p:nvSpPr>
            <p:spPr>
              <a:xfrm>
                <a:off x="230933" y="3429000"/>
                <a:ext cx="35013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dirty="0">
                    <a:latin typeface="Montserrat" panose="00000500000000000000" pitchFamily="2" charset="0"/>
                  </a:rPr>
                  <a:t>siempre que se complete “ab”, regresa a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0.</m:t>
                    </m:r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981A47-7D1E-8AF8-7CEC-38490FD78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33" y="3429000"/>
                <a:ext cx="3501312" cy="646331"/>
              </a:xfrm>
              <a:prstGeom prst="rect">
                <a:avLst/>
              </a:prstGeom>
              <a:blipFill>
                <a:blip r:embed="rId4"/>
                <a:stretch>
                  <a:fillRect l="-1568" t="-4717" b="-1415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693BFC6F-853F-A61D-7B00-2E6D9A6AE268}"/>
              </a:ext>
            </a:extLst>
          </p:cNvPr>
          <p:cNvSpPr txBox="1"/>
          <p:nvPr/>
        </p:nvSpPr>
        <p:spPr>
          <a:xfrm>
            <a:off x="7139474" y="154255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B1) AFND: termina en “ab”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B58B73-D9F9-C7E7-CA30-36E775FCF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0354" y="2083047"/>
            <a:ext cx="2420560" cy="20960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E2C9F6-CF9A-0846-6193-57F111CDBBB7}"/>
                  </a:ext>
                </a:extLst>
              </p:cNvPr>
              <p:cNvSpPr txBox="1"/>
              <p:nvPr/>
            </p:nvSpPr>
            <p:spPr>
              <a:xfrm>
                <a:off x="7270880" y="4438652"/>
                <a:ext cx="66200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dirty="0">
                    <a:latin typeface="Montserrat" panose="00000500000000000000" pitchFamily="2" charset="0"/>
                  </a:rPr>
                  <a:t>ER equivalente: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i="1" dirty="0" err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E2C9F6-CF9A-0846-6193-57F111CDB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880" y="4438652"/>
                <a:ext cx="6620068" cy="369332"/>
              </a:xfrm>
              <a:prstGeom prst="rect">
                <a:avLst/>
              </a:prstGeom>
              <a:blipFill>
                <a:blip r:embed="rId6"/>
                <a:stretch>
                  <a:fillRect l="-829" t="-6557" b="-262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21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B61CFF7-A7AD-858B-99CE-3533C22D0DC7}"/>
              </a:ext>
            </a:extLst>
          </p:cNvPr>
          <p:cNvSpPr txBox="1"/>
          <p:nvPr/>
        </p:nvSpPr>
        <p:spPr>
          <a:xfrm>
            <a:off x="324239" y="40782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B2) AFND: </a:t>
            </a:r>
            <a:r>
              <a:rPr lang="es-MX" dirty="0">
                <a:latin typeface="Montserrat" panose="00000500000000000000" pitchFamily="2" charset="0"/>
              </a:rPr>
              <a:t>contiene “aba” como </a:t>
            </a:r>
            <a:r>
              <a:rPr lang="es-MX" dirty="0" err="1">
                <a:latin typeface="Montserrat" panose="00000500000000000000" pitchFamily="2" charset="0"/>
              </a:rPr>
              <a:t>subcadena</a:t>
            </a:r>
            <a:endParaRPr lang="es-MX" dirty="0">
              <a:latin typeface="Montserrat" panose="000005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73D029-6CCA-F9AB-37B3-E89D9B44C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32" y="1229297"/>
            <a:ext cx="3856623" cy="2199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3235A56-BB17-2104-02F1-DBED6FB44B0D}"/>
                  </a:ext>
                </a:extLst>
              </p:cNvPr>
              <p:cNvSpPr txBox="1"/>
              <p:nvPr/>
            </p:nvSpPr>
            <p:spPr>
              <a:xfrm>
                <a:off x="529512" y="3604138"/>
                <a:ext cx="6097554" cy="66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/>
                  <a:t>ER equivalente:</a:t>
                </a:r>
                <a:r>
                  <a:rPr lang="es-MX" dirty="0"/>
                  <a:t> </a:t>
                </a:r>
                <a:endParaRPr lang="es-MX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MX" i="1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 dirty="0" err="1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𝑎𝑏𝑎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3235A56-BB17-2104-02F1-DBED6FB44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12" y="3604138"/>
                <a:ext cx="6097554" cy="669992"/>
              </a:xfrm>
              <a:prstGeom prst="rect">
                <a:avLst/>
              </a:prstGeom>
              <a:blipFill>
                <a:blip r:embed="rId3"/>
                <a:stretch>
                  <a:fillRect l="-900" t="-3636" b="-36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2BADD45C-35A1-91C0-76CA-F6038D7C9221}"/>
              </a:ext>
            </a:extLst>
          </p:cNvPr>
          <p:cNvSpPr txBox="1"/>
          <p:nvPr/>
        </p:nvSpPr>
        <p:spPr>
          <a:xfrm>
            <a:off x="6627066" y="40782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Ejercicio B3) AFND: </a:t>
            </a:r>
            <a:r>
              <a:rPr lang="es-MX" dirty="0"/>
              <a:t>exactamente “ab” o “</a:t>
            </a:r>
            <a:r>
              <a:rPr lang="es-MX" dirty="0" err="1"/>
              <a:t>ba</a:t>
            </a:r>
            <a:r>
              <a:rPr lang="es-MX" dirty="0"/>
              <a:t>”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11211C7-74E5-8E42-4429-42421F319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438" y="1229297"/>
            <a:ext cx="3910538" cy="12721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B551D98-C608-4567-0E84-9FC68325CA50}"/>
                  </a:ext>
                </a:extLst>
              </p:cNvPr>
              <p:cNvSpPr txBox="1"/>
              <p:nvPr/>
            </p:nvSpPr>
            <p:spPr>
              <a:xfrm>
                <a:off x="7445828" y="2768958"/>
                <a:ext cx="63634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b="1" dirty="0">
                    <a:latin typeface="Montserrat" panose="00000500000000000000" pitchFamily="2" charset="0"/>
                  </a:rPr>
                  <a:t>ER equivalente:</a:t>
                </a:r>
                <a:r>
                  <a:rPr lang="de-DE" dirty="0"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𝑏𝑎</m:t>
                    </m:r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B551D98-C608-4567-0E84-9FC68325C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828" y="2768958"/>
                <a:ext cx="6363476" cy="369332"/>
              </a:xfrm>
              <a:prstGeom prst="rect">
                <a:avLst/>
              </a:prstGeom>
              <a:blipFill>
                <a:blip r:embed="rId5"/>
                <a:stretch>
                  <a:fillRect l="-766" t="-6557" b="-262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86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1BDB155-9CAE-4AC1-28BA-5888DC8A9583}"/>
                  </a:ext>
                </a:extLst>
              </p:cNvPr>
              <p:cNvSpPr txBox="1"/>
              <p:nvPr/>
            </p:nvSpPr>
            <p:spPr>
              <a:xfrm>
                <a:off x="426876" y="399958"/>
                <a:ext cx="6097554" cy="66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Ejercicio B4) AFND: </a:t>
                </a:r>
                <a:r>
                  <a:rPr lang="es-MX" dirty="0">
                    <a:latin typeface="Montserrat" panose="00000500000000000000" pitchFamily="2" charset="0"/>
                  </a:rPr>
                  <a:t>solo cadenas de la forma </a:t>
                </a:r>
                <a:endParaRPr lang="es-MX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 </m:t>
                          </m:r>
                        </m:sup>
                      </m:sSup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1BDB155-9CAE-4AC1-28BA-5888DC8A9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76" y="399958"/>
                <a:ext cx="6097554" cy="669992"/>
              </a:xfrm>
              <a:prstGeom prst="rect">
                <a:avLst/>
              </a:prstGeom>
              <a:blipFill>
                <a:blip r:embed="rId2"/>
                <a:stretch>
                  <a:fillRect l="-800" t="-454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9D1B852E-CD45-1A6C-454D-DDBB54FD3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83" y="1069950"/>
            <a:ext cx="3799860" cy="17293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E65D9C7-908A-3A94-5CE3-94A661E505CE}"/>
                  </a:ext>
                </a:extLst>
              </p:cNvPr>
              <p:cNvSpPr txBox="1"/>
              <p:nvPr/>
            </p:nvSpPr>
            <p:spPr>
              <a:xfrm>
                <a:off x="6681496" y="399958"/>
                <a:ext cx="60975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Ejercicio B5) AFND: </a:t>
                </a:r>
                <a:r>
                  <a:rPr lang="es-MX" dirty="0">
                    <a:latin typeface="Montserrat" panose="00000500000000000000" pitchFamily="2" charset="0"/>
                  </a:rPr>
                  <a:t>repeticiones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∗ </m:t>
                        </m:r>
                      </m:sup>
                    </m:sSup>
                  </m:oMath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E65D9C7-908A-3A94-5CE3-94A661E50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496" y="399958"/>
                <a:ext cx="6097554" cy="369332"/>
              </a:xfrm>
              <a:prstGeom prst="rect">
                <a:avLst/>
              </a:prstGeom>
              <a:blipFill>
                <a:blip r:embed="rId4"/>
                <a:stretch>
                  <a:fillRect l="-800" t="-8333" b="-28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E6473026-9B9F-87AF-DBFC-4C34E6B16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069950"/>
            <a:ext cx="3667424" cy="141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2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A43B3FE-8D12-DE2A-1A0A-A8F366999AD1}"/>
              </a:ext>
            </a:extLst>
          </p:cNvPr>
          <p:cNvSpPr txBox="1"/>
          <p:nvPr/>
        </p:nvSpPr>
        <p:spPr>
          <a:xfrm>
            <a:off x="632926" y="852522"/>
            <a:ext cx="1092614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Conclusión</a:t>
            </a:r>
            <a:endParaRPr lang="es-MX" b="1" dirty="0"/>
          </a:p>
          <a:p>
            <a:r>
              <a:rPr lang="es-MX" dirty="0"/>
              <a:t>Esta actividad me ayudó a aterrizar algo que a veces se siente “muy teórico”: que una expresión regular y un AFND realmente son dos formas distintas de decir lo mismo. </a:t>
            </a:r>
          </a:p>
          <a:p>
            <a:endParaRPr lang="es-MX" dirty="0"/>
          </a:p>
          <a:p>
            <a:r>
              <a:rPr lang="es-MX" dirty="0"/>
              <a:t>En la conversión de ER → AFND, lo que más se nota es que las operaciones de unión, concatenación y cerradura se vuelven “estructuras” dentro del autómata (ramas, secuencias y ciclos). Y en la conversión inversa, se aprende a leer el autómata como un patrón: qué se repite, qué </a:t>
            </a:r>
            <a:r>
              <a:rPr lang="es-MX" dirty="0" err="1"/>
              <a:t>subcadena</a:t>
            </a:r>
            <a:r>
              <a:rPr lang="es-MX" dirty="0"/>
              <a:t> es obligatoria y qué partes se permiten antes o después.</a:t>
            </a:r>
          </a:p>
        </p:txBody>
      </p:sp>
    </p:spTree>
    <p:extLst>
      <p:ext uri="{BB962C8B-B14F-4D97-AF65-F5344CB8AC3E}">
        <p14:creationId xmlns:p14="http://schemas.microsoft.com/office/powerpoint/2010/main" val="1598462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645</Words>
  <Application>Microsoft Office PowerPoint</Application>
  <PresentationFormat>Panorámica</PresentationFormat>
  <Paragraphs>78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Amaury</dc:creator>
  <cp:lastModifiedBy>Amaury</cp:lastModifiedBy>
  <cp:revision>7</cp:revision>
  <dcterms:created xsi:type="dcterms:W3CDTF">2026-02-14T08:03:49Z</dcterms:created>
  <dcterms:modified xsi:type="dcterms:W3CDTF">2026-03-15T17:32:37Z</dcterms:modified>
</cp:coreProperties>
</file>