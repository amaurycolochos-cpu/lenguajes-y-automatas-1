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660"/>
  </p:normalViewPr>
  <p:slideViewPr>
    <p:cSldViewPr snapToGrid="0">
      <p:cViewPr varScale="1">
        <p:scale>
          <a:sx n="82" d="100"/>
          <a:sy n="82" d="100"/>
        </p:scale>
        <p:origin x="95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13DF51-363E-27AD-7687-89E4F052ACE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775C37BC-02FC-A1FA-E5B7-8ACC372BFD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6CBC5F5-8A9E-FE6F-D6BB-6A174D044841}"/>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5" name="Marcador de pie de página 4">
            <a:extLst>
              <a:ext uri="{FF2B5EF4-FFF2-40B4-BE49-F238E27FC236}">
                <a16:creationId xmlns:a16="http://schemas.microsoft.com/office/drawing/2014/main" id="{1E792770-5D83-D71C-2B4F-59CDFC4AC72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37B5716-0767-0572-EAD8-1B815731BA8E}"/>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1510268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7FE6D1-3BC9-7C12-DDDC-5FDF0C0DE5A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A241946-7ED6-2D73-D83B-DF1E82064C5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802FC03-E802-3FB1-DE2B-08102CF45FAF}"/>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5" name="Marcador de pie de página 4">
            <a:extLst>
              <a:ext uri="{FF2B5EF4-FFF2-40B4-BE49-F238E27FC236}">
                <a16:creationId xmlns:a16="http://schemas.microsoft.com/office/drawing/2014/main" id="{C115DB7A-0C32-27B4-4803-1FD7A7D031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B3E5559-D597-3416-80D0-1A689D611FA3}"/>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506752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56175-E5DD-A4C4-5E6C-53E6A8F95C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FC68623-C19B-3141-103C-16AD76B019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E9867A-181A-2F05-C345-285821D50BF1}"/>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5" name="Marcador de pie de página 4">
            <a:extLst>
              <a:ext uri="{FF2B5EF4-FFF2-40B4-BE49-F238E27FC236}">
                <a16:creationId xmlns:a16="http://schemas.microsoft.com/office/drawing/2014/main" id="{1EC48259-58E9-BA32-C00F-EA86BC2EE7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F7A6D31-B899-F2E0-F1ED-E12192A69D36}"/>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2894294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A9736-1027-045E-1763-719EC471C19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A9B668D-344F-0072-87CC-E68EE93B181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4196092-ECDF-1068-BE60-B3E7E49AEA9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5643985-40EF-0E7F-BEA6-F6397D0623D1}"/>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6" name="Marcador de pie de página 5">
            <a:extLst>
              <a:ext uri="{FF2B5EF4-FFF2-40B4-BE49-F238E27FC236}">
                <a16:creationId xmlns:a16="http://schemas.microsoft.com/office/drawing/2014/main" id="{7C6B8DAA-19C0-4A20-BAFA-BC6AB6056A4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1B0ED89-529D-0471-A7A1-4AD6B02F6A1D}"/>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256313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69102F-841C-66F0-F809-35B9E9435E6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43253E7-7500-61BE-BA2F-86F970D32A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825BA29-E761-9FB4-2FAA-56873195F10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5663C93-DDD0-3603-84AA-8E81DD94C2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F56609F-B84A-4EF2-EC6E-9262DC4CD05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D088248-A0BE-E117-5B9A-A999FCC4A3D1}"/>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8" name="Marcador de pie de página 7">
            <a:extLst>
              <a:ext uri="{FF2B5EF4-FFF2-40B4-BE49-F238E27FC236}">
                <a16:creationId xmlns:a16="http://schemas.microsoft.com/office/drawing/2014/main" id="{13448233-69BC-6D98-AAD9-4C4CAAFBFA3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A65A635-040A-84F5-A41D-7D9F4A251E60}"/>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2301688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B2FDDD-AA06-654E-BB50-32AA2BC5ACC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D487B390-1CB2-4717-392B-719925F6F9F0}"/>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4" name="Marcador de pie de página 3">
            <a:extLst>
              <a:ext uri="{FF2B5EF4-FFF2-40B4-BE49-F238E27FC236}">
                <a16:creationId xmlns:a16="http://schemas.microsoft.com/office/drawing/2014/main" id="{02EBEAEC-ABAC-AF59-F1D9-4804F477A6A4}"/>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DCB40DA-6AFB-CD27-295B-019211174CCA}"/>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1378328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60E0AC1-10AC-275C-A378-42C3FECBC8B4}"/>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3" name="Marcador de pie de página 2">
            <a:extLst>
              <a:ext uri="{FF2B5EF4-FFF2-40B4-BE49-F238E27FC236}">
                <a16:creationId xmlns:a16="http://schemas.microsoft.com/office/drawing/2014/main" id="{8B7FEC36-441F-A404-5770-8AA553E7FA0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6B2FADF-2D12-4339-F6AD-D61501117FB5}"/>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866156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17678F-C848-FE57-5E50-FE83884CB7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D7BECEA-FB3F-3ED7-6DB9-25CEF6EA4F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C370142C-8540-893F-A1F1-373D92CB5F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2DE173-AF39-F674-6DF7-E7C444ECB3BC}"/>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6" name="Marcador de pie de página 5">
            <a:extLst>
              <a:ext uri="{FF2B5EF4-FFF2-40B4-BE49-F238E27FC236}">
                <a16:creationId xmlns:a16="http://schemas.microsoft.com/office/drawing/2014/main" id="{FE67AC94-781A-A8FA-5B5A-7455E71E688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0644648-B0B5-B950-B530-0AF9340D942F}"/>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170136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608F2-D80B-DA34-B095-4B152EF6C99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825C826-2462-F9E2-D388-494328D008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4F8BE9E-2711-A358-9230-D741AD5B50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AD5C20-CF21-CE85-A834-33C1129D045A}"/>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6" name="Marcador de pie de página 5">
            <a:extLst>
              <a:ext uri="{FF2B5EF4-FFF2-40B4-BE49-F238E27FC236}">
                <a16:creationId xmlns:a16="http://schemas.microsoft.com/office/drawing/2014/main" id="{7E03834B-28A9-27B6-C800-45ED199F7FE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26255F6-7A10-FF9A-2737-6A0B9DFA030B}"/>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230774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F54A71-A493-E305-8616-B48F0C08FDB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EEE956C-D7DE-55DA-EE1F-25A5AFCC87D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1EB20CE-F3A8-9539-1F9B-883187553E35}"/>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5" name="Marcador de pie de página 4">
            <a:extLst>
              <a:ext uri="{FF2B5EF4-FFF2-40B4-BE49-F238E27FC236}">
                <a16:creationId xmlns:a16="http://schemas.microsoft.com/office/drawing/2014/main" id="{CB16B626-F0AA-3E39-869A-F3066E9ADFA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614447D-21AA-1A6F-B77F-B34FB35D775B}"/>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1091365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6F06D7A-1AFA-22BA-6B37-70BB5F660C6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E7D12E5-FFE2-51D4-3A08-04AC9CBE5E7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31EBB76-22F9-67A2-133C-C0D93FCB315F}"/>
              </a:ext>
            </a:extLst>
          </p:cNvPr>
          <p:cNvSpPr>
            <a:spLocks noGrp="1"/>
          </p:cNvSpPr>
          <p:nvPr>
            <p:ph type="dt" sz="half" idx="10"/>
          </p:nvPr>
        </p:nvSpPr>
        <p:spPr/>
        <p:txBody>
          <a:bodyPr/>
          <a:lstStyle/>
          <a:p>
            <a:fld id="{D22749C6-BD26-49B3-9F1A-3F102C0447A3}" type="datetimeFigureOut">
              <a:rPr lang="es-MX" smtClean="0"/>
              <a:t>15/03/2026</a:t>
            </a:fld>
            <a:endParaRPr lang="es-MX"/>
          </a:p>
        </p:txBody>
      </p:sp>
      <p:sp>
        <p:nvSpPr>
          <p:cNvPr id="5" name="Marcador de pie de página 4">
            <a:extLst>
              <a:ext uri="{FF2B5EF4-FFF2-40B4-BE49-F238E27FC236}">
                <a16:creationId xmlns:a16="http://schemas.microsoft.com/office/drawing/2014/main" id="{4464E544-15D5-1D53-2D23-E3663F0E547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4AD9A4D-E95A-3E8E-73E8-595358DE044F}"/>
              </a:ext>
            </a:extLst>
          </p:cNvPr>
          <p:cNvSpPr>
            <a:spLocks noGrp="1"/>
          </p:cNvSpPr>
          <p:nvPr>
            <p:ph type="sldNum" sz="quarter" idx="12"/>
          </p:nvPr>
        </p:nvSpPr>
        <p:spPr/>
        <p:txBody>
          <a:bodyPr/>
          <a:lstStyle/>
          <a:p>
            <a:fld id="{B49186C9-A069-4B7E-8E49-4B67365DE588}" type="slidenum">
              <a:rPr lang="es-MX" smtClean="0"/>
              <a:t>‹Nº›</a:t>
            </a:fld>
            <a:endParaRPr lang="es-MX"/>
          </a:p>
        </p:txBody>
      </p:sp>
    </p:spTree>
    <p:extLst>
      <p:ext uri="{BB962C8B-B14F-4D97-AF65-F5344CB8AC3E}">
        <p14:creationId xmlns:p14="http://schemas.microsoft.com/office/powerpoint/2010/main" val="1896570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C9E231B-6417-F76D-1BB0-E784C89A5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450284F-4AF9-09EA-A652-C472F33DF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57A8823-A664-A41F-302A-9AF3D71B5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2749C6-BD26-49B3-9F1A-3F102C0447A3}" type="datetimeFigureOut">
              <a:rPr lang="es-MX" smtClean="0"/>
              <a:t>15/03/2026</a:t>
            </a:fld>
            <a:endParaRPr lang="es-MX"/>
          </a:p>
        </p:txBody>
      </p:sp>
      <p:sp>
        <p:nvSpPr>
          <p:cNvPr id="5" name="Marcador de pie de página 4">
            <a:extLst>
              <a:ext uri="{FF2B5EF4-FFF2-40B4-BE49-F238E27FC236}">
                <a16:creationId xmlns:a16="http://schemas.microsoft.com/office/drawing/2014/main" id="{B27BBA6F-5BC7-9B0B-EA9F-AC50D7BBD5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DCCC595F-D4B5-8F26-CB77-F07E2AFB46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9186C9-A069-4B7E-8E49-4B67365DE588}" type="slidenum">
              <a:rPr lang="es-MX" smtClean="0"/>
              <a:t>‹Nº›</a:t>
            </a:fld>
            <a:endParaRPr lang="es-MX"/>
          </a:p>
        </p:txBody>
      </p:sp>
    </p:spTree>
    <p:extLst>
      <p:ext uri="{BB962C8B-B14F-4D97-AF65-F5344CB8AC3E}">
        <p14:creationId xmlns:p14="http://schemas.microsoft.com/office/powerpoint/2010/main" val="3854972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FBAF8C6B-A805-3468-B36A-19BCE68AFCEE}"/>
              </a:ext>
            </a:extLst>
          </p:cNvPr>
          <p:cNvGraphicFramePr>
            <a:graphicFrameLocks noGrp="1"/>
          </p:cNvGraphicFramePr>
          <p:nvPr>
            <p:extLst>
              <p:ext uri="{D42A27DB-BD31-4B8C-83A1-F6EECF244321}">
                <p14:modId xmlns:p14="http://schemas.microsoft.com/office/powerpoint/2010/main" val="2220445318"/>
              </p:ext>
            </p:extLst>
          </p:nvPr>
        </p:nvGraphicFramePr>
        <p:xfrm>
          <a:off x="3428281" y="3582987"/>
          <a:ext cx="4505960" cy="508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1388972141"/>
                    </a:ext>
                  </a:extLst>
                </a:gridCol>
                <a:gridCol w="1808480">
                  <a:extLst>
                    <a:ext uri="{9D8B030D-6E8A-4147-A177-3AD203B41FA5}">
                      <a16:colId xmlns:a16="http://schemas.microsoft.com/office/drawing/2014/main" val="1212896005"/>
                    </a:ext>
                  </a:extLst>
                </a:gridCol>
              </a:tblGrid>
              <a:tr h="254000">
                <a:tc>
                  <a:txBody>
                    <a:bodyPr/>
                    <a:lstStyle/>
                    <a:p>
                      <a:pPr algn="ctr"/>
                      <a:r>
                        <a:rPr lang="en-US" sz="1400" kern="100" dirty="0">
                          <a:effectLst/>
                        </a:rPr>
                        <a:t>NOMBRE DEL ALUMNO</a:t>
                      </a:r>
                      <a:endParaRPr lang="es-MX" sz="1100" kern="1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tc>
                  <a:txBody>
                    <a:bodyPr/>
                    <a:lstStyle/>
                    <a:p>
                      <a:pPr algn="ctr"/>
                      <a:r>
                        <a:rPr lang="en-US" sz="1400" kern="100">
                          <a:effectLst/>
                        </a:rPr>
                        <a:t>MATRICULA</a:t>
                      </a:r>
                      <a:endParaRPr lang="es-MX" sz="11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82517949"/>
                  </a:ext>
                </a:extLst>
              </a:tr>
              <a:tr h="254000">
                <a:tc>
                  <a:txBody>
                    <a:bodyPr/>
                    <a:lstStyle/>
                    <a:p>
                      <a:pPr algn="ctr"/>
                      <a:r>
                        <a:rPr lang="en-US" sz="1100" kern="100">
                          <a:effectLst/>
                        </a:rPr>
                        <a:t>Amaury Jahaziel Gordillo Hernandez</a:t>
                      </a:r>
                      <a:endParaRPr lang="es-MX" sz="11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tc>
                  <a:txBody>
                    <a:bodyPr/>
                    <a:lstStyle/>
                    <a:p>
                      <a:pPr algn="ctr"/>
                      <a:r>
                        <a:rPr lang="en-US" sz="1100" kern="100" dirty="0">
                          <a:effectLst/>
                        </a:rPr>
                        <a:t>231260074</a:t>
                      </a:r>
                      <a:endParaRPr lang="es-MX" sz="1100" kern="1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40474216"/>
                  </a:ext>
                </a:extLst>
              </a:tr>
            </a:tbl>
          </a:graphicData>
        </a:graphic>
      </p:graphicFrame>
      <p:pic>
        <p:nvPicPr>
          <p:cNvPr id="2051" name="Imagen 4">
            <a:extLst>
              <a:ext uri="{FF2B5EF4-FFF2-40B4-BE49-F238E27FC236}">
                <a16:creationId xmlns:a16="http://schemas.microsoft.com/office/drawing/2014/main" id="{085B6363-E419-CC6C-DF41-D2BDF4303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1960" y="282972"/>
            <a:ext cx="1284287" cy="10509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Imagen 1" descr="Logotipo&#10;&#10;Descripción generada automáticamente">
            <a:extLst>
              <a:ext uri="{FF2B5EF4-FFF2-40B4-BE49-F238E27FC236}">
                <a16:creationId xmlns:a16="http://schemas.microsoft.com/office/drawing/2014/main" id="{82E184F0-B729-3F43-E1FB-F20E087CF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753" y="282972"/>
            <a:ext cx="2301875" cy="101600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 de texto 2">
            <a:extLst>
              <a:ext uri="{FF2B5EF4-FFF2-40B4-BE49-F238E27FC236}">
                <a16:creationId xmlns:a16="http://schemas.microsoft.com/office/drawing/2014/main" id="{E57851C2-EA2C-3C4E-B719-7A15E222D64D}"/>
              </a:ext>
            </a:extLst>
          </p:cNvPr>
          <p:cNvSpPr txBox="1">
            <a:spLocks noChangeArrowheads="1"/>
          </p:cNvSpPr>
          <p:nvPr/>
        </p:nvSpPr>
        <p:spPr bwMode="auto">
          <a:xfrm>
            <a:off x="2874561" y="990997"/>
            <a:ext cx="561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dirty="0">
                <a:ln>
                  <a:noFill/>
                </a:ln>
                <a:solidFill>
                  <a:schemeClr val="tx1"/>
                </a:solidFill>
                <a:effectLst/>
                <a:latin typeface="Montserrat" panose="00000500000000000000" pitchFamily="2" charset="0"/>
                <a:ea typeface="Arial" panose="020B0604020202020204" pitchFamily="34" charset="0"/>
              </a:rPr>
              <a:t>TECNOLÓGICO NACIONAL DE MÉXICO</a:t>
            </a: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dirty="0">
                <a:ln>
                  <a:noFill/>
                </a:ln>
                <a:solidFill>
                  <a:schemeClr val="tx1"/>
                </a:solidFill>
                <a:effectLst/>
                <a:latin typeface="Montserrat" panose="00000500000000000000" pitchFamily="2" charset="0"/>
                <a:ea typeface="Arial" panose="020B0604020202020204" pitchFamily="34" charset="0"/>
              </a:rPr>
              <a:t>INSTITUTO TECNOLÓGICO DE FRONTERA COMALAPA</a:t>
            </a:r>
            <a:endParaRPr kumimoji="0" lang="es-MX" altLang="es-MX"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59623079-7E7C-EE04-3C4C-6DC683158F5A}"/>
              </a:ext>
            </a:extLst>
          </p:cNvPr>
          <p:cNvSpPr>
            <a:spLocks noChangeArrowheads="1"/>
          </p:cNvSpPr>
          <p:nvPr/>
        </p:nvSpPr>
        <p:spPr bwMode="auto">
          <a:xfrm>
            <a:off x="3231325" y="1228666"/>
            <a:ext cx="4899868"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s-MX" altLang="es-MX" sz="1800" b="0" i="0" u="none" strike="noStrike" cap="none" normalizeH="0" baseline="0" dirty="0">
                <a:ln>
                  <a:noFill/>
                </a:ln>
                <a:solidFill>
                  <a:schemeClr val="tx1"/>
                </a:solidFill>
                <a:effectLst/>
                <a:latin typeface="Arial" panose="020B0604020202020204" pitchFamily="34" charset="0"/>
              </a:rPr>
            </a:b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MX" sz="1400" b="1" i="0" u="none" strike="noStrike" cap="none" normalizeH="0" baseline="0" dirty="0">
                <a:ln>
                  <a:noFill/>
                </a:ln>
                <a:solidFill>
                  <a:schemeClr val="tx1"/>
                </a:solidFill>
                <a:effectLst/>
                <a:latin typeface="Montserrat" panose="00000500000000000000" pitchFamily="2" charset="0"/>
                <a:ea typeface="Arial" panose="020B0604020202020204" pitchFamily="34" charset="0"/>
              </a:rPr>
              <a:t>“INGENIERÍA EN SISTEMAS COMPUTACIONALES”</a:t>
            </a: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MX" sz="1400" b="1" i="0" u="none" strike="noStrike" cap="none" normalizeH="0" baseline="0" dirty="0">
                <a:ln>
                  <a:noFill/>
                </a:ln>
                <a:solidFill>
                  <a:srgbClr val="A6A6A6"/>
                </a:solidFill>
                <a:effectLst/>
                <a:latin typeface="Montserrat" panose="00000500000000000000" pitchFamily="2" charset="0"/>
                <a:ea typeface="Arial" panose="020B0604020202020204" pitchFamily="34" charset="0"/>
              </a:rPr>
              <a:t>6° </a:t>
            </a:r>
            <a:r>
              <a:rPr kumimoji="0" lang="en-US" altLang="es-MX" sz="1400" b="1" i="0" u="none" strike="noStrike" cap="none" normalizeH="0" baseline="0" dirty="0" err="1">
                <a:ln>
                  <a:noFill/>
                </a:ln>
                <a:solidFill>
                  <a:srgbClr val="A6A6A6"/>
                </a:solidFill>
                <a:effectLst/>
                <a:latin typeface="Montserrat" panose="00000500000000000000" pitchFamily="2" charset="0"/>
                <a:ea typeface="Arial" panose="020B0604020202020204" pitchFamily="34" charset="0"/>
              </a:rPr>
              <a:t>Semestre</a:t>
            </a:r>
            <a:endParaRPr kumimoji="0" lang="en-US" altLang="es-MX" sz="1400" b="1" i="0" u="none" strike="noStrike" cap="none" normalizeH="0" baseline="0" dirty="0">
              <a:ln>
                <a:noFill/>
              </a:ln>
              <a:solidFill>
                <a:srgbClr val="A6A6A6"/>
              </a:solidFill>
              <a:effectLst/>
              <a:latin typeface="Montserrat" panose="00000500000000000000" pitchFamily="2" charset="0"/>
              <a:ea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solidFill>
                <a:srgbClr val="A6A6A6"/>
              </a:solidFill>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dirty="0">
                <a:ln>
                  <a:noFill/>
                </a:ln>
                <a:solidFill>
                  <a:schemeClr val="tx1"/>
                </a:solidFill>
                <a:effectLst/>
                <a:latin typeface="Montserrat" panose="00000500000000000000" pitchFamily="2" charset="0"/>
                <a:ea typeface="Arial" panose="020B0604020202020204" pitchFamily="34" charset="0"/>
              </a:rPr>
              <a:t>LENGUAJES Y AUTOMATAS 1</a:t>
            </a: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sz="1400" dirty="0" err="1"/>
              <a:t>Aactividad</a:t>
            </a:r>
            <a:r>
              <a:rPr lang="es-MX" sz="1400" dirty="0"/>
              <a:t> 2.2 Reporte de Practica</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MX" sz="1400" b="0" i="0" u="none" strike="noStrike" cap="none" normalizeH="0" baseline="0" dirty="0">
              <a:ln>
                <a:noFill/>
              </a:ln>
              <a:solidFill>
                <a:schemeClr val="tx1"/>
              </a:solidFill>
              <a:effectLst/>
              <a:latin typeface="Montserrat" panose="00000500000000000000" pitchFamily="2" charset="0"/>
              <a:ea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MX" sz="1400" b="1" i="0" u="none" strike="noStrike" cap="none" normalizeH="0" baseline="0" dirty="0">
                <a:ln>
                  <a:noFill/>
                </a:ln>
                <a:solidFill>
                  <a:schemeClr val="tx1"/>
                </a:solidFill>
                <a:effectLst/>
                <a:latin typeface="Montserrat" panose="00000500000000000000" pitchFamily="2" charset="0"/>
                <a:ea typeface="Arial" panose="020B0604020202020204" pitchFamily="34" charset="0"/>
              </a:rPr>
              <a:t>PRESENTA</a:t>
            </a: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MX" sz="1400" b="1" i="0" u="none" strike="noStrike" cap="none" normalizeH="0" baseline="0" dirty="0">
              <a:ln>
                <a:noFill/>
              </a:ln>
              <a:solidFill>
                <a:schemeClr val="tx1"/>
              </a:solidFill>
              <a:effectLst/>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MX" sz="1400" b="1" i="0" u="none" strike="noStrike" cap="none" normalizeH="0" baseline="0" dirty="0">
              <a:ln>
                <a:noFill/>
              </a:ln>
              <a:solidFill>
                <a:schemeClr val="tx1"/>
              </a:solidFill>
              <a:effectLst/>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MX" sz="1400" b="1" i="0" u="none" strike="noStrike" cap="none" normalizeH="0" baseline="0" dirty="0">
              <a:ln>
                <a:noFill/>
              </a:ln>
              <a:solidFill>
                <a:schemeClr val="tx1"/>
              </a:solidFill>
              <a:effectLst/>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MX" sz="1400" b="1" i="0" u="none" strike="noStrike" cap="none" normalizeH="0" baseline="0" dirty="0">
                <a:ln>
                  <a:noFill/>
                </a:ln>
                <a:solidFill>
                  <a:schemeClr val="tx1"/>
                </a:solidFill>
                <a:effectLst/>
                <a:latin typeface="Montserrat" panose="00000500000000000000" pitchFamily="2" charset="0"/>
                <a:ea typeface="Arial" panose="020B0604020202020204" pitchFamily="34" charset="0"/>
              </a:rPr>
              <a:t>DOCENTE</a:t>
            </a: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s-MX" sz="1400" b="1" dirty="0">
              <a:latin typeface="Montserrat" panose="00000500000000000000" pitchFamily="2"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MX" sz="1400" b="1" i="0" u="none" strike="noStrike" cap="none" normalizeH="0" baseline="0" dirty="0">
                <a:ln>
                  <a:noFill/>
                </a:ln>
                <a:solidFill>
                  <a:srgbClr val="4471C4"/>
                </a:solidFill>
                <a:effectLst/>
                <a:latin typeface="Montserrat" panose="00000500000000000000" pitchFamily="2" charset="0"/>
                <a:ea typeface="Arial" panose="020B0604020202020204" pitchFamily="34" charset="0"/>
              </a:rPr>
              <a:t>14 DE FEBRERO DEL 2026</a:t>
            </a:r>
            <a:endParaRPr kumimoji="0" lang="es-MX" altLang="es-MX"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MX" sz="1400" b="0" i="0" u="none" strike="noStrike" cap="none" normalizeH="0" baseline="0" dirty="0">
                <a:ln>
                  <a:noFill/>
                </a:ln>
                <a:solidFill>
                  <a:schemeClr val="tx1"/>
                </a:solidFill>
                <a:effectLst/>
                <a:latin typeface="Montserrat" panose="00000500000000000000" pitchFamily="2" charset="0"/>
                <a:ea typeface="Arial" panose="020B0604020202020204" pitchFamily="34" charset="0"/>
              </a:rPr>
              <a:t>VENUSTIANO CARRANZA, CHIAPAS.</a:t>
            </a:r>
            <a:endParaRPr kumimoji="0" lang="es-MX" altLang="es-MX"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2842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09EE878-0C42-398E-EF80-4311AFCF18C8}"/>
              </a:ext>
            </a:extLst>
          </p:cNvPr>
          <p:cNvSpPr txBox="1"/>
          <p:nvPr/>
        </p:nvSpPr>
        <p:spPr>
          <a:xfrm>
            <a:off x="1567544" y="325312"/>
            <a:ext cx="9853126" cy="369332"/>
          </a:xfrm>
          <a:prstGeom prst="rect">
            <a:avLst/>
          </a:prstGeom>
          <a:noFill/>
        </p:spPr>
        <p:txBody>
          <a:bodyPr wrap="square">
            <a:spAutoFit/>
          </a:bodyPr>
          <a:lstStyle/>
          <a:p>
            <a:r>
              <a:rPr lang="es-MX" b="1" dirty="0">
                <a:latin typeface="Montserrat" panose="00000500000000000000" pitchFamily="2" charset="0"/>
                <a:cs typeface="Mongolian Baiti" panose="03000500000000000000" pitchFamily="66" charset="0"/>
              </a:rPr>
              <a:t>Actividad 2.3 – Aplicaciones de las Expresiones Regulares en Problemas Reales</a:t>
            </a:r>
          </a:p>
        </p:txBody>
      </p:sp>
      <p:sp>
        <p:nvSpPr>
          <p:cNvPr id="5" name="CuadroTexto 4">
            <a:extLst>
              <a:ext uri="{FF2B5EF4-FFF2-40B4-BE49-F238E27FC236}">
                <a16:creationId xmlns:a16="http://schemas.microsoft.com/office/drawing/2014/main" id="{FB4074B8-F23C-54B1-996A-47560A127524}"/>
              </a:ext>
            </a:extLst>
          </p:cNvPr>
          <p:cNvSpPr txBox="1"/>
          <p:nvPr/>
        </p:nvSpPr>
        <p:spPr>
          <a:xfrm>
            <a:off x="459144" y="1432222"/>
            <a:ext cx="11273712" cy="4247317"/>
          </a:xfrm>
          <a:prstGeom prst="rect">
            <a:avLst/>
          </a:prstGeom>
          <a:noFill/>
        </p:spPr>
        <p:txBody>
          <a:bodyPr wrap="square">
            <a:spAutoFit/>
          </a:bodyPr>
          <a:lstStyle/>
          <a:p>
            <a:pPr algn="just"/>
            <a:r>
              <a:rPr lang="es-MX" b="1" dirty="0">
                <a:latin typeface="Montserrat" panose="00000500000000000000" pitchFamily="2" charset="0"/>
              </a:rPr>
              <a:t>Introducción</a:t>
            </a:r>
          </a:p>
          <a:p>
            <a:pPr algn="just"/>
            <a:r>
              <a:rPr lang="es-MX" dirty="0">
                <a:latin typeface="Montserrat" panose="00000500000000000000" pitchFamily="2" charset="0"/>
              </a:rPr>
              <a:t>Después de estudiar la definición formal de las expresiones regulares, su construcción algebraica y su relación con los lenguajes regulares, resulta necesario llevar la teoría a un plano más práctico. En esta actividad se busca precisamente eso: demostrar que las expresiones regulares no son únicamente un concepto matemático abstracto, sino una herramienta concreta para resolver problemas reales del entorno computacional.</a:t>
            </a:r>
          </a:p>
          <a:p>
            <a:pPr algn="just"/>
            <a:endParaRPr lang="es-MX" dirty="0">
              <a:latin typeface="Montserrat" panose="00000500000000000000" pitchFamily="2" charset="0"/>
            </a:endParaRPr>
          </a:p>
          <a:p>
            <a:pPr algn="just"/>
            <a:r>
              <a:rPr lang="es-MX" dirty="0">
                <a:latin typeface="Montserrat" panose="00000500000000000000" pitchFamily="2" charset="0"/>
              </a:rPr>
              <a:t>En el desarrollo de software moderno, constantemente se requiere validar datos, filtrar información, reconocer patrones o estructurar entradas de usuario. Desde formularios web hasta compiladores, las expresiones regulares cumplen una función esencial en el reconocimiento de cadenas dentro de un lenguaje formal determinado.</a:t>
            </a:r>
          </a:p>
          <a:p>
            <a:pPr algn="just"/>
            <a:endParaRPr lang="es-MX" dirty="0">
              <a:latin typeface="Montserrat" panose="00000500000000000000" pitchFamily="2" charset="0"/>
            </a:endParaRPr>
          </a:p>
          <a:p>
            <a:pPr algn="just"/>
            <a:r>
              <a:rPr lang="es-MX" dirty="0">
                <a:latin typeface="Montserrat" panose="00000500000000000000" pitchFamily="2" charset="0"/>
              </a:rPr>
              <a:t>En este trabajo se presentan diversos problemas reales y su solución mediante el diseño y análisis de expresiones regulares, justificando formalmente cada construcción y mostrando ejemplos de validación.</a:t>
            </a:r>
          </a:p>
        </p:txBody>
      </p:sp>
    </p:spTree>
    <p:extLst>
      <p:ext uri="{BB962C8B-B14F-4D97-AF65-F5344CB8AC3E}">
        <p14:creationId xmlns:p14="http://schemas.microsoft.com/office/powerpoint/2010/main" val="2034315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9D4F154-C3CA-90AD-06BF-82CDC26DFE8A}"/>
              </a:ext>
            </a:extLst>
          </p:cNvPr>
          <p:cNvSpPr txBox="1"/>
          <p:nvPr/>
        </p:nvSpPr>
        <p:spPr>
          <a:xfrm>
            <a:off x="268255" y="312490"/>
            <a:ext cx="11395010" cy="1569660"/>
          </a:xfrm>
          <a:prstGeom prst="rect">
            <a:avLst/>
          </a:prstGeom>
          <a:noFill/>
        </p:spPr>
        <p:txBody>
          <a:bodyPr wrap="square">
            <a:spAutoFit/>
          </a:bodyPr>
          <a:lstStyle/>
          <a:p>
            <a:r>
              <a:rPr lang="es-MX" sz="2400" b="1" dirty="0">
                <a:latin typeface="Montserrat" panose="00000500000000000000" pitchFamily="2" charset="0"/>
              </a:rPr>
              <a:t>Desarrollo</a:t>
            </a:r>
            <a:endParaRPr lang="es-MX" b="1" dirty="0">
              <a:latin typeface="Montserrat" panose="00000500000000000000" pitchFamily="2" charset="0"/>
            </a:endParaRPr>
          </a:p>
          <a:p>
            <a:r>
              <a:rPr lang="es-MX" b="1" dirty="0">
                <a:latin typeface="Montserrat" panose="00000500000000000000" pitchFamily="2" charset="0"/>
              </a:rPr>
              <a:t>1. Validación de correo electrónico</a:t>
            </a:r>
          </a:p>
          <a:p>
            <a:r>
              <a:rPr lang="es-MX" b="1" dirty="0">
                <a:latin typeface="Montserrat" panose="00000500000000000000" pitchFamily="2" charset="0"/>
              </a:rPr>
              <a:t>🔹 Problema</a:t>
            </a:r>
          </a:p>
          <a:p>
            <a:r>
              <a:rPr lang="es-MX" dirty="0">
                <a:latin typeface="Montserrat" panose="00000500000000000000" pitchFamily="2" charset="0"/>
              </a:rPr>
              <a:t>Diseñar una expresión regular que valide correos electrónicos con el siguiente formato general:</a:t>
            </a:r>
          </a:p>
          <a:p>
            <a:r>
              <a:rPr lang="es-MX" dirty="0" err="1">
                <a:latin typeface="Montserrat" panose="00000500000000000000" pitchFamily="2" charset="0"/>
              </a:rPr>
              <a:t>usuario@dominio.extensión</a:t>
            </a:r>
            <a:endParaRPr lang="es-MX" dirty="0">
              <a:latin typeface="Montserrat" panose="00000500000000000000" pitchFamily="2" charset="0"/>
            </a:endParaRPr>
          </a:p>
        </p:txBody>
      </p:sp>
      <p:sp>
        <p:nvSpPr>
          <p:cNvPr id="6" name="CuadroTexto 5">
            <a:extLst>
              <a:ext uri="{FF2B5EF4-FFF2-40B4-BE49-F238E27FC236}">
                <a16:creationId xmlns:a16="http://schemas.microsoft.com/office/drawing/2014/main" id="{5E147D71-D136-7EE8-73A1-D7C9146DA432}"/>
              </a:ext>
            </a:extLst>
          </p:cNvPr>
          <p:cNvSpPr txBox="1"/>
          <p:nvPr/>
        </p:nvSpPr>
        <p:spPr>
          <a:xfrm>
            <a:off x="528735" y="1882150"/>
            <a:ext cx="6097554" cy="1477328"/>
          </a:xfrm>
          <a:prstGeom prst="rect">
            <a:avLst/>
          </a:prstGeom>
          <a:noFill/>
        </p:spPr>
        <p:txBody>
          <a:bodyPr wrap="square">
            <a:spAutoFit/>
          </a:bodyPr>
          <a:lstStyle/>
          <a:p>
            <a:r>
              <a:rPr lang="es-MX" dirty="0">
                <a:latin typeface="Montserrat" panose="00000500000000000000" pitchFamily="2" charset="0"/>
              </a:rPr>
              <a:t>Donde:</a:t>
            </a:r>
          </a:p>
          <a:p>
            <a:pPr>
              <a:buFont typeface="Arial" panose="020B0604020202020204" pitchFamily="34" charset="0"/>
              <a:buChar char="•"/>
            </a:pPr>
            <a:r>
              <a:rPr lang="es-MX" dirty="0">
                <a:latin typeface="Montserrat" panose="00000500000000000000" pitchFamily="2" charset="0"/>
              </a:rPr>
              <a:t>El usuario puede contener letras, números, puntos o guiones.</a:t>
            </a:r>
          </a:p>
          <a:p>
            <a:pPr>
              <a:buFont typeface="Arial" panose="020B0604020202020204" pitchFamily="34" charset="0"/>
              <a:buChar char="•"/>
            </a:pPr>
            <a:r>
              <a:rPr lang="es-MX" dirty="0">
                <a:latin typeface="Montserrat" panose="00000500000000000000" pitchFamily="2" charset="0"/>
              </a:rPr>
              <a:t>El dominio solo letras.</a:t>
            </a:r>
          </a:p>
          <a:p>
            <a:pPr>
              <a:buFont typeface="Arial" panose="020B0604020202020204" pitchFamily="34" charset="0"/>
              <a:buChar char="•"/>
            </a:pPr>
            <a:r>
              <a:rPr lang="es-MX" dirty="0">
                <a:latin typeface="Montserrat" panose="00000500000000000000" pitchFamily="2" charset="0"/>
              </a:rPr>
              <a:t>La extensión mínimo dos letras.</a:t>
            </a:r>
          </a:p>
        </p:txBody>
      </p:sp>
      <p:sp>
        <p:nvSpPr>
          <p:cNvPr id="9" name="Rectangle 4">
            <a:extLst>
              <a:ext uri="{FF2B5EF4-FFF2-40B4-BE49-F238E27FC236}">
                <a16:creationId xmlns:a16="http://schemas.microsoft.com/office/drawing/2014/main" id="{A5995B78-64DA-F5CD-C17B-A5C2495CE577}"/>
              </a:ext>
            </a:extLst>
          </p:cNvPr>
          <p:cNvSpPr>
            <a:spLocks noChangeArrowheads="1"/>
          </p:cNvSpPr>
          <p:nvPr/>
        </p:nvSpPr>
        <p:spPr bwMode="auto">
          <a:xfrm>
            <a:off x="528735" y="4316698"/>
            <a:ext cx="599074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a:ln>
                  <a:noFill/>
                </a:ln>
                <a:solidFill>
                  <a:schemeClr val="tx1"/>
                </a:solidFill>
                <a:effectLst/>
                <a:latin typeface="Montserrat" panose="00000500000000000000" pitchFamily="2" charset="0"/>
              </a:rPr>
              <a:t>Análisis formal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Montserrat" panose="00000500000000000000" pitchFamily="2" charset="0"/>
              </a:rPr>
              <a:t>^</a:t>
            </a:r>
            <a:r>
              <a:rPr kumimoji="0" lang="es-MX" altLang="es-MX" sz="1400" b="0" i="0" u="none" strike="noStrike" cap="none" normalizeH="0" baseline="0" dirty="0">
                <a:ln>
                  <a:noFill/>
                </a:ln>
                <a:solidFill>
                  <a:schemeClr val="tx1"/>
                </a:solidFill>
                <a:effectLst/>
                <a:latin typeface="Montserrat" panose="00000500000000000000" pitchFamily="2" charset="0"/>
              </a:rPr>
              <a:t> → inicio de cadena.</a:t>
            </a:r>
            <a:endParaRPr kumimoji="0" lang="es-MX" altLang="es-MX" sz="40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Montserrat" panose="00000500000000000000" pitchFamily="2" charset="0"/>
              </a:rPr>
              <a:t>[a-zA-Z0-9._-]+</a:t>
            </a:r>
            <a:r>
              <a:rPr kumimoji="0" lang="es-MX" altLang="es-MX" sz="1400" b="0" i="0" u="none" strike="noStrike" cap="none" normalizeH="0" baseline="0" dirty="0">
                <a:ln>
                  <a:noFill/>
                </a:ln>
                <a:solidFill>
                  <a:schemeClr val="tx1"/>
                </a:solidFill>
                <a:effectLst/>
                <a:latin typeface="Montserrat" panose="00000500000000000000" pitchFamily="2" charset="0"/>
              </a:rPr>
              <a:t> → uno o más símbolos válidos para el usuario.</a:t>
            </a:r>
            <a:endParaRPr kumimoji="0" lang="es-MX" altLang="es-MX" sz="40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Montserrat" panose="00000500000000000000" pitchFamily="2" charset="0"/>
              </a:rPr>
              <a:t>@</a:t>
            </a:r>
            <a:r>
              <a:rPr kumimoji="0" lang="es-MX" altLang="es-MX" sz="1400" b="0" i="0" u="none" strike="noStrike" cap="none" normalizeH="0" baseline="0" dirty="0">
                <a:ln>
                  <a:noFill/>
                </a:ln>
                <a:solidFill>
                  <a:schemeClr val="tx1"/>
                </a:solidFill>
                <a:effectLst/>
                <a:latin typeface="Montserrat" panose="00000500000000000000" pitchFamily="2" charset="0"/>
              </a:rPr>
              <a:t> → símbolo obligatorio.</a:t>
            </a:r>
            <a:endParaRPr kumimoji="0" lang="es-MX" altLang="es-MX" sz="40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Montserrat" panose="00000500000000000000" pitchFamily="2" charset="0"/>
              </a:rPr>
              <a:t>[a-</a:t>
            </a:r>
            <a:r>
              <a:rPr kumimoji="0" lang="es-MX" altLang="es-MX" b="0" i="0" u="none" strike="noStrike" cap="none" normalizeH="0" baseline="0" dirty="0" err="1">
                <a:ln>
                  <a:noFill/>
                </a:ln>
                <a:solidFill>
                  <a:schemeClr val="tx1"/>
                </a:solidFill>
                <a:effectLst/>
                <a:latin typeface="Montserrat" panose="00000500000000000000" pitchFamily="2" charset="0"/>
              </a:rPr>
              <a:t>zA</a:t>
            </a:r>
            <a:r>
              <a:rPr kumimoji="0" lang="es-MX" altLang="es-MX" b="0" i="0" u="none" strike="noStrike" cap="none" normalizeH="0" baseline="0" dirty="0">
                <a:ln>
                  <a:noFill/>
                </a:ln>
                <a:solidFill>
                  <a:schemeClr val="tx1"/>
                </a:solidFill>
                <a:effectLst/>
                <a:latin typeface="Montserrat" panose="00000500000000000000" pitchFamily="2" charset="0"/>
              </a:rPr>
              <a:t>-Z]+</a:t>
            </a:r>
            <a:r>
              <a:rPr kumimoji="0" lang="es-MX" altLang="es-MX" sz="1400" b="0" i="0" u="none" strike="noStrike" cap="none" normalizeH="0" baseline="0" dirty="0">
                <a:ln>
                  <a:noFill/>
                </a:ln>
                <a:solidFill>
                  <a:schemeClr val="tx1"/>
                </a:solidFill>
                <a:effectLst/>
                <a:latin typeface="Montserrat" panose="00000500000000000000" pitchFamily="2" charset="0"/>
              </a:rPr>
              <a:t> → dominio.</a:t>
            </a:r>
            <a:endParaRPr kumimoji="0" lang="es-MX" altLang="es-MX" sz="40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Montserrat" panose="00000500000000000000" pitchFamily="2" charset="0"/>
              </a:rPr>
              <a:t>\.</a:t>
            </a:r>
            <a:r>
              <a:rPr kumimoji="0" lang="es-MX" altLang="es-MX" sz="1400" b="0" i="0" u="none" strike="noStrike" cap="none" normalizeH="0" baseline="0" dirty="0">
                <a:ln>
                  <a:noFill/>
                </a:ln>
                <a:solidFill>
                  <a:schemeClr val="tx1"/>
                </a:solidFill>
                <a:effectLst/>
                <a:latin typeface="Montserrat" panose="00000500000000000000" pitchFamily="2" charset="0"/>
              </a:rPr>
              <a:t> → punto literal.</a:t>
            </a:r>
            <a:endParaRPr kumimoji="0" lang="es-MX" altLang="es-MX" sz="40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Montserrat" panose="00000500000000000000" pitchFamily="2" charset="0"/>
              </a:rPr>
              <a:t>[a-</a:t>
            </a:r>
            <a:r>
              <a:rPr kumimoji="0" lang="es-MX" altLang="es-MX" b="0" i="0" u="none" strike="noStrike" cap="none" normalizeH="0" baseline="0" dirty="0" err="1">
                <a:ln>
                  <a:noFill/>
                </a:ln>
                <a:solidFill>
                  <a:schemeClr val="tx1"/>
                </a:solidFill>
                <a:effectLst/>
                <a:latin typeface="Montserrat" panose="00000500000000000000" pitchFamily="2" charset="0"/>
              </a:rPr>
              <a:t>zA</a:t>
            </a:r>
            <a:r>
              <a:rPr kumimoji="0" lang="es-MX" altLang="es-MX" b="0" i="0" u="none" strike="noStrike" cap="none" normalizeH="0" baseline="0" dirty="0">
                <a:ln>
                  <a:noFill/>
                </a:ln>
                <a:solidFill>
                  <a:schemeClr val="tx1"/>
                </a:solidFill>
                <a:effectLst/>
                <a:latin typeface="Montserrat" panose="00000500000000000000" pitchFamily="2" charset="0"/>
              </a:rPr>
              <a:t>-Z]{2,}</a:t>
            </a:r>
            <a:r>
              <a:rPr kumimoji="0" lang="es-MX" altLang="es-MX" sz="1400" b="0" i="0" u="none" strike="noStrike" cap="none" normalizeH="0" baseline="0" dirty="0">
                <a:ln>
                  <a:noFill/>
                </a:ln>
                <a:solidFill>
                  <a:schemeClr val="tx1"/>
                </a:solidFill>
                <a:effectLst/>
                <a:latin typeface="Montserrat" panose="00000500000000000000" pitchFamily="2" charset="0"/>
              </a:rPr>
              <a:t> → extensión con mínimo dos caracteres.</a:t>
            </a:r>
            <a:endParaRPr kumimoji="0" lang="es-MX" altLang="es-MX" sz="40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Montserrat" panose="00000500000000000000" pitchFamily="2" charset="0"/>
              </a:rPr>
              <a:t>$</a:t>
            </a:r>
            <a:r>
              <a:rPr kumimoji="0" lang="es-MX" altLang="es-MX" sz="1400" b="0" i="0" u="none" strike="noStrike" cap="none" normalizeH="0" baseline="0" dirty="0">
                <a:ln>
                  <a:noFill/>
                </a:ln>
                <a:solidFill>
                  <a:schemeClr val="tx1"/>
                </a:solidFill>
                <a:effectLst/>
                <a:latin typeface="Montserrat" panose="00000500000000000000" pitchFamily="2" charset="0"/>
              </a:rPr>
              <a:t> → fin de cadena.</a:t>
            </a:r>
            <a:endParaRPr kumimoji="0" lang="es-MX" altLang="es-MX" sz="40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600" b="0" i="0" u="none" strike="noStrike" cap="none" normalizeH="0" baseline="0" dirty="0">
              <a:ln>
                <a:noFill/>
              </a:ln>
              <a:solidFill>
                <a:schemeClr val="tx1"/>
              </a:solidFill>
              <a:effectLst/>
              <a:latin typeface="Arial" panose="020B0604020202020204" pitchFamily="34" charset="0"/>
            </a:endParaRPr>
          </a:p>
        </p:txBody>
      </p:sp>
      <p:sp>
        <p:nvSpPr>
          <p:cNvPr id="10" name="Rectangle 5">
            <a:extLst>
              <a:ext uri="{FF2B5EF4-FFF2-40B4-BE49-F238E27FC236}">
                <a16:creationId xmlns:a16="http://schemas.microsoft.com/office/drawing/2014/main" id="{2AE194CD-AEAE-2CAF-4798-6405788DEE08}"/>
              </a:ext>
            </a:extLst>
          </p:cNvPr>
          <p:cNvSpPr>
            <a:spLocks noChangeArrowheads="1"/>
          </p:cNvSpPr>
          <p:nvPr/>
        </p:nvSpPr>
        <p:spPr bwMode="auto">
          <a:xfrm>
            <a:off x="528735" y="3762700"/>
            <a:ext cx="433873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dirty="0">
                <a:ln>
                  <a:noFill/>
                </a:ln>
                <a:solidFill>
                  <a:schemeClr val="tx1"/>
                </a:solidFill>
                <a:effectLst/>
                <a:latin typeface="Montserrat" panose="00000500000000000000" pitchFamily="2" charset="0"/>
              </a:rPr>
              <a:t>Expresión Regular</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a:ln>
                  <a:noFill/>
                </a:ln>
                <a:solidFill>
                  <a:schemeClr val="tx1"/>
                </a:solidFill>
                <a:effectLst/>
                <a:latin typeface="Montserrat" panose="00000500000000000000" pitchFamily="2" charset="0"/>
              </a:rPr>
              <a:t>^[a-zA-Z0-9._-]+@[a-</a:t>
            </a:r>
            <a:r>
              <a:rPr kumimoji="0" lang="es-MX" altLang="es-MX" sz="1600" b="0" i="0" u="none" strike="noStrike" cap="none" normalizeH="0" baseline="0" dirty="0" err="1">
                <a:ln>
                  <a:noFill/>
                </a:ln>
                <a:solidFill>
                  <a:schemeClr val="tx1"/>
                </a:solidFill>
                <a:effectLst/>
                <a:latin typeface="Montserrat" panose="00000500000000000000" pitchFamily="2" charset="0"/>
              </a:rPr>
              <a:t>zA</a:t>
            </a:r>
            <a:r>
              <a:rPr kumimoji="0" lang="es-MX" altLang="es-MX" sz="1600" b="0" i="0" u="none" strike="noStrike" cap="none" normalizeH="0" baseline="0" dirty="0">
                <a:ln>
                  <a:noFill/>
                </a:ln>
                <a:solidFill>
                  <a:schemeClr val="tx1"/>
                </a:solidFill>
                <a:effectLst/>
                <a:latin typeface="Montserrat" panose="00000500000000000000" pitchFamily="2" charset="0"/>
              </a:rPr>
              <a:t>-Z]+\.[a-</a:t>
            </a:r>
            <a:r>
              <a:rPr kumimoji="0" lang="es-MX" altLang="es-MX" sz="1600" b="0" i="0" u="none" strike="noStrike" cap="none" normalizeH="0" baseline="0" dirty="0" err="1">
                <a:ln>
                  <a:noFill/>
                </a:ln>
                <a:solidFill>
                  <a:schemeClr val="tx1"/>
                </a:solidFill>
                <a:effectLst/>
                <a:latin typeface="Montserrat" panose="00000500000000000000" pitchFamily="2" charset="0"/>
              </a:rPr>
              <a:t>zA</a:t>
            </a:r>
            <a:r>
              <a:rPr kumimoji="0" lang="es-MX" altLang="es-MX" sz="1600" b="0" i="0" u="none" strike="noStrike" cap="none" normalizeH="0" baseline="0" dirty="0">
                <a:ln>
                  <a:noFill/>
                </a:ln>
                <a:solidFill>
                  <a:schemeClr val="tx1"/>
                </a:solidFill>
                <a:effectLst/>
                <a:latin typeface="Montserrat" panose="00000500000000000000" pitchFamily="2" charset="0"/>
              </a:rPr>
              <a:t>-Z]{2,}$</a:t>
            </a:r>
            <a:endParaRPr kumimoji="0" lang="es-MX" altLang="es-MX" sz="3600" b="0" i="0" u="none" strike="noStrike" cap="none" normalizeH="0" baseline="0" dirty="0">
              <a:ln>
                <a:noFill/>
              </a:ln>
              <a:solidFill>
                <a:schemeClr val="tx1"/>
              </a:solidFill>
              <a:effectLst/>
              <a:latin typeface="Montserrat" panose="00000500000000000000" pitchFamily="2" charset="0"/>
            </a:endParaRPr>
          </a:p>
        </p:txBody>
      </p:sp>
      <p:sp>
        <p:nvSpPr>
          <p:cNvPr id="12" name="CuadroTexto 11">
            <a:extLst>
              <a:ext uri="{FF2B5EF4-FFF2-40B4-BE49-F238E27FC236}">
                <a16:creationId xmlns:a16="http://schemas.microsoft.com/office/drawing/2014/main" id="{17C87F69-0F8C-66DC-ADE6-61C245764FC7}"/>
              </a:ext>
            </a:extLst>
          </p:cNvPr>
          <p:cNvSpPr txBox="1"/>
          <p:nvPr/>
        </p:nvSpPr>
        <p:spPr>
          <a:xfrm>
            <a:off x="7639440" y="3955723"/>
            <a:ext cx="6097554" cy="2677656"/>
          </a:xfrm>
          <a:prstGeom prst="rect">
            <a:avLst/>
          </a:prstGeom>
          <a:noFill/>
        </p:spPr>
        <p:txBody>
          <a:bodyPr wrap="square">
            <a:spAutoFit/>
          </a:bodyPr>
          <a:lstStyle/>
          <a:p>
            <a:r>
              <a:rPr lang="es-MX" sz="2400" b="1" dirty="0">
                <a:latin typeface="Montserrat" panose="00000500000000000000" pitchFamily="2" charset="0"/>
              </a:rPr>
              <a:t>Ejemplos válidos</a:t>
            </a:r>
          </a:p>
          <a:p>
            <a:pPr>
              <a:buFont typeface="Arial" panose="020B0604020202020204" pitchFamily="34" charset="0"/>
              <a:buChar char="•"/>
            </a:pPr>
            <a:r>
              <a:rPr lang="es-MX" sz="2400" dirty="0">
                <a:latin typeface="Montserrat" panose="00000500000000000000" pitchFamily="2" charset="0"/>
              </a:rPr>
              <a:t>amaury123@gmail.com</a:t>
            </a:r>
          </a:p>
          <a:p>
            <a:pPr>
              <a:buFont typeface="Arial" panose="020B0604020202020204" pitchFamily="34" charset="0"/>
              <a:buChar char="•"/>
            </a:pPr>
            <a:r>
              <a:rPr lang="es-MX" sz="2400" dirty="0">
                <a:latin typeface="Montserrat" panose="00000500000000000000" pitchFamily="2" charset="0"/>
              </a:rPr>
              <a:t>mario.julio@tecnm.edu</a:t>
            </a:r>
          </a:p>
          <a:p>
            <a:endParaRPr lang="es-MX" sz="2400" b="1" dirty="0">
              <a:latin typeface="Montserrat" panose="00000500000000000000" pitchFamily="2" charset="0"/>
            </a:endParaRPr>
          </a:p>
          <a:p>
            <a:r>
              <a:rPr lang="es-MX" sz="2400" b="1" dirty="0">
                <a:latin typeface="Montserrat" panose="00000500000000000000" pitchFamily="2" charset="0"/>
              </a:rPr>
              <a:t>Ejemplos no válidos</a:t>
            </a:r>
          </a:p>
          <a:p>
            <a:pPr>
              <a:buFont typeface="Arial" panose="020B0604020202020204" pitchFamily="34" charset="0"/>
              <a:buChar char="•"/>
            </a:pPr>
            <a:r>
              <a:rPr lang="es-MX" sz="2400" dirty="0">
                <a:latin typeface="Montserrat" panose="00000500000000000000" pitchFamily="2" charset="0"/>
              </a:rPr>
              <a:t>@gmail.com</a:t>
            </a:r>
          </a:p>
          <a:p>
            <a:pPr>
              <a:buFont typeface="Arial" panose="020B0604020202020204" pitchFamily="34" charset="0"/>
              <a:buChar char="•"/>
            </a:pPr>
            <a:r>
              <a:rPr lang="es-MX" sz="2400" dirty="0" err="1">
                <a:latin typeface="Montserrat" panose="00000500000000000000" pitchFamily="2" charset="0"/>
              </a:rPr>
              <a:t>usuario@gmail</a:t>
            </a:r>
            <a:endParaRPr lang="es-MX" sz="2400" dirty="0">
              <a:latin typeface="Montserrat" panose="00000500000000000000" pitchFamily="2" charset="0"/>
            </a:endParaRPr>
          </a:p>
        </p:txBody>
      </p:sp>
    </p:spTree>
    <p:extLst>
      <p:ext uri="{BB962C8B-B14F-4D97-AF65-F5344CB8AC3E}">
        <p14:creationId xmlns:p14="http://schemas.microsoft.com/office/powerpoint/2010/main" val="2488546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65B645C-2A38-FD9C-9448-FB88FD5EC201}"/>
              </a:ext>
            </a:extLst>
          </p:cNvPr>
          <p:cNvSpPr txBox="1"/>
          <p:nvPr/>
        </p:nvSpPr>
        <p:spPr>
          <a:xfrm>
            <a:off x="389553" y="233466"/>
            <a:ext cx="11730911" cy="1200329"/>
          </a:xfrm>
          <a:prstGeom prst="rect">
            <a:avLst/>
          </a:prstGeom>
          <a:noFill/>
        </p:spPr>
        <p:txBody>
          <a:bodyPr wrap="square">
            <a:spAutoFit/>
          </a:bodyPr>
          <a:lstStyle/>
          <a:p>
            <a:r>
              <a:rPr lang="es-MX" sz="2400" b="1" dirty="0">
                <a:latin typeface="Montserrat" panose="00000500000000000000" pitchFamily="2" charset="0"/>
              </a:rPr>
              <a:t>2. Validación de número telefónico mexicano</a:t>
            </a:r>
          </a:p>
          <a:p>
            <a:r>
              <a:rPr lang="es-MX" sz="2400" b="1" dirty="0">
                <a:latin typeface="Montserrat" panose="00000500000000000000" pitchFamily="2" charset="0"/>
              </a:rPr>
              <a:t>Problema</a:t>
            </a:r>
          </a:p>
          <a:p>
            <a:r>
              <a:rPr lang="es-MX" sz="2400" dirty="0">
                <a:latin typeface="Montserrat" panose="00000500000000000000" pitchFamily="2" charset="0"/>
              </a:rPr>
              <a:t>Validar números de 10 dígitos sin espacios.</a:t>
            </a:r>
          </a:p>
        </p:txBody>
      </p:sp>
      <p:sp>
        <p:nvSpPr>
          <p:cNvPr id="4" name="Rectangle 1">
            <a:extLst>
              <a:ext uri="{FF2B5EF4-FFF2-40B4-BE49-F238E27FC236}">
                <a16:creationId xmlns:a16="http://schemas.microsoft.com/office/drawing/2014/main" id="{4E3E74B9-B80D-5067-FB9C-E4A1E4CC9FEF}"/>
              </a:ext>
            </a:extLst>
          </p:cNvPr>
          <p:cNvSpPr>
            <a:spLocks noChangeArrowheads="1"/>
          </p:cNvSpPr>
          <p:nvPr/>
        </p:nvSpPr>
        <p:spPr bwMode="auto">
          <a:xfrm>
            <a:off x="466531" y="1528477"/>
            <a:ext cx="232332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a:ln>
                  <a:noFill/>
                </a:ln>
                <a:solidFill>
                  <a:schemeClr val="tx1"/>
                </a:solidFill>
                <a:effectLst/>
                <a:latin typeface="Montserrat" panose="00000500000000000000" pitchFamily="2" charset="0"/>
              </a:rPr>
              <a:t>Expresión Regular</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a:ln>
                  <a:noFill/>
                </a:ln>
                <a:solidFill>
                  <a:schemeClr val="tx1"/>
                </a:solidFill>
                <a:effectLst/>
                <a:latin typeface="Montserrat" panose="00000500000000000000" pitchFamily="2" charset="0"/>
              </a:rPr>
              <a:t>^[0-9]{10}$</a:t>
            </a:r>
            <a:endParaRPr kumimoji="0" lang="es-MX" altLang="es-MX" sz="3600" b="0" i="0" u="none" strike="noStrike" cap="none" normalizeH="0" baseline="0">
              <a:ln>
                <a:noFill/>
              </a:ln>
              <a:solidFill>
                <a:schemeClr val="tx1"/>
              </a:solidFill>
              <a:effectLst/>
              <a:latin typeface="Montserrat" panose="00000500000000000000" pitchFamily="2" charset="0"/>
            </a:endParaRPr>
          </a:p>
        </p:txBody>
      </p:sp>
      <p:sp>
        <p:nvSpPr>
          <p:cNvPr id="5" name="Rectangle 2">
            <a:extLst>
              <a:ext uri="{FF2B5EF4-FFF2-40B4-BE49-F238E27FC236}">
                <a16:creationId xmlns:a16="http://schemas.microsoft.com/office/drawing/2014/main" id="{221F02A7-B2A9-FAB3-0329-AB1113FEB377}"/>
              </a:ext>
            </a:extLst>
          </p:cNvPr>
          <p:cNvSpPr>
            <a:spLocks noChangeArrowheads="1"/>
          </p:cNvSpPr>
          <p:nvPr/>
        </p:nvSpPr>
        <p:spPr bwMode="auto">
          <a:xfrm>
            <a:off x="466530" y="2155223"/>
            <a:ext cx="621418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Montserrat" panose="00000500000000000000" pitchFamily="2" charset="0"/>
              </a:rPr>
              <a:t>Justificación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Montserrat" panose="00000500000000000000" pitchFamily="2" charset="0"/>
              </a:rPr>
              <a:t>[0-9]{10} garantiza exactamente diez dígitos.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Montserrat" panose="00000500000000000000" pitchFamily="2" charset="0"/>
              </a:rPr>
              <a:t>No permite letras ni símbolos</a:t>
            </a:r>
            <a:r>
              <a:rPr kumimoji="0" lang="es-MX" altLang="es-MX" sz="2400" b="0" i="0" u="none" strike="noStrike" cap="none" normalizeH="0" baseline="0" dirty="0">
                <a:ln>
                  <a:noFill/>
                </a:ln>
                <a:solidFill>
                  <a:schemeClr val="tx1"/>
                </a:solidFill>
                <a:effectLst/>
                <a:latin typeface="Montserrat"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400" b="0" i="0" u="none" strike="noStrike" cap="none" normalizeH="0" baseline="0" dirty="0">
              <a:ln>
                <a:noFill/>
              </a:ln>
              <a:solidFill>
                <a:schemeClr val="tx1"/>
              </a:solidFill>
              <a:effectLst/>
              <a:latin typeface="Montserrat" panose="00000500000000000000" pitchFamily="2" charset="0"/>
            </a:endParaRPr>
          </a:p>
        </p:txBody>
      </p:sp>
      <p:sp>
        <p:nvSpPr>
          <p:cNvPr id="7" name="CuadroTexto 6">
            <a:extLst>
              <a:ext uri="{FF2B5EF4-FFF2-40B4-BE49-F238E27FC236}">
                <a16:creationId xmlns:a16="http://schemas.microsoft.com/office/drawing/2014/main" id="{8C676E09-C2B4-2960-D00F-4F2F5AC584D4}"/>
              </a:ext>
            </a:extLst>
          </p:cNvPr>
          <p:cNvSpPr txBox="1"/>
          <p:nvPr/>
        </p:nvSpPr>
        <p:spPr>
          <a:xfrm>
            <a:off x="744117" y="3429000"/>
            <a:ext cx="6097554" cy="2308324"/>
          </a:xfrm>
          <a:prstGeom prst="rect">
            <a:avLst/>
          </a:prstGeom>
          <a:noFill/>
        </p:spPr>
        <p:txBody>
          <a:bodyPr wrap="square">
            <a:spAutoFit/>
          </a:bodyPr>
          <a:lstStyle/>
          <a:p>
            <a:r>
              <a:rPr lang="pt-BR" sz="2400" b="1" dirty="0">
                <a:latin typeface="Montserrat" panose="00000500000000000000" pitchFamily="2" charset="0"/>
              </a:rPr>
              <a:t>Válidos</a:t>
            </a:r>
          </a:p>
          <a:p>
            <a:pPr>
              <a:buFont typeface="Arial" panose="020B0604020202020204" pitchFamily="34" charset="0"/>
              <a:buChar char="•"/>
            </a:pPr>
            <a:r>
              <a:rPr lang="pt-BR" sz="2400" dirty="0">
                <a:latin typeface="Montserrat" panose="00000500000000000000" pitchFamily="2" charset="0"/>
              </a:rPr>
              <a:t>5512345678</a:t>
            </a:r>
          </a:p>
          <a:p>
            <a:pPr>
              <a:buFont typeface="Arial" panose="020B0604020202020204" pitchFamily="34" charset="0"/>
              <a:buChar char="•"/>
            </a:pPr>
            <a:endParaRPr lang="pt-BR" sz="2400" b="1" dirty="0">
              <a:latin typeface="Montserrat" panose="00000500000000000000" pitchFamily="2" charset="0"/>
            </a:endParaRPr>
          </a:p>
          <a:p>
            <a:r>
              <a:rPr lang="pt-BR" sz="2400" b="1" dirty="0">
                <a:latin typeface="Montserrat" panose="00000500000000000000" pitchFamily="2" charset="0"/>
              </a:rPr>
              <a:t>No válidos</a:t>
            </a:r>
          </a:p>
          <a:p>
            <a:pPr>
              <a:buFont typeface="Arial" panose="020B0604020202020204" pitchFamily="34" charset="0"/>
              <a:buChar char="•"/>
            </a:pPr>
            <a:r>
              <a:rPr lang="pt-BR" sz="2400" dirty="0">
                <a:latin typeface="Montserrat" panose="00000500000000000000" pitchFamily="2" charset="0"/>
              </a:rPr>
              <a:t>55123</a:t>
            </a:r>
          </a:p>
          <a:p>
            <a:pPr>
              <a:buFont typeface="Arial" panose="020B0604020202020204" pitchFamily="34" charset="0"/>
              <a:buChar char="•"/>
            </a:pPr>
            <a:r>
              <a:rPr lang="pt-BR" sz="2400" dirty="0">
                <a:latin typeface="Montserrat" panose="00000500000000000000" pitchFamily="2" charset="0"/>
              </a:rPr>
              <a:t>55-1234-5678</a:t>
            </a:r>
          </a:p>
        </p:txBody>
      </p:sp>
    </p:spTree>
    <p:extLst>
      <p:ext uri="{BB962C8B-B14F-4D97-AF65-F5344CB8AC3E}">
        <p14:creationId xmlns:p14="http://schemas.microsoft.com/office/powerpoint/2010/main" val="129793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8AEB33D-43ED-686C-A34D-1572688AC81D}"/>
              </a:ext>
            </a:extLst>
          </p:cNvPr>
          <p:cNvSpPr txBox="1"/>
          <p:nvPr/>
        </p:nvSpPr>
        <p:spPr>
          <a:xfrm>
            <a:off x="380223" y="145999"/>
            <a:ext cx="8567834" cy="2308324"/>
          </a:xfrm>
          <a:prstGeom prst="rect">
            <a:avLst/>
          </a:prstGeom>
          <a:noFill/>
        </p:spPr>
        <p:txBody>
          <a:bodyPr wrap="square">
            <a:spAutoFit/>
          </a:bodyPr>
          <a:lstStyle/>
          <a:p>
            <a:r>
              <a:rPr lang="es-MX" b="1" dirty="0">
                <a:latin typeface="Montserrat" panose="00000500000000000000" pitchFamily="2" charset="0"/>
              </a:rPr>
              <a:t>3. Contraseña segura</a:t>
            </a:r>
          </a:p>
          <a:p>
            <a:r>
              <a:rPr lang="es-MX" b="1" dirty="0">
                <a:latin typeface="Montserrat" panose="00000500000000000000" pitchFamily="2" charset="0"/>
              </a:rPr>
              <a:t>Problema</a:t>
            </a:r>
          </a:p>
          <a:p>
            <a:endParaRPr lang="es-MX" b="1" dirty="0">
              <a:latin typeface="Montserrat" panose="00000500000000000000" pitchFamily="2" charset="0"/>
            </a:endParaRPr>
          </a:p>
          <a:p>
            <a:r>
              <a:rPr lang="es-MX" dirty="0">
                <a:latin typeface="Montserrat" panose="00000500000000000000" pitchFamily="2" charset="0"/>
              </a:rPr>
              <a:t>Diseñar una ER que cumpla:</a:t>
            </a:r>
          </a:p>
          <a:p>
            <a:pPr>
              <a:buFont typeface="Arial" panose="020B0604020202020204" pitchFamily="34" charset="0"/>
              <a:buChar char="•"/>
            </a:pPr>
            <a:r>
              <a:rPr lang="es-MX" dirty="0">
                <a:latin typeface="Montserrat" panose="00000500000000000000" pitchFamily="2" charset="0"/>
              </a:rPr>
              <a:t>Mínimo 8 caracteres</a:t>
            </a:r>
          </a:p>
          <a:p>
            <a:pPr>
              <a:buFont typeface="Arial" panose="020B0604020202020204" pitchFamily="34" charset="0"/>
              <a:buChar char="•"/>
            </a:pPr>
            <a:r>
              <a:rPr lang="es-MX" dirty="0">
                <a:latin typeface="Montserrat" panose="00000500000000000000" pitchFamily="2" charset="0"/>
              </a:rPr>
              <a:t>Al menos una mayúscula</a:t>
            </a:r>
          </a:p>
          <a:p>
            <a:pPr>
              <a:buFont typeface="Arial" panose="020B0604020202020204" pitchFamily="34" charset="0"/>
              <a:buChar char="•"/>
            </a:pPr>
            <a:r>
              <a:rPr lang="es-MX" dirty="0">
                <a:latin typeface="Montserrat" panose="00000500000000000000" pitchFamily="2" charset="0"/>
              </a:rPr>
              <a:t>Al menos un número</a:t>
            </a:r>
          </a:p>
          <a:p>
            <a:pPr>
              <a:buFont typeface="Arial" panose="020B0604020202020204" pitchFamily="34" charset="0"/>
              <a:buChar char="•"/>
            </a:pPr>
            <a:r>
              <a:rPr lang="es-MX" dirty="0">
                <a:latin typeface="Montserrat" panose="00000500000000000000" pitchFamily="2" charset="0"/>
              </a:rPr>
              <a:t>Al menos un carácter especial</a:t>
            </a:r>
          </a:p>
        </p:txBody>
      </p:sp>
      <p:sp>
        <p:nvSpPr>
          <p:cNvPr id="4" name="Rectangle 1">
            <a:extLst>
              <a:ext uri="{FF2B5EF4-FFF2-40B4-BE49-F238E27FC236}">
                <a16:creationId xmlns:a16="http://schemas.microsoft.com/office/drawing/2014/main" id="{34C20D8B-92CF-68C1-A822-0CA906BC75C7}"/>
              </a:ext>
            </a:extLst>
          </p:cNvPr>
          <p:cNvSpPr>
            <a:spLocks noChangeArrowheads="1"/>
          </p:cNvSpPr>
          <p:nvPr/>
        </p:nvSpPr>
        <p:spPr bwMode="auto">
          <a:xfrm>
            <a:off x="380223" y="2610827"/>
            <a:ext cx="623600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dirty="0">
                <a:ln>
                  <a:noFill/>
                </a:ln>
                <a:solidFill>
                  <a:schemeClr val="tx1"/>
                </a:solidFill>
                <a:effectLst/>
                <a:latin typeface="Montserrat" panose="00000500000000000000" pitchFamily="2" charset="0"/>
              </a:rPr>
              <a:t>Expresión Regular</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a:ln>
                  <a:noFill/>
                </a:ln>
                <a:solidFill>
                  <a:schemeClr val="tx1"/>
                </a:solidFill>
                <a:effectLst/>
                <a:latin typeface="Montserrat" panose="00000500000000000000" pitchFamily="2" charset="0"/>
              </a:rPr>
              <a:t>^(?=.*[A-Z])(?=.*[0-9])(?=.*[@$!%*?&amp;])[A-Za-z0-9@$!%*?&amp;]{8,}$</a:t>
            </a:r>
            <a:endParaRPr kumimoji="0" lang="es-MX" altLang="es-MX" sz="3600" b="0" i="0" u="none" strike="noStrike" cap="none" normalizeH="0" baseline="0" dirty="0">
              <a:ln>
                <a:noFill/>
              </a:ln>
              <a:solidFill>
                <a:schemeClr val="tx1"/>
              </a:solidFill>
              <a:effectLst/>
              <a:latin typeface="Montserrat" panose="00000500000000000000" pitchFamily="2" charset="0"/>
            </a:endParaRPr>
          </a:p>
        </p:txBody>
      </p:sp>
      <p:sp>
        <p:nvSpPr>
          <p:cNvPr id="6" name="Rectangle 3">
            <a:extLst>
              <a:ext uri="{FF2B5EF4-FFF2-40B4-BE49-F238E27FC236}">
                <a16:creationId xmlns:a16="http://schemas.microsoft.com/office/drawing/2014/main" id="{1FD92CCE-B00C-E6A5-FA16-139FD032B140}"/>
              </a:ext>
            </a:extLst>
          </p:cNvPr>
          <p:cNvSpPr>
            <a:spLocks noChangeArrowheads="1"/>
          </p:cNvSpPr>
          <p:nvPr/>
        </p:nvSpPr>
        <p:spPr bwMode="auto">
          <a:xfrm>
            <a:off x="454912" y="3543876"/>
            <a:ext cx="383791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a:ln>
                  <a:noFill/>
                </a:ln>
                <a:solidFill>
                  <a:schemeClr val="tx1"/>
                </a:solidFill>
                <a:effectLst/>
                <a:latin typeface="Montserrat" panose="00000500000000000000" pitchFamily="2" charset="0"/>
              </a:rPr>
              <a:t>Análisis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a:ln>
                  <a:noFill/>
                </a:ln>
                <a:solidFill>
                  <a:schemeClr val="tx1"/>
                </a:solidFill>
                <a:effectLst/>
                <a:latin typeface="Montserrat" panose="00000500000000000000" pitchFamily="2" charset="0"/>
              </a:rPr>
              <a:t>(?=.*[A-Z])</a:t>
            </a:r>
            <a:r>
              <a:rPr kumimoji="0" lang="es-MX" altLang="es-MX" sz="1400" b="0" i="0" u="none" strike="noStrike" cap="none" normalizeH="0" baseline="0">
                <a:ln>
                  <a:noFill/>
                </a:ln>
                <a:solidFill>
                  <a:schemeClr val="tx1"/>
                </a:solidFill>
                <a:effectLst/>
                <a:latin typeface="Montserrat" panose="00000500000000000000" pitchFamily="2" charset="0"/>
              </a:rPr>
              <a:t> → al menos una mayúscula.</a:t>
            </a:r>
            <a:endParaRPr kumimoji="0" lang="es-MX" altLang="es-MX" sz="4000" b="0" i="0" u="none" strike="noStrike" cap="none" normalizeH="0" baseline="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a:ln>
                  <a:noFill/>
                </a:ln>
                <a:solidFill>
                  <a:schemeClr val="tx1"/>
                </a:solidFill>
                <a:effectLst/>
                <a:latin typeface="Montserrat" panose="00000500000000000000" pitchFamily="2" charset="0"/>
              </a:rPr>
              <a:t>(?=.*[0-9])</a:t>
            </a:r>
            <a:r>
              <a:rPr kumimoji="0" lang="es-MX" altLang="es-MX" sz="1400" b="0" i="0" u="none" strike="noStrike" cap="none" normalizeH="0" baseline="0">
                <a:ln>
                  <a:noFill/>
                </a:ln>
                <a:solidFill>
                  <a:schemeClr val="tx1"/>
                </a:solidFill>
                <a:effectLst/>
                <a:latin typeface="Montserrat" panose="00000500000000000000" pitchFamily="2" charset="0"/>
              </a:rPr>
              <a:t> → al menos un número.</a:t>
            </a:r>
            <a:endParaRPr kumimoji="0" lang="es-MX" altLang="es-MX" sz="4000" b="0" i="0" u="none" strike="noStrike" cap="none" normalizeH="0" baseline="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a:ln>
                  <a:noFill/>
                </a:ln>
                <a:solidFill>
                  <a:schemeClr val="tx1"/>
                </a:solidFill>
                <a:effectLst/>
                <a:latin typeface="Montserrat" panose="00000500000000000000" pitchFamily="2" charset="0"/>
              </a:rPr>
              <a:t>(?=.*[@$!%*?&amp;])</a:t>
            </a:r>
            <a:r>
              <a:rPr kumimoji="0" lang="es-MX" altLang="es-MX" sz="1400" b="0" i="0" u="none" strike="noStrike" cap="none" normalizeH="0" baseline="0">
                <a:ln>
                  <a:noFill/>
                </a:ln>
                <a:solidFill>
                  <a:schemeClr val="tx1"/>
                </a:solidFill>
                <a:effectLst/>
                <a:latin typeface="Montserrat" panose="00000500000000000000" pitchFamily="2" charset="0"/>
              </a:rPr>
              <a:t> → carácter especial.</a:t>
            </a:r>
            <a:endParaRPr kumimoji="0" lang="es-MX" altLang="es-MX" sz="4000" b="0" i="0" u="none" strike="noStrike" cap="none" normalizeH="0" baseline="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a:ln>
                  <a:noFill/>
                </a:ln>
                <a:solidFill>
                  <a:schemeClr val="tx1"/>
                </a:solidFill>
                <a:effectLst/>
                <a:latin typeface="Montserrat" panose="00000500000000000000" pitchFamily="2" charset="0"/>
              </a:rPr>
              <a:t>{8,}</a:t>
            </a:r>
            <a:r>
              <a:rPr kumimoji="0" lang="es-MX" altLang="es-MX" sz="1400" b="0" i="0" u="none" strike="noStrike" cap="none" normalizeH="0" baseline="0">
                <a:ln>
                  <a:noFill/>
                </a:ln>
                <a:solidFill>
                  <a:schemeClr val="tx1"/>
                </a:solidFill>
                <a:effectLst/>
                <a:latin typeface="Montserrat" panose="00000500000000000000" pitchFamily="2" charset="0"/>
              </a:rPr>
              <a:t> → mínimo 8 caracteres.</a:t>
            </a:r>
            <a:endParaRPr kumimoji="0" lang="es-MX" altLang="es-MX" sz="4000" b="0" i="0" u="none" strike="noStrike" cap="none" normalizeH="0" baseline="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4000" b="0" i="0" u="none" strike="noStrike" cap="none" normalizeH="0" baseline="0">
              <a:ln>
                <a:noFill/>
              </a:ln>
              <a:solidFill>
                <a:schemeClr val="tx1"/>
              </a:solidFill>
              <a:effectLst/>
              <a:latin typeface="Montserrat" panose="00000500000000000000" pitchFamily="2" charset="0"/>
            </a:endParaRPr>
          </a:p>
        </p:txBody>
      </p:sp>
      <p:sp>
        <p:nvSpPr>
          <p:cNvPr id="8" name="CuadroTexto 7">
            <a:extLst>
              <a:ext uri="{FF2B5EF4-FFF2-40B4-BE49-F238E27FC236}">
                <a16:creationId xmlns:a16="http://schemas.microsoft.com/office/drawing/2014/main" id="{68AB9EF3-FC30-97F8-DEDE-407D9C049212}"/>
              </a:ext>
            </a:extLst>
          </p:cNvPr>
          <p:cNvSpPr txBox="1"/>
          <p:nvPr/>
        </p:nvSpPr>
        <p:spPr>
          <a:xfrm>
            <a:off x="380223" y="5144314"/>
            <a:ext cx="9818136" cy="646331"/>
          </a:xfrm>
          <a:prstGeom prst="rect">
            <a:avLst/>
          </a:prstGeom>
          <a:noFill/>
        </p:spPr>
        <p:txBody>
          <a:bodyPr wrap="square">
            <a:spAutoFit/>
          </a:bodyPr>
          <a:lstStyle/>
          <a:p>
            <a:r>
              <a:rPr lang="es-MX" dirty="0">
                <a:latin typeface="Montserrat" panose="00000500000000000000" pitchFamily="2" charset="0"/>
              </a:rPr>
              <a:t>Aquí observamos cómo la expresión regular permite imponer múltiples restricciones simultáneamente, algo muy común en sistemas de autenticación.</a:t>
            </a:r>
          </a:p>
        </p:txBody>
      </p:sp>
    </p:spTree>
    <p:extLst>
      <p:ext uri="{BB962C8B-B14F-4D97-AF65-F5344CB8AC3E}">
        <p14:creationId xmlns:p14="http://schemas.microsoft.com/office/powerpoint/2010/main" val="3637177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8F530CE-F73A-24F9-F9BB-A8ECB848F7B4}"/>
              </a:ext>
            </a:extLst>
          </p:cNvPr>
          <p:cNvSpPr txBox="1"/>
          <p:nvPr/>
        </p:nvSpPr>
        <p:spPr>
          <a:xfrm>
            <a:off x="492190" y="216265"/>
            <a:ext cx="7280210" cy="1477328"/>
          </a:xfrm>
          <a:prstGeom prst="rect">
            <a:avLst/>
          </a:prstGeom>
          <a:noFill/>
        </p:spPr>
        <p:txBody>
          <a:bodyPr wrap="square">
            <a:spAutoFit/>
          </a:bodyPr>
          <a:lstStyle/>
          <a:p>
            <a:r>
              <a:rPr lang="es-MX" b="1" dirty="0">
                <a:latin typeface="Montserrat" panose="00000500000000000000" pitchFamily="2" charset="0"/>
              </a:rPr>
              <a:t>4. Cadenas que terminan en “ab” (modelo formal)</a:t>
            </a:r>
          </a:p>
          <a:p>
            <a:r>
              <a:rPr lang="es-MX" dirty="0">
                <a:latin typeface="Montserrat" panose="00000500000000000000" pitchFamily="2" charset="0"/>
              </a:rPr>
              <a:t>Sea Σ = {a, b}</a:t>
            </a:r>
          </a:p>
          <a:p>
            <a:endParaRPr lang="es-MX" b="1" dirty="0">
              <a:latin typeface="Montserrat" panose="00000500000000000000" pitchFamily="2" charset="0"/>
            </a:endParaRPr>
          </a:p>
          <a:p>
            <a:r>
              <a:rPr lang="es-MX" b="1" dirty="0">
                <a:latin typeface="Montserrat" panose="00000500000000000000" pitchFamily="2" charset="0"/>
              </a:rPr>
              <a:t>Lenguaje</a:t>
            </a:r>
          </a:p>
          <a:p>
            <a:r>
              <a:rPr lang="es-MX" dirty="0">
                <a:latin typeface="Montserrat" panose="00000500000000000000" pitchFamily="2" charset="0"/>
              </a:rPr>
              <a:t>L = { w ∈ Σ* | w termina en “ab” }</a:t>
            </a:r>
          </a:p>
        </p:txBody>
      </p:sp>
      <p:sp>
        <p:nvSpPr>
          <p:cNvPr id="4" name="Rectangle 1">
            <a:extLst>
              <a:ext uri="{FF2B5EF4-FFF2-40B4-BE49-F238E27FC236}">
                <a16:creationId xmlns:a16="http://schemas.microsoft.com/office/drawing/2014/main" id="{14F7EE0F-47E3-D679-675C-A45D923DB252}"/>
              </a:ext>
            </a:extLst>
          </p:cNvPr>
          <p:cNvSpPr>
            <a:spLocks noChangeArrowheads="1"/>
          </p:cNvSpPr>
          <p:nvPr/>
        </p:nvSpPr>
        <p:spPr bwMode="auto">
          <a:xfrm>
            <a:off x="492190" y="1898917"/>
            <a:ext cx="2151551"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a:ln>
                  <a:noFill/>
                </a:ln>
                <a:solidFill>
                  <a:schemeClr val="tx1"/>
                </a:solidFill>
                <a:effectLst/>
                <a:latin typeface="Montserrat" panose="00000500000000000000" pitchFamily="2" charset="0"/>
              </a:rPr>
              <a:t>Expresión Regular</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a:ln>
                  <a:noFill/>
                </a:ln>
                <a:solidFill>
                  <a:schemeClr val="tx1"/>
                </a:solidFill>
                <a:effectLst/>
                <a:latin typeface="Montserrat" panose="00000500000000000000" pitchFamily="2" charset="0"/>
              </a:rPr>
              <a:t>(a+b)*ab</a:t>
            </a:r>
            <a:endParaRPr kumimoji="0" lang="es-MX" altLang="es-MX" sz="4000" b="0" i="0" u="none" strike="noStrike" cap="none" normalizeH="0" baseline="0">
              <a:ln>
                <a:noFill/>
              </a:ln>
              <a:solidFill>
                <a:schemeClr val="tx1"/>
              </a:solidFill>
              <a:effectLst/>
              <a:latin typeface="Montserrat" panose="00000500000000000000" pitchFamily="2" charset="0"/>
            </a:endParaRPr>
          </a:p>
        </p:txBody>
      </p:sp>
      <p:sp>
        <p:nvSpPr>
          <p:cNvPr id="6" name="Rectangle 3">
            <a:extLst>
              <a:ext uri="{FF2B5EF4-FFF2-40B4-BE49-F238E27FC236}">
                <a16:creationId xmlns:a16="http://schemas.microsoft.com/office/drawing/2014/main" id="{620FD671-8198-450E-8898-C862C88AC0DA}"/>
              </a:ext>
            </a:extLst>
          </p:cNvPr>
          <p:cNvSpPr>
            <a:spLocks noChangeArrowheads="1"/>
          </p:cNvSpPr>
          <p:nvPr/>
        </p:nvSpPr>
        <p:spPr bwMode="auto">
          <a:xfrm>
            <a:off x="492190" y="2719794"/>
            <a:ext cx="3990195"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dirty="0">
                <a:ln>
                  <a:noFill/>
                </a:ln>
                <a:solidFill>
                  <a:schemeClr val="tx1"/>
                </a:solidFill>
                <a:effectLst/>
                <a:latin typeface="Montserrat" panose="00000500000000000000" pitchFamily="2" charset="0"/>
              </a:rPr>
              <a:t>Justificación formal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a:ln>
                  <a:noFill/>
                </a:ln>
                <a:solidFill>
                  <a:schemeClr val="tx1"/>
                </a:solidFill>
                <a:effectLst/>
                <a:latin typeface="Montserrat" panose="00000500000000000000" pitchFamily="2" charset="0"/>
              </a:rPr>
              <a:t>(</a:t>
            </a:r>
            <a:r>
              <a:rPr kumimoji="0" lang="es-MX" altLang="es-MX" sz="1600" b="0" i="0" u="none" strike="noStrike" cap="none" normalizeH="0" baseline="0" dirty="0" err="1">
                <a:ln>
                  <a:noFill/>
                </a:ln>
                <a:solidFill>
                  <a:schemeClr val="tx1"/>
                </a:solidFill>
                <a:effectLst/>
                <a:latin typeface="Montserrat" panose="00000500000000000000" pitchFamily="2" charset="0"/>
              </a:rPr>
              <a:t>a+b</a:t>
            </a:r>
            <a:r>
              <a:rPr kumimoji="0" lang="es-MX" altLang="es-MX" sz="1600" b="0" i="0" u="none" strike="noStrike" cap="none" normalizeH="0" baseline="0" dirty="0">
                <a:ln>
                  <a:noFill/>
                </a:ln>
                <a:solidFill>
                  <a:schemeClr val="tx1"/>
                </a:solidFill>
                <a:effectLst/>
                <a:latin typeface="Montserrat" panose="00000500000000000000" pitchFamily="2" charset="0"/>
              </a:rPr>
              <a:t>)*</a:t>
            </a:r>
            <a:r>
              <a:rPr kumimoji="0" lang="es-MX" altLang="es-MX" sz="1200" b="0" i="0" u="none" strike="noStrike" cap="none" normalizeH="0" baseline="0" dirty="0">
                <a:ln>
                  <a:noFill/>
                </a:ln>
                <a:solidFill>
                  <a:schemeClr val="tx1"/>
                </a:solidFill>
                <a:effectLst/>
                <a:latin typeface="Montserrat" panose="00000500000000000000" pitchFamily="2" charset="0"/>
              </a:rPr>
              <a:t> permite cualquier combinación de a y b.</a:t>
            </a:r>
            <a:endParaRPr kumimoji="0" lang="es-MX" altLang="es-MX" sz="36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a:ln>
                  <a:noFill/>
                </a:ln>
                <a:solidFill>
                  <a:schemeClr val="tx1"/>
                </a:solidFill>
                <a:effectLst/>
                <a:latin typeface="Montserrat" panose="00000500000000000000" pitchFamily="2" charset="0"/>
              </a:rPr>
              <a:t>ab</a:t>
            </a:r>
            <a:r>
              <a:rPr kumimoji="0" lang="es-MX" altLang="es-MX" sz="1200" b="0" i="0" u="none" strike="noStrike" cap="none" normalizeH="0" baseline="0" dirty="0">
                <a:ln>
                  <a:noFill/>
                </a:ln>
                <a:solidFill>
                  <a:schemeClr val="tx1"/>
                </a:solidFill>
                <a:effectLst/>
                <a:latin typeface="Montserrat" panose="00000500000000000000" pitchFamily="2" charset="0"/>
              </a:rPr>
              <a:t> fija la terminación obligatoria.</a:t>
            </a:r>
            <a:endParaRPr kumimoji="0" lang="es-MX" altLang="es-MX" sz="36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3600" b="0" i="0" u="none" strike="noStrike" cap="none" normalizeH="0" baseline="0" dirty="0">
              <a:ln>
                <a:noFill/>
              </a:ln>
              <a:solidFill>
                <a:schemeClr val="tx1"/>
              </a:solidFill>
              <a:effectLst/>
              <a:latin typeface="Montserrat" panose="00000500000000000000" pitchFamily="2" charset="0"/>
            </a:endParaRPr>
          </a:p>
        </p:txBody>
      </p:sp>
      <p:sp>
        <p:nvSpPr>
          <p:cNvPr id="8" name="CuadroTexto 7">
            <a:extLst>
              <a:ext uri="{FF2B5EF4-FFF2-40B4-BE49-F238E27FC236}">
                <a16:creationId xmlns:a16="http://schemas.microsoft.com/office/drawing/2014/main" id="{76982F14-4734-F000-6EC5-9B5C483C28A3}"/>
              </a:ext>
            </a:extLst>
          </p:cNvPr>
          <p:cNvSpPr txBox="1"/>
          <p:nvPr/>
        </p:nvSpPr>
        <p:spPr>
          <a:xfrm>
            <a:off x="492189" y="3817670"/>
            <a:ext cx="10807181" cy="646331"/>
          </a:xfrm>
          <a:prstGeom prst="rect">
            <a:avLst/>
          </a:prstGeom>
          <a:noFill/>
        </p:spPr>
        <p:txBody>
          <a:bodyPr wrap="square">
            <a:spAutoFit/>
          </a:bodyPr>
          <a:lstStyle/>
          <a:p>
            <a:r>
              <a:rPr lang="es-MX" dirty="0">
                <a:latin typeface="Montserrat" panose="00000500000000000000" pitchFamily="2" charset="0"/>
              </a:rPr>
              <a:t>Este tipo de construcción es directamente equivalente a un autómata finito determinista con estado final que reconoce la </a:t>
            </a:r>
            <a:r>
              <a:rPr lang="es-MX" dirty="0" err="1">
                <a:latin typeface="Montserrat" panose="00000500000000000000" pitchFamily="2" charset="0"/>
              </a:rPr>
              <a:t>subcadena</a:t>
            </a:r>
            <a:r>
              <a:rPr lang="es-MX" dirty="0">
                <a:latin typeface="Montserrat" panose="00000500000000000000" pitchFamily="2" charset="0"/>
              </a:rPr>
              <a:t> final.</a:t>
            </a:r>
          </a:p>
        </p:txBody>
      </p:sp>
    </p:spTree>
    <p:extLst>
      <p:ext uri="{BB962C8B-B14F-4D97-AF65-F5344CB8AC3E}">
        <p14:creationId xmlns:p14="http://schemas.microsoft.com/office/powerpoint/2010/main" val="1294491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B3C4896-29D8-5FA8-408D-A5D23990597C}"/>
              </a:ext>
            </a:extLst>
          </p:cNvPr>
          <p:cNvSpPr txBox="1"/>
          <p:nvPr/>
        </p:nvSpPr>
        <p:spPr>
          <a:xfrm>
            <a:off x="436207" y="174562"/>
            <a:ext cx="6097554" cy="369332"/>
          </a:xfrm>
          <a:prstGeom prst="rect">
            <a:avLst/>
          </a:prstGeom>
          <a:noFill/>
        </p:spPr>
        <p:txBody>
          <a:bodyPr wrap="square">
            <a:spAutoFit/>
          </a:bodyPr>
          <a:lstStyle/>
          <a:p>
            <a:r>
              <a:rPr lang="es-MX" b="1">
                <a:latin typeface="Montserrat" panose="00000500000000000000" pitchFamily="2" charset="0"/>
              </a:rPr>
              <a:t>5. Número par de “a”</a:t>
            </a:r>
            <a:endParaRPr lang="es-MX" b="1" dirty="0">
              <a:latin typeface="Montserrat" panose="00000500000000000000" pitchFamily="2" charset="0"/>
            </a:endParaRPr>
          </a:p>
        </p:txBody>
      </p:sp>
      <p:sp>
        <p:nvSpPr>
          <p:cNvPr id="5" name="CuadroTexto 4">
            <a:extLst>
              <a:ext uri="{FF2B5EF4-FFF2-40B4-BE49-F238E27FC236}">
                <a16:creationId xmlns:a16="http://schemas.microsoft.com/office/drawing/2014/main" id="{C62732D3-BB3E-4775-98DC-E86BC11F6ABE}"/>
              </a:ext>
            </a:extLst>
          </p:cNvPr>
          <p:cNvSpPr txBox="1"/>
          <p:nvPr/>
        </p:nvSpPr>
        <p:spPr>
          <a:xfrm>
            <a:off x="585497" y="905269"/>
            <a:ext cx="6097554" cy="1477328"/>
          </a:xfrm>
          <a:prstGeom prst="rect">
            <a:avLst/>
          </a:prstGeom>
          <a:noFill/>
        </p:spPr>
        <p:txBody>
          <a:bodyPr wrap="square">
            <a:spAutoFit/>
          </a:bodyPr>
          <a:lstStyle/>
          <a:p>
            <a:r>
              <a:rPr lang="es-MX" b="1" dirty="0">
                <a:latin typeface="Montserrat" panose="00000500000000000000" pitchFamily="2" charset="0"/>
              </a:rPr>
              <a:t>Lenguaje</a:t>
            </a:r>
          </a:p>
          <a:p>
            <a:r>
              <a:rPr lang="es-MX" dirty="0">
                <a:latin typeface="Montserrat" panose="00000500000000000000" pitchFamily="2" charset="0"/>
              </a:rPr>
              <a:t>Cadenas sobre Σ = {</a:t>
            </a:r>
            <a:r>
              <a:rPr lang="es-MX" dirty="0" err="1">
                <a:latin typeface="Montserrat" panose="00000500000000000000" pitchFamily="2" charset="0"/>
              </a:rPr>
              <a:t>a,b</a:t>
            </a:r>
            <a:r>
              <a:rPr lang="es-MX" dirty="0">
                <a:latin typeface="Montserrat" panose="00000500000000000000" pitchFamily="2" charset="0"/>
              </a:rPr>
              <a:t>} con número par de “a”.</a:t>
            </a:r>
          </a:p>
          <a:p>
            <a:endParaRPr lang="es-MX" b="1" dirty="0">
              <a:latin typeface="Montserrat" panose="00000500000000000000" pitchFamily="2" charset="0"/>
            </a:endParaRPr>
          </a:p>
          <a:p>
            <a:r>
              <a:rPr lang="es-MX" b="1" dirty="0">
                <a:latin typeface="Montserrat" panose="00000500000000000000" pitchFamily="2" charset="0"/>
              </a:rPr>
              <a:t>Expresión Regular</a:t>
            </a:r>
          </a:p>
          <a:p>
            <a:r>
              <a:rPr lang="es-MX" dirty="0"/>
              <a:t>(b*ab*a)*b*</a:t>
            </a:r>
            <a:endParaRPr lang="es-MX" dirty="0">
              <a:latin typeface="Montserrat" panose="00000500000000000000" pitchFamily="2" charset="0"/>
            </a:endParaRPr>
          </a:p>
        </p:txBody>
      </p:sp>
      <p:sp>
        <p:nvSpPr>
          <p:cNvPr id="6" name="Rectangle 1">
            <a:extLst>
              <a:ext uri="{FF2B5EF4-FFF2-40B4-BE49-F238E27FC236}">
                <a16:creationId xmlns:a16="http://schemas.microsoft.com/office/drawing/2014/main" id="{DEEBB0AC-7171-D1F0-EBFF-A9E7FD12D9DA}"/>
              </a:ext>
            </a:extLst>
          </p:cNvPr>
          <p:cNvSpPr>
            <a:spLocks noChangeArrowheads="1"/>
          </p:cNvSpPr>
          <p:nvPr/>
        </p:nvSpPr>
        <p:spPr bwMode="auto">
          <a:xfrm>
            <a:off x="585497" y="2598003"/>
            <a:ext cx="84442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a:ln>
                  <a:noFill/>
                </a:ln>
                <a:solidFill>
                  <a:schemeClr val="tx1"/>
                </a:solidFill>
                <a:effectLst/>
                <a:latin typeface="Montserrat" panose="00000500000000000000" pitchFamily="2" charset="0"/>
              </a:rPr>
              <a:t>Explicación conceptual</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0" i="0" u="none" strike="noStrike" cap="none" normalizeH="0" baseline="0">
                <a:ln>
                  <a:noFill/>
                </a:ln>
                <a:solidFill>
                  <a:schemeClr val="tx1"/>
                </a:solidFill>
                <a:effectLst/>
                <a:latin typeface="Montserrat" panose="00000500000000000000" pitchFamily="2" charset="0"/>
              </a:rPr>
              <a:t>Cada bloque </a:t>
            </a:r>
            <a:r>
              <a:rPr kumimoji="0" lang="es-MX" altLang="es-MX" b="0" i="0" u="none" strike="noStrike" cap="none" normalizeH="0" baseline="0">
                <a:ln>
                  <a:noFill/>
                </a:ln>
                <a:solidFill>
                  <a:schemeClr val="tx1"/>
                </a:solidFill>
                <a:effectLst/>
                <a:latin typeface="Montserrat" panose="00000500000000000000" pitchFamily="2" charset="0"/>
              </a:rPr>
              <a:t>ab*a</a:t>
            </a:r>
            <a:r>
              <a:rPr kumimoji="0" lang="es-MX" altLang="es-MX" sz="1400" b="0" i="0" u="none" strike="noStrike" cap="none" normalizeH="0" baseline="0">
                <a:ln>
                  <a:noFill/>
                </a:ln>
                <a:solidFill>
                  <a:schemeClr val="tx1"/>
                </a:solidFill>
                <a:effectLst/>
                <a:latin typeface="Montserrat" panose="00000500000000000000" pitchFamily="2" charset="0"/>
              </a:rPr>
              <a:t> introduce dos “a”, garantizando paridad.</a:t>
            </a:r>
            <a:br>
              <a:rPr kumimoji="0" lang="es-MX" altLang="es-MX" sz="1400" b="0" i="0" u="none" strike="noStrike" cap="none" normalizeH="0" baseline="0">
                <a:ln>
                  <a:noFill/>
                </a:ln>
                <a:solidFill>
                  <a:schemeClr val="tx1"/>
                </a:solidFill>
                <a:effectLst/>
                <a:latin typeface="Montserrat" panose="00000500000000000000" pitchFamily="2" charset="0"/>
              </a:rPr>
            </a:br>
            <a:r>
              <a:rPr kumimoji="0" lang="es-MX" altLang="es-MX" sz="1400" b="0" i="0" u="none" strike="noStrike" cap="none" normalizeH="0" baseline="0">
                <a:ln>
                  <a:noFill/>
                </a:ln>
                <a:solidFill>
                  <a:schemeClr val="tx1"/>
                </a:solidFill>
                <a:effectLst/>
                <a:latin typeface="Montserrat" panose="00000500000000000000" pitchFamily="2" charset="0"/>
              </a:rPr>
              <a:t>El uso de la cerradura de Kleene permite repetir la estructura.</a:t>
            </a:r>
            <a:endParaRPr kumimoji="0" lang="es-MX" altLang="es-MX" sz="4000" b="0" i="0" u="none" strike="noStrike" cap="none" normalizeH="0" baseline="0">
              <a:ln>
                <a:noFill/>
              </a:ln>
              <a:solidFill>
                <a:schemeClr val="tx1"/>
              </a:solidFill>
              <a:effectLst/>
              <a:latin typeface="Montserrat" panose="00000500000000000000" pitchFamily="2" charset="0"/>
            </a:endParaRPr>
          </a:p>
        </p:txBody>
      </p:sp>
      <p:sp>
        <p:nvSpPr>
          <p:cNvPr id="8" name="CuadroTexto 7">
            <a:extLst>
              <a:ext uri="{FF2B5EF4-FFF2-40B4-BE49-F238E27FC236}">
                <a16:creationId xmlns:a16="http://schemas.microsoft.com/office/drawing/2014/main" id="{A5377F3B-4EA2-0E71-92EE-0BCCBDCF0BC1}"/>
              </a:ext>
            </a:extLst>
          </p:cNvPr>
          <p:cNvSpPr txBox="1"/>
          <p:nvPr/>
        </p:nvSpPr>
        <p:spPr>
          <a:xfrm>
            <a:off x="436206" y="3644406"/>
            <a:ext cx="10853835" cy="646331"/>
          </a:xfrm>
          <a:prstGeom prst="rect">
            <a:avLst/>
          </a:prstGeom>
          <a:noFill/>
        </p:spPr>
        <p:txBody>
          <a:bodyPr wrap="square">
            <a:spAutoFit/>
          </a:bodyPr>
          <a:lstStyle/>
          <a:p>
            <a:r>
              <a:rPr lang="es-MX" dirty="0">
                <a:latin typeface="Montserrat" panose="00000500000000000000" pitchFamily="2" charset="0"/>
              </a:rPr>
              <a:t>Este ejemplo demuestra que las expresiones regulares pueden modelar propiedades aritméticas simples dentro de cadenas.</a:t>
            </a:r>
          </a:p>
        </p:txBody>
      </p:sp>
    </p:spTree>
    <p:extLst>
      <p:ext uri="{BB962C8B-B14F-4D97-AF65-F5344CB8AC3E}">
        <p14:creationId xmlns:p14="http://schemas.microsoft.com/office/powerpoint/2010/main" val="3740674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DDFEF39-7124-7640-2816-3F3A9EFF4C4B}"/>
              </a:ext>
            </a:extLst>
          </p:cNvPr>
          <p:cNvSpPr txBox="1"/>
          <p:nvPr/>
        </p:nvSpPr>
        <p:spPr>
          <a:xfrm>
            <a:off x="538842" y="628271"/>
            <a:ext cx="8549173" cy="1754326"/>
          </a:xfrm>
          <a:prstGeom prst="rect">
            <a:avLst/>
          </a:prstGeom>
          <a:noFill/>
        </p:spPr>
        <p:txBody>
          <a:bodyPr wrap="square">
            <a:spAutoFit/>
          </a:bodyPr>
          <a:lstStyle/>
          <a:p>
            <a:r>
              <a:rPr lang="es-MX" b="1" dirty="0">
                <a:latin typeface="Montserrat" panose="00000500000000000000" pitchFamily="2" charset="0"/>
              </a:rPr>
              <a:t>6. Validación de CURP (estructura básica)</a:t>
            </a:r>
          </a:p>
          <a:p>
            <a:r>
              <a:rPr lang="es-MX" b="1" dirty="0">
                <a:latin typeface="Montserrat" panose="00000500000000000000" pitchFamily="2" charset="0"/>
              </a:rPr>
              <a:t>Problema</a:t>
            </a:r>
          </a:p>
          <a:p>
            <a:r>
              <a:rPr lang="es-MX" dirty="0">
                <a:latin typeface="Montserrat" panose="00000500000000000000" pitchFamily="2" charset="0"/>
              </a:rPr>
              <a:t>Validar la estructura formal de una CURP (sin validar lógica interna).</a:t>
            </a:r>
          </a:p>
          <a:p>
            <a:endParaRPr lang="es-MX" b="1" dirty="0">
              <a:latin typeface="Montserrat" panose="00000500000000000000" pitchFamily="2" charset="0"/>
            </a:endParaRPr>
          </a:p>
          <a:p>
            <a:r>
              <a:rPr lang="es-MX" b="1" dirty="0">
                <a:latin typeface="Montserrat" panose="00000500000000000000" pitchFamily="2" charset="0"/>
              </a:rPr>
              <a:t>Expresión Regular</a:t>
            </a:r>
          </a:p>
          <a:p>
            <a:r>
              <a:rPr lang="pl-PL" dirty="0">
                <a:latin typeface="Montserrat" panose="00000500000000000000" pitchFamily="2" charset="0"/>
              </a:rPr>
              <a:t>^[A-Z]{4}[0-9]{6}[A-Z]{6}[0-9]{2}$</a:t>
            </a:r>
            <a:endParaRPr lang="es-MX" dirty="0">
              <a:latin typeface="Montserrat" panose="00000500000000000000" pitchFamily="2" charset="0"/>
            </a:endParaRPr>
          </a:p>
        </p:txBody>
      </p:sp>
      <p:sp>
        <p:nvSpPr>
          <p:cNvPr id="5" name="CuadroTexto 4">
            <a:extLst>
              <a:ext uri="{FF2B5EF4-FFF2-40B4-BE49-F238E27FC236}">
                <a16:creationId xmlns:a16="http://schemas.microsoft.com/office/drawing/2014/main" id="{4774EE68-0602-70C1-0C1E-6A14B9564F06}"/>
              </a:ext>
            </a:extLst>
          </p:cNvPr>
          <p:cNvSpPr txBox="1"/>
          <p:nvPr/>
        </p:nvSpPr>
        <p:spPr>
          <a:xfrm>
            <a:off x="697464" y="2581289"/>
            <a:ext cx="10769858" cy="1754326"/>
          </a:xfrm>
          <a:prstGeom prst="rect">
            <a:avLst/>
          </a:prstGeom>
          <a:noFill/>
        </p:spPr>
        <p:txBody>
          <a:bodyPr wrap="square">
            <a:spAutoFit/>
          </a:bodyPr>
          <a:lstStyle/>
          <a:p>
            <a:r>
              <a:rPr lang="es-MX" b="1" dirty="0"/>
              <a:t>Interpretación</a:t>
            </a:r>
          </a:p>
          <a:p>
            <a:pPr>
              <a:buFont typeface="Arial" panose="020B0604020202020204" pitchFamily="34" charset="0"/>
              <a:buChar char="•"/>
            </a:pPr>
            <a:r>
              <a:rPr lang="es-MX" dirty="0"/>
              <a:t>4 letras</a:t>
            </a:r>
          </a:p>
          <a:p>
            <a:pPr>
              <a:buFont typeface="Arial" panose="020B0604020202020204" pitchFamily="34" charset="0"/>
              <a:buChar char="•"/>
            </a:pPr>
            <a:r>
              <a:rPr lang="es-MX" dirty="0"/>
              <a:t>6 números (fecha)</a:t>
            </a:r>
          </a:p>
          <a:p>
            <a:pPr>
              <a:buFont typeface="Arial" panose="020B0604020202020204" pitchFamily="34" charset="0"/>
              <a:buChar char="•"/>
            </a:pPr>
            <a:r>
              <a:rPr lang="es-MX" dirty="0"/>
              <a:t>6 letras</a:t>
            </a:r>
          </a:p>
          <a:p>
            <a:pPr>
              <a:buFont typeface="Arial" panose="020B0604020202020204" pitchFamily="34" charset="0"/>
              <a:buChar char="•"/>
            </a:pPr>
            <a:r>
              <a:rPr lang="es-MX" dirty="0"/>
              <a:t>2 números finales</a:t>
            </a:r>
          </a:p>
          <a:p>
            <a:r>
              <a:rPr lang="es-MX" dirty="0"/>
              <a:t>Aquí se observa claramente la aplicación práctica en sistemas gubernamentales o administrativos.</a:t>
            </a:r>
          </a:p>
        </p:txBody>
      </p:sp>
    </p:spTree>
    <p:extLst>
      <p:ext uri="{BB962C8B-B14F-4D97-AF65-F5344CB8AC3E}">
        <p14:creationId xmlns:p14="http://schemas.microsoft.com/office/powerpoint/2010/main" val="325922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1D67D3F-DD50-2AE9-3C8C-1A1886F5DE4C}"/>
              </a:ext>
            </a:extLst>
          </p:cNvPr>
          <p:cNvSpPr txBox="1"/>
          <p:nvPr/>
        </p:nvSpPr>
        <p:spPr>
          <a:xfrm>
            <a:off x="1817138" y="1518400"/>
            <a:ext cx="9808806" cy="2862322"/>
          </a:xfrm>
          <a:prstGeom prst="rect">
            <a:avLst/>
          </a:prstGeom>
          <a:noFill/>
        </p:spPr>
        <p:txBody>
          <a:bodyPr wrap="square">
            <a:spAutoFit/>
          </a:bodyPr>
          <a:lstStyle/>
          <a:p>
            <a:r>
              <a:rPr lang="es-MX" b="1" dirty="0">
                <a:latin typeface="Montserrat" panose="00000500000000000000" pitchFamily="2" charset="0"/>
              </a:rPr>
              <a:t>Reflexión técnica</a:t>
            </a:r>
          </a:p>
          <a:p>
            <a:r>
              <a:rPr lang="es-MX" dirty="0">
                <a:latin typeface="Montserrat" panose="00000500000000000000" pitchFamily="2" charset="0"/>
              </a:rPr>
              <a:t>En todos los casos anteriores se cumple lo siguiente:</a:t>
            </a:r>
          </a:p>
          <a:p>
            <a:endParaRPr lang="es-MX" dirty="0">
              <a:latin typeface="Montserrat" panose="00000500000000000000" pitchFamily="2" charset="0"/>
            </a:endParaRPr>
          </a:p>
          <a:p>
            <a:pPr>
              <a:buFont typeface="Arial" panose="020B0604020202020204" pitchFamily="34" charset="0"/>
              <a:buChar char="•"/>
            </a:pPr>
            <a:r>
              <a:rPr lang="es-MX" dirty="0">
                <a:latin typeface="Montserrat" panose="00000500000000000000" pitchFamily="2" charset="0"/>
              </a:rPr>
              <a:t>Se define un alfabeto.</a:t>
            </a:r>
          </a:p>
          <a:p>
            <a:pPr>
              <a:buFont typeface="Arial" panose="020B0604020202020204" pitchFamily="34" charset="0"/>
              <a:buChar char="•"/>
            </a:pPr>
            <a:r>
              <a:rPr lang="es-MX" dirty="0">
                <a:latin typeface="Montserrat" panose="00000500000000000000" pitchFamily="2" charset="0"/>
              </a:rPr>
              <a:t>Se establece una restricción formal.</a:t>
            </a:r>
          </a:p>
          <a:p>
            <a:pPr>
              <a:buFont typeface="Arial" panose="020B0604020202020204" pitchFamily="34" charset="0"/>
              <a:buChar char="•"/>
            </a:pPr>
            <a:r>
              <a:rPr lang="es-MX" dirty="0">
                <a:latin typeface="Montserrat" panose="00000500000000000000" pitchFamily="2" charset="0"/>
              </a:rPr>
              <a:t>Se construye una expresión regular.</a:t>
            </a:r>
          </a:p>
          <a:p>
            <a:pPr>
              <a:buFont typeface="Arial" panose="020B0604020202020204" pitchFamily="34" charset="0"/>
              <a:buChar char="•"/>
            </a:pPr>
            <a:r>
              <a:rPr lang="es-MX" dirty="0">
                <a:latin typeface="Montserrat" panose="00000500000000000000" pitchFamily="2" charset="0"/>
              </a:rPr>
              <a:t>Se valida contra ejemplos.</a:t>
            </a:r>
          </a:p>
          <a:p>
            <a:endParaRPr lang="es-MX" dirty="0">
              <a:latin typeface="Montserrat" panose="00000500000000000000" pitchFamily="2" charset="0"/>
            </a:endParaRPr>
          </a:p>
          <a:p>
            <a:r>
              <a:rPr lang="es-MX" dirty="0">
                <a:latin typeface="Montserrat" panose="00000500000000000000" pitchFamily="2" charset="0"/>
              </a:rPr>
              <a:t>Este procedimiento refleja el proceso formal estudiado en teoría de lenguajes formales: describir subconjuntos de Σ* mediante reglas algebraicas.</a:t>
            </a:r>
          </a:p>
        </p:txBody>
      </p:sp>
    </p:spTree>
    <p:extLst>
      <p:ext uri="{BB962C8B-B14F-4D97-AF65-F5344CB8AC3E}">
        <p14:creationId xmlns:p14="http://schemas.microsoft.com/office/powerpoint/2010/main" val="2314813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0C358B2-5B44-EDC6-998E-409CF9CBF62D}"/>
              </a:ext>
            </a:extLst>
          </p:cNvPr>
          <p:cNvSpPr txBox="1"/>
          <p:nvPr/>
        </p:nvSpPr>
        <p:spPr>
          <a:xfrm>
            <a:off x="376334" y="432072"/>
            <a:ext cx="11439331" cy="5078313"/>
          </a:xfrm>
          <a:prstGeom prst="rect">
            <a:avLst/>
          </a:prstGeom>
          <a:noFill/>
        </p:spPr>
        <p:txBody>
          <a:bodyPr wrap="square">
            <a:spAutoFit/>
          </a:bodyPr>
          <a:lstStyle/>
          <a:p>
            <a:r>
              <a:rPr lang="es-MX" b="1" dirty="0">
                <a:latin typeface="Montserrat" panose="00000500000000000000" pitchFamily="2" charset="0"/>
              </a:rPr>
              <a:t>Conclusión</a:t>
            </a:r>
          </a:p>
          <a:p>
            <a:pPr algn="just"/>
            <a:r>
              <a:rPr lang="es-MX" dirty="0">
                <a:latin typeface="Montserrat" panose="00000500000000000000" pitchFamily="2" charset="0"/>
              </a:rPr>
              <a:t>La aplicación práctica de las expresiones regulares demuestra que la teoría de lenguajes formales no es un simple ejercicio matemático, sino una herramienta fundamental en la ingeniería de software moderna. Cada validación presentada —correo electrónico, teléfono, contraseña, CURP o cadenas con restricciones formales— representa un problema real que puede modelarse formalmente como un lenguaje.</a:t>
            </a:r>
          </a:p>
          <a:p>
            <a:pPr algn="just"/>
            <a:endParaRPr lang="es-MX" dirty="0">
              <a:latin typeface="Montserrat" panose="00000500000000000000" pitchFamily="2" charset="0"/>
            </a:endParaRPr>
          </a:p>
          <a:p>
            <a:pPr algn="just"/>
            <a:r>
              <a:rPr lang="es-MX" dirty="0">
                <a:latin typeface="Montserrat" panose="00000500000000000000" pitchFamily="2" charset="0"/>
              </a:rPr>
              <a:t>A través de esta actividad comprendí que diseñar una expresión regular no es únicamente escribir un patrón, sino identificar correctamente el lenguaje que se desea describir. Esto implica definir restricciones, analizar el alfabeto, justificar cada operación y prever casos límite.</a:t>
            </a:r>
          </a:p>
          <a:p>
            <a:pPr algn="just"/>
            <a:r>
              <a:rPr lang="es-MX" dirty="0">
                <a:latin typeface="Montserrat" panose="00000500000000000000" pitchFamily="2" charset="0"/>
              </a:rPr>
              <a:t>Las expresiones regulares conectan directamente la teoría con la práctica: por un lado, están respaldadas por la equivalencia con los autómatas finitos; por otro, son utilizadas diariamente en validaciones, compiladores y sistemas informáticos reales.</a:t>
            </a:r>
          </a:p>
          <a:p>
            <a:pPr algn="just"/>
            <a:endParaRPr lang="es-MX" dirty="0">
              <a:latin typeface="Montserrat" panose="00000500000000000000" pitchFamily="2" charset="0"/>
            </a:endParaRPr>
          </a:p>
          <a:p>
            <a:pPr algn="just"/>
            <a:r>
              <a:rPr lang="es-MX" dirty="0">
                <a:latin typeface="Montserrat" panose="00000500000000000000" pitchFamily="2" charset="0"/>
              </a:rPr>
              <a:t>Dominar su construcción fortalece la capacidad de análisis formal y mejora la precisión en el desarrollo de software. En definitiva, esta actividad permitió consolidar la transición entre la definición matemática del lenguaje y su aplicación concreta en problemas del entorno profesional.</a:t>
            </a:r>
          </a:p>
        </p:txBody>
      </p:sp>
    </p:spTree>
    <p:extLst>
      <p:ext uri="{BB962C8B-B14F-4D97-AF65-F5344CB8AC3E}">
        <p14:creationId xmlns:p14="http://schemas.microsoft.com/office/powerpoint/2010/main" val="1501527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DF7AF6A-5EAD-D0D5-1C75-796AB76ECDD7}"/>
              </a:ext>
            </a:extLst>
          </p:cNvPr>
          <p:cNvSpPr txBox="1"/>
          <p:nvPr/>
        </p:nvSpPr>
        <p:spPr>
          <a:xfrm>
            <a:off x="529512" y="1247412"/>
            <a:ext cx="9808806" cy="369332"/>
          </a:xfrm>
          <a:prstGeom prst="rect">
            <a:avLst/>
          </a:prstGeom>
          <a:noFill/>
        </p:spPr>
        <p:txBody>
          <a:bodyPr wrap="square">
            <a:spAutoFit/>
          </a:bodyPr>
          <a:lstStyle/>
          <a:p>
            <a:r>
              <a:rPr lang="es-MX" b="1" dirty="0">
                <a:latin typeface="Montserrat" panose="00000500000000000000" pitchFamily="2" charset="0"/>
              </a:rPr>
              <a:t>Fuentes de </a:t>
            </a:r>
            <a:r>
              <a:rPr lang="es-MX" b="1" dirty="0" err="1">
                <a:latin typeface="Montserrat" panose="00000500000000000000" pitchFamily="2" charset="0"/>
              </a:rPr>
              <a:t>Informacion</a:t>
            </a:r>
            <a:endParaRPr lang="es-MX" dirty="0">
              <a:latin typeface="Montserrat" panose="00000500000000000000" pitchFamily="2" charset="0"/>
            </a:endParaRPr>
          </a:p>
        </p:txBody>
      </p:sp>
      <p:sp>
        <p:nvSpPr>
          <p:cNvPr id="4" name="CuadroTexto 3">
            <a:extLst>
              <a:ext uri="{FF2B5EF4-FFF2-40B4-BE49-F238E27FC236}">
                <a16:creationId xmlns:a16="http://schemas.microsoft.com/office/drawing/2014/main" id="{7B89E302-C5BF-0469-724B-07C26BE4939F}"/>
              </a:ext>
            </a:extLst>
          </p:cNvPr>
          <p:cNvSpPr txBox="1"/>
          <p:nvPr/>
        </p:nvSpPr>
        <p:spPr>
          <a:xfrm>
            <a:off x="678802" y="1616744"/>
            <a:ext cx="10126047" cy="3139321"/>
          </a:xfrm>
          <a:prstGeom prst="rect">
            <a:avLst/>
          </a:prstGeom>
          <a:noFill/>
        </p:spPr>
        <p:txBody>
          <a:bodyPr wrap="square">
            <a:spAutoFit/>
          </a:bodyPr>
          <a:lstStyle/>
          <a:p>
            <a:r>
              <a:rPr lang="es-MX" dirty="0">
                <a:latin typeface="Montserrat" panose="00000500000000000000" pitchFamily="2" charset="0"/>
              </a:rPr>
              <a:t>Aho, A. V., Lam, M. S., </a:t>
            </a:r>
            <a:r>
              <a:rPr lang="es-MX" dirty="0" err="1">
                <a:latin typeface="Montserrat" panose="00000500000000000000" pitchFamily="2" charset="0"/>
              </a:rPr>
              <a:t>Sethi</a:t>
            </a:r>
            <a:r>
              <a:rPr lang="es-MX" dirty="0">
                <a:latin typeface="Montserrat" panose="00000500000000000000" pitchFamily="2" charset="0"/>
              </a:rPr>
              <a:t>, R., &amp; Ullman, J. D. (2008). </a:t>
            </a:r>
            <a:r>
              <a:rPr lang="es-MX" i="1" dirty="0">
                <a:latin typeface="Montserrat" panose="00000500000000000000" pitchFamily="2" charset="0"/>
              </a:rPr>
              <a:t>Compiladores: principios, técnicas y herramientas</a:t>
            </a:r>
            <a:r>
              <a:rPr lang="es-MX" dirty="0">
                <a:latin typeface="Montserrat" panose="00000500000000000000" pitchFamily="2" charset="0"/>
              </a:rPr>
              <a:t> (2ª ed.). Pearson Educación.</a:t>
            </a:r>
          </a:p>
          <a:p>
            <a:endParaRPr lang="es-MX" dirty="0">
              <a:latin typeface="Montserrat" panose="00000500000000000000" pitchFamily="2" charset="0"/>
            </a:endParaRPr>
          </a:p>
          <a:p>
            <a:r>
              <a:rPr lang="es-MX" dirty="0" err="1">
                <a:latin typeface="Montserrat" panose="00000500000000000000" pitchFamily="2" charset="0"/>
              </a:rPr>
              <a:t>Hopcroft</a:t>
            </a:r>
            <a:r>
              <a:rPr lang="es-MX" dirty="0">
                <a:latin typeface="Montserrat" panose="00000500000000000000" pitchFamily="2" charset="0"/>
              </a:rPr>
              <a:t>, J. E., </a:t>
            </a:r>
            <a:r>
              <a:rPr lang="es-MX" dirty="0" err="1">
                <a:latin typeface="Montserrat" panose="00000500000000000000" pitchFamily="2" charset="0"/>
              </a:rPr>
              <a:t>Motwani</a:t>
            </a:r>
            <a:r>
              <a:rPr lang="es-MX" dirty="0">
                <a:latin typeface="Montserrat" panose="00000500000000000000" pitchFamily="2" charset="0"/>
              </a:rPr>
              <a:t>, R., &amp; Ullman, J. D. (2008). </a:t>
            </a:r>
            <a:r>
              <a:rPr lang="es-MX" i="1" dirty="0">
                <a:latin typeface="Montserrat" panose="00000500000000000000" pitchFamily="2" charset="0"/>
              </a:rPr>
              <a:t>Introducción a la teoría de autómatas, lenguajes y computación</a:t>
            </a:r>
            <a:r>
              <a:rPr lang="es-MX" dirty="0">
                <a:latin typeface="Montserrat" panose="00000500000000000000" pitchFamily="2" charset="0"/>
              </a:rPr>
              <a:t> (3ª ed.). Pearson Educación.</a:t>
            </a:r>
          </a:p>
          <a:p>
            <a:endParaRPr lang="es-MX" dirty="0">
              <a:latin typeface="Montserrat" panose="00000500000000000000" pitchFamily="2" charset="0"/>
            </a:endParaRPr>
          </a:p>
          <a:p>
            <a:r>
              <a:rPr lang="es-MX" dirty="0">
                <a:latin typeface="Montserrat" panose="00000500000000000000" pitchFamily="2" charset="0"/>
              </a:rPr>
              <a:t>Material de clase. (s.f.). </a:t>
            </a:r>
            <a:r>
              <a:rPr lang="es-MX" i="1" dirty="0">
                <a:latin typeface="Montserrat" panose="00000500000000000000" pitchFamily="2" charset="0"/>
              </a:rPr>
              <a:t>Procesadores de lenguajes – Tema 1. Introducción</a:t>
            </a:r>
            <a:r>
              <a:rPr lang="es-MX" dirty="0">
                <a:latin typeface="Montserrat" panose="00000500000000000000" pitchFamily="2" charset="0"/>
              </a:rPr>
              <a:t>. Departamento de Tecnologías de la Información.</a:t>
            </a:r>
          </a:p>
          <a:p>
            <a:endParaRPr lang="es-MX" dirty="0">
              <a:latin typeface="Montserrat" panose="00000500000000000000" pitchFamily="2" charset="0"/>
            </a:endParaRPr>
          </a:p>
          <a:p>
            <a:r>
              <a:rPr lang="es-MX" dirty="0">
                <a:latin typeface="Montserrat" panose="00000500000000000000" pitchFamily="2" charset="0"/>
              </a:rPr>
              <a:t>Material de clase. (s.f.). </a:t>
            </a:r>
            <a:r>
              <a:rPr lang="es-MX" i="1" dirty="0">
                <a:latin typeface="Montserrat" panose="00000500000000000000" pitchFamily="2" charset="0"/>
              </a:rPr>
              <a:t>Unidad I: Introducción a la teoría de lenguajes formales</a:t>
            </a:r>
            <a:r>
              <a:rPr lang="es-MX" dirty="0">
                <a:latin typeface="Montserrat" panose="00000500000000000000" pitchFamily="2" charset="0"/>
              </a:rPr>
              <a:t>. Tecnológico Nacional de México.</a:t>
            </a:r>
          </a:p>
        </p:txBody>
      </p:sp>
    </p:spTree>
    <p:extLst>
      <p:ext uri="{BB962C8B-B14F-4D97-AF65-F5344CB8AC3E}">
        <p14:creationId xmlns:p14="http://schemas.microsoft.com/office/powerpoint/2010/main" val="33224976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1098</Words>
  <Application>Microsoft Office PowerPoint</Application>
  <PresentationFormat>Panorámica</PresentationFormat>
  <Paragraphs>150</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Aptos</vt:lpstr>
      <vt:lpstr>Aptos Display</vt:lpstr>
      <vt:lpstr>Arial</vt:lpstr>
      <vt:lpstr>Montserrat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Amaury</dc:creator>
  <cp:lastModifiedBy>Amaury</cp:lastModifiedBy>
  <cp:revision>5</cp:revision>
  <dcterms:created xsi:type="dcterms:W3CDTF">2026-02-14T08:03:49Z</dcterms:created>
  <dcterms:modified xsi:type="dcterms:W3CDTF">2026-03-15T17:31:50Z</dcterms:modified>
</cp:coreProperties>
</file>