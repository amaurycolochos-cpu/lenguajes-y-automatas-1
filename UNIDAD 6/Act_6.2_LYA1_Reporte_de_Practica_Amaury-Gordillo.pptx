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7" r:id="rId6"/>
    <p:sldId id="274" r:id="rId7"/>
    <p:sldId id="268" r:id="rId8"/>
    <p:sldId id="269" r:id="rId9"/>
    <p:sldId id="273" r:id="rId10"/>
    <p:sldId id="266" r:id="rId11"/>
    <p:sldId id="265" r:id="rId12"/>
  </p:sldIdLst>
  <p:sldSz cx="18288000" cy="10287000"/>
  <p:notesSz cx="6858000" cy="9144000"/>
  <p:embeddedFontLst>
    <p:embeddedFont>
      <p:font typeface="Arimo" panose="020B0604020202020204" charset="0"/>
      <p:regular r:id="rId14"/>
    </p:embeddedFont>
    <p:embeddedFont>
      <p:font typeface="Arimo Bold" panose="020B0604020202020204" charset="0"/>
      <p:regular r:id="rId15"/>
    </p:embeddedFont>
    <p:embeddedFont>
      <p:font typeface="Cambria Math" panose="02040503050406030204" pitchFamily="18" charset="0"/>
      <p:regular r:id="rId16"/>
    </p:embeddedFont>
    <p:embeddedFont>
      <p:font typeface="Consolas" panose="020B0609020204030204" pitchFamily="49" charset="0"/>
      <p:regular r:id="rId17"/>
      <p:bold r:id="rId18"/>
      <p:italic r:id="rId19"/>
      <p:boldItalic r:id="rId20"/>
    </p:embeddedFont>
    <p:embeddedFont>
      <p:font typeface="Montserrat" panose="00000500000000000000" pitchFamily="2" charset="0"/>
      <p:regular r:id="rId21"/>
      <p:bold r:id="rId22"/>
      <p:italic r:id="rId23"/>
      <p:boldItalic r:id="rId24"/>
    </p:embeddedFont>
    <p:embeddedFont>
      <p:font typeface="Montserrat Bold" panose="00000800000000000000" pitchFamily="2" charset="0"/>
      <p:regular r:id="rId25"/>
      <p:bold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86275" autoAdjust="0"/>
  </p:normalViewPr>
  <p:slideViewPr>
    <p:cSldViewPr>
      <p:cViewPr>
        <p:scale>
          <a:sx n="50" d="100"/>
          <a:sy n="50" d="100"/>
        </p:scale>
        <p:origin x="946"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57713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72097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473051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61035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69457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45773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amaurycolochos-cpu/LENGUAJES-Y-AUTOMATAS-1/tree/main/UNIDAD%205/Reporte%20Act%205.2"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8763" y="241581"/>
            <a:ext cx="2193321" cy="1574239"/>
          </a:xfrm>
          <a:custGeom>
            <a:avLst/>
            <a:gdLst/>
            <a:ahLst/>
            <a:cxnLst/>
            <a:rect l="l" t="t" r="r" b="b"/>
            <a:pathLst>
              <a:path w="2193321" h="1574239">
                <a:moveTo>
                  <a:pt x="0" y="0"/>
                </a:moveTo>
                <a:lnTo>
                  <a:pt x="2193321" y="0"/>
                </a:lnTo>
                <a:lnTo>
                  <a:pt x="2193321" y="1574238"/>
                </a:lnTo>
                <a:lnTo>
                  <a:pt x="0" y="1574238"/>
                </a:lnTo>
                <a:lnTo>
                  <a:pt x="0" y="0"/>
                </a:lnTo>
                <a:close/>
              </a:path>
            </a:pathLst>
          </a:custGeom>
          <a:blipFill>
            <a:blip r:embed="rId3"/>
            <a:stretch>
              <a:fillRect/>
            </a:stretch>
          </a:blipFill>
        </p:spPr>
      </p:sp>
      <p:sp>
        <p:nvSpPr>
          <p:cNvPr id="3" name="Freeform 3"/>
          <p:cNvSpPr/>
          <p:nvPr/>
        </p:nvSpPr>
        <p:spPr>
          <a:xfrm>
            <a:off x="14576879" y="177283"/>
            <a:ext cx="3503050" cy="1538377"/>
          </a:xfrm>
          <a:custGeom>
            <a:avLst/>
            <a:gdLst/>
            <a:ahLst/>
            <a:cxnLst/>
            <a:rect l="l" t="t" r="r" b="b"/>
            <a:pathLst>
              <a:path w="3503050" h="1538377">
                <a:moveTo>
                  <a:pt x="0" y="0"/>
                </a:moveTo>
                <a:lnTo>
                  <a:pt x="3503050" y="0"/>
                </a:lnTo>
                <a:lnTo>
                  <a:pt x="3503050" y="1538377"/>
                </a:lnTo>
                <a:lnTo>
                  <a:pt x="0" y="1538377"/>
                </a:lnTo>
                <a:lnTo>
                  <a:pt x="0" y="0"/>
                </a:lnTo>
                <a:close/>
              </a:path>
            </a:pathLst>
          </a:custGeom>
          <a:blipFill>
            <a:blip r:embed="rId4"/>
            <a:stretch>
              <a:fillRect/>
            </a:stretch>
          </a:blipFill>
        </p:spPr>
      </p:sp>
      <p:sp>
        <p:nvSpPr>
          <p:cNvPr id="5" name="TextBox 5"/>
          <p:cNvSpPr txBox="1"/>
          <p:nvPr/>
        </p:nvSpPr>
        <p:spPr>
          <a:xfrm>
            <a:off x="5036284" y="917896"/>
            <a:ext cx="8215432" cy="849314"/>
          </a:xfrm>
          <a:prstGeom prst="rect">
            <a:avLst/>
          </a:prstGeom>
        </p:spPr>
        <p:txBody>
          <a:bodyPr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TECNOLÓGICO NACIONAL DE MÉXICO</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UNIDAD ACADÉMICA VENUSTIANO CARRANZA</a:t>
            </a:r>
          </a:p>
        </p:txBody>
      </p:sp>
      <p:sp>
        <p:nvSpPr>
          <p:cNvPr id="6" name="TextBox 6"/>
          <p:cNvSpPr txBox="1"/>
          <p:nvPr/>
        </p:nvSpPr>
        <p:spPr>
          <a:xfrm>
            <a:off x="1866900" y="2164845"/>
            <a:ext cx="14249400" cy="849400"/>
          </a:xfrm>
          <a:prstGeom prst="rect">
            <a:avLst/>
          </a:prstGeom>
        </p:spPr>
        <p:txBody>
          <a:bodyPr wrap="square" lIns="0" tIns="0" rIns="0" bIns="0" rtlCol="0" anchor="t">
            <a:spAutoFit/>
          </a:bodyPr>
          <a:lstStyle/>
          <a:p>
            <a:pPr algn="ctr">
              <a:lnSpc>
                <a:spcPts val="3436"/>
              </a:lnSpc>
              <a:spcBef>
                <a:spcPct val="0"/>
              </a:spcBef>
            </a:pPr>
            <a:r>
              <a:rPr lang="en-US" sz="2625" b="1" dirty="0">
                <a:solidFill>
                  <a:srgbClr val="000000"/>
                </a:solidFill>
                <a:latin typeface="Montserrat Bold"/>
                <a:ea typeface="Montserrat Bold"/>
                <a:cs typeface="Montserrat Bold"/>
                <a:sym typeface="Montserrat Bold"/>
              </a:rPr>
              <a:t>“INGENIERÍA EN SISTEMAS COMPUTACIONALES”</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LENGUAJES Y AUTOMATAS 1</a:t>
            </a:r>
          </a:p>
        </p:txBody>
      </p:sp>
      <p:sp>
        <p:nvSpPr>
          <p:cNvPr id="7" name="TextBox 7"/>
          <p:cNvSpPr txBox="1"/>
          <p:nvPr/>
        </p:nvSpPr>
        <p:spPr>
          <a:xfrm>
            <a:off x="3429000" y="3439183"/>
            <a:ext cx="11147879" cy="849314"/>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ACTIVIDAD </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ACTIVIDAD 6.2 </a:t>
            </a:r>
            <a:r>
              <a:rPr lang="en-US" sz="2625" b="1" dirty="0" err="1">
                <a:solidFill>
                  <a:srgbClr val="000000"/>
                </a:solidFill>
                <a:latin typeface="Montserrat Bold"/>
                <a:ea typeface="Montserrat Bold"/>
                <a:cs typeface="Montserrat Bold"/>
                <a:sym typeface="Montserrat Bold"/>
              </a:rPr>
              <a:t>Reporte</a:t>
            </a:r>
            <a:r>
              <a:rPr lang="en-US" sz="2625" b="1" dirty="0">
                <a:solidFill>
                  <a:srgbClr val="000000"/>
                </a:solidFill>
                <a:latin typeface="Montserrat Bold"/>
                <a:ea typeface="Montserrat Bold"/>
                <a:cs typeface="Montserrat Bold"/>
                <a:sym typeface="Montserrat Bold"/>
              </a:rPr>
              <a:t> De </a:t>
            </a:r>
            <a:r>
              <a:rPr lang="en-US" sz="2625" b="1" dirty="0" err="1">
                <a:solidFill>
                  <a:srgbClr val="000000"/>
                </a:solidFill>
                <a:latin typeface="Montserrat Bold"/>
                <a:ea typeface="Montserrat Bold"/>
                <a:cs typeface="Montserrat Bold"/>
                <a:sym typeface="Montserrat Bold"/>
              </a:rPr>
              <a:t>Practica</a:t>
            </a:r>
            <a:endParaRPr lang="en-US" sz="2625" b="1" dirty="0">
              <a:solidFill>
                <a:srgbClr val="000000"/>
              </a:solidFill>
              <a:latin typeface="Montserrat Bold"/>
              <a:ea typeface="Montserrat Bold"/>
              <a:cs typeface="Montserrat Bold"/>
              <a:sym typeface="Montserrat Bold"/>
            </a:endParaRPr>
          </a:p>
        </p:txBody>
      </p:sp>
      <p:sp>
        <p:nvSpPr>
          <p:cNvPr id="8" name="TextBox 8"/>
          <p:cNvSpPr txBox="1"/>
          <p:nvPr/>
        </p:nvSpPr>
        <p:spPr>
          <a:xfrm>
            <a:off x="7162800" y="4698072"/>
            <a:ext cx="3657600" cy="410177"/>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RPESENTA</a:t>
            </a:r>
          </a:p>
        </p:txBody>
      </p:sp>
      <p:sp>
        <p:nvSpPr>
          <p:cNvPr id="9" name="TextBox 9"/>
          <p:cNvSpPr txBox="1"/>
          <p:nvPr/>
        </p:nvSpPr>
        <p:spPr>
          <a:xfrm>
            <a:off x="4800601" y="7223786"/>
            <a:ext cx="9144000" cy="849314"/>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DOCENTE</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ING. FRANCISCO JAVIER MINGO VELAZQUEZ</a:t>
            </a:r>
          </a:p>
        </p:txBody>
      </p:sp>
      <p:sp>
        <p:nvSpPr>
          <p:cNvPr id="10" name="TextBox 10"/>
          <p:cNvSpPr txBox="1"/>
          <p:nvPr/>
        </p:nvSpPr>
        <p:spPr>
          <a:xfrm>
            <a:off x="3657600" y="9134836"/>
            <a:ext cx="12512454" cy="410177"/>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13 DE MARZO DE 2026 VENUSTIANO CARRANZA, CHIAPAS</a:t>
            </a:r>
          </a:p>
        </p:txBody>
      </p:sp>
      <p:graphicFrame>
        <p:nvGraphicFramePr>
          <p:cNvPr id="11" name="Tabla 10">
            <a:extLst>
              <a:ext uri="{FF2B5EF4-FFF2-40B4-BE49-F238E27FC236}">
                <a16:creationId xmlns:a16="http://schemas.microsoft.com/office/drawing/2014/main" id="{323F15EB-498F-21AC-540F-B4832C9E5A89}"/>
              </a:ext>
            </a:extLst>
          </p:cNvPr>
          <p:cNvGraphicFramePr>
            <a:graphicFrameLocks noGrp="1"/>
          </p:cNvGraphicFramePr>
          <p:nvPr>
            <p:extLst>
              <p:ext uri="{D42A27DB-BD31-4B8C-83A1-F6EECF244321}">
                <p14:modId xmlns:p14="http://schemas.microsoft.com/office/powerpoint/2010/main" val="342745090"/>
              </p:ext>
            </p:extLst>
          </p:nvPr>
        </p:nvGraphicFramePr>
        <p:xfrm>
          <a:off x="5486400" y="5705826"/>
          <a:ext cx="8229600" cy="1005840"/>
        </p:xfrm>
        <a:graphic>
          <a:graphicData uri="http://schemas.openxmlformats.org/drawingml/2006/table">
            <a:tbl>
              <a:tblPr/>
              <a:tblGrid>
                <a:gridCol w="4114800">
                  <a:extLst>
                    <a:ext uri="{9D8B030D-6E8A-4147-A177-3AD203B41FA5}">
                      <a16:colId xmlns:a16="http://schemas.microsoft.com/office/drawing/2014/main" val="3099188907"/>
                    </a:ext>
                  </a:extLst>
                </a:gridCol>
                <a:gridCol w="4114800">
                  <a:extLst>
                    <a:ext uri="{9D8B030D-6E8A-4147-A177-3AD203B41FA5}">
                      <a16:colId xmlns:a16="http://schemas.microsoft.com/office/drawing/2014/main" val="3475046580"/>
                    </a:ext>
                  </a:extLst>
                </a:gridCol>
              </a:tblGrid>
              <a:tr h="502920">
                <a:tc>
                  <a:txBody>
                    <a:bodyPr/>
                    <a:lstStyle/>
                    <a:p>
                      <a:r>
                        <a:rPr lang="es-MX" b="1">
                          <a:effectLst/>
                        </a:rPr>
                        <a:t>NOMBRE DEL ALUMNO</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s-MX" b="1">
                          <a:effectLst/>
                        </a:rPr>
                        <a:t>MATRICULA</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79815266"/>
                  </a:ext>
                </a:extLst>
              </a:tr>
              <a:tr h="502920">
                <a:tc>
                  <a:txBody>
                    <a:bodyPr/>
                    <a:lstStyle/>
                    <a:p>
                      <a:r>
                        <a:rPr lang="es-MX" b="1">
                          <a:effectLst/>
                        </a:rPr>
                        <a:t>Amaury Jahaziel Gordillo Hernandez</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s-MX" b="1" dirty="0">
                          <a:effectLst/>
                        </a:rPr>
                        <a:t>231260074</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18113360"/>
                  </a:ext>
                </a:extLst>
              </a:tr>
            </a:tbl>
          </a:graphicData>
        </a:graphic>
      </p:graphicFrame>
      <p:sp>
        <p:nvSpPr>
          <p:cNvPr id="12" name="Rectangle 1">
            <a:extLst>
              <a:ext uri="{FF2B5EF4-FFF2-40B4-BE49-F238E27FC236}">
                <a16:creationId xmlns:a16="http://schemas.microsoft.com/office/drawing/2014/main" id="{04D78428-F81B-1E82-50A7-BDB098FC5F69}"/>
              </a:ext>
            </a:extLst>
          </p:cNvPr>
          <p:cNvSpPr>
            <a:spLocks noChangeArrowheads="1"/>
          </p:cNvSpPr>
          <p:nvPr/>
        </p:nvSpPr>
        <p:spPr bwMode="auto">
          <a:xfrm>
            <a:off x="5486400" y="5706303"/>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47800" y="647700"/>
            <a:ext cx="5556544" cy="1161351"/>
          </a:xfrm>
          <a:prstGeom prst="rect">
            <a:avLst/>
          </a:prstGeom>
        </p:spPr>
        <p:txBody>
          <a:bodyPr lIns="0" tIns="0" rIns="0" bIns="0" rtlCol="0" anchor="t">
            <a:spAutoFit/>
          </a:bodyPr>
          <a:lstStyle/>
          <a:p>
            <a:pPr algn="l">
              <a:lnSpc>
                <a:spcPts val="9032"/>
              </a:lnSpc>
            </a:pPr>
            <a:r>
              <a:rPr lang="en-US" sz="7225" b="1" dirty="0" err="1">
                <a:solidFill>
                  <a:srgbClr val="505468"/>
                </a:solidFill>
                <a:latin typeface="Arimo Bold"/>
                <a:ea typeface="Arimo Bold"/>
                <a:cs typeface="Arimo Bold"/>
                <a:sym typeface="Arimo Bold"/>
              </a:rPr>
              <a:t>Introduccion</a:t>
            </a:r>
            <a:endParaRPr lang="en-US" sz="7225" b="1" dirty="0">
              <a:solidFill>
                <a:srgbClr val="505468"/>
              </a:solidFill>
              <a:latin typeface="Arimo Bold"/>
              <a:ea typeface="Arimo Bold"/>
              <a:cs typeface="Arimo Bold"/>
              <a:sym typeface="Arimo Bold"/>
            </a:endParaRPr>
          </a:p>
        </p:txBody>
      </p:sp>
      <mc:AlternateContent xmlns:mc="http://schemas.openxmlformats.org/markup-compatibility/2006">
        <mc:Choice xmlns:a14="http://schemas.microsoft.com/office/drawing/2010/main" Requires="a14">
          <p:sp>
            <p:nvSpPr>
              <p:cNvPr id="3" name="TextBox 3"/>
              <p:cNvSpPr txBox="1"/>
              <p:nvPr/>
            </p:nvSpPr>
            <p:spPr>
              <a:xfrm>
                <a:off x="1447800" y="2019300"/>
                <a:ext cx="15150560" cy="7459863"/>
              </a:xfrm>
              <a:prstGeom prst="rect">
                <a:avLst/>
              </a:prstGeom>
            </p:spPr>
            <p:txBody>
              <a:bodyPr wrap="square" lIns="0" tIns="0" rIns="0" bIns="0" rtlCol="0" anchor="t">
                <a:spAutoFit/>
              </a:bodyPr>
              <a:lstStyle/>
              <a:p>
                <a:pPr algn="just">
                  <a:lnSpc>
                    <a:spcPts val="3871"/>
                  </a:lnSpc>
                </a:pPr>
                <a:r>
                  <a:rPr lang="es-MX" sz="2838" dirty="0">
                    <a:solidFill>
                      <a:srgbClr val="5B5F71"/>
                    </a:solidFill>
                    <a:latin typeface="Arimo"/>
                    <a:ea typeface="Arimo"/>
                    <a:cs typeface="Arimo"/>
                    <a:sym typeface="Arimo"/>
                  </a:rPr>
                  <a:t>La teoría de autómatas, las máquinas de Turing representan uno de los modelos más importantes para entender cómo funcionan los procesos de cómputo. A diferencia de los autómatas finitos, este tipo de máquina tiene la capacidad de manipular símbolos en una cinta infinita, lo que le permite resolver problemas más complejos.</a:t>
                </a:r>
              </a:p>
              <a:p>
                <a:pPr algn="just">
                  <a:lnSpc>
                    <a:spcPts val="3871"/>
                  </a:lnSpc>
                </a:pPr>
                <a:endParaRPr lang="es-MX" sz="2838" dirty="0">
                  <a:solidFill>
                    <a:srgbClr val="5B5F71"/>
                  </a:solidFill>
                  <a:latin typeface="Arimo"/>
                  <a:ea typeface="Arimo"/>
                  <a:cs typeface="Arimo"/>
                  <a:sym typeface="Arimo"/>
                </a:endParaRPr>
              </a:p>
              <a:p>
                <a:pPr algn="just">
                  <a:lnSpc>
                    <a:spcPts val="3871"/>
                  </a:lnSpc>
                </a:pPr>
                <a:r>
                  <a:rPr lang="es-MX" sz="2838" dirty="0">
                    <a:solidFill>
                      <a:srgbClr val="5B5F71"/>
                    </a:solidFill>
                    <a:latin typeface="Arimo"/>
                    <a:ea typeface="Arimo"/>
                    <a:cs typeface="Arimo"/>
                    <a:sym typeface="Arimo"/>
                  </a:rPr>
                  <a:t>En esta práctica se trabajó con la simulación de una máquina de Turing utilizando Java, específicamente para reconocer cadenas que pertenecen al lenguaje </a:t>
                </a:r>
                <a14:m>
                  <m:oMath xmlns:m="http://schemas.openxmlformats.org/officeDocument/2006/math">
                    <m:sSup>
                      <m:sSupPr>
                        <m:ctrlPr>
                          <a:rPr lang="es-MX" sz="2838" i="1" dirty="0" smtClean="0">
                            <a:solidFill>
                              <a:srgbClr val="5B5F71"/>
                            </a:solidFill>
                            <a:latin typeface="Cambria Math" panose="02040503050406030204" pitchFamily="18" charset="0"/>
                            <a:ea typeface="Arimo"/>
                            <a:cs typeface="Arimo"/>
                            <a:sym typeface="Arimo"/>
                          </a:rPr>
                        </m:ctrlPr>
                      </m:sSupPr>
                      <m:e>
                        <m:r>
                          <a:rPr lang="es-MX" sz="2838" b="0" i="1" dirty="0" smtClean="0">
                            <a:solidFill>
                              <a:srgbClr val="5B5F71"/>
                            </a:solidFill>
                            <a:latin typeface="Cambria Math" panose="02040503050406030204" pitchFamily="18" charset="0"/>
                            <a:ea typeface="Arimo"/>
                            <a:cs typeface="Arimo"/>
                            <a:sym typeface="Arimo"/>
                          </a:rPr>
                          <m:t>𝑎</m:t>
                        </m:r>
                      </m:e>
                      <m:sup>
                        <m:r>
                          <a:rPr lang="es-MX" sz="2838" b="0" i="1" dirty="0" smtClean="0">
                            <a:solidFill>
                              <a:srgbClr val="5B5F71"/>
                            </a:solidFill>
                            <a:latin typeface="Cambria Math" panose="02040503050406030204" pitchFamily="18" charset="0"/>
                            <a:ea typeface="Arimo"/>
                            <a:cs typeface="Arimo"/>
                            <a:sym typeface="Arimo"/>
                          </a:rPr>
                          <m:t>𝑛</m:t>
                        </m:r>
                      </m:sup>
                    </m:sSup>
                    <m:sSup>
                      <m:sSupPr>
                        <m:ctrlPr>
                          <a:rPr lang="es-MX" sz="2838" i="1" dirty="0">
                            <a:solidFill>
                              <a:srgbClr val="5B5F71"/>
                            </a:solidFill>
                            <a:latin typeface="Cambria Math" panose="02040503050406030204" pitchFamily="18" charset="0"/>
                            <a:ea typeface="Arimo"/>
                            <a:cs typeface="Arimo"/>
                            <a:sym typeface="Arimo"/>
                          </a:rPr>
                        </m:ctrlPr>
                      </m:sSupPr>
                      <m:e>
                        <m:r>
                          <a:rPr lang="es-MX" sz="2838" b="0" i="1" dirty="0" smtClean="0">
                            <a:solidFill>
                              <a:srgbClr val="5B5F71"/>
                            </a:solidFill>
                            <a:latin typeface="Cambria Math" panose="02040503050406030204" pitchFamily="18" charset="0"/>
                            <a:ea typeface="Arimo"/>
                            <a:cs typeface="Arimo"/>
                            <a:sym typeface="Arimo"/>
                          </a:rPr>
                          <m:t>𝑏</m:t>
                        </m:r>
                      </m:e>
                      <m:sup>
                        <m:r>
                          <a:rPr lang="es-MX" sz="2838" i="1" dirty="0">
                            <a:solidFill>
                              <a:srgbClr val="5B5F71"/>
                            </a:solidFill>
                            <a:latin typeface="Cambria Math" panose="02040503050406030204" pitchFamily="18" charset="0"/>
                            <a:ea typeface="Arimo"/>
                            <a:cs typeface="Arimo"/>
                            <a:sym typeface="Arimo"/>
                          </a:rPr>
                          <m:t>𝑛</m:t>
                        </m:r>
                      </m:sup>
                    </m:sSup>
                  </m:oMath>
                </a14:m>
                <a:r>
                  <a:rPr lang="es-MX" sz="2838" dirty="0">
                    <a:solidFill>
                      <a:srgbClr val="5B5F71"/>
                    </a:solidFill>
                    <a:latin typeface="Arimo"/>
                    <a:ea typeface="Arimo"/>
                    <a:cs typeface="Arimo"/>
                    <a:sym typeface="Arimo"/>
                  </a:rPr>
                  <a:t>, es decir, cadenas que tienen la misma cantidad de letras “a” seguidas por la misma cantidad de letras “b”. </a:t>
                </a:r>
              </a:p>
              <a:p>
                <a:pPr algn="just">
                  <a:lnSpc>
                    <a:spcPts val="3871"/>
                  </a:lnSpc>
                </a:pPr>
                <a:endParaRPr lang="es-MX" sz="2838" dirty="0">
                  <a:solidFill>
                    <a:srgbClr val="5B5F71"/>
                  </a:solidFill>
                  <a:latin typeface="Arimo"/>
                  <a:ea typeface="Arimo"/>
                  <a:cs typeface="Arimo"/>
                  <a:sym typeface="Arimo"/>
                </a:endParaRPr>
              </a:p>
              <a:p>
                <a:pPr algn="just">
                  <a:lnSpc>
                    <a:spcPts val="3871"/>
                  </a:lnSpc>
                </a:pPr>
                <a:r>
                  <a:rPr lang="es-MX" sz="2838" dirty="0">
                    <a:solidFill>
                      <a:srgbClr val="5B5F71"/>
                    </a:solidFill>
                    <a:latin typeface="Arimo"/>
                    <a:ea typeface="Arimo"/>
                    <a:cs typeface="Arimo"/>
                    <a:sym typeface="Arimo"/>
                  </a:rPr>
                  <a:t>Por ejemplo, cadenas como </a:t>
                </a:r>
                <a:r>
                  <a:rPr lang="es-MX" sz="2838" b="1" dirty="0" err="1">
                    <a:solidFill>
                      <a:srgbClr val="5B5F71"/>
                    </a:solidFill>
                    <a:latin typeface="Arimo"/>
                    <a:ea typeface="Arimo"/>
                    <a:cs typeface="Arimo"/>
                    <a:sym typeface="Arimo"/>
                  </a:rPr>
                  <a:t>aabb</a:t>
                </a:r>
                <a:r>
                  <a:rPr lang="es-MX" sz="2838" dirty="0">
                    <a:solidFill>
                      <a:srgbClr val="5B5F71"/>
                    </a:solidFill>
                    <a:latin typeface="Arimo"/>
                    <a:ea typeface="Arimo"/>
                    <a:cs typeface="Arimo"/>
                    <a:sym typeface="Arimo"/>
                  </a:rPr>
                  <a:t> o </a:t>
                </a:r>
                <a:r>
                  <a:rPr lang="es-MX" sz="2838" b="1" dirty="0" err="1">
                    <a:solidFill>
                      <a:srgbClr val="5B5F71"/>
                    </a:solidFill>
                    <a:latin typeface="Arimo"/>
                    <a:ea typeface="Arimo"/>
                    <a:cs typeface="Arimo"/>
                    <a:sym typeface="Arimo"/>
                  </a:rPr>
                  <a:t>aaabbb</a:t>
                </a:r>
                <a:r>
                  <a:rPr lang="es-MX" sz="2838" dirty="0">
                    <a:solidFill>
                      <a:srgbClr val="5B5F71"/>
                    </a:solidFill>
                    <a:latin typeface="Arimo"/>
                    <a:ea typeface="Arimo"/>
                    <a:cs typeface="Arimo"/>
                    <a:sym typeface="Arimo"/>
                  </a:rPr>
                  <a:t> son válidas, mientras que otras como </a:t>
                </a:r>
                <a:r>
                  <a:rPr lang="es-MX" sz="2838" dirty="0" err="1">
                    <a:solidFill>
                      <a:srgbClr val="5B5F71"/>
                    </a:solidFill>
                    <a:latin typeface="Arimo"/>
                    <a:ea typeface="Arimo"/>
                    <a:cs typeface="Arimo"/>
                    <a:sym typeface="Arimo"/>
                  </a:rPr>
                  <a:t>abba</a:t>
                </a:r>
                <a:r>
                  <a:rPr lang="es-MX" sz="2838" dirty="0">
                    <a:solidFill>
                      <a:srgbClr val="5B5F71"/>
                    </a:solidFill>
                    <a:latin typeface="Arimo"/>
                    <a:ea typeface="Arimo"/>
                    <a:cs typeface="Arimo"/>
                    <a:sym typeface="Arimo"/>
                  </a:rPr>
                  <a:t> no cumplen con la condición.</a:t>
                </a:r>
              </a:p>
              <a:p>
                <a:pPr algn="just">
                  <a:lnSpc>
                    <a:spcPts val="3871"/>
                  </a:lnSpc>
                </a:pPr>
                <a:endParaRPr lang="es-MX" sz="2838" dirty="0">
                  <a:solidFill>
                    <a:srgbClr val="5B5F71"/>
                  </a:solidFill>
                  <a:latin typeface="Arimo"/>
                  <a:ea typeface="Arimo"/>
                  <a:cs typeface="Arimo"/>
                  <a:sym typeface="Arimo"/>
                </a:endParaRPr>
              </a:p>
              <a:p>
                <a:pPr algn="just">
                  <a:lnSpc>
                    <a:spcPts val="3871"/>
                  </a:lnSpc>
                </a:pPr>
                <a:r>
                  <a:rPr lang="es-MX" sz="2838" dirty="0">
                    <a:solidFill>
                      <a:srgbClr val="5B5F71"/>
                    </a:solidFill>
                    <a:latin typeface="Arimo"/>
                    <a:ea typeface="Arimo"/>
                    <a:cs typeface="Arimo"/>
                    <a:sym typeface="Arimo"/>
                  </a:rPr>
                  <a:t>El objetivo principal fue llevar la teoría a la práctica, entendiendo no solo cómo funciona este modelo de manera conceptual, sino también cómo se puede implementar en un entorno real de programación.</a:t>
                </a:r>
              </a:p>
            </p:txBody>
          </p:sp>
        </mc:Choice>
        <mc:Fallback>
          <p:sp>
            <p:nvSpPr>
              <p:cNvPr id="3" name="TextBox 3"/>
              <p:cNvSpPr txBox="1">
                <a:spLocks noRot="1" noChangeAspect="1" noMove="1" noResize="1" noEditPoints="1" noAdjustHandles="1" noChangeArrowheads="1" noChangeShapeType="1" noTextEdit="1"/>
              </p:cNvSpPr>
              <p:nvPr/>
            </p:nvSpPr>
            <p:spPr>
              <a:xfrm>
                <a:off x="1447800" y="2019300"/>
                <a:ext cx="15150560" cy="7459863"/>
              </a:xfrm>
              <a:prstGeom prst="rect">
                <a:avLst/>
              </a:prstGeom>
              <a:blipFill>
                <a:blip r:embed="rId3"/>
                <a:stretch>
                  <a:fillRect l="-1449" t="-1144" r="-1408" b="-1961"/>
                </a:stretch>
              </a:blipFill>
            </p:spPr>
            <p:txBody>
              <a:bodyPr/>
              <a:lstStyle/>
              <a:p>
                <a:r>
                  <a:rPr lang="es-MX">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46770" y="981075"/>
            <a:ext cx="9076140" cy="709890"/>
          </a:xfrm>
          <a:prstGeom prst="rect">
            <a:avLst/>
          </a:prstGeom>
        </p:spPr>
        <p:txBody>
          <a:bodyPr lIns="0" tIns="0" rIns="0" bIns="0" rtlCol="0" anchor="t">
            <a:spAutoFit/>
          </a:bodyPr>
          <a:lstStyle/>
          <a:p>
            <a:pPr algn="l">
              <a:lnSpc>
                <a:spcPts val="5522"/>
              </a:lnSpc>
            </a:pPr>
            <a:r>
              <a:rPr lang="en-US" sz="4403" b="1">
                <a:solidFill>
                  <a:srgbClr val="505468"/>
                </a:solidFill>
                <a:latin typeface="Arimo Bold"/>
                <a:ea typeface="Arimo Bold"/>
                <a:cs typeface="Arimo Bold"/>
                <a:sym typeface="Arimo Bold"/>
              </a:rPr>
              <a:t> Justificación</a:t>
            </a:r>
          </a:p>
        </p:txBody>
      </p:sp>
      <p:sp>
        <p:nvSpPr>
          <p:cNvPr id="3" name="TextBox 3"/>
          <p:cNvSpPr txBox="1"/>
          <p:nvPr/>
        </p:nvSpPr>
        <p:spPr>
          <a:xfrm>
            <a:off x="1346770" y="2737229"/>
            <a:ext cx="15912530" cy="5834931"/>
          </a:xfrm>
          <a:prstGeom prst="rect">
            <a:avLst/>
          </a:prstGeom>
        </p:spPr>
        <p:txBody>
          <a:bodyPr lIns="0" tIns="0" rIns="0" bIns="0" rtlCol="0" anchor="t">
            <a:spAutoFit/>
          </a:bodyPr>
          <a:lstStyle/>
          <a:p>
            <a:pPr algn="l">
              <a:lnSpc>
                <a:spcPts val="3524"/>
              </a:lnSpc>
            </a:pPr>
            <a:r>
              <a:rPr lang="es-MX" sz="3200" dirty="0">
                <a:solidFill>
                  <a:srgbClr val="5B5F71"/>
                </a:solidFill>
                <a:latin typeface="Arimo"/>
                <a:ea typeface="Arimo"/>
                <a:cs typeface="Arimo"/>
                <a:sym typeface="Arimo"/>
              </a:rPr>
              <a:t>Esta actividad se realizó con la finalidad de reforzar los conocimientos adquiridos en clase sobre las máquinas de Turing, pero ahora aplicándolos de forma práctica mediante programación.</a:t>
            </a:r>
          </a:p>
          <a:p>
            <a:pPr algn="l">
              <a:lnSpc>
                <a:spcPts val="3524"/>
              </a:lnSpc>
            </a:pPr>
            <a:endParaRPr lang="es-MX" sz="3200" dirty="0">
              <a:solidFill>
                <a:srgbClr val="5B5F71"/>
              </a:solidFill>
              <a:latin typeface="Arimo"/>
              <a:ea typeface="Arimo"/>
              <a:cs typeface="Arimo"/>
              <a:sym typeface="Arimo"/>
            </a:endParaRPr>
          </a:p>
          <a:p>
            <a:pPr algn="l">
              <a:lnSpc>
                <a:spcPts val="3524"/>
              </a:lnSpc>
            </a:pPr>
            <a:r>
              <a:rPr lang="es-MX" sz="3200" dirty="0">
                <a:solidFill>
                  <a:srgbClr val="5B5F71"/>
                </a:solidFill>
                <a:latin typeface="Arimo"/>
                <a:ea typeface="Arimo"/>
                <a:cs typeface="Arimo"/>
                <a:sym typeface="Arimo"/>
              </a:rPr>
              <a:t>Muchas veces los conceptos de la teoría de la computación pueden parecer abstractos o difíciles de visualizar, por lo que implementar una simulación ayuda a entender realmente cómo se comporta una máquina de Turing paso a paso. </a:t>
            </a:r>
          </a:p>
          <a:p>
            <a:pPr algn="l">
              <a:lnSpc>
                <a:spcPts val="3524"/>
              </a:lnSpc>
            </a:pPr>
            <a:endParaRPr lang="es-MX" sz="3200" dirty="0">
              <a:solidFill>
                <a:srgbClr val="5B5F71"/>
              </a:solidFill>
              <a:latin typeface="Arimo"/>
              <a:ea typeface="Arimo"/>
              <a:cs typeface="Arimo"/>
              <a:sym typeface="Arimo"/>
            </a:endParaRPr>
          </a:p>
          <a:p>
            <a:pPr algn="l">
              <a:lnSpc>
                <a:spcPts val="3524"/>
              </a:lnSpc>
            </a:pPr>
            <a:r>
              <a:rPr lang="es-MX" sz="3200" dirty="0">
                <a:solidFill>
                  <a:srgbClr val="5B5F71"/>
                </a:solidFill>
                <a:latin typeface="Arimo"/>
                <a:ea typeface="Arimo"/>
                <a:cs typeface="Arimo"/>
                <a:sym typeface="Arimo"/>
              </a:rPr>
              <a:t>Además, permite desarrollar habilidades de lógica y análisis al momento de diseñar estados y transiciones.</a:t>
            </a:r>
          </a:p>
          <a:p>
            <a:pPr algn="l">
              <a:lnSpc>
                <a:spcPts val="3524"/>
              </a:lnSpc>
            </a:pPr>
            <a:endParaRPr lang="es-MX" sz="3200" dirty="0">
              <a:solidFill>
                <a:srgbClr val="5B5F71"/>
              </a:solidFill>
              <a:latin typeface="Arimo"/>
              <a:ea typeface="Arimo"/>
              <a:cs typeface="Arimo"/>
              <a:sym typeface="Arimo"/>
            </a:endParaRPr>
          </a:p>
          <a:p>
            <a:pPr algn="l">
              <a:lnSpc>
                <a:spcPts val="3524"/>
              </a:lnSpc>
            </a:pPr>
            <a:r>
              <a:rPr lang="es-MX" sz="3200" dirty="0">
                <a:solidFill>
                  <a:srgbClr val="5B5F71"/>
                </a:solidFill>
                <a:latin typeface="Arimo"/>
                <a:ea typeface="Arimo"/>
                <a:cs typeface="Arimo"/>
                <a:sym typeface="Arimo"/>
              </a:rPr>
              <a:t>En general, esta práctica sirve para conectar la parte teórica con la práctica, lo cual es fundamental en la formación como ingeniero en sistemas.</a:t>
            </a:r>
            <a:endParaRPr lang="en-US" sz="3200" dirty="0">
              <a:solidFill>
                <a:srgbClr val="5B5F71"/>
              </a:solidFill>
              <a:latin typeface="Arimo"/>
              <a:ea typeface="Arimo"/>
              <a:cs typeface="Arimo"/>
              <a:sym typeface="Arim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5"/>
          <p:cNvSpPr txBox="1"/>
          <p:nvPr/>
        </p:nvSpPr>
        <p:spPr>
          <a:xfrm>
            <a:off x="1054510" y="647700"/>
            <a:ext cx="9299077" cy="551433"/>
          </a:xfrm>
          <a:prstGeom prst="rect">
            <a:avLst/>
          </a:prstGeom>
        </p:spPr>
        <p:txBody>
          <a:bodyPr wrap="square" lIns="0" tIns="0" rIns="0" bIns="0" rtlCol="0" anchor="t">
            <a:spAutoFit/>
          </a:bodyPr>
          <a:lstStyle/>
          <a:p>
            <a:pPr algn="l">
              <a:lnSpc>
                <a:spcPts val="4312"/>
              </a:lnSpc>
            </a:pPr>
            <a:r>
              <a:rPr lang="en-US" sz="4400" b="1" dirty="0">
                <a:solidFill>
                  <a:srgbClr val="505468"/>
                </a:solidFill>
                <a:latin typeface="Arimo Bold"/>
                <a:ea typeface="Arimo Bold"/>
                <a:cs typeface="Arimo Bold"/>
                <a:sym typeface="Arimo Bold"/>
              </a:rPr>
              <a:t>Descripción del </a:t>
            </a:r>
            <a:r>
              <a:rPr lang="en-US" sz="4400" b="1" dirty="0" err="1">
                <a:solidFill>
                  <a:srgbClr val="505468"/>
                </a:solidFill>
                <a:latin typeface="Arimo Bold"/>
                <a:ea typeface="Arimo Bold"/>
                <a:cs typeface="Arimo Bold"/>
                <a:sym typeface="Arimo Bold"/>
              </a:rPr>
              <a:t>problema</a:t>
            </a:r>
            <a:endParaRPr lang="en-US" sz="4400" b="1" dirty="0">
              <a:solidFill>
                <a:srgbClr val="505468"/>
              </a:solidFill>
              <a:latin typeface="Arimo Bold"/>
              <a:ea typeface="Arimo Bold"/>
              <a:cs typeface="Arimo Bold"/>
              <a:sym typeface="Arimo Bold"/>
            </a:endParaRPr>
          </a:p>
        </p:txBody>
      </p:sp>
      <p:sp>
        <p:nvSpPr>
          <p:cNvPr id="46" name="TextBox 46"/>
          <p:cNvSpPr txBox="1"/>
          <p:nvPr/>
        </p:nvSpPr>
        <p:spPr>
          <a:xfrm>
            <a:off x="1066800" y="1409700"/>
            <a:ext cx="16306800" cy="7386638"/>
          </a:xfrm>
          <a:prstGeom prst="rect">
            <a:avLst/>
          </a:prstGeom>
        </p:spPr>
        <p:txBody>
          <a:bodyPr wrap="square" lIns="0" tIns="0" rIns="0" bIns="0" rtlCol="0" anchor="t">
            <a:spAutoFit/>
          </a:bodyPr>
          <a:lstStyle/>
          <a:p>
            <a:pPr algn="l"/>
            <a:r>
              <a:rPr lang="es-MX" sz="3200" dirty="0"/>
              <a:t>El problema consiste en diseñar una máquina de Turing capaz de validar cadenas formadas por una cantidad igual de símbolos “a” seguidos por la misma cantidad de símbolos “b”.</a:t>
            </a:r>
            <a:endParaRPr lang="es-MX" sz="3200" dirty="0">
              <a:solidFill>
                <a:srgbClr val="5B5F71"/>
              </a:solidFill>
              <a:latin typeface="Arimo"/>
              <a:ea typeface="Arimo"/>
              <a:cs typeface="Arimo"/>
              <a:sym typeface="Arimo"/>
            </a:endParaRPr>
          </a:p>
          <a:p>
            <a:pPr algn="l"/>
            <a:r>
              <a:rPr lang="en-US" sz="3200" dirty="0">
                <a:solidFill>
                  <a:srgbClr val="5B5F71"/>
                </a:solidFill>
                <a:latin typeface="Arimo"/>
                <a:ea typeface="Arimo"/>
                <a:cs typeface="Arimo"/>
                <a:sym typeface="Arimo"/>
              </a:rPr>
              <a:t> </a:t>
            </a:r>
          </a:p>
          <a:p>
            <a:r>
              <a:rPr lang="es-MX" sz="3200" dirty="0"/>
              <a:t>Ejemplos de cadenas:</a:t>
            </a:r>
          </a:p>
          <a:p>
            <a:pPr marL="457200" indent="-457200">
              <a:buFont typeface="Wingdings" panose="05000000000000000000" pitchFamily="2" charset="2"/>
              <a:buChar char="ü"/>
            </a:pPr>
            <a:r>
              <a:rPr lang="es-MX" sz="3200" b="1" dirty="0" err="1"/>
              <a:t>aabb</a:t>
            </a:r>
            <a:r>
              <a:rPr lang="es-MX" sz="3200" dirty="0"/>
              <a:t> → válida </a:t>
            </a:r>
          </a:p>
          <a:p>
            <a:pPr marL="457200" indent="-457200">
              <a:buFont typeface="Wingdings" panose="05000000000000000000" pitchFamily="2" charset="2"/>
              <a:buChar char="ü"/>
            </a:pPr>
            <a:r>
              <a:rPr lang="es-MX" sz="3200" dirty="0"/>
              <a:t> </a:t>
            </a:r>
            <a:r>
              <a:rPr lang="es-MX" sz="3200" b="1" dirty="0" err="1"/>
              <a:t>aaabbb</a:t>
            </a:r>
            <a:r>
              <a:rPr lang="es-MX" sz="3200" dirty="0"/>
              <a:t> → válida </a:t>
            </a:r>
          </a:p>
          <a:p>
            <a:pPr marL="457200" indent="-457200">
              <a:buFont typeface="Wingdings" panose="05000000000000000000" pitchFamily="2" charset="2"/>
              <a:buChar char="ü"/>
            </a:pPr>
            <a:r>
              <a:rPr lang="es-MX" sz="3200" dirty="0"/>
              <a:t> </a:t>
            </a:r>
            <a:r>
              <a:rPr lang="es-MX" sz="3200" b="1" dirty="0"/>
              <a:t>ab</a:t>
            </a:r>
            <a:r>
              <a:rPr lang="es-MX" sz="3200" dirty="0"/>
              <a:t> → válida </a:t>
            </a:r>
          </a:p>
          <a:p>
            <a:endParaRPr lang="es-MX" sz="3200" dirty="0"/>
          </a:p>
          <a:p>
            <a:pPr marL="457200" indent="-457200">
              <a:buFont typeface="Wingdings" panose="05000000000000000000" pitchFamily="2" charset="2"/>
              <a:buChar char="v"/>
            </a:pPr>
            <a:r>
              <a:rPr lang="es-MX" sz="3200" b="1" dirty="0" err="1"/>
              <a:t>abba</a:t>
            </a:r>
            <a:r>
              <a:rPr lang="es-MX" sz="3200" dirty="0"/>
              <a:t> → inválida </a:t>
            </a:r>
          </a:p>
          <a:p>
            <a:pPr marL="457200" indent="-457200">
              <a:buFont typeface="Wingdings" panose="05000000000000000000" pitchFamily="2" charset="2"/>
              <a:buChar char="v"/>
            </a:pPr>
            <a:r>
              <a:rPr lang="es-MX" sz="3200" b="1" dirty="0" err="1"/>
              <a:t>aaabb</a:t>
            </a:r>
            <a:r>
              <a:rPr lang="es-MX" sz="3200" dirty="0"/>
              <a:t> → inválida </a:t>
            </a:r>
          </a:p>
          <a:p>
            <a:endParaRPr lang="es-MX" sz="3200" dirty="0"/>
          </a:p>
          <a:p>
            <a:r>
              <a:rPr lang="es-MX" sz="3200" dirty="0"/>
              <a:t>La máquina debe recorrer la cadena, marcar los símbolos procesados y verificar que exista una correspondencia correcta entre las </a:t>
            </a:r>
            <a:r>
              <a:rPr lang="es-MX" sz="3200" i="1" dirty="0"/>
              <a:t>“a” y las “b”.</a:t>
            </a:r>
          </a:p>
          <a:p>
            <a:pPr algn="l"/>
            <a:endParaRPr lang="en-US" sz="3200" dirty="0">
              <a:solidFill>
                <a:srgbClr val="5B5F71"/>
              </a:solidFill>
              <a:latin typeface="Arimo"/>
              <a:ea typeface="Arimo"/>
              <a:cs typeface="Arimo"/>
              <a:sym typeface="Arimo"/>
            </a:endParaRPr>
          </a:p>
          <a:p>
            <a:pPr algn="l"/>
            <a:endParaRPr lang="en-US" sz="3200" dirty="0">
              <a:solidFill>
                <a:srgbClr val="5B5F71"/>
              </a:solidFill>
              <a:latin typeface="Arimo"/>
              <a:ea typeface="Arimo"/>
              <a:cs typeface="Arimo"/>
              <a:sym typeface="Arim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5"/>
          <p:cNvSpPr txBox="1"/>
          <p:nvPr/>
        </p:nvSpPr>
        <p:spPr>
          <a:xfrm>
            <a:off x="1143000" y="495300"/>
            <a:ext cx="9299077" cy="513923"/>
          </a:xfrm>
          <a:prstGeom prst="rect">
            <a:avLst/>
          </a:prstGeom>
        </p:spPr>
        <p:txBody>
          <a:bodyPr wrap="square" lIns="0" tIns="0" rIns="0" bIns="0" rtlCol="0" anchor="t">
            <a:spAutoFit/>
          </a:bodyPr>
          <a:lstStyle/>
          <a:p>
            <a:pPr algn="l">
              <a:lnSpc>
                <a:spcPts val="4312"/>
              </a:lnSpc>
            </a:pPr>
            <a:r>
              <a:rPr lang="en-US" sz="3437" b="1" dirty="0" err="1">
                <a:solidFill>
                  <a:srgbClr val="505468"/>
                </a:solidFill>
                <a:latin typeface="Arimo Bold"/>
                <a:ea typeface="Arimo Bold"/>
                <a:cs typeface="Arimo Bold"/>
                <a:sym typeface="Arimo Bold"/>
              </a:rPr>
              <a:t>Diseño</a:t>
            </a:r>
            <a:r>
              <a:rPr lang="en-US" sz="3437" b="1" dirty="0">
                <a:solidFill>
                  <a:srgbClr val="505468"/>
                </a:solidFill>
                <a:latin typeface="Arimo Bold"/>
                <a:ea typeface="Arimo Bold"/>
                <a:cs typeface="Arimo Bold"/>
                <a:sym typeface="Arimo Bold"/>
              </a:rPr>
              <a:t> de la </a:t>
            </a:r>
            <a:r>
              <a:rPr lang="en-US" sz="3437" b="1" dirty="0" err="1">
                <a:solidFill>
                  <a:srgbClr val="505468"/>
                </a:solidFill>
                <a:latin typeface="Arimo Bold"/>
                <a:ea typeface="Arimo Bold"/>
                <a:cs typeface="Arimo Bold"/>
                <a:sym typeface="Arimo Bold"/>
              </a:rPr>
              <a:t>máquina</a:t>
            </a:r>
            <a:endParaRPr lang="en-US" sz="3437" b="1" dirty="0">
              <a:solidFill>
                <a:srgbClr val="505468"/>
              </a:solidFill>
              <a:latin typeface="Arimo Bold"/>
              <a:ea typeface="Arimo Bold"/>
              <a:cs typeface="Arimo Bold"/>
              <a:sym typeface="Arimo Bold"/>
            </a:endParaRPr>
          </a:p>
        </p:txBody>
      </p:sp>
      <p:sp>
        <p:nvSpPr>
          <p:cNvPr id="46" name="TextBox 46"/>
          <p:cNvSpPr txBox="1"/>
          <p:nvPr/>
        </p:nvSpPr>
        <p:spPr>
          <a:xfrm>
            <a:off x="1828800" y="2552700"/>
            <a:ext cx="11889877" cy="961482"/>
          </a:xfrm>
          <a:prstGeom prst="rect">
            <a:avLst/>
          </a:prstGeom>
        </p:spPr>
        <p:txBody>
          <a:bodyPr wrap="square" lIns="0" tIns="0" rIns="0" bIns="0" rtlCol="0" anchor="t">
            <a:spAutoFit/>
          </a:bodyPr>
          <a:lstStyle/>
          <a:p>
            <a:pPr algn="l"/>
            <a:endParaRPr lang="es-MX" sz="2800" dirty="0">
              <a:solidFill>
                <a:srgbClr val="5B5F71"/>
              </a:solidFill>
              <a:latin typeface="Arimo"/>
              <a:ea typeface="Arimo"/>
              <a:cs typeface="Arimo"/>
              <a:sym typeface="Arimo"/>
            </a:endParaRPr>
          </a:p>
          <a:p>
            <a:pPr algn="l">
              <a:lnSpc>
                <a:spcPts val="2010"/>
              </a:lnSpc>
            </a:pPr>
            <a:endParaRPr lang="en-US" sz="2800" dirty="0">
              <a:solidFill>
                <a:srgbClr val="5B5F71"/>
              </a:solidFill>
              <a:latin typeface="Arimo"/>
              <a:ea typeface="Arimo"/>
              <a:cs typeface="Arimo"/>
              <a:sym typeface="Arimo"/>
            </a:endParaRPr>
          </a:p>
          <a:p>
            <a:pPr algn="l">
              <a:lnSpc>
                <a:spcPts val="2011"/>
              </a:lnSpc>
            </a:pPr>
            <a:endParaRPr lang="en-US" sz="2800" dirty="0">
              <a:solidFill>
                <a:srgbClr val="5B5F71"/>
              </a:solidFill>
              <a:latin typeface="Arimo"/>
              <a:ea typeface="Arimo"/>
              <a:cs typeface="Arimo"/>
              <a:sym typeface="Arimo"/>
            </a:endParaRPr>
          </a:p>
        </p:txBody>
      </p:sp>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6B011EA7-EA87-AD57-0304-7740C796A0A5}"/>
                  </a:ext>
                </a:extLst>
              </p:cNvPr>
              <p:cNvSpPr txBox="1"/>
              <p:nvPr/>
            </p:nvSpPr>
            <p:spPr>
              <a:xfrm>
                <a:off x="838200" y="1485900"/>
                <a:ext cx="16306800" cy="7245510"/>
              </a:xfrm>
              <a:prstGeom prst="rect">
                <a:avLst/>
              </a:prstGeom>
              <a:noFill/>
            </p:spPr>
            <p:txBody>
              <a:bodyPr wrap="square">
                <a:spAutoFit/>
              </a:bodyPr>
              <a:lstStyle/>
              <a:p>
                <a:pPr algn="just"/>
                <a:r>
                  <a:rPr lang="es-MX" sz="2000" dirty="0">
                    <a:latin typeface="Montserrat" panose="00000500000000000000" pitchFamily="2" charset="0"/>
                  </a:rPr>
                  <a:t>Para resolver el problema, se diseñó una máquina de Turing capaz de reconocer cadenas que pertenecen al lenguaje </a:t>
                </a:r>
                <a14:m>
                  <m:oMath xmlns:m="http://schemas.openxmlformats.org/officeDocument/2006/math">
                    <m:sSup>
                      <m:sSupPr>
                        <m:ctrlPr>
                          <a:rPr lang="es-MX" sz="2000" i="1" smtClean="0">
                            <a:latin typeface="Cambria Math" panose="02040503050406030204" pitchFamily="18" charset="0"/>
                          </a:rPr>
                        </m:ctrlPr>
                      </m:sSupPr>
                      <m:e>
                        <m:r>
                          <a:rPr lang="es-MX" sz="2000" b="0" i="1" smtClean="0">
                            <a:latin typeface="Cambria Math" panose="02040503050406030204" pitchFamily="18" charset="0"/>
                          </a:rPr>
                          <m:t>𝑎</m:t>
                        </m:r>
                      </m:e>
                      <m:sup>
                        <m:r>
                          <a:rPr lang="es-MX" sz="2000" b="0" i="1" smtClean="0">
                            <a:latin typeface="Cambria Math" panose="02040503050406030204" pitchFamily="18" charset="0"/>
                          </a:rPr>
                          <m:t>𝑛</m:t>
                        </m:r>
                      </m:sup>
                    </m:sSup>
                    <m:sSup>
                      <m:sSupPr>
                        <m:ctrlPr>
                          <a:rPr lang="es-MX" sz="2000" i="1">
                            <a:latin typeface="Cambria Math" panose="02040503050406030204" pitchFamily="18" charset="0"/>
                          </a:rPr>
                        </m:ctrlPr>
                      </m:sSupPr>
                      <m:e>
                        <m:r>
                          <a:rPr lang="es-MX" sz="2000" b="0" i="1" smtClean="0">
                            <a:latin typeface="Cambria Math" panose="02040503050406030204" pitchFamily="18" charset="0"/>
                          </a:rPr>
                          <m:t>𝑏</m:t>
                        </m:r>
                      </m:e>
                      <m:sup>
                        <m:r>
                          <a:rPr lang="es-MX" sz="2000" i="1">
                            <a:latin typeface="Cambria Math" panose="02040503050406030204" pitchFamily="18" charset="0"/>
                          </a:rPr>
                          <m:t>𝑛</m:t>
                        </m:r>
                      </m:sup>
                    </m:sSup>
                  </m:oMath>
                </a14:m>
                <a:r>
                  <a:rPr lang="es-MX" sz="2000" dirty="0">
                    <a:latin typeface="Montserrat" panose="00000500000000000000" pitchFamily="2" charset="0"/>
                  </a:rPr>
                  <a:t>, es decir, cadenas que contienen la misma cantidad de símbolos “a” seguidos por la misma cantidad de símbolos “b”.</a:t>
                </a:r>
              </a:p>
              <a:p>
                <a:pPr algn="just"/>
                <a:r>
                  <a:rPr lang="es-MX" sz="2000" dirty="0">
                    <a:latin typeface="Montserrat" panose="00000500000000000000" pitchFamily="2" charset="0"/>
                  </a:rPr>
                  <a:t>El diseño de la máquina se basa en el uso de estados que permiten recorrer la cadena, marcar los símbolos ya procesados y verificar que exista una correspondencia correcta entre cada “a” y su respectiva “b”.</a:t>
                </a:r>
              </a:p>
              <a:p>
                <a:pPr algn="just"/>
                <a:endParaRPr lang="es-MX" sz="2000" dirty="0">
                  <a:latin typeface="Montserrat" panose="00000500000000000000" pitchFamily="2" charset="0"/>
                </a:endParaRPr>
              </a:p>
              <a:p>
                <a:pPr algn="just"/>
                <a:r>
                  <a:rPr lang="es-MX" sz="2000" b="1" dirty="0">
                    <a:latin typeface="Montserrat" panose="00000500000000000000" pitchFamily="2" charset="0"/>
                  </a:rPr>
                  <a:t>Estados utilizados:</a:t>
                </a:r>
              </a:p>
              <a:p>
                <a:pPr marL="342900" indent="-342900" algn="just">
                  <a:buFont typeface="Wingdings" panose="05000000000000000000" pitchFamily="2" charset="2"/>
                  <a:buChar char="Ø"/>
                </a:pPr>
                <a:r>
                  <a:rPr lang="es-MX" sz="2000" b="1" dirty="0">
                    <a:latin typeface="Montserrat" panose="00000500000000000000" pitchFamily="2" charset="0"/>
                  </a:rPr>
                  <a:t>q0</a:t>
                </a:r>
                <a:r>
                  <a:rPr lang="es-MX" sz="2000" dirty="0">
                    <a:latin typeface="Montserrat" panose="00000500000000000000" pitchFamily="2" charset="0"/>
                  </a:rPr>
                  <a:t>: Estado inicial, donde se comienza la lectura de la cadena </a:t>
                </a:r>
              </a:p>
              <a:p>
                <a:pPr marL="342900" indent="-342900" algn="just">
                  <a:buFont typeface="Wingdings" panose="05000000000000000000" pitchFamily="2" charset="2"/>
                  <a:buChar char="Ø"/>
                </a:pPr>
                <a:r>
                  <a:rPr lang="es-MX" sz="2000" b="1" dirty="0">
                    <a:latin typeface="Montserrat" panose="00000500000000000000" pitchFamily="2" charset="0"/>
                  </a:rPr>
                  <a:t>q1</a:t>
                </a:r>
                <a:r>
                  <a:rPr lang="es-MX" sz="2000" dirty="0">
                    <a:latin typeface="Montserrat" panose="00000500000000000000" pitchFamily="2" charset="0"/>
                  </a:rPr>
                  <a:t>: Estado encargado de buscar el símbolo “b” correspondiente </a:t>
                </a:r>
              </a:p>
              <a:p>
                <a:pPr marL="342900" indent="-342900" algn="just">
                  <a:buFont typeface="Wingdings" panose="05000000000000000000" pitchFamily="2" charset="2"/>
                  <a:buChar char="Ø"/>
                </a:pPr>
                <a:r>
                  <a:rPr lang="es-MX" sz="2000" b="1" dirty="0">
                    <a:latin typeface="Montserrat" panose="00000500000000000000" pitchFamily="2" charset="0"/>
                  </a:rPr>
                  <a:t>q2</a:t>
                </a:r>
                <a:r>
                  <a:rPr lang="es-MX" sz="2000" dirty="0">
                    <a:latin typeface="Montserrat" panose="00000500000000000000" pitchFamily="2" charset="0"/>
                  </a:rPr>
                  <a:t>: Estado que permite regresar al inicio de la cadena </a:t>
                </a:r>
              </a:p>
              <a:p>
                <a:pPr marL="342900" indent="-342900" algn="just">
                  <a:buFont typeface="Wingdings" panose="05000000000000000000" pitchFamily="2" charset="2"/>
                  <a:buChar char="Ø"/>
                </a:pPr>
                <a:r>
                  <a:rPr lang="es-MX" sz="2000" b="1" dirty="0" err="1">
                    <a:latin typeface="Montserrat" panose="00000500000000000000" pitchFamily="2" charset="0"/>
                  </a:rPr>
                  <a:t>qf</a:t>
                </a:r>
                <a:r>
                  <a:rPr lang="es-MX" sz="2000" dirty="0">
                    <a:latin typeface="Montserrat" panose="00000500000000000000" pitchFamily="2" charset="0"/>
                  </a:rPr>
                  <a:t>: Estado de aceptación, indica que la cadena es válida </a:t>
                </a:r>
              </a:p>
              <a:p>
                <a:pPr marL="342900" indent="-342900" algn="just">
                  <a:buFont typeface="Wingdings" panose="05000000000000000000" pitchFamily="2" charset="2"/>
                  <a:buChar char="Ø"/>
                </a:pPr>
                <a:r>
                  <a:rPr lang="es-MX" sz="2000" b="1" dirty="0" err="1">
                    <a:latin typeface="Montserrat" panose="00000500000000000000" pitchFamily="2" charset="0"/>
                  </a:rPr>
                  <a:t>qr</a:t>
                </a:r>
                <a:r>
                  <a:rPr lang="es-MX" sz="2000" dirty="0">
                    <a:latin typeface="Montserrat" panose="00000500000000000000" pitchFamily="2" charset="0"/>
                  </a:rPr>
                  <a:t>: Estado de rechazo, indica que la cadena no cumple con las condiciones </a:t>
                </a:r>
              </a:p>
              <a:p>
                <a:pPr algn="just"/>
                <a:endParaRPr lang="es-MX" sz="2000" dirty="0">
                  <a:latin typeface="Montserrat" panose="00000500000000000000" pitchFamily="2" charset="0"/>
                </a:endParaRPr>
              </a:p>
              <a:p>
                <a:pPr algn="just"/>
                <a:r>
                  <a:rPr lang="es-MX" sz="2000" b="1" dirty="0">
                    <a:latin typeface="Montserrat" panose="00000500000000000000" pitchFamily="2" charset="0"/>
                  </a:rPr>
                  <a:t>Funcionamiento general:</a:t>
                </a:r>
              </a:p>
              <a:p>
                <a:pPr algn="just"/>
                <a:r>
                  <a:rPr lang="es-MX" sz="2000" dirty="0">
                    <a:latin typeface="Montserrat" panose="00000500000000000000" pitchFamily="2" charset="0"/>
                  </a:rPr>
                  <a:t>El funcionamiento de la máquina se basa en un proceso iterativo. Primero, se localiza un símbolo “a” y se marca para indicar que ya fue procesado. Posteriormente, la máquina avanza hacia la derecha en busca de un símbolo “b”, el cual también es marcado.</a:t>
                </a:r>
              </a:p>
              <a:p>
                <a:pPr algn="just"/>
                <a:endParaRPr lang="es-MX" sz="2000" dirty="0">
                  <a:latin typeface="Montserrat" panose="00000500000000000000" pitchFamily="2" charset="0"/>
                </a:endParaRPr>
              </a:p>
              <a:p>
                <a:pPr algn="just"/>
                <a:r>
                  <a:rPr lang="es-MX" sz="2000" dirty="0">
                    <a:latin typeface="Montserrat" panose="00000500000000000000" pitchFamily="2" charset="0"/>
                  </a:rPr>
                  <a:t>Una vez que se han marcado ambos símbolos, la máquina regresa al inicio de la cadena para repetir el mismo procedimiento con los siguientes símbolos.</a:t>
                </a:r>
              </a:p>
              <a:p>
                <a:pPr algn="just"/>
                <a:endParaRPr lang="es-MX" sz="2000" dirty="0">
                  <a:latin typeface="Montserrat" panose="00000500000000000000" pitchFamily="2" charset="0"/>
                </a:endParaRPr>
              </a:p>
              <a:p>
                <a:pPr algn="just"/>
                <a:r>
                  <a:rPr lang="es-MX" sz="2000" dirty="0">
                    <a:latin typeface="Montserrat" panose="00000500000000000000" pitchFamily="2" charset="0"/>
                  </a:rPr>
                  <a:t>Este proceso continúa hasta que todos los símbolos han sido revisados. Si al final todos los símbolos han sido correctamente emparejados, la máquina entra en el estado de aceptación. En caso contrario, si se detecta alguna inconsistencia en la cadena, se pasa al estado de rechazo.</a:t>
                </a:r>
              </a:p>
            </p:txBody>
          </p:sp>
        </mc:Choice>
        <mc:Fallback>
          <p:sp>
            <p:nvSpPr>
              <p:cNvPr id="3" name="CuadroTexto 2">
                <a:extLst>
                  <a:ext uri="{FF2B5EF4-FFF2-40B4-BE49-F238E27FC236}">
                    <a16:creationId xmlns:a16="http://schemas.microsoft.com/office/drawing/2014/main" id="{6B011EA7-EA87-AD57-0304-7740C796A0A5}"/>
                  </a:ext>
                </a:extLst>
              </p:cNvPr>
              <p:cNvSpPr txBox="1">
                <a:spLocks noRot="1" noChangeAspect="1" noMove="1" noResize="1" noEditPoints="1" noAdjustHandles="1" noChangeArrowheads="1" noChangeShapeType="1" noTextEdit="1"/>
              </p:cNvSpPr>
              <p:nvPr/>
            </p:nvSpPr>
            <p:spPr>
              <a:xfrm>
                <a:off x="838200" y="1485900"/>
                <a:ext cx="16306800" cy="7245510"/>
              </a:xfrm>
              <a:prstGeom prst="rect">
                <a:avLst/>
              </a:prstGeom>
              <a:blipFill>
                <a:blip r:embed="rId3"/>
                <a:stretch>
                  <a:fillRect l="-411" t="-421" r="-374"/>
                </a:stretch>
              </a:blipFill>
            </p:spPr>
            <p:txBody>
              <a:bodyPr/>
              <a:lstStyle/>
              <a:p>
                <a:r>
                  <a:rPr lang="es-MX">
                    <a:noFill/>
                  </a:rPr>
                  <a:t> </a:t>
                </a:r>
              </a:p>
            </p:txBody>
          </p:sp>
        </mc:Fallback>
      </mc:AlternateContent>
    </p:spTree>
    <p:extLst>
      <p:ext uri="{BB962C8B-B14F-4D97-AF65-F5344CB8AC3E}">
        <p14:creationId xmlns:p14="http://schemas.microsoft.com/office/powerpoint/2010/main" val="790122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5"/>
          <p:cNvSpPr txBox="1"/>
          <p:nvPr/>
        </p:nvSpPr>
        <p:spPr>
          <a:xfrm>
            <a:off x="749710" y="266700"/>
            <a:ext cx="9299077" cy="551433"/>
          </a:xfrm>
          <a:prstGeom prst="rect">
            <a:avLst/>
          </a:prstGeom>
        </p:spPr>
        <p:txBody>
          <a:bodyPr wrap="square" lIns="0" tIns="0" rIns="0" bIns="0" rtlCol="0" anchor="t">
            <a:spAutoFit/>
          </a:bodyPr>
          <a:lstStyle/>
          <a:p>
            <a:pPr algn="l">
              <a:lnSpc>
                <a:spcPts val="4312"/>
              </a:lnSpc>
            </a:pPr>
            <a:r>
              <a:rPr lang="en-US" sz="4400" b="1" dirty="0" err="1">
                <a:solidFill>
                  <a:srgbClr val="505468"/>
                </a:solidFill>
                <a:latin typeface="Arimo Bold"/>
                <a:ea typeface="Arimo Bold"/>
                <a:cs typeface="Arimo Bold"/>
                <a:sym typeface="Arimo Bold"/>
              </a:rPr>
              <a:t>Ejecución</a:t>
            </a:r>
            <a:r>
              <a:rPr lang="en-US" sz="4400" b="1" dirty="0">
                <a:solidFill>
                  <a:srgbClr val="505468"/>
                </a:solidFill>
                <a:latin typeface="Arimo Bold"/>
                <a:ea typeface="Arimo Bold"/>
                <a:cs typeface="Arimo Bold"/>
                <a:sym typeface="Arimo Bold"/>
              </a:rPr>
              <a:t> del </a:t>
            </a:r>
            <a:r>
              <a:rPr lang="en-US" sz="4400" b="1" dirty="0" err="1">
                <a:solidFill>
                  <a:srgbClr val="505468"/>
                </a:solidFill>
                <a:latin typeface="Arimo Bold"/>
                <a:ea typeface="Arimo Bold"/>
                <a:cs typeface="Arimo Bold"/>
                <a:sym typeface="Arimo Bold"/>
              </a:rPr>
              <a:t>programa</a:t>
            </a:r>
            <a:endParaRPr lang="en-US" sz="4400" b="1" dirty="0">
              <a:solidFill>
                <a:srgbClr val="505468"/>
              </a:solidFill>
              <a:latin typeface="Arimo Bold"/>
              <a:ea typeface="Arimo Bold"/>
              <a:cs typeface="Arimo Bold"/>
              <a:sym typeface="Arimo Bold"/>
            </a:endParaRPr>
          </a:p>
        </p:txBody>
      </p:sp>
      <p:sp>
        <p:nvSpPr>
          <p:cNvPr id="46" name="TextBox 46"/>
          <p:cNvSpPr txBox="1"/>
          <p:nvPr/>
        </p:nvSpPr>
        <p:spPr>
          <a:xfrm>
            <a:off x="762000" y="1028700"/>
            <a:ext cx="15773400" cy="492443"/>
          </a:xfrm>
          <a:prstGeom prst="rect">
            <a:avLst/>
          </a:prstGeom>
        </p:spPr>
        <p:txBody>
          <a:bodyPr wrap="square" lIns="0" tIns="0" rIns="0" bIns="0" rtlCol="0" anchor="t">
            <a:spAutoFit/>
          </a:bodyPr>
          <a:lstStyle/>
          <a:p>
            <a:pPr algn="l"/>
            <a:r>
              <a:rPr lang="es-MX" sz="3200" dirty="0"/>
              <a:t>Se realizaron diversas pruebas para verificar el correcto funcionamiento de la simulación.</a:t>
            </a:r>
            <a:endParaRPr lang="en-US" sz="3200" dirty="0">
              <a:solidFill>
                <a:srgbClr val="5B5F71"/>
              </a:solidFill>
              <a:latin typeface="Arimo"/>
              <a:ea typeface="Arimo"/>
              <a:cs typeface="Arimo"/>
              <a:sym typeface="Arimo"/>
            </a:endParaRPr>
          </a:p>
        </p:txBody>
      </p:sp>
      <p:pic>
        <p:nvPicPr>
          <p:cNvPr id="3" name="Imagen 2">
            <a:extLst>
              <a:ext uri="{FF2B5EF4-FFF2-40B4-BE49-F238E27FC236}">
                <a16:creationId xmlns:a16="http://schemas.microsoft.com/office/drawing/2014/main" id="{28D08A15-0E10-B174-DBF6-3D19BBE03483}"/>
              </a:ext>
            </a:extLst>
          </p:cNvPr>
          <p:cNvPicPr>
            <a:picLocks noChangeAspect="1"/>
          </p:cNvPicPr>
          <p:nvPr/>
        </p:nvPicPr>
        <p:blipFill>
          <a:blip r:embed="rId3"/>
          <a:stretch>
            <a:fillRect/>
          </a:stretch>
        </p:blipFill>
        <p:spPr>
          <a:xfrm>
            <a:off x="749710" y="1967588"/>
            <a:ext cx="4495800" cy="2880890"/>
          </a:xfrm>
          <a:prstGeom prst="rect">
            <a:avLst/>
          </a:prstGeom>
        </p:spPr>
      </p:pic>
      <p:pic>
        <p:nvPicPr>
          <p:cNvPr id="5" name="Imagen 4">
            <a:extLst>
              <a:ext uri="{FF2B5EF4-FFF2-40B4-BE49-F238E27FC236}">
                <a16:creationId xmlns:a16="http://schemas.microsoft.com/office/drawing/2014/main" id="{DD77D343-A754-02DA-F406-699A19FC21E5}"/>
              </a:ext>
            </a:extLst>
          </p:cNvPr>
          <p:cNvPicPr>
            <a:picLocks noChangeAspect="1"/>
          </p:cNvPicPr>
          <p:nvPr/>
        </p:nvPicPr>
        <p:blipFill>
          <a:blip r:embed="rId4"/>
          <a:stretch>
            <a:fillRect/>
          </a:stretch>
        </p:blipFill>
        <p:spPr>
          <a:xfrm>
            <a:off x="6075027" y="2228832"/>
            <a:ext cx="4464749" cy="2299865"/>
          </a:xfrm>
          <a:prstGeom prst="rect">
            <a:avLst/>
          </a:prstGeom>
        </p:spPr>
      </p:pic>
      <p:pic>
        <p:nvPicPr>
          <p:cNvPr id="7" name="Imagen 6">
            <a:extLst>
              <a:ext uri="{FF2B5EF4-FFF2-40B4-BE49-F238E27FC236}">
                <a16:creationId xmlns:a16="http://schemas.microsoft.com/office/drawing/2014/main" id="{D67C194C-A767-07C9-6041-468B06F4BCD1}"/>
              </a:ext>
            </a:extLst>
          </p:cNvPr>
          <p:cNvPicPr>
            <a:picLocks noChangeAspect="1"/>
          </p:cNvPicPr>
          <p:nvPr/>
        </p:nvPicPr>
        <p:blipFill>
          <a:blip r:embed="rId5"/>
          <a:stretch>
            <a:fillRect/>
          </a:stretch>
        </p:blipFill>
        <p:spPr>
          <a:xfrm>
            <a:off x="11405947" y="1967588"/>
            <a:ext cx="4389345" cy="2737176"/>
          </a:xfrm>
          <a:prstGeom prst="rect">
            <a:avLst/>
          </a:prstGeom>
        </p:spPr>
      </p:pic>
      <p:pic>
        <p:nvPicPr>
          <p:cNvPr id="9" name="Imagen 8">
            <a:extLst>
              <a:ext uri="{FF2B5EF4-FFF2-40B4-BE49-F238E27FC236}">
                <a16:creationId xmlns:a16="http://schemas.microsoft.com/office/drawing/2014/main" id="{D96F4D23-48F5-055B-ACAA-C6FB2D4FF312}"/>
              </a:ext>
            </a:extLst>
          </p:cNvPr>
          <p:cNvPicPr>
            <a:picLocks noChangeAspect="1"/>
          </p:cNvPicPr>
          <p:nvPr/>
        </p:nvPicPr>
        <p:blipFill>
          <a:blip r:embed="rId6"/>
          <a:stretch>
            <a:fillRect/>
          </a:stretch>
        </p:blipFill>
        <p:spPr>
          <a:xfrm>
            <a:off x="1185776" y="6667500"/>
            <a:ext cx="3623666" cy="2379333"/>
          </a:xfrm>
          <a:prstGeom prst="rect">
            <a:avLst/>
          </a:prstGeom>
        </p:spPr>
      </p:pic>
      <p:pic>
        <p:nvPicPr>
          <p:cNvPr id="11" name="Imagen 10">
            <a:extLst>
              <a:ext uri="{FF2B5EF4-FFF2-40B4-BE49-F238E27FC236}">
                <a16:creationId xmlns:a16="http://schemas.microsoft.com/office/drawing/2014/main" id="{B858036B-259C-0894-7FDE-A9073C62DAA7}"/>
              </a:ext>
            </a:extLst>
          </p:cNvPr>
          <p:cNvPicPr>
            <a:picLocks noChangeAspect="1"/>
          </p:cNvPicPr>
          <p:nvPr/>
        </p:nvPicPr>
        <p:blipFill>
          <a:blip r:embed="rId7"/>
          <a:stretch>
            <a:fillRect/>
          </a:stretch>
        </p:blipFill>
        <p:spPr>
          <a:xfrm>
            <a:off x="6716491" y="6667500"/>
            <a:ext cx="3181819" cy="2299865"/>
          </a:xfrm>
          <a:prstGeom prst="rect">
            <a:avLst/>
          </a:prstGeom>
        </p:spPr>
      </p:pic>
      <p:sp>
        <p:nvSpPr>
          <p:cNvPr id="4" name="CuadroTexto 3">
            <a:extLst>
              <a:ext uri="{FF2B5EF4-FFF2-40B4-BE49-F238E27FC236}">
                <a16:creationId xmlns:a16="http://schemas.microsoft.com/office/drawing/2014/main" id="{5FC80C2B-7D45-AA82-7B96-B181D88F3B9C}"/>
              </a:ext>
            </a:extLst>
          </p:cNvPr>
          <p:cNvSpPr txBox="1"/>
          <p:nvPr/>
        </p:nvSpPr>
        <p:spPr>
          <a:xfrm>
            <a:off x="1006742" y="4906955"/>
            <a:ext cx="3981735" cy="1200329"/>
          </a:xfrm>
          <a:prstGeom prst="rect">
            <a:avLst/>
          </a:prstGeom>
          <a:noFill/>
        </p:spPr>
        <p:txBody>
          <a:bodyPr wrap="square">
            <a:spAutoFit/>
          </a:bodyPr>
          <a:lstStyle/>
          <a:p>
            <a:pPr algn="ctr"/>
            <a:r>
              <a:rPr lang="es-MX" b="1" dirty="0"/>
              <a:t>Prueba 1</a:t>
            </a:r>
            <a:br>
              <a:rPr lang="es-MX" dirty="0"/>
            </a:br>
            <a:r>
              <a:rPr lang="es-MX" dirty="0"/>
              <a:t>Entrada: </a:t>
            </a:r>
            <a:r>
              <a:rPr lang="es-MX" dirty="0" err="1"/>
              <a:t>aabb</a:t>
            </a:r>
            <a:br>
              <a:rPr lang="es-MX" dirty="0"/>
            </a:br>
            <a:r>
              <a:rPr lang="es-MX" dirty="0"/>
              <a:t>Resultado: Cadena valida</a:t>
            </a:r>
            <a:br>
              <a:rPr lang="es-MX" dirty="0"/>
            </a:br>
            <a:r>
              <a:rPr lang="es-MX" dirty="0"/>
              <a:t> </a:t>
            </a:r>
            <a:r>
              <a:rPr lang="es-MX" i="1" dirty="0"/>
              <a:t>Figura 1. Ejecución con cadena válida</a:t>
            </a:r>
            <a:endParaRPr lang="es-MX" dirty="0"/>
          </a:p>
        </p:txBody>
      </p:sp>
      <p:sp>
        <p:nvSpPr>
          <p:cNvPr id="8" name="CuadroTexto 7">
            <a:extLst>
              <a:ext uri="{FF2B5EF4-FFF2-40B4-BE49-F238E27FC236}">
                <a16:creationId xmlns:a16="http://schemas.microsoft.com/office/drawing/2014/main" id="{8B899518-FDC8-C4BF-6F89-62EF7477872F}"/>
              </a:ext>
            </a:extLst>
          </p:cNvPr>
          <p:cNvSpPr txBox="1"/>
          <p:nvPr/>
        </p:nvSpPr>
        <p:spPr>
          <a:xfrm>
            <a:off x="6517184" y="4906954"/>
            <a:ext cx="3657600" cy="1200329"/>
          </a:xfrm>
          <a:prstGeom prst="rect">
            <a:avLst/>
          </a:prstGeom>
          <a:noFill/>
        </p:spPr>
        <p:txBody>
          <a:bodyPr wrap="square">
            <a:spAutoFit/>
          </a:bodyPr>
          <a:lstStyle/>
          <a:p>
            <a:pPr algn="ctr"/>
            <a:r>
              <a:rPr lang="es-MX" b="1" dirty="0"/>
              <a:t>Prueba 2</a:t>
            </a:r>
            <a:br>
              <a:rPr lang="es-MX" dirty="0"/>
            </a:br>
            <a:r>
              <a:rPr lang="es-MX" dirty="0"/>
              <a:t>Entrada: </a:t>
            </a:r>
            <a:r>
              <a:rPr lang="es-MX" dirty="0" err="1"/>
              <a:t>aaabbb</a:t>
            </a:r>
            <a:br>
              <a:rPr lang="es-MX" dirty="0"/>
            </a:br>
            <a:r>
              <a:rPr lang="es-MX" dirty="0"/>
              <a:t>Resultado: Cadena valida</a:t>
            </a:r>
            <a:br>
              <a:rPr lang="es-MX" dirty="0"/>
            </a:br>
            <a:r>
              <a:rPr lang="es-MX" i="1" dirty="0"/>
              <a:t>Figura 2. Ejecución con cadena válida</a:t>
            </a:r>
            <a:endParaRPr lang="es-MX" dirty="0"/>
          </a:p>
        </p:txBody>
      </p:sp>
      <p:sp>
        <p:nvSpPr>
          <p:cNvPr id="12" name="CuadroTexto 11">
            <a:extLst>
              <a:ext uri="{FF2B5EF4-FFF2-40B4-BE49-F238E27FC236}">
                <a16:creationId xmlns:a16="http://schemas.microsoft.com/office/drawing/2014/main" id="{03205BE9-F957-FBD1-C1FE-DA057B6E4F13}"/>
              </a:ext>
            </a:extLst>
          </p:cNvPr>
          <p:cNvSpPr txBox="1"/>
          <p:nvPr/>
        </p:nvSpPr>
        <p:spPr>
          <a:xfrm>
            <a:off x="11417522" y="4834993"/>
            <a:ext cx="4389345" cy="1200329"/>
          </a:xfrm>
          <a:prstGeom prst="rect">
            <a:avLst/>
          </a:prstGeom>
          <a:noFill/>
        </p:spPr>
        <p:txBody>
          <a:bodyPr wrap="square">
            <a:spAutoFit/>
          </a:bodyPr>
          <a:lstStyle/>
          <a:p>
            <a:pPr algn="ctr"/>
            <a:r>
              <a:rPr lang="es-MX" b="1" dirty="0"/>
              <a:t>Prueba 3</a:t>
            </a:r>
            <a:br>
              <a:rPr lang="es-MX" dirty="0"/>
            </a:br>
            <a:r>
              <a:rPr lang="es-MX" dirty="0"/>
              <a:t>Entrada: ab</a:t>
            </a:r>
            <a:br>
              <a:rPr lang="es-MX" dirty="0"/>
            </a:br>
            <a:r>
              <a:rPr lang="es-MX" dirty="0"/>
              <a:t>Resultado: Cadena valida</a:t>
            </a:r>
            <a:br>
              <a:rPr lang="es-MX" dirty="0"/>
            </a:br>
            <a:r>
              <a:rPr lang="es-MX" i="1" dirty="0"/>
              <a:t>Figura 3. Ejecución con cadena válida</a:t>
            </a:r>
            <a:endParaRPr lang="es-MX" dirty="0"/>
          </a:p>
        </p:txBody>
      </p:sp>
      <p:sp>
        <p:nvSpPr>
          <p:cNvPr id="14" name="CuadroTexto 13">
            <a:extLst>
              <a:ext uri="{FF2B5EF4-FFF2-40B4-BE49-F238E27FC236}">
                <a16:creationId xmlns:a16="http://schemas.microsoft.com/office/drawing/2014/main" id="{8398002A-3E0A-75F4-7E8A-F58D063740B5}"/>
              </a:ext>
            </a:extLst>
          </p:cNvPr>
          <p:cNvSpPr txBox="1"/>
          <p:nvPr/>
        </p:nvSpPr>
        <p:spPr>
          <a:xfrm>
            <a:off x="1006742" y="9123115"/>
            <a:ext cx="4389345" cy="1200329"/>
          </a:xfrm>
          <a:prstGeom prst="rect">
            <a:avLst/>
          </a:prstGeom>
          <a:noFill/>
        </p:spPr>
        <p:txBody>
          <a:bodyPr wrap="square">
            <a:spAutoFit/>
          </a:bodyPr>
          <a:lstStyle/>
          <a:p>
            <a:pPr algn="ctr"/>
            <a:r>
              <a:rPr lang="es-MX" b="1" dirty="0"/>
              <a:t>Prueba 4</a:t>
            </a:r>
            <a:br>
              <a:rPr lang="es-MX" dirty="0"/>
            </a:br>
            <a:r>
              <a:rPr lang="es-MX" dirty="0"/>
              <a:t>Entrada: </a:t>
            </a:r>
            <a:r>
              <a:rPr lang="es-MX" dirty="0" err="1"/>
              <a:t>abba</a:t>
            </a:r>
            <a:br>
              <a:rPr lang="es-MX" dirty="0"/>
            </a:br>
            <a:r>
              <a:rPr lang="es-MX" dirty="0"/>
              <a:t>Resultado: Cadena invalida</a:t>
            </a:r>
            <a:br>
              <a:rPr lang="es-MX" dirty="0"/>
            </a:br>
            <a:r>
              <a:rPr lang="es-MX" i="1" dirty="0"/>
              <a:t>Figura 4. Ejecución con cadena inválida</a:t>
            </a:r>
            <a:endParaRPr lang="es-MX" dirty="0"/>
          </a:p>
        </p:txBody>
      </p:sp>
      <p:sp>
        <p:nvSpPr>
          <p:cNvPr id="16" name="CuadroTexto 15">
            <a:extLst>
              <a:ext uri="{FF2B5EF4-FFF2-40B4-BE49-F238E27FC236}">
                <a16:creationId xmlns:a16="http://schemas.microsoft.com/office/drawing/2014/main" id="{A6C0AE65-03E3-A55C-F195-17456B35A44F}"/>
              </a:ext>
            </a:extLst>
          </p:cNvPr>
          <p:cNvSpPr txBox="1"/>
          <p:nvPr/>
        </p:nvSpPr>
        <p:spPr>
          <a:xfrm>
            <a:off x="6042259" y="9046833"/>
            <a:ext cx="4389345" cy="1200329"/>
          </a:xfrm>
          <a:prstGeom prst="rect">
            <a:avLst/>
          </a:prstGeom>
          <a:noFill/>
        </p:spPr>
        <p:txBody>
          <a:bodyPr wrap="square">
            <a:spAutoFit/>
          </a:bodyPr>
          <a:lstStyle/>
          <a:p>
            <a:pPr algn="ctr"/>
            <a:r>
              <a:rPr lang="es-MX" b="1" dirty="0"/>
              <a:t>Prueba 5</a:t>
            </a:r>
            <a:br>
              <a:rPr lang="es-MX" dirty="0"/>
            </a:br>
            <a:r>
              <a:rPr lang="es-MX" dirty="0"/>
              <a:t>Entrada: </a:t>
            </a:r>
            <a:r>
              <a:rPr lang="es-MX" dirty="0" err="1"/>
              <a:t>aaabb</a:t>
            </a:r>
            <a:br>
              <a:rPr lang="es-MX" dirty="0"/>
            </a:br>
            <a:r>
              <a:rPr lang="es-MX" dirty="0"/>
              <a:t>Resultado: Cadena invalida</a:t>
            </a:r>
            <a:br>
              <a:rPr lang="es-MX" dirty="0"/>
            </a:br>
            <a:r>
              <a:rPr lang="es-MX" i="1" dirty="0"/>
              <a:t>Figura 5 Ejecución con cadena inválida</a:t>
            </a:r>
            <a:endParaRPr lang="es-MX" dirty="0"/>
          </a:p>
        </p:txBody>
      </p:sp>
    </p:spTree>
    <p:extLst>
      <p:ext uri="{BB962C8B-B14F-4D97-AF65-F5344CB8AC3E}">
        <p14:creationId xmlns:p14="http://schemas.microsoft.com/office/powerpoint/2010/main" val="576390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5"/>
          <p:cNvSpPr txBox="1"/>
          <p:nvPr/>
        </p:nvSpPr>
        <p:spPr>
          <a:xfrm>
            <a:off x="1524000" y="495300"/>
            <a:ext cx="9299077" cy="513923"/>
          </a:xfrm>
          <a:prstGeom prst="rect">
            <a:avLst/>
          </a:prstGeom>
        </p:spPr>
        <p:txBody>
          <a:bodyPr wrap="square" lIns="0" tIns="0" rIns="0" bIns="0" rtlCol="0" anchor="t">
            <a:spAutoFit/>
          </a:bodyPr>
          <a:lstStyle/>
          <a:p>
            <a:pPr algn="l">
              <a:lnSpc>
                <a:spcPts val="4312"/>
              </a:lnSpc>
            </a:pPr>
            <a:r>
              <a:rPr lang="en-US" sz="3437" b="1" dirty="0" err="1">
                <a:solidFill>
                  <a:srgbClr val="505468"/>
                </a:solidFill>
                <a:latin typeface="Arimo Bold"/>
                <a:ea typeface="Arimo Bold"/>
                <a:cs typeface="Arimo Bold"/>
                <a:sym typeface="Arimo Bold"/>
              </a:rPr>
              <a:t>Implementación</a:t>
            </a:r>
            <a:r>
              <a:rPr lang="en-US" sz="3437" b="1" dirty="0">
                <a:solidFill>
                  <a:srgbClr val="505468"/>
                </a:solidFill>
                <a:latin typeface="Arimo Bold"/>
                <a:ea typeface="Arimo Bold"/>
                <a:cs typeface="Arimo Bold"/>
                <a:sym typeface="Arimo Bold"/>
              </a:rPr>
              <a:t> </a:t>
            </a:r>
            <a:r>
              <a:rPr lang="en-US" sz="3437" b="1" dirty="0" err="1">
                <a:solidFill>
                  <a:srgbClr val="505468"/>
                </a:solidFill>
                <a:latin typeface="Arimo Bold"/>
                <a:ea typeface="Arimo Bold"/>
                <a:cs typeface="Arimo Bold"/>
                <a:sym typeface="Arimo Bold"/>
              </a:rPr>
              <a:t>en</a:t>
            </a:r>
            <a:r>
              <a:rPr lang="en-US" sz="3437" b="1" dirty="0">
                <a:solidFill>
                  <a:srgbClr val="505468"/>
                </a:solidFill>
                <a:latin typeface="Arimo Bold"/>
                <a:ea typeface="Arimo Bold"/>
                <a:cs typeface="Arimo Bold"/>
                <a:sym typeface="Arimo Bold"/>
              </a:rPr>
              <a:t> Java</a:t>
            </a:r>
          </a:p>
        </p:txBody>
      </p:sp>
      <p:sp>
        <p:nvSpPr>
          <p:cNvPr id="46" name="TextBox 46"/>
          <p:cNvSpPr txBox="1"/>
          <p:nvPr/>
        </p:nvSpPr>
        <p:spPr>
          <a:xfrm>
            <a:off x="1514168" y="1044865"/>
            <a:ext cx="11889877" cy="530594"/>
          </a:xfrm>
          <a:prstGeom prst="rect">
            <a:avLst/>
          </a:prstGeom>
        </p:spPr>
        <p:txBody>
          <a:bodyPr wrap="square" lIns="0" tIns="0" rIns="0" bIns="0" rtlCol="0" anchor="t">
            <a:spAutoFit/>
          </a:bodyPr>
          <a:lstStyle/>
          <a:p>
            <a:pPr algn="l">
              <a:lnSpc>
                <a:spcPts val="2010"/>
              </a:lnSpc>
            </a:pPr>
            <a:endParaRPr lang="en-US" sz="2800" dirty="0">
              <a:solidFill>
                <a:srgbClr val="5B5F71"/>
              </a:solidFill>
              <a:latin typeface="Arimo"/>
              <a:ea typeface="Arimo"/>
              <a:cs typeface="Arimo"/>
              <a:sym typeface="Arimo"/>
            </a:endParaRPr>
          </a:p>
          <a:p>
            <a:pPr algn="l">
              <a:lnSpc>
                <a:spcPts val="2011"/>
              </a:lnSpc>
            </a:pPr>
            <a:endParaRPr lang="en-US" sz="2800" dirty="0">
              <a:solidFill>
                <a:srgbClr val="5B5F71"/>
              </a:solidFill>
              <a:latin typeface="Arimo"/>
              <a:ea typeface="Arimo"/>
              <a:cs typeface="Arimo"/>
              <a:sym typeface="Arimo"/>
            </a:endParaRPr>
          </a:p>
        </p:txBody>
      </p: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B990EEC1-2F9D-AF32-874C-BA62FB775935}"/>
                  </a:ext>
                </a:extLst>
              </p:cNvPr>
              <p:cNvSpPr txBox="1"/>
              <p:nvPr/>
            </p:nvSpPr>
            <p:spPr>
              <a:xfrm>
                <a:off x="990600" y="1333022"/>
                <a:ext cx="16306800" cy="8586966"/>
              </a:xfrm>
              <a:prstGeom prst="rect">
                <a:avLst/>
              </a:prstGeom>
              <a:noFill/>
            </p:spPr>
            <p:txBody>
              <a:bodyPr wrap="square">
                <a:spAutoFit/>
              </a:bodyPr>
              <a:lstStyle/>
              <a:p>
                <a:pPr algn="just"/>
                <a:r>
                  <a:rPr lang="es-MX" sz="2400" dirty="0">
                    <a:latin typeface="Montserrat" panose="00000500000000000000" pitchFamily="2" charset="0"/>
                  </a:rPr>
                  <a:t>La simulación de la máquina de Turing fue desarrollada en el lenguaje de programación Java, utilizando </a:t>
                </a:r>
                <a:r>
                  <a:rPr lang="es-MX" sz="2400" dirty="0" err="1">
                    <a:latin typeface="Montserrat" panose="00000500000000000000" pitchFamily="2" charset="0"/>
                  </a:rPr>
                  <a:t>JavaFX</a:t>
                </a:r>
                <a:r>
                  <a:rPr lang="es-MX" sz="2400" dirty="0">
                    <a:latin typeface="Montserrat" panose="00000500000000000000" pitchFamily="2" charset="0"/>
                  </a:rPr>
                  <a:t> para la construcción de la interfaz gráfica. Esto permitió crear una aplicación sencilla pero funcional, en la que el usuario puede interactuar directamente ingresando cadenas y obteniendo un resultado inmediato sobre su validez.</a:t>
                </a:r>
              </a:p>
              <a:p>
                <a:pPr algn="just"/>
                <a:endParaRPr lang="es-MX" sz="2400" dirty="0">
                  <a:latin typeface="Montserrat" panose="00000500000000000000" pitchFamily="2" charset="0"/>
                </a:endParaRPr>
              </a:p>
              <a:p>
                <a:pPr algn="just"/>
                <a:r>
                  <a:rPr lang="es-MX" sz="2400" dirty="0">
                    <a:latin typeface="Montserrat" panose="00000500000000000000" pitchFamily="2" charset="0"/>
                  </a:rPr>
                  <a:t>El programa cuenta con una estructura básica que facilita su uso. En primer lugar, se incluye un campo de texto donde el usuario puede escribir la cadena que desea analizar. Posteriormente, se dispone de un botón que ejecuta la validación, y finalmente, un área donde se muestra el resultado indicando si la cadena es válida o no.</a:t>
                </a:r>
              </a:p>
              <a:p>
                <a:pPr algn="just"/>
                <a:endParaRPr lang="es-MX" sz="2400" dirty="0">
                  <a:latin typeface="Montserrat" panose="00000500000000000000" pitchFamily="2" charset="0"/>
                </a:endParaRPr>
              </a:p>
              <a:p>
                <a:pPr algn="just"/>
                <a:r>
                  <a:rPr lang="es-MX" sz="2400" dirty="0">
                    <a:latin typeface="Montserrat" panose="00000500000000000000" pitchFamily="2" charset="0"/>
                  </a:rPr>
                  <a:t>En cuanto a la lógica del programa, se implementó un proceso que simula de manera simplificada el comportamiento de una máquina de Turing. Para ello, la cadena es recorrida carácter por carácter, separando primero los símbolos “a” y posteriormente los símbolos “b”. </a:t>
                </a:r>
              </a:p>
              <a:p>
                <a:pPr algn="just"/>
                <a:endParaRPr lang="es-MX" sz="2400" dirty="0">
                  <a:latin typeface="Montserrat" panose="00000500000000000000" pitchFamily="2" charset="0"/>
                </a:endParaRPr>
              </a:p>
              <a:p>
                <a:pPr algn="just"/>
                <a:r>
                  <a:rPr lang="es-MX" sz="2400" dirty="0">
                    <a:latin typeface="Montserrat" panose="00000500000000000000" pitchFamily="2" charset="0"/>
                  </a:rPr>
                  <a:t>Durante este proceso, se contabiliza la cantidad de cada uno, con el objetivo de verificar que exista la misma cantidad de ambos y que estén en el orden correcto.</a:t>
                </a:r>
              </a:p>
              <a:p>
                <a:pPr algn="just"/>
                <a:r>
                  <a:rPr lang="es-MX" sz="2400" dirty="0">
                    <a:latin typeface="Montserrat" panose="00000500000000000000" pitchFamily="2" charset="0"/>
                  </a:rPr>
                  <a:t>De esta forma, el programa valida que la cadena cumpla con la estructura del lenguaje </a:t>
                </a:r>
                <a14:m>
                  <m:oMath xmlns:m="http://schemas.openxmlformats.org/officeDocument/2006/math">
                    <m:sSup>
                      <m:sSupPr>
                        <m:ctrlPr>
                          <a:rPr lang="es-MX" sz="2400" i="1" smtClean="0">
                            <a:latin typeface="Cambria Math" panose="02040503050406030204" pitchFamily="18" charset="0"/>
                          </a:rPr>
                        </m:ctrlPr>
                      </m:sSupPr>
                      <m:e>
                        <m:r>
                          <a:rPr lang="es-MX" sz="2400" b="0" i="1" smtClean="0">
                            <a:latin typeface="Cambria Math" panose="02040503050406030204" pitchFamily="18" charset="0"/>
                          </a:rPr>
                          <m:t>𝑎</m:t>
                        </m:r>
                      </m:e>
                      <m:sup>
                        <m:r>
                          <a:rPr lang="es-MX" sz="2400" b="0" i="1" smtClean="0">
                            <a:latin typeface="Cambria Math" panose="02040503050406030204" pitchFamily="18" charset="0"/>
                          </a:rPr>
                          <m:t>𝑛</m:t>
                        </m:r>
                      </m:sup>
                    </m:sSup>
                    <m:sSup>
                      <m:sSupPr>
                        <m:ctrlPr>
                          <a:rPr lang="es-MX" sz="2400" i="1">
                            <a:latin typeface="Cambria Math" panose="02040503050406030204" pitchFamily="18" charset="0"/>
                          </a:rPr>
                        </m:ctrlPr>
                      </m:sSupPr>
                      <m:e>
                        <m:r>
                          <a:rPr lang="es-MX" sz="2400" b="0" i="1" smtClean="0">
                            <a:latin typeface="Cambria Math" panose="02040503050406030204" pitchFamily="18" charset="0"/>
                          </a:rPr>
                          <m:t>𝑏</m:t>
                        </m:r>
                      </m:e>
                      <m:sup>
                        <m:r>
                          <a:rPr lang="es-MX" sz="2400" i="1">
                            <a:latin typeface="Cambria Math" panose="02040503050406030204" pitchFamily="18" charset="0"/>
                          </a:rPr>
                          <m:t>𝑛</m:t>
                        </m:r>
                      </m:sup>
                    </m:sSup>
                  </m:oMath>
                </a14:m>
                <a:r>
                  <a:rPr lang="es-MX" sz="2400" dirty="0">
                    <a:latin typeface="Montserrat" panose="00000500000000000000" pitchFamily="2" charset="0"/>
                  </a:rPr>
                  <a:t>. </a:t>
                </a:r>
              </a:p>
              <a:p>
                <a:pPr algn="just"/>
                <a:endParaRPr lang="es-MX" sz="2400" dirty="0">
                  <a:latin typeface="Montserrat" panose="00000500000000000000" pitchFamily="2" charset="0"/>
                </a:endParaRPr>
              </a:p>
              <a:p>
                <a:pPr algn="just"/>
                <a:r>
                  <a:rPr lang="es-MX" sz="2400" dirty="0">
                    <a:latin typeface="Montserrat" panose="00000500000000000000" pitchFamily="2" charset="0"/>
                  </a:rPr>
                  <a:t>Si la cantidad de símbolos coincide y no existen inconsistencias en el orden, la cadena es aceptada; en caso contrario, es rechazada.</a:t>
                </a:r>
              </a:p>
              <a:p>
                <a:pPr algn="just"/>
                <a:r>
                  <a:rPr lang="es-MX" sz="2400" dirty="0">
                    <a:latin typeface="Montserrat" panose="00000500000000000000" pitchFamily="2" charset="0"/>
                  </a:rPr>
                  <a:t>Este enfoque permite representar de manera práctica los conceptos vistos en teoría, facilitando la comprensión del funcionamiento de una máquina de Turing mediante su implementación en un entorno gráfico.</a:t>
                </a:r>
              </a:p>
            </p:txBody>
          </p:sp>
        </mc:Choice>
        <mc:Fallback>
          <p:sp>
            <p:nvSpPr>
              <p:cNvPr id="7" name="CuadroTexto 6">
                <a:extLst>
                  <a:ext uri="{FF2B5EF4-FFF2-40B4-BE49-F238E27FC236}">
                    <a16:creationId xmlns:a16="http://schemas.microsoft.com/office/drawing/2014/main" id="{B990EEC1-2F9D-AF32-874C-BA62FB775935}"/>
                  </a:ext>
                </a:extLst>
              </p:cNvPr>
              <p:cNvSpPr txBox="1">
                <a:spLocks noRot="1" noChangeAspect="1" noMove="1" noResize="1" noEditPoints="1" noAdjustHandles="1" noChangeArrowheads="1" noChangeShapeType="1" noTextEdit="1"/>
              </p:cNvSpPr>
              <p:nvPr/>
            </p:nvSpPr>
            <p:spPr>
              <a:xfrm>
                <a:off x="990600" y="1333022"/>
                <a:ext cx="16306800" cy="8586966"/>
              </a:xfrm>
              <a:prstGeom prst="rect">
                <a:avLst/>
              </a:prstGeom>
              <a:blipFill>
                <a:blip r:embed="rId3"/>
                <a:stretch>
                  <a:fillRect l="-598" t="-497" r="-561" b="-781"/>
                </a:stretch>
              </a:blipFill>
            </p:spPr>
            <p:txBody>
              <a:bodyPr/>
              <a:lstStyle/>
              <a:p>
                <a:r>
                  <a:rPr lang="es-MX">
                    <a:noFill/>
                  </a:rPr>
                  <a:t> </a:t>
                </a:r>
              </a:p>
            </p:txBody>
          </p:sp>
        </mc:Fallback>
      </mc:AlternateContent>
    </p:spTree>
    <p:extLst>
      <p:ext uri="{BB962C8B-B14F-4D97-AF65-F5344CB8AC3E}">
        <p14:creationId xmlns:p14="http://schemas.microsoft.com/office/powerpoint/2010/main" val="1978790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CB36970-38AF-58E1-1438-49A697C701A7}"/>
              </a:ext>
            </a:extLst>
          </p:cNvPr>
          <p:cNvSpPr txBox="1"/>
          <p:nvPr/>
        </p:nvSpPr>
        <p:spPr>
          <a:xfrm>
            <a:off x="685800" y="190500"/>
            <a:ext cx="9144000" cy="369332"/>
          </a:xfrm>
          <a:prstGeom prst="rect">
            <a:avLst/>
          </a:prstGeom>
          <a:noFill/>
        </p:spPr>
        <p:txBody>
          <a:bodyPr wrap="square">
            <a:spAutoFit/>
          </a:bodyPr>
          <a:lstStyle/>
          <a:p>
            <a:r>
              <a:rPr lang="es-MX" dirty="0">
                <a:latin typeface="Montserrat" panose="00000500000000000000" pitchFamily="2" charset="0"/>
              </a:rPr>
              <a:t>Figura 6. Código de la implementación en Java</a:t>
            </a:r>
          </a:p>
        </p:txBody>
      </p:sp>
      <p:pic>
        <p:nvPicPr>
          <p:cNvPr id="5" name="Imagen 4">
            <a:extLst>
              <a:ext uri="{FF2B5EF4-FFF2-40B4-BE49-F238E27FC236}">
                <a16:creationId xmlns:a16="http://schemas.microsoft.com/office/drawing/2014/main" id="{4C592636-E4BF-6F19-0973-6F6876F051A6}"/>
              </a:ext>
            </a:extLst>
          </p:cNvPr>
          <p:cNvPicPr>
            <a:picLocks noChangeAspect="1"/>
          </p:cNvPicPr>
          <p:nvPr/>
        </p:nvPicPr>
        <p:blipFill>
          <a:blip r:embed="rId3"/>
          <a:stretch>
            <a:fillRect/>
          </a:stretch>
        </p:blipFill>
        <p:spPr>
          <a:xfrm>
            <a:off x="228600" y="876300"/>
            <a:ext cx="6565602" cy="3691654"/>
          </a:xfrm>
          <a:prstGeom prst="rect">
            <a:avLst/>
          </a:prstGeom>
        </p:spPr>
      </p:pic>
      <p:sp>
        <p:nvSpPr>
          <p:cNvPr id="7" name="CuadroTexto 6">
            <a:extLst>
              <a:ext uri="{FF2B5EF4-FFF2-40B4-BE49-F238E27FC236}">
                <a16:creationId xmlns:a16="http://schemas.microsoft.com/office/drawing/2014/main" id="{D588D037-901A-A344-33FF-1AF58C5498B4}"/>
              </a:ext>
            </a:extLst>
          </p:cNvPr>
          <p:cNvSpPr txBox="1"/>
          <p:nvPr/>
        </p:nvSpPr>
        <p:spPr>
          <a:xfrm>
            <a:off x="7696200" y="199292"/>
            <a:ext cx="9144000" cy="9694962"/>
          </a:xfrm>
          <a:prstGeom prst="rect">
            <a:avLst/>
          </a:prstGeom>
          <a:noFill/>
        </p:spPr>
        <p:txBody>
          <a:bodyPr wrap="square">
            <a:spAutoFit/>
          </a:bodyPr>
          <a:lstStyle/>
          <a:p>
            <a:r>
              <a:rPr lang="es-MX" sz="800" b="0" dirty="0" err="1">
                <a:solidFill>
                  <a:srgbClr val="569CD6"/>
                </a:solidFill>
                <a:effectLst/>
                <a:latin typeface="Consolas" panose="020B0609020204030204" pitchFamily="49" charset="0"/>
              </a:rPr>
              <a:t>import</a:t>
            </a:r>
            <a:r>
              <a:rPr lang="es-MX" sz="800" b="0" dirty="0">
                <a:solidFill>
                  <a:srgbClr val="CCCCCC"/>
                </a:solidFill>
                <a:effectLst/>
                <a:latin typeface="Consolas" panose="020B0609020204030204" pitchFamily="49" charset="0"/>
              </a:rPr>
              <a:t> </a:t>
            </a:r>
            <a:r>
              <a:rPr lang="es-MX" sz="800" b="0" dirty="0" err="1">
                <a:solidFill>
                  <a:srgbClr val="D4D4D4"/>
                </a:solidFill>
                <a:effectLst/>
                <a:latin typeface="Consolas" panose="020B0609020204030204" pitchFamily="49" charset="0"/>
              </a:rPr>
              <a:t>javafx.application.</a:t>
            </a:r>
            <a:r>
              <a:rPr lang="es-MX" sz="800" b="0" dirty="0" err="1">
                <a:solidFill>
                  <a:srgbClr val="4EC9B0"/>
                </a:solidFill>
                <a:effectLst/>
                <a:latin typeface="Consolas" panose="020B0609020204030204" pitchFamily="49" charset="0"/>
              </a:rPr>
              <a:t>Application</a:t>
            </a:r>
            <a:r>
              <a:rPr lang="es-MX" sz="800" b="0" dirty="0">
                <a:solidFill>
                  <a:srgbClr val="CCCCCC"/>
                </a:solidFill>
                <a:effectLst/>
                <a:latin typeface="Consolas" panose="020B0609020204030204" pitchFamily="49" charset="0"/>
              </a:rPr>
              <a:t>;</a:t>
            </a:r>
          </a:p>
          <a:p>
            <a:r>
              <a:rPr lang="es-MX" sz="800" b="0" dirty="0" err="1">
                <a:solidFill>
                  <a:srgbClr val="569CD6"/>
                </a:solidFill>
                <a:effectLst/>
                <a:latin typeface="Consolas" panose="020B0609020204030204" pitchFamily="49" charset="0"/>
              </a:rPr>
              <a:t>import</a:t>
            </a:r>
            <a:r>
              <a:rPr lang="es-MX" sz="800" b="0" dirty="0">
                <a:solidFill>
                  <a:srgbClr val="CCCCCC"/>
                </a:solidFill>
                <a:effectLst/>
                <a:latin typeface="Consolas" panose="020B0609020204030204" pitchFamily="49" charset="0"/>
              </a:rPr>
              <a:t> </a:t>
            </a:r>
            <a:r>
              <a:rPr lang="es-MX" sz="800" b="0" dirty="0" err="1">
                <a:solidFill>
                  <a:srgbClr val="D4D4D4"/>
                </a:solidFill>
                <a:effectLst/>
                <a:latin typeface="Consolas" panose="020B0609020204030204" pitchFamily="49" charset="0"/>
              </a:rPr>
              <a:t>javafx.scene.</a:t>
            </a:r>
            <a:r>
              <a:rPr lang="es-MX" sz="800" b="0" dirty="0" err="1">
                <a:solidFill>
                  <a:srgbClr val="4EC9B0"/>
                </a:solidFill>
                <a:effectLst/>
                <a:latin typeface="Consolas" panose="020B0609020204030204" pitchFamily="49" charset="0"/>
              </a:rPr>
              <a:t>Scene</a:t>
            </a:r>
            <a:r>
              <a:rPr lang="es-MX" sz="800" b="0" dirty="0">
                <a:solidFill>
                  <a:srgbClr val="CCCCCC"/>
                </a:solidFill>
                <a:effectLst/>
                <a:latin typeface="Consolas" panose="020B0609020204030204" pitchFamily="49" charset="0"/>
              </a:rPr>
              <a:t>;</a:t>
            </a:r>
          </a:p>
          <a:p>
            <a:r>
              <a:rPr lang="es-MX" sz="800" b="0" dirty="0" err="1">
                <a:solidFill>
                  <a:srgbClr val="569CD6"/>
                </a:solidFill>
                <a:effectLst/>
                <a:latin typeface="Consolas" panose="020B0609020204030204" pitchFamily="49" charset="0"/>
              </a:rPr>
              <a:t>import</a:t>
            </a:r>
            <a:r>
              <a:rPr lang="es-MX" sz="800" b="0" dirty="0">
                <a:solidFill>
                  <a:srgbClr val="CCCCCC"/>
                </a:solidFill>
                <a:effectLst/>
                <a:latin typeface="Consolas" panose="020B0609020204030204" pitchFamily="49" charset="0"/>
              </a:rPr>
              <a:t> </a:t>
            </a:r>
            <a:r>
              <a:rPr lang="es-MX" sz="800" b="0" dirty="0" err="1">
                <a:solidFill>
                  <a:srgbClr val="D4D4D4"/>
                </a:solidFill>
                <a:effectLst/>
                <a:latin typeface="Consolas" panose="020B0609020204030204" pitchFamily="49" charset="0"/>
              </a:rPr>
              <a:t>javafx.scene.control</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a:t>
            </a:r>
          </a:p>
          <a:p>
            <a:r>
              <a:rPr lang="es-MX" sz="800" b="0" dirty="0" err="1">
                <a:solidFill>
                  <a:srgbClr val="569CD6"/>
                </a:solidFill>
                <a:effectLst/>
                <a:latin typeface="Consolas" panose="020B0609020204030204" pitchFamily="49" charset="0"/>
              </a:rPr>
              <a:t>import</a:t>
            </a:r>
            <a:r>
              <a:rPr lang="es-MX" sz="800" b="0" dirty="0">
                <a:solidFill>
                  <a:srgbClr val="CCCCCC"/>
                </a:solidFill>
                <a:effectLst/>
                <a:latin typeface="Consolas" panose="020B0609020204030204" pitchFamily="49" charset="0"/>
              </a:rPr>
              <a:t> </a:t>
            </a:r>
            <a:r>
              <a:rPr lang="es-MX" sz="800" b="0" dirty="0" err="1">
                <a:solidFill>
                  <a:srgbClr val="D4D4D4"/>
                </a:solidFill>
                <a:effectLst/>
                <a:latin typeface="Consolas" panose="020B0609020204030204" pitchFamily="49" charset="0"/>
              </a:rPr>
              <a:t>javafx.scene.layout.</a:t>
            </a:r>
            <a:r>
              <a:rPr lang="es-MX" sz="800" b="0" dirty="0" err="1">
                <a:solidFill>
                  <a:srgbClr val="4EC9B0"/>
                </a:solidFill>
                <a:effectLst/>
                <a:latin typeface="Consolas" panose="020B0609020204030204" pitchFamily="49" charset="0"/>
              </a:rPr>
              <a:t>VBox</a:t>
            </a:r>
            <a:r>
              <a:rPr lang="es-MX" sz="800" b="0" dirty="0">
                <a:solidFill>
                  <a:srgbClr val="CCCCCC"/>
                </a:solidFill>
                <a:effectLst/>
                <a:latin typeface="Consolas" panose="020B0609020204030204" pitchFamily="49" charset="0"/>
              </a:rPr>
              <a:t>;</a:t>
            </a:r>
          </a:p>
          <a:p>
            <a:r>
              <a:rPr lang="es-MX" sz="800" b="0" dirty="0" err="1">
                <a:solidFill>
                  <a:srgbClr val="569CD6"/>
                </a:solidFill>
                <a:effectLst/>
                <a:latin typeface="Consolas" panose="020B0609020204030204" pitchFamily="49" charset="0"/>
              </a:rPr>
              <a:t>import</a:t>
            </a:r>
            <a:r>
              <a:rPr lang="es-MX" sz="800" b="0" dirty="0">
                <a:solidFill>
                  <a:srgbClr val="CCCCCC"/>
                </a:solidFill>
                <a:effectLst/>
                <a:latin typeface="Consolas" panose="020B0609020204030204" pitchFamily="49" charset="0"/>
              </a:rPr>
              <a:t> </a:t>
            </a:r>
            <a:r>
              <a:rPr lang="es-MX" sz="800" b="0" dirty="0" err="1">
                <a:solidFill>
                  <a:srgbClr val="D4D4D4"/>
                </a:solidFill>
                <a:effectLst/>
                <a:latin typeface="Consolas" panose="020B0609020204030204" pitchFamily="49" charset="0"/>
              </a:rPr>
              <a:t>javafx.stage.</a:t>
            </a:r>
            <a:r>
              <a:rPr lang="es-MX" sz="800" b="0" dirty="0" err="1">
                <a:solidFill>
                  <a:srgbClr val="4EC9B0"/>
                </a:solidFill>
                <a:effectLst/>
                <a:latin typeface="Consolas" panose="020B0609020204030204" pitchFamily="49" charset="0"/>
              </a:rPr>
              <a:t>Stage</a:t>
            </a:r>
            <a:r>
              <a:rPr lang="es-MX" sz="800" b="0" dirty="0">
                <a:solidFill>
                  <a:srgbClr val="CCCCCC"/>
                </a:solidFill>
                <a:effectLst/>
                <a:latin typeface="Consolas" panose="020B0609020204030204" pitchFamily="49" charset="0"/>
              </a:rPr>
              <a:t>;</a:t>
            </a:r>
          </a:p>
          <a:p>
            <a:br>
              <a:rPr lang="es-MX" sz="800" b="0" dirty="0">
                <a:solidFill>
                  <a:srgbClr val="CCCCCC"/>
                </a:solidFill>
                <a:effectLst/>
                <a:latin typeface="Consolas" panose="020B0609020204030204" pitchFamily="49" charset="0"/>
              </a:rPr>
            </a:br>
            <a:r>
              <a:rPr lang="es-MX" sz="800" b="0" dirty="0" err="1">
                <a:solidFill>
                  <a:srgbClr val="569CD6"/>
                </a:solidFill>
                <a:effectLst/>
                <a:latin typeface="Consolas" panose="020B0609020204030204" pitchFamily="49" charset="0"/>
              </a:rPr>
              <a:t>public</a:t>
            </a:r>
            <a:r>
              <a:rPr lang="es-MX" sz="800" b="0" dirty="0">
                <a:solidFill>
                  <a:srgbClr val="CCCCCC"/>
                </a:solidFill>
                <a:effectLst/>
                <a:latin typeface="Consolas" panose="020B0609020204030204" pitchFamily="49" charset="0"/>
              </a:rPr>
              <a:t> </a:t>
            </a:r>
            <a:r>
              <a:rPr lang="es-MX" sz="800" b="0" dirty="0" err="1">
                <a:solidFill>
                  <a:srgbClr val="569CD6"/>
                </a:solidFill>
                <a:effectLst/>
                <a:latin typeface="Consolas" panose="020B0609020204030204" pitchFamily="49" charset="0"/>
              </a:rPr>
              <a:t>class</a:t>
            </a: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TuringAnBnFX</a:t>
            </a:r>
            <a:r>
              <a:rPr lang="es-MX" sz="800" b="0" dirty="0">
                <a:solidFill>
                  <a:srgbClr val="CCCCCC"/>
                </a:solidFill>
                <a:effectLst/>
                <a:latin typeface="Consolas" panose="020B0609020204030204" pitchFamily="49" charset="0"/>
              </a:rPr>
              <a:t> </a:t>
            </a:r>
            <a:r>
              <a:rPr lang="es-MX" sz="800" b="0" dirty="0" err="1">
                <a:solidFill>
                  <a:srgbClr val="569CD6"/>
                </a:solidFill>
                <a:effectLst/>
                <a:latin typeface="Consolas" panose="020B0609020204030204" pitchFamily="49" charset="0"/>
              </a:rPr>
              <a:t>extends</a:t>
            </a: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Application</a:t>
            </a:r>
            <a:r>
              <a:rPr lang="es-MX" sz="800" b="0" dirty="0">
                <a:solidFill>
                  <a:srgbClr val="CCCCCC"/>
                </a:solidFill>
                <a:effectLst/>
                <a:latin typeface="Consolas" panose="020B0609020204030204" pitchFamily="49" charset="0"/>
              </a:rPr>
              <a:t> {</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err="1">
                <a:solidFill>
                  <a:srgbClr val="569CD6"/>
                </a:solidFill>
                <a:effectLst/>
                <a:latin typeface="Consolas" panose="020B0609020204030204" pitchFamily="49" charset="0"/>
              </a:rPr>
              <a:t>private</a:t>
            </a: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TextField</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inputField</a:t>
            </a:r>
            <a:r>
              <a:rPr lang="es-MX" sz="800" b="0" dirty="0">
                <a:solidFill>
                  <a:srgbClr val="CCCCCC"/>
                </a:solidFill>
                <a:effectLst/>
                <a:latin typeface="Consolas" panose="020B0609020204030204" pitchFamily="49" charset="0"/>
              </a:rPr>
              <a:t>;</a:t>
            </a:r>
          </a:p>
          <a:p>
            <a:r>
              <a:rPr lang="es-MX" sz="800" b="0" dirty="0">
                <a:solidFill>
                  <a:srgbClr val="CCCCCC"/>
                </a:solidFill>
                <a:effectLst/>
                <a:latin typeface="Consolas" panose="020B0609020204030204" pitchFamily="49" charset="0"/>
              </a:rPr>
              <a:t>    </a:t>
            </a:r>
            <a:r>
              <a:rPr lang="es-MX" sz="800" b="0" dirty="0" err="1">
                <a:solidFill>
                  <a:srgbClr val="569CD6"/>
                </a:solidFill>
                <a:effectLst/>
                <a:latin typeface="Consolas" panose="020B0609020204030204" pitchFamily="49" charset="0"/>
              </a:rPr>
              <a:t>private</a:t>
            </a: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Label</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resultLabel</a:t>
            </a:r>
            <a:r>
              <a:rPr lang="es-MX" sz="800" b="0" dirty="0">
                <a:solidFill>
                  <a:srgbClr val="CCCCCC"/>
                </a:solidFill>
                <a:effectLst/>
                <a:latin typeface="Consolas" panose="020B0609020204030204" pitchFamily="49" charset="0"/>
              </a:rPr>
              <a:t>;</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a:solidFill>
                  <a:srgbClr val="4EC9B0"/>
                </a:solidFill>
                <a:effectLst/>
                <a:latin typeface="Consolas" panose="020B0609020204030204" pitchFamily="49" charset="0"/>
              </a:rPr>
              <a:t>Override</a:t>
            </a:r>
            <a:endParaRPr lang="es-MX" sz="800" b="0" dirty="0">
              <a:solidFill>
                <a:srgbClr val="CCCCCC"/>
              </a:solidFill>
              <a:effectLst/>
              <a:latin typeface="Consolas" panose="020B0609020204030204" pitchFamily="49" charset="0"/>
            </a:endParaRPr>
          </a:p>
          <a:p>
            <a:r>
              <a:rPr lang="es-MX" sz="800" b="0" dirty="0">
                <a:solidFill>
                  <a:srgbClr val="CCCCCC"/>
                </a:solidFill>
                <a:effectLst/>
                <a:latin typeface="Consolas" panose="020B0609020204030204" pitchFamily="49" charset="0"/>
              </a:rPr>
              <a:t>    </a:t>
            </a:r>
            <a:r>
              <a:rPr lang="es-MX" sz="800" b="0" dirty="0" err="1">
                <a:solidFill>
                  <a:srgbClr val="569CD6"/>
                </a:solidFill>
                <a:effectLst/>
                <a:latin typeface="Consolas" panose="020B0609020204030204" pitchFamily="49" charset="0"/>
              </a:rPr>
              <a:t>public</a:t>
            </a: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void</a:t>
            </a:r>
            <a:r>
              <a:rPr lang="es-MX" sz="800" b="0" dirty="0">
                <a:solidFill>
                  <a:srgbClr val="CCCCCC"/>
                </a:solidFill>
                <a:effectLst/>
                <a:latin typeface="Consolas" panose="020B0609020204030204" pitchFamily="49" charset="0"/>
              </a:rPr>
              <a:t> </a:t>
            </a:r>
            <a:r>
              <a:rPr lang="es-MX" sz="800" b="0" dirty="0" err="1">
                <a:solidFill>
                  <a:srgbClr val="DCDCAA"/>
                </a:solidFill>
                <a:effectLst/>
                <a:latin typeface="Consolas" panose="020B0609020204030204" pitchFamily="49" charset="0"/>
              </a:rPr>
              <a:t>start</a:t>
            </a:r>
            <a:r>
              <a:rPr lang="es-MX" sz="800" b="0" dirty="0">
                <a:solidFill>
                  <a:srgbClr val="CCCCCC"/>
                </a:solidFill>
                <a:effectLst/>
                <a:latin typeface="Consolas" panose="020B0609020204030204" pitchFamily="49" charset="0"/>
              </a:rPr>
              <a:t>(</a:t>
            </a:r>
            <a:r>
              <a:rPr lang="es-MX" sz="800" b="0" dirty="0" err="1">
                <a:solidFill>
                  <a:srgbClr val="4EC9B0"/>
                </a:solidFill>
                <a:effectLst/>
                <a:latin typeface="Consolas" panose="020B0609020204030204" pitchFamily="49" charset="0"/>
              </a:rPr>
              <a:t>Stage</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stage</a:t>
            </a:r>
            <a:r>
              <a:rPr lang="es-MX" sz="800" b="0" dirty="0">
                <a:solidFill>
                  <a:srgbClr val="CCCCCC"/>
                </a:solidFill>
                <a:effectLst/>
                <a:latin typeface="Consolas" panose="020B0609020204030204" pitchFamily="49" charset="0"/>
              </a:rPr>
              <a:t>) {</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a:solidFill>
                  <a:srgbClr val="6A9955"/>
                </a:solidFill>
                <a:effectLst/>
                <a:latin typeface="Consolas" panose="020B0609020204030204" pitchFamily="49" charset="0"/>
              </a:rPr>
              <a:t>// Titulo</a:t>
            </a:r>
            <a:endParaRPr lang="es-MX" sz="800" b="0" dirty="0">
              <a:solidFill>
                <a:srgbClr val="CCCCCC"/>
              </a:solidFill>
              <a:effectLst/>
              <a:latin typeface="Consolas" panose="020B0609020204030204" pitchFamily="49" charset="0"/>
            </a:endParaRPr>
          </a:p>
          <a:p>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Label</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title</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a:solidFill>
                  <a:srgbClr val="C586C0"/>
                </a:solidFill>
                <a:effectLst/>
                <a:latin typeface="Consolas" panose="020B0609020204030204" pitchFamily="49" charset="0"/>
              </a:rPr>
              <a:t>new</a:t>
            </a: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Label</a:t>
            </a:r>
            <a:r>
              <a:rPr lang="es-MX" sz="800" b="0" dirty="0">
                <a:solidFill>
                  <a:srgbClr val="CCCCCC"/>
                </a:solidFill>
                <a:effectLst/>
                <a:latin typeface="Consolas" panose="020B0609020204030204" pitchFamily="49" charset="0"/>
              </a:rPr>
              <a:t>(</a:t>
            </a:r>
            <a:r>
              <a:rPr lang="es-MX" sz="800" b="0" dirty="0">
                <a:solidFill>
                  <a:srgbClr val="CE9178"/>
                </a:solidFill>
                <a:effectLst/>
                <a:latin typeface="Consolas" panose="020B0609020204030204" pitchFamily="49" charset="0"/>
              </a:rPr>
              <a:t>"Maquina de Turing (</a:t>
            </a:r>
            <a:r>
              <a:rPr lang="es-MX" sz="800" b="0" dirty="0" err="1">
                <a:solidFill>
                  <a:srgbClr val="CE9178"/>
                </a:solidFill>
                <a:effectLst/>
                <a:latin typeface="Consolas" panose="020B0609020204030204" pitchFamily="49" charset="0"/>
              </a:rPr>
              <a:t>a^n</a:t>
            </a:r>
            <a:r>
              <a:rPr lang="es-MX" sz="800" b="0" dirty="0">
                <a:solidFill>
                  <a:srgbClr val="CE9178"/>
                </a:solidFill>
                <a:effectLst/>
                <a:latin typeface="Consolas" panose="020B0609020204030204" pitchFamily="49" charset="0"/>
              </a:rPr>
              <a:t> </a:t>
            </a:r>
            <a:r>
              <a:rPr lang="es-MX" sz="800" b="0" dirty="0" err="1">
                <a:solidFill>
                  <a:srgbClr val="CE9178"/>
                </a:solidFill>
                <a:effectLst/>
                <a:latin typeface="Consolas" panose="020B0609020204030204" pitchFamily="49" charset="0"/>
              </a:rPr>
              <a:t>b^n</a:t>
            </a:r>
            <a:r>
              <a:rPr lang="es-MX" sz="800" b="0" dirty="0">
                <a:solidFill>
                  <a:srgbClr val="CE9178"/>
                </a:solidFill>
                <a:effectLst/>
                <a:latin typeface="Consolas" panose="020B0609020204030204" pitchFamily="49" charset="0"/>
              </a:rPr>
              <a:t>)"</a:t>
            </a:r>
            <a:r>
              <a:rPr lang="es-MX" sz="800" b="0" dirty="0">
                <a:solidFill>
                  <a:srgbClr val="CCCCCC"/>
                </a:solidFill>
                <a:effectLst/>
                <a:latin typeface="Consolas" panose="020B0609020204030204" pitchFamily="49" charset="0"/>
              </a:rPr>
              <a:t>);</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a:solidFill>
                  <a:srgbClr val="6A9955"/>
                </a:solidFill>
                <a:effectLst/>
                <a:latin typeface="Consolas" panose="020B0609020204030204" pitchFamily="49" charset="0"/>
              </a:rPr>
              <a:t>// Campo de entrada</a:t>
            </a:r>
            <a:endParaRPr lang="es-MX" sz="800" b="0" dirty="0">
              <a:solidFill>
                <a:srgbClr val="CCCCCC"/>
              </a:solidFill>
              <a:effectLst/>
              <a:latin typeface="Consolas" panose="020B0609020204030204" pitchFamily="49" charset="0"/>
            </a:endParaRPr>
          </a:p>
          <a:p>
            <a:r>
              <a:rPr lang="es-MX" sz="800" b="0" dirty="0">
                <a:solidFill>
                  <a:srgbClr val="CCCCCC"/>
                </a:solidFill>
                <a:effectLst/>
                <a:latin typeface="Consolas" panose="020B0609020204030204" pitchFamily="49" charset="0"/>
              </a:rPr>
              <a:t>        </a:t>
            </a:r>
            <a:r>
              <a:rPr lang="es-MX" sz="800" b="0" dirty="0" err="1">
                <a:solidFill>
                  <a:srgbClr val="CCCCCC"/>
                </a:solidFill>
                <a:effectLst/>
                <a:latin typeface="Consolas" panose="020B0609020204030204" pitchFamily="49" charset="0"/>
              </a:rPr>
              <a:t>inputField</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a:solidFill>
                  <a:srgbClr val="C586C0"/>
                </a:solidFill>
                <a:effectLst/>
                <a:latin typeface="Consolas" panose="020B0609020204030204" pitchFamily="49" charset="0"/>
              </a:rPr>
              <a:t>new</a:t>
            </a: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TextField</a:t>
            </a:r>
            <a:r>
              <a:rPr lang="es-MX" sz="800" b="0" dirty="0">
                <a:solidFill>
                  <a:srgbClr val="CCCCCC"/>
                </a:solidFill>
                <a:effectLst/>
                <a:latin typeface="Consolas" panose="020B0609020204030204" pitchFamily="49" charset="0"/>
              </a:rPr>
              <a:t>();</a:t>
            </a:r>
          </a:p>
          <a:p>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inputField</a:t>
            </a:r>
            <a:r>
              <a:rPr lang="es-MX" sz="800" b="0" dirty="0" err="1">
                <a:solidFill>
                  <a:srgbClr val="CCCCCC"/>
                </a:solidFill>
                <a:effectLst/>
                <a:latin typeface="Consolas" panose="020B0609020204030204" pitchFamily="49" charset="0"/>
              </a:rPr>
              <a:t>.</a:t>
            </a:r>
            <a:r>
              <a:rPr lang="es-MX" sz="800" b="0" dirty="0" err="1">
                <a:solidFill>
                  <a:srgbClr val="4EC9B0"/>
                </a:solidFill>
                <a:effectLst/>
                <a:latin typeface="Consolas" panose="020B0609020204030204" pitchFamily="49" charset="0"/>
              </a:rPr>
              <a:t>setPromptText</a:t>
            </a:r>
            <a:r>
              <a:rPr lang="es-MX" sz="800" b="0" dirty="0">
                <a:solidFill>
                  <a:srgbClr val="CCCCCC"/>
                </a:solidFill>
                <a:effectLst/>
                <a:latin typeface="Consolas" panose="020B0609020204030204" pitchFamily="49" charset="0"/>
              </a:rPr>
              <a:t>(</a:t>
            </a:r>
            <a:r>
              <a:rPr lang="es-MX" sz="800" b="0" dirty="0">
                <a:solidFill>
                  <a:srgbClr val="CE9178"/>
                </a:solidFill>
                <a:effectLst/>
                <a:latin typeface="Consolas" panose="020B0609020204030204" pitchFamily="49" charset="0"/>
              </a:rPr>
              <a:t>"Ingresa cadena (</a:t>
            </a:r>
            <a:r>
              <a:rPr lang="es-MX" sz="800" b="0" dirty="0" err="1">
                <a:solidFill>
                  <a:srgbClr val="CE9178"/>
                </a:solidFill>
                <a:effectLst/>
                <a:latin typeface="Consolas" panose="020B0609020204030204" pitchFamily="49" charset="0"/>
              </a:rPr>
              <a:t>ej</a:t>
            </a:r>
            <a:r>
              <a:rPr lang="es-MX" sz="800" b="0" dirty="0">
                <a:solidFill>
                  <a:srgbClr val="CE9178"/>
                </a:solidFill>
                <a:effectLst/>
                <a:latin typeface="Consolas" panose="020B0609020204030204" pitchFamily="49" charset="0"/>
              </a:rPr>
              <a:t>: </a:t>
            </a:r>
            <a:r>
              <a:rPr lang="es-MX" sz="800" b="0" dirty="0" err="1">
                <a:solidFill>
                  <a:srgbClr val="CE9178"/>
                </a:solidFill>
                <a:effectLst/>
                <a:latin typeface="Consolas" panose="020B0609020204030204" pitchFamily="49" charset="0"/>
              </a:rPr>
              <a:t>aabb</a:t>
            </a:r>
            <a:r>
              <a:rPr lang="es-MX" sz="800" b="0" dirty="0">
                <a:solidFill>
                  <a:srgbClr val="CE9178"/>
                </a:solidFill>
                <a:effectLst/>
                <a:latin typeface="Consolas" panose="020B0609020204030204" pitchFamily="49" charset="0"/>
              </a:rPr>
              <a:t>)"</a:t>
            </a:r>
            <a:r>
              <a:rPr lang="es-MX" sz="800" b="0" dirty="0">
                <a:solidFill>
                  <a:srgbClr val="CCCCCC"/>
                </a:solidFill>
                <a:effectLst/>
                <a:latin typeface="Consolas" panose="020B0609020204030204" pitchFamily="49" charset="0"/>
              </a:rPr>
              <a:t>);</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a:solidFill>
                  <a:srgbClr val="6A9955"/>
                </a:solidFill>
                <a:effectLst/>
                <a:latin typeface="Consolas" panose="020B0609020204030204" pitchFamily="49" charset="0"/>
              </a:rPr>
              <a:t>// </a:t>
            </a:r>
            <a:r>
              <a:rPr lang="es-MX" sz="800" b="0" dirty="0" err="1">
                <a:solidFill>
                  <a:srgbClr val="6A9955"/>
                </a:solidFill>
                <a:effectLst/>
                <a:latin typeface="Consolas" panose="020B0609020204030204" pitchFamily="49" charset="0"/>
              </a:rPr>
              <a:t>Boton</a:t>
            </a:r>
            <a:endParaRPr lang="es-MX" sz="800" b="0" dirty="0">
              <a:solidFill>
                <a:srgbClr val="CCCCCC"/>
              </a:solidFill>
              <a:effectLst/>
              <a:latin typeface="Consolas" panose="020B0609020204030204" pitchFamily="49" charset="0"/>
            </a:endParaRPr>
          </a:p>
          <a:p>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Button</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validateButton</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a:solidFill>
                  <a:srgbClr val="C586C0"/>
                </a:solidFill>
                <a:effectLst/>
                <a:latin typeface="Consolas" panose="020B0609020204030204" pitchFamily="49" charset="0"/>
              </a:rPr>
              <a:t>new</a:t>
            </a: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Button</a:t>
            </a:r>
            <a:r>
              <a:rPr lang="es-MX" sz="800" b="0" dirty="0">
                <a:solidFill>
                  <a:srgbClr val="CCCCCC"/>
                </a:solidFill>
                <a:effectLst/>
                <a:latin typeface="Consolas" panose="020B0609020204030204" pitchFamily="49" charset="0"/>
              </a:rPr>
              <a:t>(</a:t>
            </a:r>
            <a:r>
              <a:rPr lang="es-MX" sz="800" b="0" dirty="0">
                <a:solidFill>
                  <a:srgbClr val="CE9178"/>
                </a:solidFill>
                <a:effectLst/>
                <a:latin typeface="Consolas" panose="020B0609020204030204" pitchFamily="49" charset="0"/>
              </a:rPr>
              <a:t>"Validar"</a:t>
            </a:r>
            <a:r>
              <a:rPr lang="es-MX" sz="800" b="0" dirty="0">
                <a:solidFill>
                  <a:srgbClr val="CCCCCC"/>
                </a:solidFill>
                <a:effectLst/>
                <a:latin typeface="Consolas" panose="020B0609020204030204" pitchFamily="49" charset="0"/>
              </a:rPr>
              <a:t>);</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a:solidFill>
                  <a:srgbClr val="6A9955"/>
                </a:solidFill>
                <a:effectLst/>
                <a:latin typeface="Consolas" panose="020B0609020204030204" pitchFamily="49" charset="0"/>
              </a:rPr>
              <a:t>// Resultado</a:t>
            </a:r>
            <a:endParaRPr lang="es-MX" sz="800" b="0" dirty="0">
              <a:solidFill>
                <a:srgbClr val="CCCCCC"/>
              </a:solidFill>
              <a:effectLst/>
              <a:latin typeface="Consolas" panose="020B0609020204030204" pitchFamily="49" charset="0"/>
            </a:endParaRPr>
          </a:p>
          <a:p>
            <a:r>
              <a:rPr lang="es-MX" sz="800" b="0" dirty="0">
                <a:solidFill>
                  <a:srgbClr val="CCCCCC"/>
                </a:solidFill>
                <a:effectLst/>
                <a:latin typeface="Consolas" panose="020B0609020204030204" pitchFamily="49" charset="0"/>
              </a:rPr>
              <a:t>        </a:t>
            </a:r>
            <a:r>
              <a:rPr lang="es-MX" sz="800" b="0" dirty="0" err="1">
                <a:solidFill>
                  <a:srgbClr val="CCCCCC"/>
                </a:solidFill>
                <a:effectLst/>
                <a:latin typeface="Consolas" panose="020B0609020204030204" pitchFamily="49" charset="0"/>
              </a:rPr>
              <a:t>resultLabel</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a:solidFill>
                  <a:srgbClr val="C586C0"/>
                </a:solidFill>
                <a:effectLst/>
                <a:latin typeface="Consolas" panose="020B0609020204030204" pitchFamily="49" charset="0"/>
              </a:rPr>
              <a:t>new</a:t>
            </a: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Label</a:t>
            </a:r>
            <a:r>
              <a:rPr lang="es-MX" sz="800" b="0" dirty="0">
                <a:solidFill>
                  <a:srgbClr val="CCCCCC"/>
                </a:solidFill>
                <a:effectLst/>
                <a:latin typeface="Consolas" panose="020B0609020204030204" pitchFamily="49" charset="0"/>
              </a:rPr>
              <a:t>();</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a:solidFill>
                  <a:srgbClr val="6A9955"/>
                </a:solidFill>
                <a:effectLst/>
                <a:latin typeface="Consolas" panose="020B0609020204030204" pitchFamily="49" charset="0"/>
              </a:rPr>
              <a:t>// Evento del </a:t>
            </a:r>
            <a:r>
              <a:rPr lang="es-MX" sz="800" b="0" dirty="0" err="1">
                <a:solidFill>
                  <a:srgbClr val="6A9955"/>
                </a:solidFill>
                <a:effectLst/>
                <a:latin typeface="Consolas" panose="020B0609020204030204" pitchFamily="49" charset="0"/>
              </a:rPr>
              <a:t>boton</a:t>
            </a:r>
            <a:endParaRPr lang="es-MX" sz="800" b="0" dirty="0">
              <a:solidFill>
                <a:srgbClr val="CCCCCC"/>
              </a:solidFill>
              <a:effectLst/>
              <a:latin typeface="Consolas" panose="020B0609020204030204" pitchFamily="49" charset="0"/>
            </a:endParaRPr>
          </a:p>
          <a:p>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validateButton</a:t>
            </a:r>
            <a:r>
              <a:rPr lang="es-MX" sz="800" b="0" dirty="0" err="1">
                <a:solidFill>
                  <a:srgbClr val="CCCCCC"/>
                </a:solidFill>
                <a:effectLst/>
                <a:latin typeface="Consolas" panose="020B0609020204030204" pitchFamily="49" charset="0"/>
              </a:rPr>
              <a:t>.</a:t>
            </a:r>
            <a:r>
              <a:rPr lang="es-MX" sz="800" b="0" dirty="0" err="1">
                <a:solidFill>
                  <a:srgbClr val="4EC9B0"/>
                </a:solidFill>
                <a:effectLst/>
                <a:latin typeface="Consolas" panose="020B0609020204030204" pitchFamily="49" charset="0"/>
              </a:rPr>
              <a:t>setOnAction</a:t>
            </a:r>
            <a:r>
              <a:rPr lang="es-MX" sz="800" b="0" dirty="0">
                <a:solidFill>
                  <a:srgbClr val="CCCCCC"/>
                </a:solidFill>
                <a:effectLst/>
                <a:latin typeface="Consolas" panose="020B0609020204030204" pitchFamily="49" charset="0"/>
              </a:rPr>
              <a:t>(</a:t>
            </a:r>
            <a:r>
              <a:rPr lang="es-MX" sz="800" b="0" dirty="0">
                <a:solidFill>
                  <a:srgbClr val="9CDCFE"/>
                </a:solidFill>
                <a:effectLst/>
                <a:latin typeface="Consolas" panose="020B0609020204030204" pitchFamily="49" charset="0"/>
              </a:rPr>
              <a:t>e</a:t>
            </a:r>
            <a:r>
              <a:rPr lang="es-MX" sz="800" b="0" dirty="0">
                <a:solidFill>
                  <a:srgbClr val="CCCCCC"/>
                </a:solidFill>
                <a:effectLst/>
                <a:latin typeface="Consolas" panose="020B0609020204030204" pitchFamily="49" charset="0"/>
              </a:rPr>
              <a:t> </a:t>
            </a:r>
            <a:r>
              <a:rPr lang="es-MX" sz="800" b="0" dirty="0">
                <a:solidFill>
                  <a:srgbClr val="569CD6"/>
                </a:solidFill>
                <a:effectLst/>
                <a:latin typeface="Consolas" panose="020B0609020204030204" pitchFamily="49" charset="0"/>
              </a:rPr>
              <a:t>-&gt;</a:t>
            </a:r>
            <a:r>
              <a:rPr lang="es-MX" sz="800" b="0" dirty="0">
                <a:solidFill>
                  <a:srgbClr val="CCCCCC"/>
                </a:solidFill>
                <a:effectLst/>
                <a:latin typeface="Consolas" panose="020B0609020204030204" pitchFamily="49" charset="0"/>
              </a:rPr>
              <a:t> </a:t>
            </a:r>
            <a:r>
              <a:rPr lang="es-MX" sz="800" b="0" dirty="0" err="1">
                <a:solidFill>
                  <a:srgbClr val="DCDCAA"/>
                </a:solidFill>
                <a:effectLst/>
                <a:latin typeface="Consolas" panose="020B0609020204030204" pitchFamily="49" charset="0"/>
              </a:rPr>
              <a:t>validate</a:t>
            </a:r>
            <a:r>
              <a:rPr lang="es-MX" sz="800" b="0" dirty="0">
                <a:solidFill>
                  <a:srgbClr val="CCCCCC"/>
                </a:solidFill>
                <a:effectLst/>
                <a:latin typeface="Consolas" panose="020B0609020204030204" pitchFamily="49" charset="0"/>
              </a:rPr>
              <a:t>());</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a:solidFill>
                  <a:srgbClr val="6A9955"/>
                </a:solidFill>
                <a:effectLst/>
                <a:latin typeface="Consolas" panose="020B0609020204030204" pitchFamily="49" charset="0"/>
              </a:rPr>
              <a:t>// </a:t>
            </a:r>
            <a:r>
              <a:rPr lang="es-MX" sz="800" b="0" dirty="0" err="1">
                <a:solidFill>
                  <a:srgbClr val="6A9955"/>
                </a:solidFill>
                <a:effectLst/>
                <a:latin typeface="Consolas" panose="020B0609020204030204" pitchFamily="49" charset="0"/>
              </a:rPr>
              <a:t>Layout</a:t>
            </a:r>
            <a:endParaRPr lang="es-MX" sz="800" b="0" dirty="0">
              <a:solidFill>
                <a:srgbClr val="CCCCCC"/>
              </a:solidFill>
              <a:effectLst/>
              <a:latin typeface="Consolas" panose="020B0609020204030204" pitchFamily="49" charset="0"/>
            </a:endParaRPr>
          </a:p>
          <a:p>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VBox</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root</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a:solidFill>
                  <a:srgbClr val="C586C0"/>
                </a:solidFill>
                <a:effectLst/>
                <a:latin typeface="Consolas" panose="020B0609020204030204" pitchFamily="49" charset="0"/>
              </a:rPr>
              <a:t>new</a:t>
            </a: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VBox</a:t>
            </a:r>
            <a:r>
              <a:rPr lang="es-MX" sz="800" b="0" dirty="0">
                <a:solidFill>
                  <a:srgbClr val="CCCCCC"/>
                </a:solidFill>
                <a:effectLst/>
                <a:latin typeface="Consolas" panose="020B0609020204030204" pitchFamily="49" charset="0"/>
              </a:rPr>
              <a:t>(</a:t>
            </a:r>
            <a:r>
              <a:rPr lang="es-MX" sz="800" b="0" dirty="0">
                <a:solidFill>
                  <a:srgbClr val="B5CEA8"/>
                </a:solidFill>
                <a:effectLst/>
                <a:latin typeface="Consolas" panose="020B0609020204030204" pitchFamily="49" charset="0"/>
              </a:rPr>
              <a:t>10</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title</a:t>
            </a:r>
            <a:r>
              <a:rPr lang="es-MX" sz="800" b="0" dirty="0">
                <a:solidFill>
                  <a:srgbClr val="CCCCCC"/>
                </a:solidFill>
                <a:effectLst/>
                <a:latin typeface="Consolas" panose="020B0609020204030204" pitchFamily="49" charset="0"/>
              </a:rPr>
              <a:t>, </a:t>
            </a:r>
            <a:r>
              <a:rPr lang="es-MX" sz="800" b="0" dirty="0" err="1">
                <a:solidFill>
                  <a:srgbClr val="CCCCCC"/>
                </a:solidFill>
                <a:effectLst/>
                <a:latin typeface="Consolas" panose="020B0609020204030204" pitchFamily="49" charset="0"/>
              </a:rPr>
              <a:t>inputField</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validateButton</a:t>
            </a:r>
            <a:r>
              <a:rPr lang="es-MX" sz="800" b="0" dirty="0">
                <a:solidFill>
                  <a:srgbClr val="CCCCCC"/>
                </a:solidFill>
                <a:effectLst/>
                <a:latin typeface="Consolas" panose="020B0609020204030204" pitchFamily="49" charset="0"/>
              </a:rPr>
              <a:t>, </a:t>
            </a:r>
            <a:r>
              <a:rPr lang="es-MX" sz="800" b="0" dirty="0" err="1">
                <a:solidFill>
                  <a:srgbClr val="CCCCCC"/>
                </a:solidFill>
                <a:effectLst/>
                <a:latin typeface="Consolas" panose="020B0609020204030204" pitchFamily="49" charset="0"/>
              </a:rPr>
              <a:t>resultLabel</a:t>
            </a:r>
            <a:r>
              <a:rPr lang="es-MX" sz="800" b="0" dirty="0">
                <a:solidFill>
                  <a:srgbClr val="CCCCCC"/>
                </a:solidFill>
                <a:effectLst/>
                <a:latin typeface="Consolas" panose="020B0609020204030204" pitchFamily="49" charset="0"/>
              </a:rPr>
              <a:t>);</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a:solidFill>
                  <a:srgbClr val="6A9955"/>
                </a:solidFill>
                <a:effectLst/>
                <a:latin typeface="Consolas" panose="020B0609020204030204" pitchFamily="49" charset="0"/>
              </a:rPr>
              <a:t>// Escena</a:t>
            </a:r>
            <a:endParaRPr lang="es-MX" sz="800" b="0" dirty="0">
              <a:solidFill>
                <a:srgbClr val="CCCCCC"/>
              </a:solidFill>
              <a:effectLst/>
              <a:latin typeface="Consolas" panose="020B0609020204030204" pitchFamily="49" charset="0"/>
            </a:endParaRPr>
          </a:p>
          <a:p>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Scene</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scene</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a:solidFill>
                  <a:srgbClr val="C586C0"/>
                </a:solidFill>
                <a:effectLst/>
                <a:latin typeface="Consolas" panose="020B0609020204030204" pitchFamily="49" charset="0"/>
              </a:rPr>
              <a:t>new</a:t>
            </a: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Scene</a:t>
            </a:r>
            <a:r>
              <a:rPr lang="es-MX" sz="800" b="0" dirty="0">
                <a:solidFill>
                  <a:srgbClr val="CCCCCC"/>
                </a:solidFill>
                <a:effectLst/>
                <a:latin typeface="Consolas" panose="020B0609020204030204" pitchFamily="49" charset="0"/>
              </a:rPr>
              <a:t>(</a:t>
            </a:r>
            <a:r>
              <a:rPr lang="es-MX" sz="800" b="0" dirty="0" err="1">
                <a:solidFill>
                  <a:srgbClr val="9CDCFE"/>
                </a:solidFill>
                <a:effectLst/>
                <a:latin typeface="Consolas" panose="020B0609020204030204" pitchFamily="49" charset="0"/>
              </a:rPr>
              <a:t>root</a:t>
            </a:r>
            <a:r>
              <a:rPr lang="es-MX" sz="800" b="0" dirty="0">
                <a:solidFill>
                  <a:srgbClr val="CCCCCC"/>
                </a:solidFill>
                <a:effectLst/>
                <a:latin typeface="Consolas" panose="020B0609020204030204" pitchFamily="49" charset="0"/>
              </a:rPr>
              <a:t>, </a:t>
            </a:r>
            <a:r>
              <a:rPr lang="es-MX" sz="800" b="0" dirty="0">
                <a:solidFill>
                  <a:srgbClr val="B5CEA8"/>
                </a:solidFill>
                <a:effectLst/>
                <a:latin typeface="Consolas" panose="020B0609020204030204" pitchFamily="49" charset="0"/>
              </a:rPr>
              <a:t>350</a:t>
            </a:r>
            <a:r>
              <a:rPr lang="es-MX" sz="800" b="0" dirty="0">
                <a:solidFill>
                  <a:srgbClr val="CCCCCC"/>
                </a:solidFill>
                <a:effectLst/>
                <a:latin typeface="Consolas" panose="020B0609020204030204" pitchFamily="49" charset="0"/>
              </a:rPr>
              <a:t>, </a:t>
            </a:r>
            <a:r>
              <a:rPr lang="es-MX" sz="800" b="0" dirty="0">
                <a:solidFill>
                  <a:srgbClr val="B5CEA8"/>
                </a:solidFill>
                <a:effectLst/>
                <a:latin typeface="Consolas" panose="020B0609020204030204" pitchFamily="49" charset="0"/>
              </a:rPr>
              <a:t>200</a:t>
            </a:r>
            <a:r>
              <a:rPr lang="es-MX" sz="800" b="0" dirty="0">
                <a:solidFill>
                  <a:srgbClr val="CCCCCC"/>
                </a:solidFill>
                <a:effectLst/>
                <a:latin typeface="Consolas" panose="020B0609020204030204" pitchFamily="49" charset="0"/>
              </a:rPr>
              <a:t>);</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stage</a:t>
            </a:r>
            <a:r>
              <a:rPr lang="es-MX" sz="800" b="0" dirty="0" err="1">
                <a:solidFill>
                  <a:srgbClr val="CCCCCC"/>
                </a:solidFill>
                <a:effectLst/>
                <a:latin typeface="Consolas" panose="020B0609020204030204" pitchFamily="49" charset="0"/>
              </a:rPr>
              <a:t>.</a:t>
            </a:r>
            <a:r>
              <a:rPr lang="es-MX" sz="800" b="0" dirty="0" err="1">
                <a:solidFill>
                  <a:srgbClr val="4EC9B0"/>
                </a:solidFill>
                <a:effectLst/>
                <a:latin typeface="Consolas" panose="020B0609020204030204" pitchFamily="49" charset="0"/>
              </a:rPr>
              <a:t>setTitle</a:t>
            </a:r>
            <a:r>
              <a:rPr lang="es-MX" sz="800" b="0" dirty="0">
                <a:solidFill>
                  <a:srgbClr val="CCCCCC"/>
                </a:solidFill>
                <a:effectLst/>
                <a:latin typeface="Consolas" panose="020B0609020204030204" pitchFamily="49" charset="0"/>
              </a:rPr>
              <a:t>(</a:t>
            </a:r>
            <a:r>
              <a:rPr lang="es-MX" sz="800" b="0" dirty="0">
                <a:solidFill>
                  <a:srgbClr val="CE9178"/>
                </a:solidFill>
                <a:effectLst/>
                <a:latin typeface="Consolas" panose="020B0609020204030204" pitchFamily="49" charset="0"/>
              </a:rPr>
              <a:t>"</a:t>
            </a:r>
            <a:r>
              <a:rPr lang="es-MX" sz="800" b="0" dirty="0" err="1">
                <a:solidFill>
                  <a:srgbClr val="CE9178"/>
                </a:solidFill>
                <a:effectLst/>
                <a:latin typeface="Consolas" panose="020B0609020204030204" pitchFamily="49" charset="0"/>
              </a:rPr>
              <a:t>Simulacion</a:t>
            </a:r>
            <a:r>
              <a:rPr lang="es-MX" sz="800" b="0" dirty="0">
                <a:solidFill>
                  <a:srgbClr val="CE9178"/>
                </a:solidFill>
                <a:effectLst/>
                <a:latin typeface="Consolas" panose="020B0609020204030204" pitchFamily="49" charset="0"/>
              </a:rPr>
              <a:t> MT"</a:t>
            </a:r>
            <a:r>
              <a:rPr lang="es-MX" sz="800" b="0" dirty="0">
                <a:solidFill>
                  <a:srgbClr val="CCCCCC"/>
                </a:solidFill>
                <a:effectLst/>
                <a:latin typeface="Consolas" panose="020B0609020204030204" pitchFamily="49" charset="0"/>
              </a:rPr>
              <a:t>);</a:t>
            </a:r>
          </a:p>
          <a:p>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stage</a:t>
            </a:r>
            <a:r>
              <a:rPr lang="es-MX" sz="800" b="0" dirty="0" err="1">
                <a:solidFill>
                  <a:srgbClr val="CCCCCC"/>
                </a:solidFill>
                <a:effectLst/>
                <a:latin typeface="Consolas" panose="020B0609020204030204" pitchFamily="49" charset="0"/>
              </a:rPr>
              <a:t>.</a:t>
            </a:r>
            <a:r>
              <a:rPr lang="es-MX" sz="800" b="0" dirty="0" err="1">
                <a:solidFill>
                  <a:srgbClr val="4EC9B0"/>
                </a:solidFill>
                <a:effectLst/>
                <a:latin typeface="Consolas" panose="020B0609020204030204" pitchFamily="49" charset="0"/>
              </a:rPr>
              <a:t>setScene</a:t>
            </a:r>
            <a:r>
              <a:rPr lang="es-MX" sz="800" b="0" dirty="0">
                <a:solidFill>
                  <a:srgbClr val="CCCCCC"/>
                </a:solidFill>
                <a:effectLst/>
                <a:latin typeface="Consolas" panose="020B0609020204030204" pitchFamily="49" charset="0"/>
              </a:rPr>
              <a:t>(</a:t>
            </a:r>
            <a:r>
              <a:rPr lang="es-MX" sz="800" b="0" dirty="0" err="1">
                <a:solidFill>
                  <a:srgbClr val="9CDCFE"/>
                </a:solidFill>
                <a:effectLst/>
                <a:latin typeface="Consolas" panose="020B0609020204030204" pitchFamily="49" charset="0"/>
              </a:rPr>
              <a:t>scene</a:t>
            </a:r>
            <a:r>
              <a:rPr lang="es-MX" sz="800" b="0" dirty="0">
                <a:solidFill>
                  <a:srgbClr val="CCCCCC"/>
                </a:solidFill>
                <a:effectLst/>
                <a:latin typeface="Consolas" panose="020B0609020204030204" pitchFamily="49" charset="0"/>
              </a:rPr>
              <a:t>);</a:t>
            </a:r>
          </a:p>
          <a:p>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stage</a:t>
            </a:r>
            <a:r>
              <a:rPr lang="es-MX" sz="800" b="0" dirty="0" err="1">
                <a:solidFill>
                  <a:srgbClr val="CCCCCC"/>
                </a:solidFill>
                <a:effectLst/>
                <a:latin typeface="Consolas" panose="020B0609020204030204" pitchFamily="49" charset="0"/>
              </a:rPr>
              <a:t>.</a:t>
            </a:r>
            <a:r>
              <a:rPr lang="es-MX" sz="800" b="0" dirty="0" err="1">
                <a:solidFill>
                  <a:srgbClr val="4EC9B0"/>
                </a:solidFill>
                <a:effectLst/>
                <a:latin typeface="Consolas" panose="020B0609020204030204" pitchFamily="49" charset="0"/>
              </a:rPr>
              <a:t>show</a:t>
            </a:r>
            <a:r>
              <a:rPr lang="es-MX" sz="800" b="0" dirty="0">
                <a:solidFill>
                  <a:srgbClr val="CCCCCC"/>
                </a:solidFill>
                <a:effectLst/>
                <a:latin typeface="Consolas" panose="020B0609020204030204" pitchFamily="49" charset="0"/>
              </a:rPr>
              <a:t>();</a:t>
            </a:r>
          </a:p>
          <a:p>
            <a:r>
              <a:rPr lang="es-MX" sz="800" b="0" dirty="0">
                <a:solidFill>
                  <a:srgbClr val="CCCCCC"/>
                </a:solidFill>
                <a:effectLst/>
                <a:latin typeface="Consolas" panose="020B0609020204030204" pitchFamily="49" charset="0"/>
              </a:rPr>
              <a:t>    }</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err="1">
                <a:solidFill>
                  <a:srgbClr val="569CD6"/>
                </a:solidFill>
                <a:effectLst/>
                <a:latin typeface="Consolas" panose="020B0609020204030204" pitchFamily="49" charset="0"/>
              </a:rPr>
              <a:t>private</a:t>
            </a: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void</a:t>
            </a:r>
            <a:r>
              <a:rPr lang="es-MX" sz="800" b="0" dirty="0">
                <a:solidFill>
                  <a:srgbClr val="CCCCCC"/>
                </a:solidFill>
                <a:effectLst/>
                <a:latin typeface="Consolas" panose="020B0609020204030204" pitchFamily="49" charset="0"/>
              </a:rPr>
              <a:t> </a:t>
            </a:r>
            <a:r>
              <a:rPr lang="es-MX" sz="800" b="0" dirty="0" err="1">
                <a:solidFill>
                  <a:srgbClr val="DCDCAA"/>
                </a:solidFill>
                <a:effectLst/>
                <a:latin typeface="Consolas" panose="020B0609020204030204" pitchFamily="49" charset="0"/>
              </a:rPr>
              <a:t>validate</a:t>
            </a:r>
            <a:r>
              <a:rPr lang="es-MX" sz="800" b="0" dirty="0">
                <a:solidFill>
                  <a:srgbClr val="CCCCCC"/>
                </a:solidFill>
                <a:effectLst/>
                <a:latin typeface="Consolas" panose="020B0609020204030204" pitchFamily="49" charset="0"/>
              </a:rPr>
              <a:t>() {</a:t>
            </a:r>
          </a:p>
          <a:p>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String</a:t>
            </a:r>
            <a:r>
              <a:rPr lang="es-MX" sz="800" b="0" dirty="0">
                <a:solidFill>
                  <a:srgbClr val="CCCCCC"/>
                </a:solidFill>
                <a:effectLst/>
                <a:latin typeface="Consolas" panose="020B0609020204030204" pitchFamily="49" charset="0"/>
              </a:rPr>
              <a:t> </a:t>
            </a:r>
            <a:r>
              <a:rPr lang="es-MX" sz="800" b="0" dirty="0">
                <a:solidFill>
                  <a:srgbClr val="9CDCFE"/>
                </a:solidFill>
                <a:effectLst/>
                <a:latin typeface="Consolas" panose="020B0609020204030204" pitchFamily="49" charset="0"/>
              </a:rPr>
              <a:t>input</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inputField</a:t>
            </a:r>
            <a:r>
              <a:rPr lang="es-MX" sz="800" b="0" dirty="0" err="1">
                <a:solidFill>
                  <a:srgbClr val="CCCCCC"/>
                </a:solidFill>
                <a:effectLst/>
                <a:latin typeface="Consolas" panose="020B0609020204030204" pitchFamily="49" charset="0"/>
              </a:rPr>
              <a:t>.</a:t>
            </a:r>
            <a:r>
              <a:rPr lang="es-MX" sz="800" b="0" dirty="0" err="1">
                <a:solidFill>
                  <a:srgbClr val="4EC9B0"/>
                </a:solidFill>
                <a:effectLst/>
                <a:latin typeface="Consolas" panose="020B0609020204030204" pitchFamily="49" charset="0"/>
              </a:rPr>
              <a:t>getText</a:t>
            </a:r>
            <a:r>
              <a:rPr lang="es-MX" sz="800" b="0" dirty="0">
                <a:solidFill>
                  <a:srgbClr val="CCCCCC"/>
                </a:solidFill>
                <a:effectLst/>
                <a:latin typeface="Consolas" panose="020B0609020204030204" pitchFamily="49" charset="0"/>
              </a:rPr>
              <a:t>();</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err="1">
                <a:solidFill>
                  <a:srgbClr val="C586C0"/>
                </a:solidFill>
                <a:effectLst/>
                <a:latin typeface="Consolas" panose="020B0609020204030204" pitchFamily="49" charset="0"/>
              </a:rPr>
              <a:t>if</a:t>
            </a:r>
            <a:r>
              <a:rPr lang="es-MX" sz="800" b="0" dirty="0">
                <a:solidFill>
                  <a:srgbClr val="CCCCCC"/>
                </a:solidFill>
                <a:effectLst/>
                <a:latin typeface="Consolas" panose="020B0609020204030204" pitchFamily="49" charset="0"/>
              </a:rPr>
              <a:t> (</a:t>
            </a:r>
            <a:r>
              <a:rPr lang="es-MX" sz="800" b="0" dirty="0" err="1">
                <a:solidFill>
                  <a:srgbClr val="DCDCAA"/>
                </a:solidFill>
                <a:effectLst/>
                <a:latin typeface="Consolas" panose="020B0609020204030204" pitchFamily="49" charset="0"/>
              </a:rPr>
              <a:t>isValid</a:t>
            </a:r>
            <a:r>
              <a:rPr lang="es-MX" sz="800" b="0" dirty="0">
                <a:solidFill>
                  <a:srgbClr val="CCCCCC"/>
                </a:solidFill>
                <a:effectLst/>
                <a:latin typeface="Consolas" panose="020B0609020204030204" pitchFamily="49" charset="0"/>
              </a:rPr>
              <a:t>(</a:t>
            </a:r>
            <a:r>
              <a:rPr lang="es-MX" sz="800" b="0" dirty="0">
                <a:solidFill>
                  <a:srgbClr val="9CDCFE"/>
                </a:solidFill>
                <a:effectLst/>
                <a:latin typeface="Consolas" panose="020B0609020204030204" pitchFamily="49" charset="0"/>
              </a:rPr>
              <a:t>input</a:t>
            </a:r>
            <a:r>
              <a:rPr lang="es-MX" sz="800" b="0" dirty="0">
                <a:solidFill>
                  <a:srgbClr val="CCCCCC"/>
                </a:solidFill>
                <a:effectLst/>
                <a:latin typeface="Consolas" panose="020B0609020204030204" pitchFamily="49" charset="0"/>
              </a:rPr>
              <a:t>)) {</a:t>
            </a:r>
          </a:p>
          <a:p>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resultLabel</a:t>
            </a:r>
            <a:r>
              <a:rPr lang="es-MX" sz="800" b="0" dirty="0" err="1">
                <a:solidFill>
                  <a:srgbClr val="CCCCCC"/>
                </a:solidFill>
                <a:effectLst/>
                <a:latin typeface="Consolas" panose="020B0609020204030204" pitchFamily="49" charset="0"/>
              </a:rPr>
              <a:t>.</a:t>
            </a:r>
            <a:r>
              <a:rPr lang="es-MX" sz="800" b="0" dirty="0" err="1">
                <a:solidFill>
                  <a:srgbClr val="4EC9B0"/>
                </a:solidFill>
                <a:effectLst/>
                <a:latin typeface="Consolas" panose="020B0609020204030204" pitchFamily="49" charset="0"/>
              </a:rPr>
              <a:t>setText</a:t>
            </a:r>
            <a:r>
              <a:rPr lang="es-MX" sz="800" b="0" dirty="0">
                <a:solidFill>
                  <a:srgbClr val="CCCCCC"/>
                </a:solidFill>
                <a:effectLst/>
                <a:latin typeface="Consolas" panose="020B0609020204030204" pitchFamily="49" charset="0"/>
              </a:rPr>
              <a:t>(</a:t>
            </a:r>
            <a:r>
              <a:rPr lang="es-MX" sz="800" b="0" dirty="0">
                <a:solidFill>
                  <a:srgbClr val="CE9178"/>
                </a:solidFill>
                <a:effectLst/>
                <a:latin typeface="Consolas" panose="020B0609020204030204" pitchFamily="49" charset="0"/>
              </a:rPr>
              <a:t>"Cadena valida"</a:t>
            </a:r>
            <a:r>
              <a:rPr lang="es-MX" sz="800" b="0" dirty="0">
                <a:solidFill>
                  <a:srgbClr val="CCCCCC"/>
                </a:solidFill>
                <a:effectLst/>
                <a:latin typeface="Consolas" panose="020B0609020204030204" pitchFamily="49" charset="0"/>
              </a:rPr>
              <a:t>);</a:t>
            </a:r>
          </a:p>
          <a:p>
            <a:r>
              <a:rPr lang="es-MX" sz="800" b="0" dirty="0">
                <a:solidFill>
                  <a:srgbClr val="CCCCCC"/>
                </a:solidFill>
                <a:effectLst/>
                <a:latin typeface="Consolas" panose="020B0609020204030204" pitchFamily="49" charset="0"/>
              </a:rPr>
              <a:t>        } </a:t>
            </a:r>
            <a:r>
              <a:rPr lang="es-MX" sz="800" b="0" dirty="0" err="1">
                <a:solidFill>
                  <a:srgbClr val="C586C0"/>
                </a:solidFill>
                <a:effectLst/>
                <a:latin typeface="Consolas" panose="020B0609020204030204" pitchFamily="49" charset="0"/>
              </a:rPr>
              <a:t>else</a:t>
            </a:r>
            <a:r>
              <a:rPr lang="es-MX" sz="800" b="0" dirty="0">
                <a:solidFill>
                  <a:srgbClr val="CCCCCC"/>
                </a:solidFill>
                <a:effectLst/>
                <a:latin typeface="Consolas" panose="020B0609020204030204" pitchFamily="49" charset="0"/>
              </a:rPr>
              <a:t> {</a:t>
            </a:r>
          </a:p>
          <a:p>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resultLabel</a:t>
            </a:r>
            <a:r>
              <a:rPr lang="es-MX" sz="800" b="0" dirty="0" err="1">
                <a:solidFill>
                  <a:srgbClr val="CCCCCC"/>
                </a:solidFill>
                <a:effectLst/>
                <a:latin typeface="Consolas" panose="020B0609020204030204" pitchFamily="49" charset="0"/>
              </a:rPr>
              <a:t>.</a:t>
            </a:r>
            <a:r>
              <a:rPr lang="es-MX" sz="800" b="0" dirty="0" err="1">
                <a:solidFill>
                  <a:srgbClr val="4EC9B0"/>
                </a:solidFill>
                <a:effectLst/>
                <a:latin typeface="Consolas" panose="020B0609020204030204" pitchFamily="49" charset="0"/>
              </a:rPr>
              <a:t>setText</a:t>
            </a:r>
            <a:r>
              <a:rPr lang="es-MX" sz="800" b="0" dirty="0">
                <a:solidFill>
                  <a:srgbClr val="CCCCCC"/>
                </a:solidFill>
                <a:effectLst/>
                <a:latin typeface="Consolas" panose="020B0609020204030204" pitchFamily="49" charset="0"/>
              </a:rPr>
              <a:t>(</a:t>
            </a:r>
            <a:r>
              <a:rPr lang="es-MX" sz="800" b="0" dirty="0">
                <a:solidFill>
                  <a:srgbClr val="CE9178"/>
                </a:solidFill>
                <a:effectLst/>
                <a:latin typeface="Consolas" panose="020B0609020204030204" pitchFamily="49" charset="0"/>
              </a:rPr>
              <a:t>"Cadena invalida"</a:t>
            </a:r>
            <a:r>
              <a:rPr lang="es-MX" sz="800" b="0" dirty="0">
                <a:solidFill>
                  <a:srgbClr val="CCCCCC"/>
                </a:solidFill>
                <a:effectLst/>
                <a:latin typeface="Consolas" panose="020B0609020204030204" pitchFamily="49" charset="0"/>
              </a:rPr>
              <a:t>);</a:t>
            </a:r>
          </a:p>
          <a:p>
            <a:r>
              <a:rPr lang="es-MX" sz="800" b="0" dirty="0">
                <a:solidFill>
                  <a:srgbClr val="CCCCCC"/>
                </a:solidFill>
                <a:effectLst/>
                <a:latin typeface="Consolas" panose="020B0609020204030204" pitchFamily="49" charset="0"/>
              </a:rPr>
              <a:t>        }</a:t>
            </a:r>
          </a:p>
          <a:p>
            <a:r>
              <a:rPr lang="es-MX" sz="800" b="0" dirty="0">
                <a:solidFill>
                  <a:srgbClr val="CCCCCC"/>
                </a:solidFill>
                <a:effectLst/>
                <a:latin typeface="Consolas" panose="020B0609020204030204" pitchFamily="49" charset="0"/>
              </a:rPr>
              <a:t>    }</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err="1">
                <a:solidFill>
                  <a:srgbClr val="569CD6"/>
                </a:solidFill>
                <a:effectLst/>
                <a:latin typeface="Consolas" panose="020B0609020204030204" pitchFamily="49" charset="0"/>
              </a:rPr>
              <a:t>private</a:t>
            </a: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boolean</a:t>
            </a:r>
            <a:r>
              <a:rPr lang="es-MX" sz="800" b="0" dirty="0">
                <a:solidFill>
                  <a:srgbClr val="CCCCCC"/>
                </a:solidFill>
                <a:effectLst/>
                <a:latin typeface="Consolas" panose="020B0609020204030204" pitchFamily="49" charset="0"/>
              </a:rPr>
              <a:t> </a:t>
            </a:r>
            <a:r>
              <a:rPr lang="es-MX" sz="800" b="0" dirty="0" err="1">
                <a:solidFill>
                  <a:srgbClr val="DCDCAA"/>
                </a:solidFill>
                <a:effectLst/>
                <a:latin typeface="Consolas" panose="020B0609020204030204" pitchFamily="49" charset="0"/>
              </a:rPr>
              <a:t>isValid</a:t>
            </a:r>
            <a:r>
              <a:rPr lang="es-MX" sz="800" b="0" dirty="0">
                <a:solidFill>
                  <a:srgbClr val="CCCCCC"/>
                </a:solidFill>
                <a:effectLst/>
                <a:latin typeface="Consolas" panose="020B0609020204030204" pitchFamily="49" charset="0"/>
              </a:rPr>
              <a:t>(</a:t>
            </a:r>
            <a:r>
              <a:rPr lang="es-MX" sz="800" b="0" dirty="0" err="1">
                <a:solidFill>
                  <a:srgbClr val="4EC9B0"/>
                </a:solidFill>
                <a:effectLst/>
                <a:latin typeface="Consolas" panose="020B0609020204030204" pitchFamily="49" charset="0"/>
              </a:rPr>
              <a:t>String</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str</a:t>
            </a:r>
            <a:r>
              <a:rPr lang="es-MX" sz="800" b="0" dirty="0">
                <a:solidFill>
                  <a:srgbClr val="CCCCCC"/>
                </a:solidFill>
                <a:effectLst/>
                <a:latin typeface="Consolas" panose="020B0609020204030204" pitchFamily="49" charset="0"/>
              </a:rPr>
              <a:t>) {</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int</a:t>
            </a:r>
            <a:r>
              <a:rPr lang="es-MX" sz="800" b="0" dirty="0">
                <a:solidFill>
                  <a:srgbClr val="CCCCCC"/>
                </a:solidFill>
                <a:effectLst/>
                <a:latin typeface="Consolas" panose="020B0609020204030204" pitchFamily="49" charset="0"/>
              </a:rPr>
              <a:t> </a:t>
            </a:r>
            <a:r>
              <a:rPr lang="es-MX" sz="800" b="0" dirty="0">
                <a:solidFill>
                  <a:srgbClr val="9CDCFE"/>
                </a:solidFill>
                <a:effectLst/>
                <a:latin typeface="Consolas" panose="020B0609020204030204" pitchFamily="49" charset="0"/>
              </a:rPr>
              <a:t>i</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a:solidFill>
                  <a:srgbClr val="B5CEA8"/>
                </a:solidFill>
                <a:effectLst/>
                <a:latin typeface="Consolas" panose="020B0609020204030204" pitchFamily="49" charset="0"/>
              </a:rPr>
              <a:t>0</a:t>
            </a:r>
            <a:r>
              <a:rPr lang="es-MX" sz="800" b="0" dirty="0">
                <a:solidFill>
                  <a:srgbClr val="CCCCCC"/>
                </a:solidFill>
                <a:effectLst/>
                <a:latin typeface="Consolas" panose="020B0609020204030204" pitchFamily="49" charset="0"/>
              </a:rPr>
              <a:t>;</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a:solidFill>
                  <a:srgbClr val="6A9955"/>
                </a:solidFill>
                <a:effectLst/>
                <a:latin typeface="Consolas" panose="020B0609020204030204" pitchFamily="49" charset="0"/>
              </a:rPr>
              <a:t>// contar 'a'</a:t>
            </a:r>
            <a:endParaRPr lang="es-MX" sz="800" b="0" dirty="0">
              <a:solidFill>
                <a:srgbClr val="CCCCCC"/>
              </a:solidFill>
              <a:effectLst/>
              <a:latin typeface="Consolas" panose="020B0609020204030204" pitchFamily="49" charset="0"/>
            </a:endParaRPr>
          </a:p>
          <a:p>
            <a:r>
              <a:rPr lang="es-MX" sz="800" b="0" dirty="0">
                <a:solidFill>
                  <a:srgbClr val="CCCCCC"/>
                </a:solidFill>
                <a:effectLst/>
                <a:latin typeface="Consolas" panose="020B0609020204030204" pitchFamily="49" charset="0"/>
              </a:rPr>
              <a:t>        </a:t>
            </a:r>
            <a:r>
              <a:rPr lang="es-MX" sz="800" b="0" dirty="0" err="1">
                <a:solidFill>
                  <a:srgbClr val="C586C0"/>
                </a:solidFill>
                <a:effectLst/>
                <a:latin typeface="Consolas" panose="020B0609020204030204" pitchFamily="49" charset="0"/>
              </a:rPr>
              <a:t>while</a:t>
            </a:r>
            <a:r>
              <a:rPr lang="es-MX" sz="800" b="0" dirty="0">
                <a:solidFill>
                  <a:srgbClr val="CCCCCC"/>
                </a:solidFill>
                <a:effectLst/>
                <a:latin typeface="Consolas" panose="020B0609020204030204" pitchFamily="49" charset="0"/>
              </a:rPr>
              <a:t> (</a:t>
            </a:r>
            <a:r>
              <a:rPr lang="es-MX" sz="800" b="0" dirty="0">
                <a:solidFill>
                  <a:srgbClr val="9CDCFE"/>
                </a:solidFill>
                <a:effectLst/>
                <a:latin typeface="Consolas" panose="020B0609020204030204" pitchFamily="49" charset="0"/>
              </a:rPr>
              <a:t>i</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&lt;</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str</a:t>
            </a:r>
            <a:r>
              <a:rPr lang="es-MX" sz="800" b="0" dirty="0" err="1">
                <a:solidFill>
                  <a:srgbClr val="CCCCCC"/>
                </a:solidFill>
                <a:effectLst/>
                <a:latin typeface="Consolas" panose="020B0609020204030204" pitchFamily="49" charset="0"/>
              </a:rPr>
              <a:t>.</a:t>
            </a:r>
            <a:r>
              <a:rPr lang="es-MX" sz="800" b="0" dirty="0" err="1">
                <a:solidFill>
                  <a:srgbClr val="DCDCAA"/>
                </a:solidFill>
                <a:effectLst/>
                <a:latin typeface="Consolas" panose="020B0609020204030204" pitchFamily="49" charset="0"/>
              </a:rPr>
              <a:t>length</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&amp;&amp;</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str</a:t>
            </a:r>
            <a:r>
              <a:rPr lang="es-MX" sz="800" b="0" dirty="0" err="1">
                <a:solidFill>
                  <a:srgbClr val="CCCCCC"/>
                </a:solidFill>
                <a:effectLst/>
                <a:latin typeface="Consolas" panose="020B0609020204030204" pitchFamily="49" charset="0"/>
              </a:rPr>
              <a:t>.</a:t>
            </a:r>
            <a:r>
              <a:rPr lang="es-MX" sz="800" b="0" dirty="0" err="1">
                <a:solidFill>
                  <a:srgbClr val="DCDCAA"/>
                </a:solidFill>
                <a:effectLst/>
                <a:latin typeface="Consolas" panose="020B0609020204030204" pitchFamily="49" charset="0"/>
              </a:rPr>
              <a:t>charAt</a:t>
            </a:r>
            <a:r>
              <a:rPr lang="es-MX" sz="800" b="0" dirty="0">
                <a:solidFill>
                  <a:srgbClr val="CCCCCC"/>
                </a:solidFill>
                <a:effectLst/>
                <a:latin typeface="Consolas" panose="020B0609020204030204" pitchFamily="49" charset="0"/>
              </a:rPr>
              <a:t>(</a:t>
            </a:r>
            <a:r>
              <a:rPr lang="es-MX" sz="800" b="0" dirty="0">
                <a:solidFill>
                  <a:srgbClr val="9CDCFE"/>
                </a:solidFill>
                <a:effectLst/>
                <a:latin typeface="Consolas" panose="020B0609020204030204" pitchFamily="49" charset="0"/>
              </a:rPr>
              <a:t>i</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a:solidFill>
                  <a:srgbClr val="CE9178"/>
                </a:solidFill>
                <a:effectLst/>
                <a:latin typeface="Consolas" panose="020B0609020204030204" pitchFamily="49" charset="0"/>
              </a:rPr>
              <a:t>'a'</a:t>
            </a:r>
            <a:r>
              <a:rPr lang="es-MX" sz="800" b="0" dirty="0">
                <a:solidFill>
                  <a:srgbClr val="CCCCCC"/>
                </a:solidFill>
                <a:effectLst/>
                <a:latin typeface="Consolas" panose="020B0609020204030204" pitchFamily="49" charset="0"/>
              </a:rPr>
              <a:t>) {</a:t>
            </a:r>
          </a:p>
          <a:p>
            <a:r>
              <a:rPr lang="es-MX" sz="800" b="0" dirty="0">
                <a:solidFill>
                  <a:srgbClr val="CCCCCC"/>
                </a:solidFill>
                <a:effectLst/>
                <a:latin typeface="Consolas" panose="020B0609020204030204" pitchFamily="49" charset="0"/>
              </a:rPr>
              <a:t>            </a:t>
            </a:r>
            <a:r>
              <a:rPr lang="es-MX" sz="800" b="0" dirty="0">
                <a:solidFill>
                  <a:srgbClr val="9CDCFE"/>
                </a:solidFill>
                <a:effectLst/>
                <a:latin typeface="Consolas" panose="020B0609020204030204" pitchFamily="49" charset="0"/>
              </a:rPr>
              <a:t>i</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a:t>
            </a:r>
          </a:p>
          <a:p>
            <a:r>
              <a:rPr lang="es-MX" sz="800" b="0" dirty="0">
                <a:solidFill>
                  <a:srgbClr val="CCCCCC"/>
                </a:solidFill>
                <a:effectLst/>
                <a:latin typeface="Consolas" panose="020B0609020204030204" pitchFamily="49" charset="0"/>
              </a:rPr>
              <a:t>        }</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int</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countA</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a:solidFill>
                  <a:srgbClr val="9CDCFE"/>
                </a:solidFill>
                <a:effectLst/>
                <a:latin typeface="Consolas" panose="020B0609020204030204" pitchFamily="49" charset="0"/>
              </a:rPr>
              <a:t>i</a:t>
            </a:r>
            <a:r>
              <a:rPr lang="es-MX" sz="800" b="0" dirty="0">
                <a:solidFill>
                  <a:srgbClr val="CCCCCC"/>
                </a:solidFill>
                <a:effectLst/>
                <a:latin typeface="Consolas" panose="020B0609020204030204" pitchFamily="49" charset="0"/>
              </a:rPr>
              <a:t>;</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a:solidFill>
                  <a:srgbClr val="6A9955"/>
                </a:solidFill>
                <a:effectLst/>
                <a:latin typeface="Consolas" panose="020B0609020204030204" pitchFamily="49" charset="0"/>
              </a:rPr>
              <a:t>// contar 'b'</a:t>
            </a:r>
            <a:endParaRPr lang="es-MX" sz="800" b="0" dirty="0">
              <a:solidFill>
                <a:srgbClr val="CCCCCC"/>
              </a:solidFill>
              <a:effectLst/>
              <a:latin typeface="Consolas" panose="020B0609020204030204" pitchFamily="49" charset="0"/>
            </a:endParaRPr>
          </a:p>
          <a:p>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int</a:t>
            </a:r>
            <a:r>
              <a:rPr lang="es-MX" sz="800" b="0" dirty="0">
                <a:solidFill>
                  <a:srgbClr val="CCCCCC"/>
                </a:solidFill>
                <a:effectLst/>
                <a:latin typeface="Consolas" panose="020B0609020204030204" pitchFamily="49" charset="0"/>
              </a:rPr>
              <a:t> </a:t>
            </a:r>
            <a:r>
              <a:rPr lang="es-MX" sz="800" b="0" dirty="0">
                <a:solidFill>
                  <a:srgbClr val="9CDCFE"/>
                </a:solidFill>
                <a:effectLst/>
                <a:latin typeface="Consolas" panose="020B0609020204030204" pitchFamily="49" charset="0"/>
              </a:rPr>
              <a:t>j</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a:solidFill>
                  <a:srgbClr val="9CDCFE"/>
                </a:solidFill>
                <a:effectLst/>
                <a:latin typeface="Consolas" panose="020B0609020204030204" pitchFamily="49" charset="0"/>
              </a:rPr>
              <a:t>i</a:t>
            </a:r>
            <a:r>
              <a:rPr lang="es-MX" sz="800" b="0" dirty="0">
                <a:solidFill>
                  <a:srgbClr val="CCCCCC"/>
                </a:solidFill>
                <a:effectLst/>
                <a:latin typeface="Consolas" panose="020B0609020204030204" pitchFamily="49" charset="0"/>
              </a:rPr>
              <a:t>;</a:t>
            </a:r>
          </a:p>
          <a:p>
            <a:r>
              <a:rPr lang="es-MX" sz="800" b="0" dirty="0">
                <a:solidFill>
                  <a:srgbClr val="CCCCCC"/>
                </a:solidFill>
                <a:effectLst/>
                <a:latin typeface="Consolas" panose="020B0609020204030204" pitchFamily="49" charset="0"/>
              </a:rPr>
              <a:t>        </a:t>
            </a:r>
            <a:r>
              <a:rPr lang="es-MX" sz="800" b="0" dirty="0" err="1">
                <a:solidFill>
                  <a:srgbClr val="C586C0"/>
                </a:solidFill>
                <a:effectLst/>
                <a:latin typeface="Consolas" panose="020B0609020204030204" pitchFamily="49" charset="0"/>
              </a:rPr>
              <a:t>while</a:t>
            </a:r>
            <a:r>
              <a:rPr lang="es-MX" sz="800" b="0" dirty="0">
                <a:solidFill>
                  <a:srgbClr val="CCCCCC"/>
                </a:solidFill>
                <a:effectLst/>
                <a:latin typeface="Consolas" panose="020B0609020204030204" pitchFamily="49" charset="0"/>
              </a:rPr>
              <a:t> (</a:t>
            </a:r>
            <a:r>
              <a:rPr lang="es-MX" sz="800" b="0" dirty="0">
                <a:solidFill>
                  <a:srgbClr val="9CDCFE"/>
                </a:solidFill>
                <a:effectLst/>
                <a:latin typeface="Consolas" panose="020B0609020204030204" pitchFamily="49" charset="0"/>
              </a:rPr>
              <a:t>j</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&lt;</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str</a:t>
            </a:r>
            <a:r>
              <a:rPr lang="es-MX" sz="800" b="0" dirty="0" err="1">
                <a:solidFill>
                  <a:srgbClr val="CCCCCC"/>
                </a:solidFill>
                <a:effectLst/>
                <a:latin typeface="Consolas" panose="020B0609020204030204" pitchFamily="49" charset="0"/>
              </a:rPr>
              <a:t>.</a:t>
            </a:r>
            <a:r>
              <a:rPr lang="es-MX" sz="800" b="0" dirty="0" err="1">
                <a:solidFill>
                  <a:srgbClr val="DCDCAA"/>
                </a:solidFill>
                <a:effectLst/>
                <a:latin typeface="Consolas" panose="020B0609020204030204" pitchFamily="49" charset="0"/>
              </a:rPr>
              <a:t>length</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&amp;&amp;</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str</a:t>
            </a:r>
            <a:r>
              <a:rPr lang="es-MX" sz="800" b="0" dirty="0" err="1">
                <a:solidFill>
                  <a:srgbClr val="CCCCCC"/>
                </a:solidFill>
                <a:effectLst/>
                <a:latin typeface="Consolas" panose="020B0609020204030204" pitchFamily="49" charset="0"/>
              </a:rPr>
              <a:t>.</a:t>
            </a:r>
            <a:r>
              <a:rPr lang="es-MX" sz="800" b="0" dirty="0" err="1">
                <a:solidFill>
                  <a:srgbClr val="DCDCAA"/>
                </a:solidFill>
                <a:effectLst/>
                <a:latin typeface="Consolas" panose="020B0609020204030204" pitchFamily="49" charset="0"/>
              </a:rPr>
              <a:t>charAt</a:t>
            </a:r>
            <a:r>
              <a:rPr lang="es-MX" sz="800" b="0" dirty="0">
                <a:solidFill>
                  <a:srgbClr val="CCCCCC"/>
                </a:solidFill>
                <a:effectLst/>
                <a:latin typeface="Consolas" panose="020B0609020204030204" pitchFamily="49" charset="0"/>
              </a:rPr>
              <a:t>(</a:t>
            </a:r>
            <a:r>
              <a:rPr lang="es-MX" sz="800" b="0" dirty="0">
                <a:solidFill>
                  <a:srgbClr val="9CDCFE"/>
                </a:solidFill>
                <a:effectLst/>
                <a:latin typeface="Consolas" panose="020B0609020204030204" pitchFamily="49" charset="0"/>
              </a:rPr>
              <a:t>j</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a:solidFill>
                  <a:srgbClr val="CE9178"/>
                </a:solidFill>
                <a:effectLst/>
                <a:latin typeface="Consolas" panose="020B0609020204030204" pitchFamily="49" charset="0"/>
              </a:rPr>
              <a:t>'b'</a:t>
            </a:r>
            <a:r>
              <a:rPr lang="es-MX" sz="800" b="0" dirty="0">
                <a:solidFill>
                  <a:srgbClr val="CCCCCC"/>
                </a:solidFill>
                <a:effectLst/>
                <a:latin typeface="Consolas" panose="020B0609020204030204" pitchFamily="49" charset="0"/>
              </a:rPr>
              <a:t>) {</a:t>
            </a:r>
          </a:p>
          <a:p>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j</a:t>
            </a:r>
            <a:r>
              <a:rPr lang="es-MX" sz="800" b="0" dirty="0" err="1">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a:t>
            </a:r>
          </a:p>
          <a:p>
            <a:r>
              <a:rPr lang="es-MX" sz="800" b="0" dirty="0">
                <a:solidFill>
                  <a:srgbClr val="CCCCCC"/>
                </a:solidFill>
                <a:effectLst/>
                <a:latin typeface="Consolas" panose="020B0609020204030204" pitchFamily="49" charset="0"/>
              </a:rPr>
              <a:t>        }</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int</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countB</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a:solidFill>
                  <a:srgbClr val="9CDCFE"/>
                </a:solidFill>
                <a:effectLst/>
                <a:latin typeface="Consolas" panose="020B0609020204030204" pitchFamily="49" charset="0"/>
              </a:rPr>
              <a:t>j</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a:solidFill>
                  <a:srgbClr val="9CDCFE"/>
                </a:solidFill>
                <a:effectLst/>
                <a:latin typeface="Consolas" panose="020B0609020204030204" pitchFamily="49" charset="0"/>
              </a:rPr>
              <a:t>i</a:t>
            </a:r>
            <a:r>
              <a:rPr lang="es-MX" sz="800" b="0" dirty="0">
                <a:solidFill>
                  <a:srgbClr val="CCCCCC"/>
                </a:solidFill>
                <a:effectLst/>
                <a:latin typeface="Consolas" panose="020B0609020204030204" pitchFamily="49" charset="0"/>
              </a:rPr>
              <a:t>;</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a:solidFill>
                  <a:srgbClr val="6A9955"/>
                </a:solidFill>
                <a:effectLst/>
                <a:latin typeface="Consolas" panose="020B0609020204030204" pitchFamily="49" charset="0"/>
              </a:rPr>
              <a:t>// validar condiciones</a:t>
            </a:r>
            <a:endParaRPr lang="es-MX" sz="800" b="0" dirty="0">
              <a:solidFill>
                <a:srgbClr val="CCCCCC"/>
              </a:solidFill>
              <a:effectLst/>
              <a:latin typeface="Consolas" panose="020B0609020204030204" pitchFamily="49" charset="0"/>
            </a:endParaRPr>
          </a:p>
          <a:p>
            <a:r>
              <a:rPr lang="es-MX" sz="800" b="0" dirty="0">
                <a:solidFill>
                  <a:srgbClr val="CCCCCC"/>
                </a:solidFill>
                <a:effectLst/>
                <a:latin typeface="Consolas" panose="020B0609020204030204" pitchFamily="49" charset="0"/>
              </a:rPr>
              <a:t>        </a:t>
            </a:r>
            <a:r>
              <a:rPr lang="es-MX" sz="800" b="0" dirty="0" err="1">
                <a:solidFill>
                  <a:srgbClr val="C586C0"/>
                </a:solidFill>
                <a:effectLst/>
                <a:latin typeface="Consolas" panose="020B0609020204030204" pitchFamily="49" charset="0"/>
              </a:rPr>
              <a:t>return</a:t>
            </a:r>
            <a:r>
              <a:rPr lang="es-MX" sz="800" b="0" dirty="0">
                <a:solidFill>
                  <a:srgbClr val="CCCCCC"/>
                </a:solidFill>
                <a:effectLst/>
                <a:latin typeface="Consolas" panose="020B0609020204030204" pitchFamily="49" charset="0"/>
              </a:rPr>
              <a:t> (</a:t>
            </a:r>
            <a:r>
              <a:rPr lang="es-MX" sz="800" b="0" dirty="0">
                <a:solidFill>
                  <a:srgbClr val="9CDCFE"/>
                </a:solidFill>
                <a:effectLst/>
                <a:latin typeface="Consolas" panose="020B0609020204030204" pitchFamily="49" charset="0"/>
              </a:rPr>
              <a:t>j</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str</a:t>
            </a:r>
            <a:r>
              <a:rPr lang="es-MX" sz="800" b="0" dirty="0" err="1">
                <a:solidFill>
                  <a:srgbClr val="CCCCCC"/>
                </a:solidFill>
                <a:effectLst/>
                <a:latin typeface="Consolas" panose="020B0609020204030204" pitchFamily="49" charset="0"/>
              </a:rPr>
              <a:t>.</a:t>
            </a:r>
            <a:r>
              <a:rPr lang="es-MX" sz="800" b="0" dirty="0" err="1">
                <a:solidFill>
                  <a:srgbClr val="DCDCAA"/>
                </a:solidFill>
                <a:effectLst/>
                <a:latin typeface="Consolas" panose="020B0609020204030204" pitchFamily="49" charset="0"/>
              </a:rPr>
              <a:t>length</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&amp;&amp;</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countA</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countB</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&amp;&amp;</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countA</a:t>
            </a:r>
            <a:r>
              <a:rPr lang="es-MX" sz="800" b="0" dirty="0">
                <a:solidFill>
                  <a:srgbClr val="CCCCCC"/>
                </a:solidFill>
                <a:effectLst/>
                <a:latin typeface="Consolas" panose="020B0609020204030204" pitchFamily="49" charset="0"/>
              </a:rPr>
              <a:t> </a:t>
            </a:r>
            <a:r>
              <a:rPr lang="es-MX" sz="800" b="0" dirty="0">
                <a:solidFill>
                  <a:srgbClr val="D4D4D4"/>
                </a:solidFill>
                <a:effectLst/>
                <a:latin typeface="Consolas" panose="020B0609020204030204" pitchFamily="49" charset="0"/>
              </a:rPr>
              <a:t>&gt;</a:t>
            </a:r>
            <a:r>
              <a:rPr lang="es-MX" sz="800" b="0" dirty="0">
                <a:solidFill>
                  <a:srgbClr val="CCCCCC"/>
                </a:solidFill>
                <a:effectLst/>
                <a:latin typeface="Consolas" panose="020B0609020204030204" pitchFamily="49" charset="0"/>
              </a:rPr>
              <a:t> </a:t>
            </a:r>
            <a:r>
              <a:rPr lang="es-MX" sz="800" b="0" dirty="0">
                <a:solidFill>
                  <a:srgbClr val="B5CEA8"/>
                </a:solidFill>
                <a:effectLst/>
                <a:latin typeface="Consolas" panose="020B0609020204030204" pitchFamily="49" charset="0"/>
              </a:rPr>
              <a:t>0</a:t>
            </a:r>
            <a:r>
              <a:rPr lang="es-MX" sz="800" b="0" dirty="0">
                <a:solidFill>
                  <a:srgbClr val="CCCCCC"/>
                </a:solidFill>
                <a:effectLst/>
                <a:latin typeface="Consolas" panose="020B0609020204030204" pitchFamily="49" charset="0"/>
              </a:rPr>
              <a:t>);</a:t>
            </a:r>
          </a:p>
          <a:p>
            <a:r>
              <a:rPr lang="es-MX" sz="800" b="0" dirty="0">
                <a:solidFill>
                  <a:srgbClr val="CCCCCC"/>
                </a:solidFill>
                <a:effectLst/>
                <a:latin typeface="Consolas" panose="020B0609020204030204" pitchFamily="49" charset="0"/>
              </a:rPr>
              <a:t>    }</a:t>
            </a:r>
          </a:p>
          <a:p>
            <a:br>
              <a:rPr lang="es-MX" sz="800" b="0" dirty="0">
                <a:solidFill>
                  <a:srgbClr val="CCCCCC"/>
                </a:solidFill>
                <a:effectLst/>
                <a:latin typeface="Consolas" panose="020B0609020204030204" pitchFamily="49" charset="0"/>
              </a:rPr>
            </a:br>
            <a:r>
              <a:rPr lang="es-MX" sz="800" b="0" dirty="0">
                <a:solidFill>
                  <a:srgbClr val="CCCCCC"/>
                </a:solidFill>
                <a:effectLst/>
                <a:latin typeface="Consolas" panose="020B0609020204030204" pitchFamily="49" charset="0"/>
              </a:rPr>
              <a:t>    </a:t>
            </a:r>
            <a:r>
              <a:rPr lang="es-MX" sz="800" b="0" dirty="0" err="1">
                <a:solidFill>
                  <a:srgbClr val="569CD6"/>
                </a:solidFill>
                <a:effectLst/>
                <a:latin typeface="Consolas" panose="020B0609020204030204" pitchFamily="49" charset="0"/>
              </a:rPr>
              <a:t>public</a:t>
            </a:r>
            <a:r>
              <a:rPr lang="es-MX" sz="800" b="0" dirty="0">
                <a:solidFill>
                  <a:srgbClr val="CCCCCC"/>
                </a:solidFill>
                <a:effectLst/>
                <a:latin typeface="Consolas" panose="020B0609020204030204" pitchFamily="49" charset="0"/>
              </a:rPr>
              <a:t> </a:t>
            </a:r>
            <a:r>
              <a:rPr lang="es-MX" sz="800" b="0" dirty="0" err="1">
                <a:solidFill>
                  <a:srgbClr val="569CD6"/>
                </a:solidFill>
                <a:effectLst/>
                <a:latin typeface="Consolas" panose="020B0609020204030204" pitchFamily="49" charset="0"/>
              </a:rPr>
              <a:t>static</a:t>
            </a:r>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void</a:t>
            </a:r>
            <a:r>
              <a:rPr lang="es-MX" sz="800" b="0" dirty="0">
                <a:solidFill>
                  <a:srgbClr val="CCCCCC"/>
                </a:solidFill>
                <a:effectLst/>
                <a:latin typeface="Consolas" panose="020B0609020204030204" pitchFamily="49" charset="0"/>
              </a:rPr>
              <a:t> </a:t>
            </a:r>
            <a:r>
              <a:rPr lang="es-MX" sz="800" b="0" dirty="0" err="1">
                <a:solidFill>
                  <a:srgbClr val="DCDCAA"/>
                </a:solidFill>
                <a:effectLst/>
                <a:latin typeface="Consolas" panose="020B0609020204030204" pitchFamily="49" charset="0"/>
              </a:rPr>
              <a:t>main</a:t>
            </a:r>
            <a:r>
              <a:rPr lang="es-MX" sz="800" b="0" dirty="0">
                <a:solidFill>
                  <a:srgbClr val="CCCCCC"/>
                </a:solidFill>
                <a:effectLst/>
                <a:latin typeface="Consolas" panose="020B0609020204030204" pitchFamily="49" charset="0"/>
              </a:rPr>
              <a:t>(</a:t>
            </a:r>
            <a:r>
              <a:rPr lang="es-MX" sz="800" b="0" dirty="0" err="1">
                <a:solidFill>
                  <a:srgbClr val="4EC9B0"/>
                </a:solidFill>
                <a:effectLst/>
                <a:latin typeface="Consolas" panose="020B0609020204030204" pitchFamily="49" charset="0"/>
              </a:rPr>
              <a:t>String</a:t>
            </a:r>
            <a:r>
              <a:rPr lang="es-MX" sz="800" b="0" dirty="0">
                <a:solidFill>
                  <a:srgbClr val="CCCCCC"/>
                </a:solidFill>
                <a:effectLst/>
                <a:latin typeface="Consolas" panose="020B0609020204030204" pitchFamily="49" charset="0"/>
              </a:rPr>
              <a:t>[] </a:t>
            </a:r>
            <a:r>
              <a:rPr lang="es-MX" sz="800" b="0" dirty="0" err="1">
                <a:solidFill>
                  <a:srgbClr val="9CDCFE"/>
                </a:solidFill>
                <a:effectLst/>
                <a:latin typeface="Consolas" panose="020B0609020204030204" pitchFamily="49" charset="0"/>
              </a:rPr>
              <a:t>args</a:t>
            </a:r>
            <a:r>
              <a:rPr lang="es-MX" sz="800" b="0" dirty="0">
                <a:solidFill>
                  <a:srgbClr val="CCCCCC"/>
                </a:solidFill>
                <a:effectLst/>
                <a:latin typeface="Consolas" panose="020B0609020204030204" pitchFamily="49" charset="0"/>
              </a:rPr>
              <a:t>) {</a:t>
            </a:r>
          </a:p>
          <a:p>
            <a:r>
              <a:rPr lang="es-MX" sz="800" b="0" dirty="0">
                <a:solidFill>
                  <a:srgbClr val="CCCCCC"/>
                </a:solidFill>
                <a:effectLst/>
                <a:latin typeface="Consolas" panose="020B0609020204030204" pitchFamily="49" charset="0"/>
              </a:rPr>
              <a:t>        </a:t>
            </a:r>
            <a:r>
              <a:rPr lang="es-MX" sz="800" b="0" dirty="0" err="1">
                <a:solidFill>
                  <a:srgbClr val="4EC9B0"/>
                </a:solidFill>
                <a:effectLst/>
                <a:latin typeface="Consolas" panose="020B0609020204030204" pitchFamily="49" charset="0"/>
              </a:rPr>
              <a:t>launch</a:t>
            </a:r>
            <a:r>
              <a:rPr lang="es-MX" sz="800" b="0" dirty="0">
                <a:solidFill>
                  <a:srgbClr val="CCCCCC"/>
                </a:solidFill>
                <a:effectLst/>
                <a:latin typeface="Consolas" panose="020B0609020204030204" pitchFamily="49" charset="0"/>
              </a:rPr>
              <a:t>();</a:t>
            </a:r>
          </a:p>
          <a:p>
            <a:r>
              <a:rPr lang="es-MX" sz="800" b="0" dirty="0">
                <a:solidFill>
                  <a:srgbClr val="CCCCCC"/>
                </a:solidFill>
                <a:effectLst/>
                <a:latin typeface="Consolas" panose="020B0609020204030204" pitchFamily="49" charset="0"/>
              </a:rPr>
              <a:t>    }</a:t>
            </a:r>
          </a:p>
          <a:p>
            <a:r>
              <a:rPr lang="es-MX" sz="800" b="0" dirty="0">
                <a:solidFill>
                  <a:srgbClr val="CCCCCC"/>
                </a:solidFill>
                <a:effectLst/>
                <a:latin typeface="Consolas" panose="020B0609020204030204" pitchFamily="49" charset="0"/>
              </a:rPr>
              <a:t>}</a:t>
            </a:r>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784E841C-DC1F-81D2-6748-90FF9C8B365D}"/>
                  </a:ext>
                </a:extLst>
              </p:cNvPr>
              <p:cNvSpPr txBox="1"/>
              <p:nvPr/>
            </p:nvSpPr>
            <p:spPr>
              <a:xfrm>
                <a:off x="658091" y="5708656"/>
                <a:ext cx="6565602" cy="3785652"/>
              </a:xfrm>
              <a:prstGeom prst="rect">
                <a:avLst/>
              </a:prstGeom>
              <a:noFill/>
            </p:spPr>
            <p:txBody>
              <a:bodyPr wrap="square">
                <a:spAutoFit/>
              </a:bodyPr>
              <a:lstStyle/>
              <a:p>
                <a:r>
                  <a:rPr lang="es-MX" sz="1600" dirty="0">
                    <a:latin typeface="Montserrat" panose="00000500000000000000" pitchFamily="2" charset="0"/>
                  </a:rPr>
                  <a:t>Durante las pruebas realizadas, se pudo observar que el programa identifica correctamente las cadenas que pertenecen al lenguaje </a:t>
                </a:r>
                <a14:m>
                  <m:oMath xmlns:m="http://schemas.openxmlformats.org/officeDocument/2006/math">
                    <m:sSup>
                      <m:sSupPr>
                        <m:ctrlPr>
                          <a:rPr lang="es-MX" sz="1600" i="1" smtClean="0">
                            <a:latin typeface="Cambria Math" panose="02040503050406030204" pitchFamily="18" charset="0"/>
                          </a:rPr>
                        </m:ctrlPr>
                      </m:sSupPr>
                      <m:e>
                        <m:r>
                          <a:rPr lang="es-MX" sz="1600" b="0" i="1" smtClean="0">
                            <a:latin typeface="Cambria Math" panose="02040503050406030204" pitchFamily="18" charset="0"/>
                          </a:rPr>
                          <m:t>𝑎</m:t>
                        </m:r>
                      </m:e>
                      <m:sup>
                        <m:r>
                          <a:rPr lang="es-MX" sz="1600" b="0" i="1" smtClean="0">
                            <a:latin typeface="Cambria Math" panose="02040503050406030204" pitchFamily="18" charset="0"/>
                          </a:rPr>
                          <m:t>𝑛</m:t>
                        </m:r>
                      </m:sup>
                    </m:sSup>
                    <m:sSup>
                      <m:sSupPr>
                        <m:ctrlPr>
                          <a:rPr lang="es-MX" sz="1600" i="1">
                            <a:latin typeface="Cambria Math" panose="02040503050406030204" pitchFamily="18" charset="0"/>
                          </a:rPr>
                        </m:ctrlPr>
                      </m:sSupPr>
                      <m:e>
                        <m:r>
                          <a:rPr lang="es-MX" sz="1600" b="0" i="1" smtClean="0">
                            <a:latin typeface="Cambria Math" panose="02040503050406030204" pitchFamily="18" charset="0"/>
                          </a:rPr>
                          <m:t>𝑏</m:t>
                        </m:r>
                      </m:e>
                      <m:sup>
                        <m:r>
                          <a:rPr lang="es-MX" sz="1600" i="1">
                            <a:latin typeface="Cambria Math" panose="02040503050406030204" pitchFamily="18" charset="0"/>
                          </a:rPr>
                          <m:t>𝑛</m:t>
                        </m:r>
                      </m:sup>
                    </m:sSup>
                  </m:oMath>
                </a14:m>
                <a:r>
                  <a:rPr lang="es-MX" sz="1600" dirty="0">
                    <a:latin typeface="Montserrat" panose="00000500000000000000" pitchFamily="2" charset="0"/>
                  </a:rPr>
                  <a:t>. </a:t>
                </a:r>
              </a:p>
              <a:p>
                <a:endParaRPr lang="es-MX" sz="1600" dirty="0">
                  <a:latin typeface="Montserrat" panose="00000500000000000000" pitchFamily="2" charset="0"/>
                </a:endParaRPr>
              </a:p>
              <a:p>
                <a:r>
                  <a:rPr lang="es-MX" sz="1600" dirty="0">
                    <a:latin typeface="Montserrat" panose="00000500000000000000" pitchFamily="2" charset="0"/>
                  </a:rPr>
                  <a:t>En los casos válidos, el sistema reconoce la correspondencia entre las “a” y las “b”, mientras que en los casos inválidos detecta inconsistencias en el orden o en la cantidad de símbolos.</a:t>
                </a:r>
              </a:p>
              <a:p>
                <a:endParaRPr lang="es-MX" sz="1600" dirty="0">
                  <a:latin typeface="Montserrat" panose="00000500000000000000" pitchFamily="2" charset="0"/>
                </a:endParaRPr>
              </a:p>
              <a:p>
                <a:r>
                  <a:rPr lang="es-MX" sz="1600" dirty="0">
                    <a:latin typeface="Montserrat" panose="00000500000000000000" pitchFamily="2" charset="0"/>
                  </a:rPr>
                  <a:t>Un punto importante es que la lógica implementada simula de manera simplificada el comportamiento de una máquina de Turing, lo cual permite entender mejor cómo funcionan los estados y las transiciones en este tipo de modelo.</a:t>
                </a:r>
              </a:p>
              <a:p>
                <a:r>
                  <a:rPr lang="es-MX" sz="1600" dirty="0">
                    <a:latin typeface="Montserrat" panose="00000500000000000000" pitchFamily="2" charset="0"/>
                  </a:rPr>
                  <a:t>En general, los resultados fueron los esperados, lo que indica que la implementación es correcta.</a:t>
                </a:r>
              </a:p>
            </p:txBody>
          </p:sp>
        </mc:Choice>
        <mc:Fallback>
          <p:sp>
            <p:nvSpPr>
              <p:cNvPr id="9" name="CuadroTexto 8">
                <a:extLst>
                  <a:ext uri="{FF2B5EF4-FFF2-40B4-BE49-F238E27FC236}">
                    <a16:creationId xmlns:a16="http://schemas.microsoft.com/office/drawing/2014/main" id="{784E841C-DC1F-81D2-6748-90FF9C8B365D}"/>
                  </a:ext>
                </a:extLst>
              </p:cNvPr>
              <p:cNvSpPr txBox="1">
                <a:spLocks noRot="1" noChangeAspect="1" noMove="1" noResize="1" noEditPoints="1" noAdjustHandles="1" noChangeArrowheads="1" noChangeShapeType="1" noTextEdit="1"/>
              </p:cNvSpPr>
              <p:nvPr/>
            </p:nvSpPr>
            <p:spPr>
              <a:xfrm>
                <a:off x="658091" y="5708656"/>
                <a:ext cx="6565602" cy="3785652"/>
              </a:xfrm>
              <a:prstGeom prst="rect">
                <a:avLst/>
              </a:prstGeom>
              <a:blipFill>
                <a:blip r:embed="rId4"/>
                <a:stretch>
                  <a:fillRect l="-557" t="-483" r="-371" b="-1127"/>
                </a:stretch>
              </a:blipFill>
            </p:spPr>
            <p:txBody>
              <a:bodyPr/>
              <a:lstStyle/>
              <a:p>
                <a:r>
                  <a:rPr lang="es-MX">
                    <a:noFill/>
                  </a:rPr>
                  <a:t> </a:t>
                </a:r>
              </a:p>
            </p:txBody>
          </p:sp>
        </mc:Fallback>
      </mc:AlternateContent>
    </p:spTree>
    <p:extLst>
      <p:ext uri="{BB962C8B-B14F-4D97-AF65-F5344CB8AC3E}">
        <p14:creationId xmlns:p14="http://schemas.microsoft.com/office/powerpoint/2010/main" val="1693061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5"/>
          <p:cNvSpPr txBox="1"/>
          <p:nvPr/>
        </p:nvSpPr>
        <p:spPr>
          <a:xfrm>
            <a:off x="914400" y="266700"/>
            <a:ext cx="9299077" cy="735522"/>
          </a:xfrm>
          <a:prstGeom prst="rect">
            <a:avLst/>
          </a:prstGeom>
        </p:spPr>
        <p:txBody>
          <a:bodyPr wrap="square" lIns="0" tIns="0" rIns="0" bIns="0" rtlCol="0" anchor="t">
            <a:spAutoFit/>
          </a:bodyPr>
          <a:lstStyle/>
          <a:p>
            <a:pPr algn="just">
              <a:lnSpc>
                <a:spcPct val="150000"/>
              </a:lnSpc>
            </a:pPr>
            <a:r>
              <a:rPr lang="es-MX" sz="3600" b="1" dirty="0">
                <a:solidFill>
                  <a:srgbClr val="000000"/>
                </a:solidFill>
                <a:effectLst/>
                <a:latin typeface="Montserrat" panose="00000500000000000000" pitchFamily="2" charset="0"/>
                <a:ea typeface="Arial" panose="020B0604020202020204" pitchFamily="34" charset="0"/>
              </a:rPr>
              <a:t>Conclusión</a:t>
            </a:r>
            <a:endParaRPr lang="es-MX" sz="3600" dirty="0">
              <a:effectLst/>
              <a:latin typeface="Arial" panose="020B0604020202020204" pitchFamily="34" charset="0"/>
              <a:ea typeface="Arial" panose="020B0604020202020204" pitchFamily="34" charset="0"/>
            </a:endParaRPr>
          </a:p>
        </p:txBody>
      </p:sp>
      <p:sp>
        <p:nvSpPr>
          <p:cNvPr id="46" name="TextBox 46"/>
          <p:cNvSpPr txBox="1"/>
          <p:nvPr/>
        </p:nvSpPr>
        <p:spPr>
          <a:xfrm>
            <a:off x="914400" y="2171700"/>
            <a:ext cx="16230600" cy="5058885"/>
          </a:xfrm>
          <a:prstGeom prst="rect">
            <a:avLst/>
          </a:prstGeom>
        </p:spPr>
        <p:txBody>
          <a:bodyPr wrap="square" lIns="0" tIns="0" rIns="0" bIns="0" rtlCol="0" anchor="t">
            <a:spAutoFit/>
          </a:bodyPr>
          <a:lstStyle/>
          <a:p>
            <a:r>
              <a:rPr lang="es-MX" sz="2800" dirty="0">
                <a:latin typeface="Montserrat" panose="00000500000000000000" pitchFamily="2" charset="0"/>
              </a:rPr>
              <a:t>Esta práctica permitió comprender de manera más clara cómo funcionan las máquinas de Turing, pasando de la teoría a una aplicación real mediante programación. </a:t>
            </a:r>
          </a:p>
          <a:p>
            <a:endParaRPr lang="es-MX" sz="2800" dirty="0">
              <a:latin typeface="Montserrat" panose="00000500000000000000" pitchFamily="2" charset="0"/>
            </a:endParaRPr>
          </a:p>
          <a:p>
            <a:r>
              <a:rPr lang="es-MX" sz="2800" dirty="0">
                <a:latin typeface="Montserrat" panose="00000500000000000000" pitchFamily="2" charset="0"/>
              </a:rPr>
              <a:t>Al implementar la simulación, fue posible visualizar el proceso de validación de cadenas y entender la importancia de los estados y las transiciones.</a:t>
            </a:r>
          </a:p>
          <a:p>
            <a:endParaRPr lang="es-MX" sz="2800" dirty="0">
              <a:latin typeface="Montserrat" panose="00000500000000000000" pitchFamily="2" charset="0"/>
            </a:endParaRPr>
          </a:p>
          <a:p>
            <a:r>
              <a:rPr lang="es-MX" sz="2800" dirty="0">
                <a:latin typeface="Montserrat" panose="00000500000000000000" pitchFamily="2" charset="0"/>
              </a:rPr>
              <a:t>Además, se reforzaron habilidades de lógica, análisis y programación, ya que fue necesario diseñar una solución que siguiera el comportamiento de un modelo teórico.</a:t>
            </a:r>
          </a:p>
          <a:p>
            <a:endParaRPr lang="es-MX" sz="2800" dirty="0">
              <a:latin typeface="Montserrat" panose="00000500000000000000" pitchFamily="2" charset="0"/>
            </a:endParaRPr>
          </a:p>
          <a:p>
            <a:r>
              <a:rPr lang="es-MX" sz="2800" dirty="0">
                <a:latin typeface="Montserrat" panose="00000500000000000000" pitchFamily="2" charset="0"/>
              </a:rPr>
              <a:t>En conclusión, esta actividad ayudó a entender mejor los conceptos vistos en clase y a reconocer la importancia de las máquinas de Turing dentro de la computación.</a:t>
            </a:r>
          </a:p>
          <a:p>
            <a:pPr algn="l">
              <a:lnSpc>
                <a:spcPts val="2011"/>
              </a:lnSpc>
            </a:pPr>
            <a:endParaRPr lang="en-US" sz="4000" dirty="0">
              <a:solidFill>
                <a:srgbClr val="5B5F71"/>
              </a:solidFill>
              <a:latin typeface="Montserrat" panose="00000500000000000000" pitchFamily="2" charset="0"/>
              <a:ea typeface="Arimo"/>
              <a:cs typeface="Arimo"/>
              <a:sym typeface="Arimo"/>
            </a:endParaRPr>
          </a:p>
        </p:txBody>
      </p:sp>
    </p:spTree>
    <p:extLst>
      <p:ext uri="{BB962C8B-B14F-4D97-AF65-F5344CB8AC3E}">
        <p14:creationId xmlns:p14="http://schemas.microsoft.com/office/powerpoint/2010/main" val="623241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3"/>
          <p:cNvSpPr txBox="1"/>
          <p:nvPr/>
        </p:nvSpPr>
        <p:spPr>
          <a:xfrm>
            <a:off x="619705" y="300628"/>
            <a:ext cx="8337976" cy="500650"/>
          </a:xfrm>
          <a:prstGeom prst="rect">
            <a:avLst/>
          </a:prstGeom>
        </p:spPr>
        <p:txBody>
          <a:bodyPr wrap="square" lIns="0" tIns="0" rIns="0" bIns="0" rtlCol="0" anchor="t">
            <a:spAutoFit/>
          </a:bodyPr>
          <a:lstStyle/>
          <a:p>
            <a:pPr algn="l">
              <a:lnSpc>
                <a:spcPts val="4187"/>
              </a:lnSpc>
            </a:pPr>
            <a:r>
              <a:rPr lang="en-US" sz="3312" b="1" dirty="0">
                <a:solidFill>
                  <a:srgbClr val="505468"/>
                </a:solidFill>
                <a:latin typeface="Arimo Bold"/>
                <a:ea typeface="Arimo Bold"/>
                <a:cs typeface="Arimo Bold"/>
                <a:sym typeface="Arimo Bold"/>
              </a:rPr>
              <a:t>Link de </a:t>
            </a:r>
            <a:r>
              <a:rPr lang="en-US" sz="3312" b="1" dirty="0" err="1">
                <a:solidFill>
                  <a:srgbClr val="505468"/>
                </a:solidFill>
                <a:latin typeface="Arimo Bold"/>
                <a:ea typeface="Arimo Bold"/>
                <a:cs typeface="Arimo Bold"/>
                <a:sym typeface="Arimo Bold"/>
              </a:rPr>
              <a:t>Repositorio</a:t>
            </a:r>
            <a:r>
              <a:rPr lang="en-US" sz="3312" b="1" dirty="0">
                <a:solidFill>
                  <a:srgbClr val="505468"/>
                </a:solidFill>
                <a:latin typeface="Arimo Bold"/>
                <a:ea typeface="Arimo Bold"/>
                <a:cs typeface="Arimo Bold"/>
                <a:sym typeface="Arimo Bold"/>
              </a:rPr>
              <a:t> </a:t>
            </a:r>
          </a:p>
        </p:txBody>
      </p:sp>
      <p:sp>
        <p:nvSpPr>
          <p:cNvPr id="65" name="CuadroTexto 64">
            <a:extLst>
              <a:ext uri="{FF2B5EF4-FFF2-40B4-BE49-F238E27FC236}">
                <a16:creationId xmlns:a16="http://schemas.microsoft.com/office/drawing/2014/main" id="{4B9366A9-73F0-5EDD-2C82-C952BF0D867D}"/>
              </a:ext>
            </a:extLst>
          </p:cNvPr>
          <p:cNvSpPr txBox="1"/>
          <p:nvPr/>
        </p:nvSpPr>
        <p:spPr>
          <a:xfrm>
            <a:off x="619704" y="1181100"/>
            <a:ext cx="17439696" cy="830997"/>
          </a:xfrm>
          <a:prstGeom prst="rect">
            <a:avLst/>
          </a:prstGeom>
          <a:noFill/>
        </p:spPr>
        <p:txBody>
          <a:bodyPr wrap="square">
            <a:spAutoFit/>
          </a:bodyPr>
          <a:lstStyle/>
          <a:p>
            <a:r>
              <a:rPr lang="es-MX" sz="2400" dirty="0">
                <a:hlinkClick r:id="rId3"/>
              </a:rPr>
              <a:t>https://github.com/amaurycolochos-cpu/LENGUAJES-Y-AUTOMATAS-1/tree/main/UNIDAD%205/Reporte%20Act%205.2</a:t>
            </a:r>
            <a:endParaRPr lang="es-MX" sz="2400" dirty="0"/>
          </a:p>
          <a:p>
            <a:endParaRPr lang="es-MX" sz="2400" dirty="0"/>
          </a:p>
        </p:txBody>
      </p:sp>
    </p:spTree>
    <p:extLst>
      <p:ext uri="{BB962C8B-B14F-4D97-AF65-F5344CB8AC3E}">
        <p14:creationId xmlns:p14="http://schemas.microsoft.com/office/powerpoint/2010/main" val="2189507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53177" y="846830"/>
            <a:ext cx="12809981" cy="1103251"/>
          </a:xfrm>
          <a:prstGeom prst="rect">
            <a:avLst/>
          </a:prstGeom>
        </p:spPr>
        <p:txBody>
          <a:bodyPr lIns="0" tIns="0" rIns="0" bIns="0" rtlCol="0" anchor="t">
            <a:spAutoFit/>
          </a:bodyPr>
          <a:lstStyle/>
          <a:p>
            <a:pPr algn="just">
              <a:lnSpc>
                <a:spcPct val="150000"/>
              </a:lnSpc>
            </a:pPr>
            <a:r>
              <a:rPr lang="es-MX" sz="5400" b="1" dirty="0">
                <a:solidFill>
                  <a:srgbClr val="000000"/>
                </a:solidFill>
                <a:effectLst/>
                <a:latin typeface="Montserrat" panose="00000500000000000000" pitchFamily="2" charset="0"/>
                <a:ea typeface="Arial" panose="020B0604020202020204" pitchFamily="34" charset="0"/>
              </a:rPr>
              <a:t>Fuentes de información</a:t>
            </a:r>
            <a:endParaRPr lang="es-MX" sz="5400" dirty="0">
              <a:effectLst/>
              <a:latin typeface="Arial" panose="020B0604020202020204" pitchFamily="34" charset="0"/>
              <a:ea typeface="Arial" panose="020B0604020202020204" pitchFamily="34" charset="0"/>
            </a:endParaRPr>
          </a:p>
        </p:txBody>
      </p:sp>
      <p:grpSp>
        <p:nvGrpSpPr>
          <p:cNvPr id="3" name="Group 3"/>
          <p:cNvGrpSpPr/>
          <p:nvPr/>
        </p:nvGrpSpPr>
        <p:grpSpPr>
          <a:xfrm>
            <a:off x="1028700" y="2017814"/>
            <a:ext cx="16230600" cy="7697686"/>
            <a:chOff x="0" y="0"/>
            <a:chExt cx="21640800" cy="3276994"/>
          </a:xfrm>
        </p:grpSpPr>
        <p:sp>
          <p:nvSpPr>
            <p:cNvPr id="4" name="Freeform 4"/>
            <p:cNvSpPr/>
            <p:nvPr/>
          </p:nvSpPr>
          <p:spPr>
            <a:xfrm>
              <a:off x="32636" y="19050"/>
              <a:ext cx="21575399" cy="3238881"/>
            </a:xfrm>
            <a:custGeom>
              <a:avLst/>
              <a:gdLst/>
              <a:ahLst/>
              <a:cxnLst/>
              <a:rect l="l" t="t" r="r" b="b"/>
              <a:pathLst>
                <a:path w="21575399" h="3238881">
                  <a:moveTo>
                    <a:pt x="0" y="138938"/>
                  </a:moveTo>
                  <a:cubicBezTo>
                    <a:pt x="0" y="62230"/>
                    <a:pt x="107480" y="0"/>
                    <a:pt x="239980" y="0"/>
                  </a:cubicBezTo>
                  <a:lnTo>
                    <a:pt x="21335418" y="0"/>
                  </a:lnTo>
                  <a:cubicBezTo>
                    <a:pt x="21467918" y="0"/>
                    <a:pt x="21575399" y="62230"/>
                    <a:pt x="21575399" y="138938"/>
                  </a:cubicBezTo>
                  <a:lnTo>
                    <a:pt x="21575399" y="3099943"/>
                  </a:lnTo>
                  <a:cubicBezTo>
                    <a:pt x="21575399" y="3176651"/>
                    <a:pt x="21467918" y="3238881"/>
                    <a:pt x="21335418" y="3238881"/>
                  </a:cubicBezTo>
                  <a:lnTo>
                    <a:pt x="239980" y="3238881"/>
                  </a:lnTo>
                  <a:cubicBezTo>
                    <a:pt x="107480" y="3238881"/>
                    <a:pt x="0" y="3176651"/>
                    <a:pt x="0" y="3099943"/>
                  </a:cubicBezTo>
                  <a:close/>
                </a:path>
              </a:pathLst>
            </a:custGeom>
            <a:solidFill>
              <a:srgbClr val="FFFFFF">
                <a:alpha val="90196"/>
              </a:srgbClr>
            </a:solidFill>
          </p:spPr>
        </p:sp>
        <p:sp>
          <p:nvSpPr>
            <p:cNvPr id="5" name="Freeform 5"/>
            <p:cNvSpPr/>
            <p:nvPr/>
          </p:nvSpPr>
          <p:spPr>
            <a:xfrm>
              <a:off x="0" y="0"/>
              <a:ext cx="21640670" cy="3276981"/>
            </a:xfrm>
            <a:custGeom>
              <a:avLst/>
              <a:gdLst/>
              <a:ahLst/>
              <a:cxnLst/>
              <a:rect l="l" t="t" r="r" b="b"/>
              <a:pathLst>
                <a:path w="21640670" h="3276981">
                  <a:moveTo>
                    <a:pt x="0" y="157988"/>
                  </a:moveTo>
                  <a:cubicBezTo>
                    <a:pt x="0" y="70612"/>
                    <a:pt x="122275" y="0"/>
                    <a:pt x="272616" y="0"/>
                  </a:cubicBezTo>
                  <a:lnTo>
                    <a:pt x="21368054" y="0"/>
                  </a:lnTo>
                  <a:lnTo>
                    <a:pt x="21368054" y="19050"/>
                  </a:lnTo>
                  <a:lnTo>
                    <a:pt x="21368054" y="0"/>
                  </a:lnTo>
                  <a:cubicBezTo>
                    <a:pt x="21518394" y="0"/>
                    <a:pt x="21640670" y="70612"/>
                    <a:pt x="21640670" y="157988"/>
                  </a:cubicBezTo>
                  <a:lnTo>
                    <a:pt x="21608035" y="157988"/>
                  </a:lnTo>
                  <a:lnTo>
                    <a:pt x="21640670" y="157988"/>
                  </a:lnTo>
                  <a:lnTo>
                    <a:pt x="21640670" y="3118993"/>
                  </a:lnTo>
                  <a:lnTo>
                    <a:pt x="21608035" y="3118993"/>
                  </a:lnTo>
                  <a:lnTo>
                    <a:pt x="21640670" y="3118993"/>
                  </a:lnTo>
                  <a:cubicBezTo>
                    <a:pt x="21640670" y="3206369"/>
                    <a:pt x="21518394" y="3276981"/>
                    <a:pt x="21368054" y="3276981"/>
                  </a:cubicBezTo>
                  <a:lnTo>
                    <a:pt x="21368054" y="3257931"/>
                  </a:lnTo>
                  <a:lnTo>
                    <a:pt x="21368054" y="3276981"/>
                  </a:lnTo>
                  <a:lnTo>
                    <a:pt x="272616" y="3276981"/>
                  </a:lnTo>
                  <a:lnTo>
                    <a:pt x="272616" y="3257931"/>
                  </a:lnTo>
                  <a:lnTo>
                    <a:pt x="272616" y="3276981"/>
                  </a:lnTo>
                  <a:cubicBezTo>
                    <a:pt x="122275" y="3276981"/>
                    <a:pt x="0" y="3206369"/>
                    <a:pt x="0" y="3118993"/>
                  </a:cubicBezTo>
                  <a:lnTo>
                    <a:pt x="0" y="157988"/>
                  </a:lnTo>
                  <a:lnTo>
                    <a:pt x="32636" y="157988"/>
                  </a:lnTo>
                  <a:lnTo>
                    <a:pt x="0" y="157988"/>
                  </a:lnTo>
                  <a:moveTo>
                    <a:pt x="65271" y="157988"/>
                  </a:moveTo>
                  <a:lnTo>
                    <a:pt x="65271" y="3118993"/>
                  </a:lnTo>
                  <a:lnTo>
                    <a:pt x="32636" y="3118993"/>
                  </a:lnTo>
                  <a:lnTo>
                    <a:pt x="65271" y="3118993"/>
                  </a:lnTo>
                  <a:cubicBezTo>
                    <a:pt x="65271" y="3185033"/>
                    <a:pt x="157956" y="3238881"/>
                    <a:pt x="272616" y="3238881"/>
                  </a:cubicBezTo>
                  <a:lnTo>
                    <a:pt x="21368054" y="3238881"/>
                  </a:lnTo>
                  <a:cubicBezTo>
                    <a:pt x="21482931" y="3238881"/>
                    <a:pt x="21575399" y="3185033"/>
                    <a:pt x="21575399" y="3118993"/>
                  </a:cubicBezTo>
                  <a:lnTo>
                    <a:pt x="21575399" y="157988"/>
                  </a:lnTo>
                  <a:cubicBezTo>
                    <a:pt x="21575399" y="91948"/>
                    <a:pt x="21482714" y="38100"/>
                    <a:pt x="21368054" y="38100"/>
                  </a:cubicBezTo>
                  <a:lnTo>
                    <a:pt x="272616" y="38100"/>
                  </a:lnTo>
                  <a:lnTo>
                    <a:pt x="272616" y="19050"/>
                  </a:lnTo>
                  <a:lnTo>
                    <a:pt x="272616" y="38100"/>
                  </a:lnTo>
                  <a:cubicBezTo>
                    <a:pt x="157956" y="38100"/>
                    <a:pt x="65271" y="91948"/>
                    <a:pt x="65271" y="157988"/>
                  </a:cubicBezTo>
                  <a:close/>
                </a:path>
              </a:pathLst>
            </a:custGeom>
            <a:solidFill>
              <a:srgbClr val="C8C9CF"/>
            </a:solidFill>
          </p:spPr>
        </p:sp>
      </p:grpSp>
      <p:sp>
        <p:nvSpPr>
          <p:cNvPr id="6" name="TextBox 6"/>
          <p:cNvSpPr txBox="1"/>
          <p:nvPr/>
        </p:nvSpPr>
        <p:spPr>
          <a:xfrm>
            <a:off x="1792100" y="3390900"/>
            <a:ext cx="14703702" cy="5096395"/>
          </a:xfrm>
          <a:prstGeom prst="rect">
            <a:avLst/>
          </a:prstGeom>
        </p:spPr>
        <p:txBody>
          <a:bodyPr wrap="square" lIns="0" tIns="0" rIns="0" bIns="0" rtlCol="0" anchor="t">
            <a:spAutoFit/>
          </a:bodyPr>
          <a:lstStyle/>
          <a:p>
            <a:pPr marL="342900" lvl="0" indent="-342900" algn="just">
              <a:lnSpc>
                <a:spcPct val="150000"/>
              </a:lnSpc>
              <a:buSzPts val="1000"/>
              <a:buFont typeface="Symbol" panose="05050102010706020507" pitchFamily="18" charset="2"/>
              <a:buChar char=""/>
              <a:tabLst>
                <a:tab pos="457200" algn="l"/>
              </a:tabLst>
            </a:pPr>
            <a:r>
              <a:rPr lang="es-MX" sz="2800" dirty="0" err="1">
                <a:solidFill>
                  <a:srgbClr val="000000"/>
                </a:solidFill>
                <a:effectLst/>
                <a:latin typeface="Montserrat" panose="00000500000000000000" pitchFamily="2" charset="0"/>
                <a:ea typeface="Arial" panose="020B0604020202020204" pitchFamily="34" charset="0"/>
              </a:rPr>
              <a:t>Hopcroft</a:t>
            </a:r>
            <a:r>
              <a:rPr lang="es-MX" sz="2800" dirty="0">
                <a:solidFill>
                  <a:srgbClr val="000000"/>
                </a:solidFill>
                <a:effectLst/>
                <a:latin typeface="Montserrat" panose="00000500000000000000" pitchFamily="2" charset="0"/>
                <a:ea typeface="Arial" panose="020B0604020202020204" pitchFamily="34" charset="0"/>
              </a:rPr>
              <a:t>, J. E., </a:t>
            </a:r>
            <a:r>
              <a:rPr lang="es-MX" sz="2800" dirty="0" err="1">
                <a:solidFill>
                  <a:srgbClr val="000000"/>
                </a:solidFill>
                <a:effectLst/>
                <a:latin typeface="Montserrat" panose="00000500000000000000" pitchFamily="2" charset="0"/>
                <a:ea typeface="Arial" panose="020B0604020202020204" pitchFamily="34" charset="0"/>
              </a:rPr>
              <a:t>Motwani</a:t>
            </a:r>
            <a:r>
              <a:rPr lang="es-MX" sz="2800" dirty="0">
                <a:solidFill>
                  <a:srgbClr val="000000"/>
                </a:solidFill>
                <a:effectLst/>
                <a:latin typeface="Montserrat" panose="00000500000000000000" pitchFamily="2" charset="0"/>
                <a:ea typeface="Arial" panose="020B0604020202020204" pitchFamily="34" charset="0"/>
              </a:rPr>
              <a:t>, R., &amp; Ullman, J. D. (2007). </a:t>
            </a:r>
            <a:r>
              <a:rPr lang="es-MX" sz="2800" i="1" dirty="0">
                <a:solidFill>
                  <a:srgbClr val="000000"/>
                </a:solidFill>
                <a:effectLst/>
                <a:latin typeface="Montserrat" panose="00000500000000000000" pitchFamily="2" charset="0"/>
                <a:ea typeface="Arial" panose="020B0604020202020204" pitchFamily="34" charset="0"/>
              </a:rPr>
              <a:t>Teoría de autómatas, lenguajes y computación</a:t>
            </a:r>
            <a:r>
              <a:rPr lang="es-MX" sz="2800" dirty="0">
                <a:solidFill>
                  <a:srgbClr val="000000"/>
                </a:solidFill>
                <a:effectLst/>
                <a:latin typeface="Montserrat" panose="00000500000000000000" pitchFamily="2" charset="0"/>
                <a:ea typeface="Arial" panose="020B0604020202020204" pitchFamily="34" charset="0"/>
              </a:rPr>
              <a:t>. Pearson. </a:t>
            </a:r>
          </a:p>
          <a:p>
            <a:pPr lvl="0" algn="just">
              <a:lnSpc>
                <a:spcPct val="150000"/>
              </a:lnSpc>
              <a:buSzPts val="1000"/>
              <a:tabLst>
                <a:tab pos="457200" algn="l"/>
              </a:tabLst>
            </a:pPr>
            <a:endParaRPr lang="es-MX" sz="2800" dirty="0">
              <a:solidFill>
                <a:srgbClr val="000000"/>
              </a:solidFill>
              <a:effectLst/>
              <a:latin typeface="Arial" panose="020B0604020202020204" pitchFamily="34" charset="0"/>
              <a:ea typeface="Arial" panose="020B0604020202020204" pitchFamily="34" charset="0"/>
            </a:endParaRPr>
          </a:p>
          <a:p>
            <a:pPr marL="342900" lvl="0" indent="-342900" algn="just">
              <a:lnSpc>
                <a:spcPct val="150000"/>
              </a:lnSpc>
              <a:buSzPts val="1000"/>
              <a:buFont typeface="Symbol" panose="05050102010706020507" pitchFamily="18" charset="2"/>
              <a:buChar char=""/>
              <a:tabLst>
                <a:tab pos="457200" algn="l"/>
              </a:tabLst>
            </a:pPr>
            <a:r>
              <a:rPr lang="es-MX" sz="2800" dirty="0">
                <a:solidFill>
                  <a:srgbClr val="000000"/>
                </a:solidFill>
                <a:effectLst/>
                <a:latin typeface="Montserrat" panose="00000500000000000000" pitchFamily="2" charset="0"/>
                <a:ea typeface="Arial" panose="020B0604020202020204" pitchFamily="34" charset="0"/>
              </a:rPr>
              <a:t>Aho, A. V., </a:t>
            </a:r>
            <a:r>
              <a:rPr lang="es-MX" sz="2800" dirty="0" err="1">
                <a:solidFill>
                  <a:srgbClr val="000000"/>
                </a:solidFill>
                <a:effectLst/>
                <a:latin typeface="Montserrat" panose="00000500000000000000" pitchFamily="2" charset="0"/>
                <a:ea typeface="Arial" panose="020B0604020202020204" pitchFamily="34" charset="0"/>
              </a:rPr>
              <a:t>Sethi</a:t>
            </a:r>
            <a:r>
              <a:rPr lang="es-MX" sz="2800" dirty="0">
                <a:solidFill>
                  <a:srgbClr val="000000"/>
                </a:solidFill>
                <a:effectLst/>
                <a:latin typeface="Montserrat" panose="00000500000000000000" pitchFamily="2" charset="0"/>
                <a:ea typeface="Arial" panose="020B0604020202020204" pitchFamily="34" charset="0"/>
              </a:rPr>
              <a:t>, R., &amp; Ullman, J. D. (2008). </a:t>
            </a:r>
            <a:r>
              <a:rPr lang="es-MX" sz="2800" i="1" dirty="0">
                <a:solidFill>
                  <a:srgbClr val="000000"/>
                </a:solidFill>
                <a:effectLst/>
                <a:latin typeface="Montserrat" panose="00000500000000000000" pitchFamily="2" charset="0"/>
                <a:ea typeface="Arial" panose="020B0604020202020204" pitchFamily="34" charset="0"/>
              </a:rPr>
              <a:t>Compiladores: Principios, técnicas y herramientas</a:t>
            </a:r>
            <a:r>
              <a:rPr lang="es-MX" sz="2800" dirty="0">
                <a:solidFill>
                  <a:srgbClr val="000000"/>
                </a:solidFill>
                <a:effectLst/>
                <a:latin typeface="Montserrat" panose="00000500000000000000" pitchFamily="2" charset="0"/>
                <a:ea typeface="Arial" panose="020B0604020202020204" pitchFamily="34" charset="0"/>
              </a:rPr>
              <a:t>. Pearson. </a:t>
            </a:r>
          </a:p>
          <a:p>
            <a:pPr lvl="0" algn="just">
              <a:lnSpc>
                <a:spcPct val="150000"/>
              </a:lnSpc>
              <a:buSzPts val="1000"/>
              <a:tabLst>
                <a:tab pos="457200" algn="l"/>
              </a:tabLst>
            </a:pPr>
            <a:endParaRPr lang="es-MX" sz="2800" dirty="0">
              <a:solidFill>
                <a:srgbClr val="000000"/>
              </a:solidFill>
              <a:effectLst/>
              <a:latin typeface="Arial" panose="020B0604020202020204" pitchFamily="34" charset="0"/>
              <a:ea typeface="Arial" panose="020B0604020202020204" pitchFamily="34" charset="0"/>
            </a:endParaRPr>
          </a:p>
          <a:p>
            <a:pPr marL="342900" lvl="0" indent="-342900" algn="just">
              <a:lnSpc>
                <a:spcPct val="150000"/>
              </a:lnSpc>
              <a:buSzPts val="1000"/>
              <a:buFont typeface="Symbol" panose="05050102010706020507" pitchFamily="18" charset="2"/>
              <a:buChar char=""/>
              <a:tabLst>
                <a:tab pos="457200" algn="l"/>
              </a:tabLst>
            </a:pPr>
            <a:r>
              <a:rPr lang="es-MX" sz="2800" dirty="0">
                <a:solidFill>
                  <a:srgbClr val="000000"/>
                </a:solidFill>
                <a:effectLst/>
                <a:latin typeface="Montserrat" panose="00000500000000000000" pitchFamily="2" charset="0"/>
                <a:ea typeface="Arial" panose="020B0604020202020204" pitchFamily="34" charset="0"/>
              </a:rPr>
              <a:t>Rao, D. C., et al. </a:t>
            </a:r>
            <a:r>
              <a:rPr lang="es-MX" sz="2800" i="1" dirty="0" err="1">
                <a:solidFill>
                  <a:srgbClr val="000000"/>
                </a:solidFill>
                <a:effectLst/>
                <a:latin typeface="Montserrat" panose="00000500000000000000" pitchFamily="2" charset="0"/>
                <a:ea typeface="Arial" panose="020B0604020202020204" pitchFamily="34" charset="0"/>
              </a:rPr>
              <a:t>Compiler</a:t>
            </a:r>
            <a:r>
              <a:rPr lang="es-MX" sz="2800" i="1" dirty="0">
                <a:solidFill>
                  <a:srgbClr val="000000"/>
                </a:solidFill>
                <a:effectLst/>
                <a:latin typeface="Montserrat" panose="00000500000000000000" pitchFamily="2" charset="0"/>
                <a:ea typeface="Arial" panose="020B0604020202020204" pitchFamily="34" charset="0"/>
              </a:rPr>
              <a:t> </a:t>
            </a:r>
            <a:r>
              <a:rPr lang="es-MX" sz="2800" i="1" dirty="0" err="1">
                <a:solidFill>
                  <a:srgbClr val="000000"/>
                </a:solidFill>
                <a:effectLst/>
                <a:latin typeface="Montserrat" panose="00000500000000000000" pitchFamily="2" charset="0"/>
                <a:ea typeface="Arial" panose="020B0604020202020204" pitchFamily="34" charset="0"/>
              </a:rPr>
              <a:t>Design</a:t>
            </a:r>
            <a:r>
              <a:rPr lang="es-MX" sz="2800" i="1" dirty="0">
                <a:solidFill>
                  <a:srgbClr val="000000"/>
                </a:solidFill>
                <a:effectLst/>
                <a:latin typeface="Montserrat" panose="00000500000000000000" pitchFamily="2" charset="0"/>
                <a:ea typeface="Arial" panose="020B0604020202020204" pitchFamily="34" charset="0"/>
              </a:rPr>
              <a:t> </a:t>
            </a:r>
            <a:r>
              <a:rPr lang="es-MX" sz="2800" i="1" dirty="0" err="1">
                <a:solidFill>
                  <a:srgbClr val="000000"/>
                </a:solidFill>
                <a:effectLst/>
                <a:latin typeface="Montserrat" panose="00000500000000000000" pitchFamily="2" charset="0"/>
                <a:ea typeface="Arial" panose="020B0604020202020204" pitchFamily="34" charset="0"/>
              </a:rPr>
              <a:t>Lecture</a:t>
            </a:r>
            <a:r>
              <a:rPr lang="es-MX" sz="2800" i="1" dirty="0">
                <a:solidFill>
                  <a:srgbClr val="000000"/>
                </a:solidFill>
                <a:effectLst/>
                <a:latin typeface="Montserrat" panose="00000500000000000000" pitchFamily="2" charset="0"/>
                <a:ea typeface="Arial" panose="020B0604020202020204" pitchFamily="34" charset="0"/>
              </a:rPr>
              <a:t> Notes</a:t>
            </a:r>
            <a:r>
              <a:rPr lang="es-MX" sz="2800" dirty="0">
                <a:solidFill>
                  <a:srgbClr val="000000"/>
                </a:solidFill>
                <a:effectLst/>
                <a:latin typeface="Montserrat" panose="00000500000000000000" pitchFamily="2" charset="0"/>
                <a:ea typeface="Arial" panose="020B0604020202020204" pitchFamily="34" charset="0"/>
              </a:rPr>
              <a:t>. </a:t>
            </a:r>
            <a:endParaRPr lang="es-MX" sz="2800" dirty="0">
              <a:solidFill>
                <a:srgbClr val="000000"/>
              </a:solidFill>
              <a:effectLst/>
              <a:latin typeface="Arial" panose="020B0604020202020204" pitchFamily="34" charset="0"/>
              <a:ea typeface="Arial" panose="020B0604020202020204" pitchFamily="34" charset="0"/>
            </a:endParaRPr>
          </a:p>
          <a:p>
            <a:pPr algn="just">
              <a:lnSpc>
                <a:spcPct val="150000"/>
              </a:lnSpc>
            </a:pPr>
            <a:r>
              <a:rPr lang="en-US" sz="2800" dirty="0">
                <a:solidFill>
                  <a:srgbClr val="000000"/>
                </a:solidFill>
                <a:effectLst/>
                <a:latin typeface="Montserrat" panose="00000500000000000000" pitchFamily="2" charset="0"/>
                <a:ea typeface="Arial" panose="020B0604020202020204" pitchFamily="34" charset="0"/>
              </a:rPr>
              <a:t> </a:t>
            </a:r>
            <a:endParaRPr lang="es-MX" sz="2800" dirty="0">
              <a:effectLst/>
              <a:latin typeface="Arial" panose="020B0604020202020204" pitchFamily="34" charset="0"/>
              <a:ea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327</TotalTime>
  <Words>1876</Words>
  <Application>Microsoft Office PowerPoint</Application>
  <PresentationFormat>Personalizado</PresentationFormat>
  <Paragraphs>193</Paragraphs>
  <Slides>11</Slides>
  <Notes>11</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11</vt:i4>
      </vt:variant>
    </vt:vector>
  </HeadingPairs>
  <TitlesOfParts>
    <vt:vector size="22" baseType="lpstr">
      <vt:lpstr>Montserrat</vt:lpstr>
      <vt:lpstr>Wingdings</vt:lpstr>
      <vt:lpstr>Cambria Math</vt:lpstr>
      <vt:lpstr>Symbol</vt:lpstr>
      <vt:lpstr>Montserrat Bold</vt:lpstr>
      <vt:lpstr>Arial</vt:lpstr>
      <vt:lpstr>Consolas</vt:lpstr>
      <vt:lpstr>Arimo</vt:lpstr>
      <vt:lpstr>Arimo Bold</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Actividad 4.3</dc:title>
  <cp:lastModifiedBy>amaury rokete</cp:lastModifiedBy>
  <cp:revision>9</cp:revision>
  <dcterms:created xsi:type="dcterms:W3CDTF">2006-08-16T00:00:00Z</dcterms:created>
  <dcterms:modified xsi:type="dcterms:W3CDTF">2026-03-26T06:47:30Z</dcterms:modified>
  <dc:identifier>DAHECOMg0wc</dc:identifier>
</cp:coreProperties>
</file>