
<file path=[Content_Types].xml><?xml version="1.0" encoding="utf-8"?>
<Types xmlns="http://schemas.openxmlformats.org/package/2006/content-types">
  <Default Extension="bin" ContentType="application/vnd.openxmlformats-officedocument.oleObject"/>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6" r:id="rId10"/>
    <p:sldId id="264" r:id="rId11"/>
    <p:sldId id="265" r:id="rId12"/>
  </p:sldIdLst>
  <p:sldSz cx="18288000" cy="10287000"/>
  <p:notesSz cx="6858000" cy="9144000"/>
  <p:embeddedFontLst>
    <p:embeddedFont>
      <p:font typeface="Arimo" panose="020B0604020202020204" charset="0"/>
      <p:regular r:id="rId14"/>
    </p:embeddedFont>
    <p:embeddedFont>
      <p:font typeface="Arimo Bold" panose="020B0604020202020204" charset="0"/>
      <p:regular r:id="rId15"/>
    </p:embeddedFont>
    <p:embeddedFont>
      <p:font typeface="Arimo Italics" panose="020B0604020202020204" charset="0"/>
      <p:regular r:id="rId16"/>
    </p:embeddedFont>
    <p:embeddedFont>
      <p:font typeface="Consolas" panose="020B0609020204030204" pitchFamily="49" charset="0"/>
      <p:regular r:id="rId17"/>
      <p:bold r:id="rId18"/>
      <p:italic r:id="rId19"/>
      <p:boldItalic r:id="rId20"/>
    </p:embeddedFont>
    <p:embeddedFont>
      <p:font typeface="Montserrat Bold" panose="00000800000000000000" pitchFamily="2"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2.fntdata"/><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2" Type="http://schemas.openxmlformats.org/officeDocument/2006/relationships/font" Target="fonts/font9.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18.03.2026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‹Nº›</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4</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6</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extLst>
      <p:ext uri="{BB962C8B-B14F-4D97-AF65-F5344CB8AC3E}">
        <p14:creationId xmlns:p14="http://schemas.microsoft.com/office/powerpoint/2010/main" val="9457737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9</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10</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oleObject" Target="../embeddings/oleObject1.bin"/><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github.com/amaurycolochos-cpu/LENGUAJES-Y-AUTOMATAS-1/tree/main/UNIDAD%204/AnalizadorLexicoFX" TargetMode="External"/><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svg"/><Relationship Id="rId5" Type="http://schemas.openxmlformats.org/officeDocument/2006/relationships/image" Target="../media/image16.sv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58763" y="241581"/>
            <a:ext cx="2193321" cy="1574239"/>
          </a:xfrm>
          <a:custGeom>
            <a:avLst/>
            <a:gdLst/>
            <a:ahLst/>
            <a:cxnLst/>
            <a:rect l="l" t="t" r="r" b="b"/>
            <a:pathLst>
              <a:path w="2193321" h="1574239">
                <a:moveTo>
                  <a:pt x="0" y="0"/>
                </a:moveTo>
                <a:lnTo>
                  <a:pt x="2193321" y="0"/>
                </a:lnTo>
                <a:lnTo>
                  <a:pt x="2193321" y="1574238"/>
                </a:lnTo>
                <a:lnTo>
                  <a:pt x="0" y="1574238"/>
                </a:lnTo>
                <a:lnTo>
                  <a:pt x="0" y="0"/>
                </a:lnTo>
                <a:close/>
              </a:path>
            </a:pathLst>
          </a:custGeom>
          <a:blipFill>
            <a:blip r:embed="rId3"/>
            <a:stretch>
              <a:fillRect/>
            </a:stretch>
          </a:blipFill>
        </p:spPr>
      </p:sp>
      <p:sp>
        <p:nvSpPr>
          <p:cNvPr id="3" name="Freeform 3"/>
          <p:cNvSpPr/>
          <p:nvPr/>
        </p:nvSpPr>
        <p:spPr>
          <a:xfrm>
            <a:off x="14576879" y="177283"/>
            <a:ext cx="3503050" cy="1538377"/>
          </a:xfrm>
          <a:custGeom>
            <a:avLst/>
            <a:gdLst/>
            <a:ahLst/>
            <a:cxnLst/>
            <a:rect l="l" t="t" r="r" b="b"/>
            <a:pathLst>
              <a:path w="3503050" h="1538377">
                <a:moveTo>
                  <a:pt x="0" y="0"/>
                </a:moveTo>
                <a:lnTo>
                  <a:pt x="3503050" y="0"/>
                </a:lnTo>
                <a:lnTo>
                  <a:pt x="3503050" y="1538377"/>
                </a:lnTo>
                <a:lnTo>
                  <a:pt x="0" y="1538377"/>
                </a:lnTo>
                <a:lnTo>
                  <a:pt x="0" y="0"/>
                </a:lnTo>
                <a:close/>
              </a:path>
            </a:pathLst>
          </a:custGeom>
          <a:blipFill>
            <a:blip r:embed="rId4"/>
            <a:stretch>
              <a:fillRect/>
            </a:stretch>
          </a:blipFill>
        </p:spPr>
      </p:sp>
      <p:graphicFrame>
        <p:nvGraphicFramePr>
          <p:cNvPr id="4" name="Object 4"/>
          <p:cNvGraphicFramePr/>
          <p:nvPr/>
        </p:nvGraphicFramePr>
        <p:xfrm>
          <a:off x="5036284" y="5556911"/>
          <a:ext cx="8443912" cy="2514600"/>
        </p:xfrm>
        <a:graphic>
          <a:graphicData uri="http://schemas.openxmlformats.org/presentationml/2006/ole">
            <mc:AlternateContent xmlns:mc="http://schemas.openxmlformats.org/markup-compatibility/2006">
              <mc:Choice xmlns:v="urn:schemas-microsoft-com:vml" Requires="v">
                <p:oleObj name="Worksheet" r:id="rId5" imgW="10134600" imgH="4191000" progId="Excel.Sheet.12">
                  <p:embed/>
                </p:oleObj>
              </mc:Choice>
              <mc:Fallback>
                <p:oleObj name="Worksheet" r:id="rId5" imgW="10134600" imgH="4191000" progId="Excel.Sheet.12">
                  <p:embed/>
                  <p:pic>
                    <p:nvPicPr>
                      <p:cNvPr id="0" name=""/>
                      <p:cNvPicPr/>
                      <p:nvPr/>
                    </p:nvPicPr>
                    <p:blipFill>
                      <a:blip r:embed="rId6"/>
                      <a:stretch>
                        <a:fillRect/>
                      </a:stretch>
                    </p:blipFill>
                    <p:spPr>
                      <a:xfrm>
                        <a:off x="5036284" y="5556911"/>
                        <a:ext cx="8443912" cy="2514600"/>
                      </a:xfrm>
                      <a:prstGeom prst="rect">
                        <a:avLst/>
                      </a:prstGeom>
                    </p:spPr>
                  </p:pic>
                </p:oleObj>
              </mc:Fallback>
            </mc:AlternateContent>
          </a:graphicData>
        </a:graphic>
      </p:graphicFrame>
      <p:sp>
        <p:nvSpPr>
          <p:cNvPr id="5" name="TextBox 5"/>
          <p:cNvSpPr txBox="1"/>
          <p:nvPr/>
        </p:nvSpPr>
        <p:spPr>
          <a:xfrm>
            <a:off x="5036284" y="917896"/>
            <a:ext cx="8215432" cy="849314"/>
          </a:xfrm>
          <a:prstGeom prst="rect">
            <a:avLst/>
          </a:prstGeom>
        </p:spPr>
        <p:txBody>
          <a:bodyPr lIns="0" tIns="0" rIns="0" bIns="0" rtlCol="0" anchor="t">
            <a:spAutoFit/>
          </a:bodyPr>
          <a:lstStyle/>
          <a:p>
            <a:pPr algn="ctr">
              <a:lnSpc>
                <a:spcPts val="3437"/>
              </a:lnSpc>
              <a:spcBef>
                <a:spcPct val="0"/>
              </a:spcBef>
            </a:pPr>
            <a:r>
              <a:rPr lang="en-US" sz="2625" b="1">
                <a:solidFill>
                  <a:srgbClr val="000000"/>
                </a:solidFill>
                <a:latin typeface="Montserrat Bold"/>
                <a:ea typeface="Montserrat Bold"/>
                <a:cs typeface="Montserrat Bold"/>
                <a:sym typeface="Montserrat Bold"/>
              </a:rPr>
              <a:t>TECNOLÓGICO NACIONAL DE MÉXICO</a:t>
            </a:r>
          </a:p>
          <a:p>
            <a:pPr algn="ctr">
              <a:lnSpc>
                <a:spcPts val="3437"/>
              </a:lnSpc>
              <a:spcBef>
                <a:spcPct val="0"/>
              </a:spcBef>
            </a:pPr>
            <a:r>
              <a:rPr lang="en-US" sz="2625" b="1">
                <a:solidFill>
                  <a:srgbClr val="000000"/>
                </a:solidFill>
                <a:latin typeface="Montserrat Bold"/>
                <a:ea typeface="Montserrat Bold"/>
                <a:cs typeface="Montserrat Bold"/>
                <a:sym typeface="Montserrat Bold"/>
              </a:rPr>
              <a:t>UNIDAD ACADÉMICA VENUSTIANO CARRANZA</a:t>
            </a:r>
          </a:p>
        </p:txBody>
      </p:sp>
      <p:sp>
        <p:nvSpPr>
          <p:cNvPr id="6" name="TextBox 6"/>
          <p:cNvSpPr txBox="1"/>
          <p:nvPr/>
        </p:nvSpPr>
        <p:spPr>
          <a:xfrm>
            <a:off x="1143000" y="2180208"/>
            <a:ext cx="14249400" cy="849400"/>
          </a:xfrm>
          <a:prstGeom prst="rect">
            <a:avLst/>
          </a:prstGeom>
        </p:spPr>
        <p:txBody>
          <a:bodyPr wrap="square" lIns="0" tIns="0" rIns="0" bIns="0" rtlCol="0" anchor="t">
            <a:spAutoFit/>
          </a:bodyPr>
          <a:lstStyle/>
          <a:p>
            <a:pPr algn="ctr">
              <a:lnSpc>
                <a:spcPts val="3436"/>
              </a:lnSpc>
              <a:spcBef>
                <a:spcPct val="0"/>
              </a:spcBef>
            </a:pPr>
            <a:r>
              <a:rPr lang="en-US" sz="2625" b="1" dirty="0">
                <a:solidFill>
                  <a:srgbClr val="000000"/>
                </a:solidFill>
                <a:latin typeface="Montserrat Bold"/>
                <a:ea typeface="Montserrat Bold"/>
                <a:cs typeface="Montserrat Bold"/>
                <a:sym typeface="Montserrat Bold"/>
              </a:rPr>
              <a:t>“INGENIERÍA EN SISTEMAS COMPUTACIONALES”</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LENGUAJES Y AUTOMATAS 1</a:t>
            </a:r>
          </a:p>
        </p:txBody>
      </p:sp>
      <p:sp>
        <p:nvSpPr>
          <p:cNvPr id="7" name="TextBox 7"/>
          <p:cNvSpPr txBox="1"/>
          <p:nvPr/>
        </p:nvSpPr>
        <p:spPr>
          <a:xfrm>
            <a:off x="3429000" y="3439183"/>
            <a:ext cx="11147879"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ACTIVIDAD 4.3 </a:t>
            </a:r>
            <a:r>
              <a:rPr lang="en-US" sz="2625" b="1" dirty="0" err="1">
                <a:solidFill>
                  <a:srgbClr val="000000"/>
                </a:solidFill>
                <a:latin typeface="Montserrat Bold"/>
                <a:ea typeface="Montserrat Bold"/>
                <a:cs typeface="Montserrat Bold"/>
                <a:sym typeface="Montserrat Bold"/>
              </a:rPr>
              <a:t>Ejercicios</a:t>
            </a:r>
            <a:endParaRPr lang="en-US" sz="2625" b="1" dirty="0">
              <a:solidFill>
                <a:srgbClr val="000000"/>
              </a:solidFill>
              <a:latin typeface="Montserrat Bold"/>
              <a:ea typeface="Montserrat Bold"/>
              <a:cs typeface="Montserrat Bold"/>
              <a:sym typeface="Montserrat Bold"/>
            </a:endParaRPr>
          </a:p>
        </p:txBody>
      </p:sp>
      <p:sp>
        <p:nvSpPr>
          <p:cNvPr id="8" name="TextBox 8"/>
          <p:cNvSpPr txBox="1"/>
          <p:nvPr/>
        </p:nvSpPr>
        <p:spPr>
          <a:xfrm>
            <a:off x="7162800" y="4698072"/>
            <a:ext cx="3657600"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RPESENTA</a:t>
            </a:r>
          </a:p>
        </p:txBody>
      </p:sp>
      <p:sp>
        <p:nvSpPr>
          <p:cNvPr id="9" name="TextBox 9"/>
          <p:cNvSpPr txBox="1"/>
          <p:nvPr/>
        </p:nvSpPr>
        <p:spPr>
          <a:xfrm>
            <a:off x="4800601" y="7223786"/>
            <a:ext cx="9144000" cy="849314"/>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DOCENTE</a:t>
            </a:r>
          </a:p>
          <a:p>
            <a:pPr algn="ctr">
              <a:lnSpc>
                <a:spcPts val="3437"/>
              </a:lnSpc>
              <a:spcBef>
                <a:spcPct val="0"/>
              </a:spcBef>
            </a:pPr>
            <a:r>
              <a:rPr lang="en-US" sz="2625" b="1" dirty="0">
                <a:solidFill>
                  <a:srgbClr val="000000"/>
                </a:solidFill>
                <a:latin typeface="Montserrat Bold"/>
                <a:ea typeface="Montserrat Bold"/>
                <a:cs typeface="Montserrat Bold"/>
                <a:sym typeface="Montserrat Bold"/>
              </a:rPr>
              <a:t>ING. FRANCISCO JAVIER MINGO VELAZQUEZ</a:t>
            </a:r>
          </a:p>
        </p:txBody>
      </p:sp>
      <p:sp>
        <p:nvSpPr>
          <p:cNvPr id="10" name="TextBox 10"/>
          <p:cNvSpPr txBox="1"/>
          <p:nvPr/>
        </p:nvSpPr>
        <p:spPr>
          <a:xfrm>
            <a:off x="3657600" y="9134836"/>
            <a:ext cx="12512454" cy="410177"/>
          </a:xfrm>
          <a:prstGeom prst="rect">
            <a:avLst/>
          </a:prstGeom>
        </p:spPr>
        <p:txBody>
          <a:bodyPr wrap="square" lIns="0" tIns="0" rIns="0" bIns="0" rtlCol="0" anchor="t">
            <a:spAutoFit/>
          </a:bodyPr>
          <a:lstStyle/>
          <a:p>
            <a:pPr algn="ctr">
              <a:lnSpc>
                <a:spcPts val="3437"/>
              </a:lnSpc>
              <a:spcBef>
                <a:spcPct val="0"/>
              </a:spcBef>
            </a:pPr>
            <a:r>
              <a:rPr lang="en-US" sz="2625" b="1" dirty="0">
                <a:solidFill>
                  <a:srgbClr val="000000"/>
                </a:solidFill>
                <a:latin typeface="Montserrat Bold"/>
                <a:ea typeface="Montserrat Bold"/>
                <a:cs typeface="Montserrat Bold"/>
                <a:sym typeface="Montserrat Bold"/>
              </a:rPr>
              <a:t>13 DE MARZO DE 2026 VENUSTIANO CARRANZA, CHIAPAS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918240" y="962025"/>
            <a:ext cx="5556544" cy="1161351"/>
          </a:xfrm>
          <a:prstGeom prst="rect">
            <a:avLst/>
          </a:prstGeom>
        </p:spPr>
        <p:txBody>
          <a:bodyPr lIns="0" tIns="0" rIns="0" bIns="0" rtlCol="0" anchor="t">
            <a:spAutoFit/>
          </a:bodyPr>
          <a:lstStyle/>
          <a:p>
            <a:pPr algn="l">
              <a:lnSpc>
                <a:spcPts val="9032"/>
              </a:lnSpc>
            </a:pPr>
            <a:r>
              <a:rPr lang="en-US" sz="7225" b="1">
                <a:solidFill>
                  <a:srgbClr val="505468"/>
                </a:solidFill>
                <a:latin typeface="Arimo Bold"/>
                <a:ea typeface="Arimo Bold"/>
                <a:cs typeface="Arimo Bold"/>
                <a:sym typeface="Arimo Bold"/>
              </a:rPr>
              <a:t>Introduccion</a:t>
            </a:r>
          </a:p>
        </p:txBody>
      </p:sp>
      <p:sp>
        <p:nvSpPr>
          <p:cNvPr id="3" name="TextBox 3"/>
          <p:cNvSpPr txBox="1"/>
          <p:nvPr/>
        </p:nvSpPr>
        <p:spPr>
          <a:xfrm>
            <a:off x="1918240" y="2757372"/>
            <a:ext cx="14071111" cy="2082628"/>
          </a:xfrm>
          <a:prstGeom prst="rect">
            <a:avLst/>
          </a:prstGeom>
        </p:spPr>
        <p:txBody>
          <a:bodyPr lIns="0" tIns="0" rIns="0" bIns="0" rtlCol="0" anchor="t">
            <a:spAutoFit/>
          </a:bodyPr>
          <a:lstStyle/>
          <a:p>
            <a:pPr algn="l">
              <a:lnSpc>
                <a:spcPts val="3871"/>
              </a:lnSpc>
            </a:pPr>
            <a:r>
              <a:rPr lang="en-US" sz="2838">
                <a:solidFill>
                  <a:srgbClr val="5B5F71"/>
                </a:solidFill>
                <a:latin typeface="Arimo"/>
                <a:ea typeface="Arimo"/>
                <a:cs typeface="Arimo"/>
                <a:sym typeface="Arimo"/>
              </a:rPr>
              <a:t>El análisis léxico representa la primera etapa dentro del proceso de compilación de un programa. En esta fase crítica, el compilador se encarga de leer el código fuente escrito por el programador y dividirlo en diferentes elementos conocidos como </a:t>
            </a:r>
            <a:r>
              <a:rPr lang="en-US" sz="2838" b="1">
                <a:solidFill>
                  <a:srgbClr val="5B5F71"/>
                </a:solidFill>
                <a:latin typeface="Arimo Bold"/>
                <a:ea typeface="Arimo Bold"/>
                <a:cs typeface="Arimo Bold"/>
                <a:sym typeface="Arimo Bold"/>
              </a:rPr>
              <a:t>tokens</a:t>
            </a:r>
            <a:r>
              <a:rPr lang="en-US" sz="2838">
                <a:solidFill>
                  <a:srgbClr val="5B5F71"/>
                </a:solidFill>
                <a:latin typeface="Arimo"/>
                <a:ea typeface="Arimo"/>
                <a:cs typeface="Arimo"/>
                <a:sym typeface="Arimo"/>
              </a:rPr>
              <a:t>.</a:t>
            </a:r>
          </a:p>
        </p:txBody>
      </p:sp>
      <p:sp>
        <p:nvSpPr>
          <p:cNvPr id="4" name="TextBox 4"/>
          <p:cNvSpPr txBox="1"/>
          <p:nvPr/>
        </p:nvSpPr>
        <p:spPr>
          <a:xfrm>
            <a:off x="1918240" y="4638196"/>
            <a:ext cx="14071111" cy="1576258"/>
          </a:xfrm>
          <a:prstGeom prst="rect">
            <a:avLst/>
          </a:prstGeom>
        </p:spPr>
        <p:txBody>
          <a:bodyPr lIns="0" tIns="0" rIns="0" bIns="0" rtlCol="0" anchor="t">
            <a:spAutoFit/>
          </a:bodyPr>
          <a:lstStyle/>
          <a:p>
            <a:pPr algn="l">
              <a:lnSpc>
                <a:spcPts val="3871"/>
              </a:lnSpc>
            </a:pPr>
            <a:r>
              <a:rPr lang="en-US" sz="2838">
                <a:solidFill>
                  <a:srgbClr val="5B5F71"/>
                </a:solidFill>
                <a:latin typeface="Arimo"/>
                <a:ea typeface="Arimo"/>
                <a:cs typeface="Arimo"/>
                <a:sym typeface="Arimo"/>
              </a:rPr>
              <a:t>Estos tokens son las unidades básicas del lenguaje de programación, incluyendo palabras reservadas, identificadores, operadores, números y delimitadores que forman la estructura del código.</a:t>
            </a:r>
          </a:p>
        </p:txBody>
      </p:sp>
      <p:grpSp>
        <p:nvGrpSpPr>
          <p:cNvPr id="5" name="Group 5"/>
          <p:cNvGrpSpPr/>
          <p:nvPr/>
        </p:nvGrpSpPr>
        <p:grpSpPr>
          <a:xfrm>
            <a:off x="2106063" y="7091400"/>
            <a:ext cx="6978548" cy="1231259"/>
            <a:chOff x="0" y="0"/>
            <a:chExt cx="9304731" cy="1641678"/>
          </a:xfrm>
        </p:grpSpPr>
        <p:sp>
          <p:nvSpPr>
            <p:cNvPr id="6" name="Freeform 6"/>
            <p:cNvSpPr/>
            <p:nvPr/>
          </p:nvSpPr>
          <p:spPr>
            <a:xfrm>
              <a:off x="6350" y="6350"/>
              <a:ext cx="9292082" cy="1629029"/>
            </a:xfrm>
            <a:custGeom>
              <a:avLst/>
              <a:gdLst/>
              <a:ahLst/>
              <a:cxnLst/>
              <a:rect l="l" t="t" r="r" b="b"/>
              <a:pathLst>
                <a:path w="9292082" h="1629029">
                  <a:moveTo>
                    <a:pt x="0" y="99949"/>
                  </a:moveTo>
                  <a:cubicBezTo>
                    <a:pt x="0" y="44704"/>
                    <a:pt x="44958" y="0"/>
                    <a:pt x="100584" y="0"/>
                  </a:cubicBezTo>
                  <a:lnTo>
                    <a:pt x="9191498" y="0"/>
                  </a:lnTo>
                  <a:cubicBezTo>
                    <a:pt x="9246997" y="0"/>
                    <a:pt x="9292082" y="44704"/>
                    <a:pt x="9292082" y="99949"/>
                  </a:cubicBezTo>
                  <a:lnTo>
                    <a:pt x="9292082" y="1529080"/>
                  </a:lnTo>
                  <a:cubicBezTo>
                    <a:pt x="9292082" y="1584198"/>
                    <a:pt x="9247124" y="1629029"/>
                    <a:pt x="9191498" y="1629029"/>
                  </a:cubicBezTo>
                  <a:lnTo>
                    <a:pt x="100584" y="1629029"/>
                  </a:lnTo>
                  <a:cubicBezTo>
                    <a:pt x="45085" y="1629029"/>
                    <a:pt x="0" y="1584325"/>
                    <a:pt x="0" y="1529080"/>
                  </a:cubicBezTo>
                  <a:close/>
                </a:path>
              </a:pathLst>
            </a:custGeom>
            <a:solidFill>
              <a:srgbClr val="E2E3E9"/>
            </a:solidFill>
          </p:spPr>
        </p:sp>
        <p:sp>
          <p:nvSpPr>
            <p:cNvPr id="7" name="Freeform 7"/>
            <p:cNvSpPr/>
            <p:nvPr/>
          </p:nvSpPr>
          <p:spPr>
            <a:xfrm>
              <a:off x="0" y="0"/>
              <a:ext cx="9304782" cy="1641729"/>
            </a:xfrm>
            <a:custGeom>
              <a:avLst/>
              <a:gdLst/>
              <a:ahLst/>
              <a:cxnLst/>
              <a:rect l="l" t="t" r="r" b="b"/>
              <a:pathLst>
                <a:path w="9304782" h="1641729">
                  <a:moveTo>
                    <a:pt x="0" y="106299"/>
                  </a:moveTo>
                  <a:cubicBezTo>
                    <a:pt x="0" y="47498"/>
                    <a:pt x="47879" y="0"/>
                    <a:pt x="106934" y="0"/>
                  </a:cubicBezTo>
                  <a:lnTo>
                    <a:pt x="9197848" y="0"/>
                  </a:lnTo>
                  <a:lnTo>
                    <a:pt x="9197848" y="6350"/>
                  </a:lnTo>
                  <a:lnTo>
                    <a:pt x="9197848" y="0"/>
                  </a:lnTo>
                  <a:cubicBezTo>
                    <a:pt x="9256776" y="0"/>
                    <a:pt x="9304782" y="47498"/>
                    <a:pt x="9304782" y="106299"/>
                  </a:cubicBezTo>
                  <a:lnTo>
                    <a:pt x="9298432" y="106299"/>
                  </a:lnTo>
                  <a:lnTo>
                    <a:pt x="9304782" y="106299"/>
                  </a:lnTo>
                  <a:lnTo>
                    <a:pt x="9304782" y="1535430"/>
                  </a:lnTo>
                  <a:lnTo>
                    <a:pt x="9298432" y="1535430"/>
                  </a:lnTo>
                  <a:lnTo>
                    <a:pt x="9304782" y="1535430"/>
                  </a:lnTo>
                  <a:cubicBezTo>
                    <a:pt x="9304782" y="1594104"/>
                    <a:pt x="9256903" y="1641729"/>
                    <a:pt x="9197848" y="1641729"/>
                  </a:cubicBezTo>
                  <a:lnTo>
                    <a:pt x="9197848" y="1635379"/>
                  </a:lnTo>
                  <a:lnTo>
                    <a:pt x="9197848" y="1641729"/>
                  </a:lnTo>
                  <a:lnTo>
                    <a:pt x="106934" y="1641729"/>
                  </a:lnTo>
                  <a:lnTo>
                    <a:pt x="106934" y="1635379"/>
                  </a:lnTo>
                  <a:lnTo>
                    <a:pt x="106934" y="1641729"/>
                  </a:lnTo>
                  <a:cubicBezTo>
                    <a:pt x="48006" y="1641729"/>
                    <a:pt x="0" y="1594231"/>
                    <a:pt x="0" y="1535430"/>
                  </a:cubicBezTo>
                  <a:lnTo>
                    <a:pt x="0" y="106299"/>
                  </a:lnTo>
                  <a:lnTo>
                    <a:pt x="6350" y="106299"/>
                  </a:lnTo>
                  <a:lnTo>
                    <a:pt x="0" y="106299"/>
                  </a:lnTo>
                  <a:moveTo>
                    <a:pt x="12700" y="106299"/>
                  </a:moveTo>
                  <a:lnTo>
                    <a:pt x="12700" y="1535430"/>
                  </a:lnTo>
                  <a:lnTo>
                    <a:pt x="6350" y="1535430"/>
                  </a:lnTo>
                  <a:lnTo>
                    <a:pt x="12700" y="1535430"/>
                  </a:lnTo>
                  <a:cubicBezTo>
                    <a:pt x="12700" y="1586992"/>
                    <a:pt x="54864" y="1629029"/>
                    <a:pt x="106934" y="1629029"/>
                  </a:cubicBezTo>
                  <a:lnTo>
                    <a:pt x="9197848" y="1629029"/>
                  </a:lnTo>
                  <a:cubicBezTo>
                    <a:pt x="9249918" y="1629029"/>
                    <a:pt x="9292082" y="1587119"/>
                    <a:pt x="9292082" y="1535430"/>
                  </a:cubicBezTo>
                  <a:lnTo>
                    <a:pt x="9292082" y="106299"/>
                  </a:lnTo>
                  <a:cubicBezTo>
                    <a:pt x="9292082" y="54737"/>
                    <a:pt x="9249918" y="12700"/>
                    <a:pt x="9197848" y="12700"/>
                  </a:cubicBezTo>
                  <a:lnTo>
                    <a:pt x="106934" y="12700"/>
                  </a:lnTo>
                  <a:lnTo>
                    <a:pt x="106934" y="6350"/>
                  </a:lnTo>
                  <a:lnTo>
                    <a:pt x="106934" y="12700"/>
                  </a:lnTo>
                  <a:cubicBezTo>
                    <a:pt x="54864" y="12700"/>
                    <a:pt x="12700" y="54610"/>
                    <a:pt x="12700" y="106299"/>
                  </a:cubicBezTo>
                  <a:close/>
                </a:path>
              </a:pathLst>
            </a:custGeom>
            <a:solidFill>
              <a:srgbClr val="C8C9CF"/>
            </a:solidFill>
          </p:spPr>
        </p:sp>
      </p:grpSp>
      <p:sp>
        <p:nvSpPr>
          <p:cNvPr id="8" name="TextBox 8"/>
          <p:cNvSpPr txBox="1"/>
          <p:nvPr/>
        </p:nvSpPr>
        <p:spPr>
          <a:xfrm>
            <a:off x="2298649" y="7255411"/>
            <a:ext cx="3340151" cy="262701"/>
          </a:xfrm>
          <a:prstGeom prst="rect">
            <a:avLst/>
          </a:prstGeom>
        </p:spPr>
        <p:txBody>
          <a:bodyPr wrap="square" lIns="0" tIns="0" rIns="0" bIns="0" rtlCol="0" anchor="t">
            <a:spAutoFit/>
          </a:bodyPr>
          <a:lstStyle/>
          <a:p>
            <a:pPr algn="l">
              <a:lnSpc>
                <a:spcPts val="2187"/>
              </a:lnSpc>
            </a:pPr>
            <a:r>
              <a:rPr lang="en-US" sz="1750" b="1" dirty="0" err="1">
                <a:solidFill>
                  <a:srgbClr val="5B5F71"/>
                </a:solidFill>
                <a:latin typeface="Arimo Bold"/>
                <a:ea typeface="Arimo Bold"/>
                <a:cs typeface="Arimo Bold"/>
                <a:sym typeface="Arimo Bold"/>
              </a:rPr>
              <a:t>Comprensión</a:t>
            </a:r>
            <a:r>
              <a:rPr lang="en-US" sz="1750" b="1" dirty="0">
                <a:solidFill>
                  <a:srgbClr val="5B5F71"/>
                </a:solidFill>
                <a:latin typeface="Arimo Bold"/>
                <a:ea typeface="Arimo Bold"/>
                <a:cs typeface="Arimo Bold"/>
                <a:sym typeface="Arimo Bold"/>
              </a:rPr>
              <a:t> del </a:t>
            </a:r>
            <a:r>
              <a:rPr lang="en-US" sz="1750" b="1" dirty="0" err="1">
                <a:solidFill>
                  <a:srgbClr val="5B5F71"/>
                </a:solidFill>
                <a:latin typeface="Arimo Bold"/>
                <a:ea typeface="Arimo Bold"/>
                <a:cs typeface="Arimo Bold"/>
                <a:sym typeface="Arimo Bold"/>
              </a:rPr>
              <a:t>código</a:t>
            </a:r>
            <a:endParaRPr lang="en-US" sz="1750" b="1" dirty="0">
              <a:solidFill>
                <a:srgbClr val="5B5F71"/>
              </a:solidFill>
              <a:latin typeface="Arimo Bold"/>
              <a:ea typeface="Arimo Bold"/>
              <a:cs typeface="Arimo Bold"/>
              <a:sym typeface="Arimo Bold"/>
            </a:endParaRPr>
          </a:p>
        </p:txBody>
      </p:sp>
      <p:sp>
        <p:nvSpPr>
          <p:cNvPr id="9" name="TextBox 9"/>
          <p:cNvSpPr txBox="1"/>
          <p:nvPr/>
        </p:nvSpPr>
        <p:spPr>
          <a:xfrm>
            <a:off x="2298649" y="7601435"/>
            <a:ext cx="6593386" cy="528638"/>
          </a:xfrm>
          <a:prstGeom prst="rect">
            <a:avLst/>
          </a:prstGeom>
        </p:spPr>
        <p:txBody>
          <a:bodyPr lIns="0" tIns="0" rIns="0" bIns="0" rtlCol="0" anchor="t">
            <a:spAutoFit/>
          </a:bodyPr>
          <a:lstStyle/>
          <a:p>
            <a:pPr algn="l">
              <a:lnSpc>
                <a:spcPts val="1875"/>
              </a:lnSpc>
            </a:pPr>
            <a:r>
              <a:rPr lang="en-US" sz="1375">
                <a:solidFill>
                  <a:srgbClr val="5B5F71"/>
                </a:solidFill>
                <a:latin typeface="Arimo"/>
                <a:ea typeface="Arimo"/>
                <a:cs typeface="Arimo"/>
                <a:sym typeface="Arimo"/>
              </a:rPr>
              <a:t>Permite entender cómo el compilador interpreta cada parte del código antes de etapas posteriores</a:t>
            </a:r>
          </a:p>
        </p:txBody>
      </p:sp>
      <p:grpSp>
        <p:nvGrpSpPr>
          <p:cNvPr id="10" name="Group 10"/>
          <p:cNvGrpSpPr/>
          <p:nvPr/>
        </p:nvGrpSpPr>
        <p:grpSpPr>
          <a:xfrm>
            <a:off x="9203236" y="7091400"/>
            <a:ext cx="6978701" cy="1231259"/>
            <a:chOff x="0" y="0"/>
            <a:chExt cx="9304934" cy="1641678"/>
          </a:xfrm>
        </p:grpSpPr>
        <p:sp>
          <p:nvSpPr>
            <p:cNvPr id="11" name="Freeform 11"/>
            <p:cNvSpPr/>
            <p:nvPr/>
          </p:nvSpPr>
          <p:spPr>
            <a:xfrm>
              <a:off x="6350" y="6350"/>
              <a:ext cx="9292336" cy="1629029"/>
            </a:xfrm>
            <a:custGeom>
              <a:avLst/>
              <a:gdLst/>
              <a:ahLst/>
              <a:cxnLst/>
              <a:rect l="l" t="t" r="r" b="b"/>
              <a:pathLst>
                <a:path w="9292336" h="1629029">
                  <a:moveTo>
                    <a:pt x="0" y="99949"/>
                  </a:moveTo>
                  <a:cubicBezTo>
                    <a:pt x="0" y="44704"/>
                    <a:pt x="44958" y="0"/>
                    <a:pt x="100584" y="0"/>
                  </a:cubicBezTo>
                  <a:lnTo>
                    <a:pt x="9191752" y="0"/>
                  </a:lnTo>
                  <a:cubicBezTo>
                    <a:pt x="9247251" y="0"/>
                    <a:pt x="9292336" y="44704"/>
                    <a:pt x="9292336" y="99949"/>
                  </a:cubicBezTo>
                  <a:lnTo>
                    <a:pt x="9292336" y="1529080"/>
                  </a:lnTo>
                  <a:cubicBezTo>
                    <a:pt x="9292336" y="1584198"/>
                    <a:pt x="9247378" y="1629029"/>
                    <a:pt x="9191752" y="1629029"/>
                  </a:cubicBezTo>
                  <a:lnTo>
                    <a:pt x="100584" y="1629029"/>
                  </a:lnTo>
                  <a:cubicBezTo>
                    <a:pt x="45085" y="1629029"/>
                    <a:pt x="0" y="1584325"/>
                    <a:pt x="0" y="1529080"/>
                  </a:cubicBezTo>
                  <a:close/>
                </a:path>
              </a:pathLst>
            </a:custGeom>
            <a:solidFill>
              <a:srgbClr val="E2E3E9"/>
            </a:solidFill>
          </p:spPr>
        </p:sp>
        <p:sp>
          <p:nvSpPr>
            <p:cNvPr id="12" name="Freeform 12"/>
            <p:cNvSpPr/>
            <p:nvPr/>
          </p:nvSpPr>
          <p:spPr>
            <a:xfrm>
              <a:off x="0" y="0"/>
              <a:ext cx="9305036" cy="1641729"/>
            </a:xfrm>
            <a:custGeom>
              <a:avLst/>
              <a:gdLst/>
              <a:ahLst/>
              <a:cxnLst/>
              <a:rect l="l" t="t" r="r" b="b"/>
              <a:pathLst>
                <a:path w="9305036" h="1641729">
                  <a:moveTo>
                    <a:pt x="0" y="106299"/>
                  </a:moveTo>
                  <a:cubicBezTo>
                    <a:pt x="0" y="47498"/>
                    <a:pt x="47879" y="0"/>
                    <a:pt x="106934" y="0"/>
                  </a:cubicBezTo>
                  <a:lnTo>
                    <a:pt x="9198102" y="0"/>
                  </a:lnTo>
                  <a:lnTo>
                    <a:pt x="9198102" y="6350"/>
                  </a:lnTo>
                  <a:lnTo>
                    <a:pt x="9198102" y="0"/>
                  </a:lnTo>
                  <a:cubicBezTo>
                    <a:pt x="9257030" y="0"/>
                    <a:pt x="9305036" y="47498"/>
                    <a:pt x="9305036" y="106299"/>
                  </a:cubicBezTo>
                  <a:lnTo>
                    <a:pt x="9298686" y="106299"/>
                  </a:lnTo>
                  <a:lnTo>
                    <a:pt x="9305036" y="106299"/>
                  </a:lnTo>
                  <a:lnTo>
                    <a:pt x="9305036" y="1535430"/>
                  </a:lnTo>
                  <a:lnTo>
                    <a:pt x="9298686" y="1535430"/>
                  </a:lnTo>
                  <a:lnTo>
                    <a:pt x="9305036" y="1535430"/>
                  </a:lnTo>
                  <a:cubicBezTo>
                    <a:pt x="9305036" y="1594104"/>
                    <a:pt x="9257157" y="1641729"/>
                    <a:pt x="9198102" y="1641729"/>
                  </a:cubicBezTo>
                  <a:lnTo>
                    <a:pt x="9198102" y="1635379"/>
                  </a:lnTo>
                  <a:lnTo>
                    <a:pt x="9198102" y="1641729"/>
                  </a:lnTo>
                  <a:lnTo>
                    <a:pt x="106934" y="1641729"/>
                  </a:lnTo>
                  <a:lnTo>
                    <a:pt x="106934" y="1635379"/>
                  </a:lnTo>
                  <a:lnTo>
                    <a:pt x="106934" y="1641729"/>
                  </a:lnTo>
                  <a:cubicBezTo>
                    <a:pt x="48006" y="1641729"/>
                    <a:pt x="0" y="1594231"/>
                    <a:pt x="0" y="1535430"/>
                  </a:cubicBezTo>
                  <a:lnTo>
                    <a:pt x="0" y="106299"/>
                  </a:lnTo>
                  <a:lnTo>
                    <a:pt x="6350" y="106299"/>
                  </a:lnTo>
                  <a:lnTo>
                    <a:pt x="0" y="106299"/>
                  </a:lnTo>
                  <a:moveTo>
                    <a:pt x="12700" y="106299"/>
                  </a:moveTo>
                  <a:lnTo>
                    <a:pt x="12700" y="1535430"/>
                  </a:lnTo>
                  <a:lnTo>
                    <a:pt x="6350" y="1535430"/>
                  </a:lnTo>
                  <a:lnTo>
                    <a:pt x="12700" y="1535430"/>
                  </a:lnTo>
                  <a:cubicBezTo>
                    <a:pt x="12700" y="1586992"/>
                    <a:pt x="54864" y="1629029"/>
                    <a:pt x="106934" y="1629029"/>
                  </a:cubicBezTo>
                  <a:lnTo>
                    <a:pt x="9198102" y="1629029"/>
                  </a:lnTo>
                  <a:cubicBezTo>
                    <a:pt x="9250172" y="1629029"/>
                    <a:pt x="9292336" y="1587119"/>
                    <a:pt x="9292336" y="1535430"/>
                  </a:cubicBezTo>
                  <a:lnTo>
                    <a:pt x="9292336" y="106299"/>
                  </a:lnTo>
                  <a:cubicBezTo>
                    <a:pt x="9292336" y="54737"/>
                    <a:pt x="9250172" y="12700"/>
                    <a:pt x="9198102" y="12700"/>
                  </a:cubicBezTo>
                  <a:lnTo>
                    <a:pt x="106934" y="12700"/>
                  </a:lnTo>
                  <a:lnTo>
                    <a:pt x="106934" y="6350"/>
                  </a:lnTo>
                  <a:lnTo>
                    <a:pt x="106934" y="12700"/>
                  </a:lnTo>
                  <a:cubicBezTo>
                    <a:pt x="54864" y="12700"/>
                    <a:pt x="12700" y="54610"/>
                    <a:pt x="12700" y="106299"/>
                  </a:cubicBezTo>
                  <a:close/>
                </a:path>
              </a:pathLst>
            </a:custGeom>
            <a:solidFill>
              <a:srgbClr val="C8C9CF"/>
            </a:solidFill>
          </p:spPr>
        </p:sp>
      </p:grpSp>
      <p:sp>
        <p:nvSpPr>
          <p:cNvPr id="13" name="TextBox 13"/>
          <p:cNvSpPr txBox="1"/>
          <p:nvPr/>
        </p:nvSpPr>
        <p:spPr>
          <a:xfrm>
            <a:off x="9395822" y="7255411"/>
            <a:ext cx="4091578" cy="262701"/>
          </a:xfrm>
          <a:prstGeom prst="rect">
            <a:avLst/>
          </a:prstGeom>
        </p:spPr>
        <p:txBody>
          <a:bodyPr wrap="square" lIns="0" tIns="0" rIns="0" bIns="0" rtlCol="0" anchor="t">
            <a:spAutoFit/>
          </a:bodyPr>
          <a:lstStyle/>
          <a:p>
            <a:pPr algn="l">
              <a:lnSpc>
                <a:spcPts val="2187"/>
              </a:lnSpc>
            </a:pPr>
            <a:r>
              <a:rPr lang="en-US" sz="1750" b="1" dirty="0">
                <a:solidFill>
                  <a:srgbClr val="5B5F71"/>
                </a:solidFill>
                <a:latin typeface="Arimo Bold"/>
                <a:ea typeface="Arimo Bold"/>
                <a:cs typeface="Arimo Bold"/>
                <a:sym typeface="Arimo Bold"/>
              </a:rPr>
              <a:t>Base para </a:t>
            </a:r>
            <a:r>
              <a:rPr lang="en-US" sz="1750" b="1" dirty="0" err="1">
                <a:solidFill>
                  <a:srgbClr val="5B5F71"/>
                </a:solidFill>
                <a:latin typeface="Arimo Bold"/>
                <a:ea typeface="Arimo Bold"/>
                <a:cs typeface="Arimo Bold"/>
                <a:sym typeface="Arimo Bold"/>
              </a:rPr>
              <a:t>análisis</a:t>
            </a:r>
            <a:r>
              <a:rPr lang="en-US" sz="1750" b="1" dirty="0">
                <a:solidFill>
                  <a:srgbClr val="5B5F71"/>
                </a:solidFill>
                <a:latin typeface="Arimo Bold"/>
                <a:ea typeface="Arimo Bold"/>
                <a:cs typeface="Arimo Bold"/>
                <a:sym typeface="Arimo Bold"/>
              </a:rPr>
              <a:t> posteriores</a:t>
            </a:r>
          </a:p>
        </p:txBody>
      </p:sp>
      <p:sp>
        <p:nvSpPr>
          <p:cNvPr id="14" name="TextBox 14"/>
          <p:cNvSpPr txBox="1"/>
          <p:nvPr/>
        </p:nvSpPr>
        <p:spPr>
          <a:xfrm>
            <a:off x="9395822" y="7601435"/>
            <a:ext cx="6593529" cy="528638"/>
          </a:xfrm>
          <a:prstGeom prst="rect">
            <a:avLst/>
          </a:prstGeom>
        </p:spPr>
        <p:txBody>
          <a:bodyPr lIns="0" tIns="0" rIns="0" bIns="0" rtlCol="0" anchor="t">
            <a:spAutoFit/>
          </a:bodyPr>
          <a:lstStyle/>
          <a:p>
            <a:pPr algn="l">
              <a:lnSpc>
                <a:spcPts val="1875"/>
              </a:lnSpc>
            </a:pPr>
            <a:r>
              <a:rPr lang="en-US" sz="1375">
                <a:solidFill>
                  <a:srgbClr val="5B5F71"/>
                </a:solidFill>
                <a:latin typeface="Arimo"/>
                <a:ea typeface="Arimo"/>
                <a:cs typeface="Arimo"/>
                <a:sym typeface="Arimo"/>
              </a:rPr>
              <a:t>Prepara el código para el análisis sintáctico y semántico en fases siguientes del compilador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346770" y="981075"/>
            <a:ext cx="9076140" cy="709890"/>
          </a:xfrm>
          <a:prstGeom prst="rect">
            <a:avLst/>
          </a:prstGeom>
        </p:spPr>
        <p:txBody>
          <a:bodyPr lIns="0" tIns="0" rIns="0" bIns="0" rtlCol="0" anchor="t">
            <a:spAutoFit/>
          </a:bodyPr>
          <a:lstStyle/>
          <a:p>
            <a:pPr algn="l">
              <a:lnSpc>
                <a:spcPts val="5522"/>
              </a:lnSpc>
            </a:pPr>
            <a:r>
              <a:rPr lang="en-US" sz="4403" b="1">
                <a:solidFill>
                  <a:srgbClr val="505468"/>
                </a:solidFill>
                <a:latin typeface="Arimo Bold"/>
                <a:ea typeface="Arimo Bold"/>
                <a:cs typeface="Arimo Bold"/>
                <a:sym typeface="Arimo Bold"/>
              </a:rPr>
              <a:t> Justificación</a:t>
            </a:r>
          </a:p>
        </p:txBody>
      </p:sp>
      <p:sp>
        <p:nvSpPr>
          <p:cNvPr id="3" name="TextBox 3"/>
          <p:cNvSpPr txBox="1"/>
          <p:nvPr/>
        </p:nvSpPr>
        <p:spPr>
          <a:xfrm>
            <a:off x="1346770" y="2737229"/>
            <a:ext cx="15912530" cy="3497274"/>
          </a:xfrm>
          <a:prstGeom prst="rect">
            <a:avLst/>
          </a:prstGeom>
        </p:spPr>
        <p:txBody>
          <a:bodyPr lIns="0" tIns="0" rIns="0" bIns="0" rtlCol="0" anchor="t">
            <a:spAutoFit/>
          </a:bodyPr>
          <a:lstStyle/>
          <a:p>
            <a:pPr algn="l">
              <a:lnSpc>
                <a:spcPts val="3524"/>
              </a:lnSpc>
            </a:pPr>
            <a:r>
              <a:rPr lang="en-US" sz="2447">
                <a:solidFill>
                  <a:srgbClr val="5B5F71"/>
                </a:solidFill>
                <a:latin typeface="Arimo"/>
                <a:ea typeface="Arimo"/>
                <a:cs typeface="Arimo"/>
                <a:sym typeface="Arimo"/>
              </a:rPr>
              <a:t>El análisis léxico es un tema fundamental dentro del estudio de los lenguajes de programación y el diseño de compiladores. A través de ejercicios prácticos es posible comprender cómo el compilador interpreta cada parte del código escrito por el programador.</a:t>
            </a:r>
          </a:p>
          <a:p>
            <a:pPr algn="l">
              <a:lnSpc>
                <a:spcPts val="3524"/>
              </a:lnSpc>
            </a:pPr>
            <a:endParaRPr lang="en-US" sz="2447">
              <a:solidFill>
                <a:srgbClr val="5B5F71"/>
              </a:solidFill>
              <a:latin typeface="Arimo"/>
              <a:ea typeface="Arimo"/>
              <a:cs typeface="Arimo"/>
              <a:sym typeface="Arimo"/>
            </a:endParaRPr>
          </a:p>
          <a:p>
            <a:pPr algn="l">
              <a:lnSpc>
                <a:spcPts val="3524"/>
              </a:lnSpc>
            </a:pPr>
            <a:r>
              <a:rPr lang="en-US" sz="2447">
                <a:solidFill>
                  <a:srgbClr val="5B5F71"/>
                </a:solidFill>
                <a:latin typeface="Arimo"/>
                <a:ea typeface="Arimo"/>
                <a:cs typeface="Arimo"/>
                <a:sym typeface="Arimo"/>
              </a:rPr>
              <a:t>Realizar este tipo de actividades ayuda a identificar los diferentes elementos que componen una instrucción dentro de un lenguaje de programación y permite entender la importancia de escribir correctamente el código, ya que errores léxicos pueden provocar que el programa no sea reconocido correctamente por el compilador.</a:t>
            </a:r>
          </a:p>
          <a:p>
            <a:pPr algn="l">
              <a:lnSpc>
                <a:spcPts val="3524"/>
              </a:lnSpc>
            </a:pPr>
            <a:endParaRPr lang="en-US" sz="2447">
              <a:solidFill>
                <a:srgbClr val="5B5F71"/>
              </a:solidFill>
              <a:latin typeface="Arimo"/>
              <a:ea typeface="Arimo"/>
              <a:cs typeface="Arimo"/>
              <a:sym typeface="Arim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213581" y="1611348"/>
            <a:ext cx="4942618" cy="370752"/>
            <a:chOff x="0" y="0"/>
            <a:chExt cx="8962822" cy="672313"/>
          </a:xfrm>
        </p:grpSpPr>
        <p:sp>
          <p:nvSpPr>
            <p:cNvPr id="3" name="Freeform 3"/>
            <p:cNvSpPr/>
            <p:nvPr/>
          </p:nvSpPr>
          <p:spPr>
            <a:xfrm>
              <a:off x="0" y="0"/>
              <a:ext cx="8962898" cy="672338"/>
            </a:xfrm>
            <a:custGeom>
              <a:avLst/>
              <a:gdLst/>
              <a:ahLst/>
              <a:cxnLst/>
              <a:rect l="l" t="t" r="r" b="b"/>
              <a:pathLst>
                <a:path w="8962898" h="672338">
                  <a:moveTo>
                    <a:pt x="0" y="98552"/>
                  </a:moveTo>
                  <a:cubicBezTo>
                    <a:pt x="0" y="44069"/>
                    <a:pt x="44069" y="0"/>
                    <a:pt x="98552" y="0"/>
                  </a:cubicBezTo>
                  <a:lnTo>
                    <a:pt x="8864346" y="0"/>
                  </a:lnTo>
                  <a:cubicBezTo>
                    <a:pt x="8918702" y="0"/>
                    <a:pt x="8962898" y="44069"/>
                    <a:pt x="8962898" y="98552"/>
                  </a:cubicBezTo>
                  <a:lnTo>
                    <a:pt x="8962898" y="573786"/>
                  </a:lnTo>
                  <a:cubicBezTo>
                    <a:pt x="8962898" y="628142"/>
                    <a:pt x="8918828" y="672338"/>
                    <a:pt x="8864346" y="672338"/>
                  </a:cubicBezTo>
                  <a:lnTo>
                    <a:pt x="98552" y="672338"/>
                  </a:lnTo>
                  <a:cubicBezTo>
                    <a:pt x="44069" y="672338"/>
                    <a:pt x="0" y="628142"/>
                    <a:pt x="0" y="573786"/>
                  </a:cubicBezTo>
                  <a:close/>
                </a:path>
              </a:pathLst>
            </a:custGeom>
            <a:solidFill>
              <a:srgbClr val="F2F2F2"/>
            </a:solidFill>
          </p:spPr>
        </p:sp>
      </p:grpSp>
      <p:grpSp>
        <p:nvGrpSpPr>
          <p:cNvPr id="4" name="Group 4"/>
          <p:cNvGrpSpPr/>
          <p:nvPr/>
        </p:nvGrpSpPr>
        <p:grpSpPr>
          <a:xfrm>
            <a:off x="2207123" y="1611348"/>
            <a:ext cx="4955533" cy="370752"/>
            <a:chOff x="0" y="0"/>
            <a:chExt cx="8986241" cy="672313"/>
          </a:xfrm>
        </p:grpSpPr>
        <p:sp>
          <p:nvSpPr>
            <p:cNvPr id="5" name="Freeform 5"/>
            <p:cNvSpPr/>
            <p:nvPr/>
          </p:nvSpPr>
          <p:spPr>
            <a:xfrm>
              <a:off x="0" y="0"/>
              <a:ext cx="8986266" cy="672338"/>
            </a:xfrm>
            <a:custGeom>
              <a:avLst/>
              <a:gdLst/>
              <a:ahLst/>
              <a:cxnLst/>
              <a:rect l="l" t="t" r="r" b="b"/>
              <a:pathLst>
                <a:path w="8986266" h="672338">
                  <a:moveTo>
                    <a:pt x="0" y="35179"/>
                  </a:moveTo>
                  <a:cubicBezTo>
                    <a:pt x="0" y="15748"/>
                    <a:pt x="15748" y="0"/>
                    <a:pt x="35179" y="0"/>
                  </a:cubicBezTo>
                  <a:lnTo>
                    <a:pt x="8951087" y="0"/>
                  </a:lnTo>
                  <a:cubicBezTo>
                    <a:pt x="8970518" y="0"/>
                    <a:pt x="8986266" y="15748"/>
                    <a:pt x="8986266" y="35179"/>
                  </a:cubicBezTo>
                  <a:lnTo>
                    <a:pt x="8986266" y="637159"/>
                  </a:lnTo>
                  <a:cubicBezTo>
                    <a:pt x="8986266" y="656590"/>
                    <a:pt x="8970518" y="672338"/>
                    <a:pt x="8951087" y="672338"/>
                  </a:cubicBezTo>
                  <a:lnTo>
                    <a:pt x="35179" y="672338"/>
                  </a:lnTo>
                  <a:cubicBezTo>
                    <a:pt x="15748" y="672338"/>
                    <a:pt x="0" y="656590"/>
                    <a:pt x="0" y="637159"/>
                  </a:cubicBezTo>
                  <a:close/>
                </a:path>
              </a:pathLst>
            </a:custGeom>
            <a:solidFill>
              <a:srgbClr val="F2F2F2"/>
            </a:solidFill>
          </p:spPr>
        </p:sp>
      </p:grpSp>
      <p:grpSp>
        <p:nvGrpSpPr>
          <p:cNvPr id="6" name="Group 6"/>
          <p:cNvGrpSpPr/>
          <p:nvPr/>
        </p:nvGrpSpPr>
        <p:grpSpPr>
          <a:xfrm>
            <a:off x="2210079" y="2427474"/>
            <a:ext cx="4949622" cy="2426718"/>
            <a:chOff x="0" y="0"/>
            <a:chExt cx="8975522" cy="4400550"/>
          </a:xfrm>
        </p:grpSpPr>
        <p:sp>
          <p:nvSpPr>
            <p:cNvPr id="7" name="Freeform 7"/>
            <p:cNvSpPr/>
            <p:nvPr/>
          </p:nvSpPr>
          <p:spPr>
            <a:xfrm>
              <a:off x="0" y="0"/>
              <a:ext cx="8975598" cy="4400550"/>
            </a:xfrm>
            <a:custGeom>
              <a:avLst/>
              <a:gdLst/>
              <a:ahLst/>
              <a:cxnLst/>
              <a:rect l="l" t="t" r="r" b="b"/>
              <a:pathLst>
                <a:path w="8975598" h="4400550">
                  <a:moveTo>
                    <a:pt x="0" y="104902"/>
                  </a:moveTo>
                  <a:cubicBezTo>
                    <a:pt x="0" y="46990"/>
                    <a:pt x="46990" y="0"/>
                    <a:pt x="105029" y="0"/>
                  </a:cubicBezTo>
                  <a:lnTo>
                    <a:pt x="8870569" y="0"/>
                  </a:lnTo>
                  <a:lnTo>
                    <a:pt x="8870569" y="6350"/>
                  </a:lnTo>
                  <a:lnTo>
                    <a:pt x="8870569" y="0"/>
                  </a:lnTo>
                  <a:cubicBezTo>
                    <a:pt x="8928608" y="0"/>
                    <a:pt x="8975598" y="46990"/>
                    <a:pt x="8975598" y="104902"/>
                  </a:cubicBezTo>
                  <a:lnTo>
                    <a:pt x="8969248" y="104902"/>
                  </a:lnTo>
                  <a:lnTo>
                    <a:pt x="8975598" y="104902"/>
                  </a:lnTo>
                  <a:lnTo>
                    <a:pt x="8975598" y="4295648"/>
                  </a:lnTo>
                  <a:lnTo>
                    <a:pt x="8969248" y="4295648"/>
                  </a:lnTo>
                  <a:lnTo>
                    <a:pt x="8975598" y="4295648"/>
                  </a:lnTo>
                  <a:cubicBezTo>
                    <a:pt x="8975598" y="4353560"/>
                    <a:pt x="8928608" y="4400550"/>
                    <a:pt x="8870569" y="4400550"/>
                  </a:cubicBezTo>
                  <a:lnTo>
                    <a:pt x="8870569" y="4394200"/>
                  </a:lnTo>
                  <a:lnTo>
                    <a:pt x="8870569" y="4400550"/>
                  </a:lnTo>
                  <a:lnTo>
                    <a:pt x="105029" y="4400550"/>
                  </a:lnTo>
                  <a:lnTo>
                    <a:pt x="105029" y="4394200"/>
                  </a:lnTo>
                  <a:lnTo>
                    <a:pt x="105029" y="4400550"/>
                  </a:lnTo>
                  <a:cubicBezTo>
                    <a:pt x="46990" y="4400550"/>
                    <a:pt x="0" y="4353560"/>
                    <a:pt x="0" y="4295648"/>
                  </a:cubicBezTo>
                  <a:lnTo>
                    <a:pt x="0" y="104902"/>
                  </a:lnTo>
                  <a:lnTo>
                    <a:pt x="6350" y="104902"/>
                  </a:lnTo>
                  <a:lnTo>
                    <a:pt x="0" y="104902"/>
                  </a:lnTo>
                  <a:moveTo>
                    <a:pt x="12700" y="104902"/>
                  </a:moveTo>
                  <a:lnTo>
                    <a:pt x="12700" y="4295648"/>
                  </a:lnTo>
                  <a:lnTo>
                    <a:pt x="6350" y="4295648"/>
                  </a:lnTo>
                  <a:lnTo>
                    <a:pt x="12700" y="4295648"/>
                  </a:lnTo>
                  <a:cubicBezTo>
                    <a:pt x="12700" y="4346575"/>
                    <a:pt x="53975" y="4387850"/>
                    <a:pt x="105029" y="4387850"/>
                  </a:cubicBezTo>
                  <a:lnTo>
                    <a:pt x="8870569" y="4387850"/>
                  </a:lnTo>
                  <a:cubicBezTo>
                    <a:pt x="8921497" y="4387850"/>
                    <a:pt x="8962898" y="4346575"/>
                    <a:pt x="8962898" y="4295648"/>
                  </a:cubicBezTo>
                  <a:lnTo>
                    <a:pt x="8962898" y="104902"/>
                  </a:lnTo>
                  <a:cubicBezTo>
                    <a:pt x="8962898" y="53975"/>
                    <a:pt x="8921623" y="12700"/>
                    <a:pt x="8870569" y="12700"/>
                  </a:cubicBezTo>
                  <a:lnTo>
                    <a:pt x="105029" y="12700"/>
                  </a:lnTo>
                  <a:lnTo>
                    <a:pt x="105029" y="6350"/>
                  </a:lnTo>
                  <a:lnTo>
                    <a:pt x="105029" y="12700"/>
                  </a:lnTo>
                  <a:cubicBezTo>
                    <a:pt x="53975" y="12700"/>
                    <a:pt x="12700" y="53975"/>
                    <a:pt x="12700" y="104902"/>
                  </a:cubicBezTo>
                  <a:close/>
                </a:path>
              </a:pathLst>
            </a:custGeom>
            <a:solidFill>
              <a:srgbClr val="000000">
                <a:alpha val="392"/>
              </a:srgbClr>
            </a:solidFill>
          </p:spPr>
        </p:sp>
      </p:grpSp>
      <p:grpSp>
        <p:nvGrpSpPr>
          <p:cNvPr id="8" name="Group 8"/>
          <p:cNvGrpSpPr/>
          <p:nvPr/>
        </p:nvGrpSpPr>
        <p:grpSpPr>
          <a:xfrm>
            <a:off x="2220584" y="2437979"/>
            <a:ext cx="4928611" cy="300717"/>
            <a:chOff x="0" y="0"/>
            <a:chExt cx="8937422" cy="545313"/>
          </a:xfrm>
        </p:grpSpPr>
        <p:sp>
          <p:nvSpPr>
            <p:cNvPr id="9" name="Freeform 9"/>
            <p:cNvSpPr/>
            <p:nvPr/>
          </p:nvSpPr>
          <p:spPr>
            <a:xfrm>
              <a:off x="0" y="0"/>
              <a:ext cx="8937371" cy="545338"/>
            </a:xfrm>
            <a:custGeom>
              <a:avLst/>
              <a:gdLst/>
              <a:ahLst/>
              <a:cxnLst/>
              <a:rect l="l" t="t" r="r" b="b"/>
              <a:pathLst>
                <a:path w="8937371" h="545338">
                  <a:moveTo>
                    <a:pt x="0" y="0"/>
                  </a:moveTo>
                  <a:lnTo>
                    <a:pt x="8937371" y="0"/>
                  </a:lnTo>
                  <a:lnTo>
                    <a:pt x="8937371" y="545338"/>
                  </a:lnTo>
                  <a:lnTo>
                    <a:pt x="0" y="545338"/>
                  </a:lnTo>
                  <a:close/>
                </a:path>
              </a:pathLst>
            </a:custGeom>
            <a:solidFill>
              <a:srgbClr val="FFFFFF">
                <a:alpha val="0"/>
              </a:srgbClr>
            </a:solidFill>
          </p:spPr>
        </p:sp>
      </p:grpSp>
      <p:grpSp>
        <p:nvGrpSpPr>
          <p:cNvPr id="10" name="Group 10"/>
          <p:cNvGrpSpPr/>
          <p:nvPr/>
        </p:nvGrpSpPr>
        <p:grpSpPr>
          <a:xfrm>
            <a:off x="2220584" y="2738689"/>
            <a:ext cx="4928611" cy="300717"/>
            <a:chOff x="0" y="0"/>
            <a:chExt cx="8937422" cy="545313"/>
          </a:xfrm>
        </p:grpSpPr>
        <p:sp>
          <p:nvSpPr>
            <p:cNvPr id="11" name="Freeform 11"/>
            <p:cNvSpPr/>
            <p:nvPr/>
          </p:nvSpPr>
          <p:spPr>
            <a:xfrm>
              <a:off x="0" y="0"/>
              <a:ext cx="8937371" cy="545338"/>
            </a:xfrm>
            <a:custGeom>
              <a:avLst/>
              <a:gdLst/>
              <a:ahLst/>
              <a:cxnLst/>
              <a:rect l="l" t="t" r="r" b="b"/>
              <a:pathLst>
                <a:path w="8937371" h="545338">
                  <a:moveTo>
                    <a:pt x="0" y="0"/>
                  </a:moveTo>
                  <a:lnTo>
                    <a:pt x="8937371" y="0"/>
                  </a:lnTo>
                  <a:lnTo>
                    <a:pt x="8937371" y="545338"/>
                  </a:lnTo>
                  <a:lnTo>
                    <a:pt x="0" y="545338"/>
                  </a:lnTo>
                  <a:close/>
                </a:path>
              </a:pathLst>
            </a:custGeom>
            <a:solidFill>
              <a:srgbClr val="000000">
                <a:alpha val="0"/>
              </a:srgbClr>
            </a:solidFill>
          </p:spPr>
        </p:sp>
      </p:grpSp>
      <p:grpSp>
        <p:nvGrpSpPr>
          <p:cNvPr id="12" name="Group 12"/>
          <p:cNvGrpSpPr/>
          <p:nvPr/>
        </p:nvGrpSpPr>
        <p:grpSpPr>
          <a:xfrm>
            <a:off x="2220584" y="3039406"/>
            <a:ext cx="4928611" cy="300717"/>
            <a:chOff x="0" y="0"/>
            <a:chExt cx="8937422" cy="545313"/>
          </a:xfrm>
        </p:grpSpPr>
        <p:sp>
          <p:nvSpPr>
            <p:cNvPr id="13" name="Freeform 13"/>
            <p:cNvSpPr/>
            <p:nvPr/>
          </p:nvSpPr>
          <p:spPr>
            <a:xfrm>
              <a:off x="0" y="0"/>
              <a:ext cx="8937371" cy="545338"/>
            </a:xfrm>
            <a:custGeom>
              <a:avLst/>
              <a:gdLst/>
              <a:ahLst/>
              <a:cxnLst/>
              <a:rect l="l" t="t" r="r" b="b"/>
              <a:pathLst>
                <a:path w="8937371" h="545338">
                  <a:moveTo>
                    <a:pt x="0" y="0"/>
                  </a:moveTo>
                  <a:lnTo>
                    <a:pt x="8937371" y="0"/>
                  </a:lnTo>
                  <a:lnTo>
                    <a:pt x="8937371" y="545338"/>
                  </a:lnTo>
                  <a:lnTo>
                    <a:pt x="0" y="545338"/>
                  </a:lnTo>
                  <a:close/>
                </a:path>
              </a:pathLst>
            </a:custGeom>
            <a:solidFill>
              <a:srgbClr val="FFFFFF">
                <a:alpha val="0"/>
              </a:srgbClr>
            </a:solidFill>
          </p:spPr>
        </p:sp>
      </p:grpSp>
      <p:grpSp>
        <p:nvGrpSpPr>
          <p:cNvPr id="14" name="Group 14"/>
          <p:cNvGrpSpPr/>
          <p:nvPr/>
        </p:nvGrpSpPr>
        <p:grpSpPr>
          <a:xfrm>
            <a:off x="2220584" y="3340116"/>
            <a:ext cx="4928611" cy="300717"/>
            <a:chOff x="0" y="0"/>
            <a:chExt cx="8937422" cy="545313"/>
          </a:xfrm>
        </p:grpSpPr>
        <p:sp>
          <p:nvSpPr>
            <p:cNvPr id="15" name="Freeform 15"/>
            <p:cNvSpPr/>
            <p:nvPr/>
          </p:nvSpPr>
          <p:spPr>
            <a:xfrm>
              <a:off x="0" y="0"/>
              <a:ext cx="8937371" cy="545338"/>
            </a:xfrm>
            <a:custGeom>
              <a:avLst/>
              <a:gdLst/>
              <a:ahLst/>
              <a:cxnLst/>
              <a:rect l="l" t="t" r="r" b="b"/>
              <a:pathLst>
                <a:path w="8937371" h="545338">
                  <a:moveTo>
                    <a:pt x="0" y="0"/>
                  </a:moveTo>
                  <a:lnTo>
                    <a:pt x="8937371" y="0"/>
                  </a:lnTo>
                  <a:lnTo>
                    <a:pt x="8937371" y="545338"/>
                  </a:lnTo>
                  <a:lnTo>
                    <a:pt x="0" y="545338"/>
                  </a:lnTo>
                  <a:close/>
                </a:path>
              </a:pathLst>
            </a:custGeom>
            <a:solidFill>
              <a:srgbClr val="000000">
                <a:alpha val="0"/>
              </a:srgbClr>
            </a:solidFill>
          </p:spPr>
        </p:sp>
      </p:grpSp>
      <p:grpSp>
        <p:nvGrpSpPr>
          <p:cNvPr id="16" name="Group 16"/>
          <p:cNvGrpSpPr/>
          <p:nvPr/>
        </p:nvGrpSpPr>
        <p:grpSpPr>
          <a:xfrm>
            <a:off x="2220584" y="3640833"/>
            <a:ext cx="4928611" cy="300717"/>
            <a:chOff x="0" y="0"/>
            <a:chExt cx="8937422" cy="545313"/>
          </a:xfrm>
        </p:grpSpPr>
        <p:sp>
          <p:nvSpPr>
            <p:cNvPr id="17" name="Freeform 17"/>
            <p:cNvSpPr/>
            <p:nvPr/>
          </p:nvSpPr>
          <p:spPr>
            <a:xfrm>
              <a:off x="0" y="0"/>
              <a:ext cx="8937371" cy="545338"/>
            </a:xfrm>
            <a:custGeom>
              <a:avLst/>
              <a:gdLst/>
              <a:ahLst/>
              <a:cxnLst/>
              <a:rect l="l" t="t" r="r" b="b"/>
              <a:pathLst>
                <a:path w="8937371" h="545338">
                  <a:moveTo>
                    <a:pt x="0" y="0"/>
                  </a:moveTo>
                  <a:lnTo>
                    <a:pt x="8937371" y="0"/>
                  </a:lnTo>
                  <a:lnTo>
                    <a:pt x="8937371" y="545338"/>
                  </a:lnTo>
                  <a:lnTo>
                    <a:pt x="0" y="545338"/>
                  </a:lnTo>
                  <a:close/>
                </a:path>
              </a:pathLst>
            </a:custGeom>
            <a:solidFill>
              <a:srgbClr val="FFFFFF">
                <a:alpha val="0"/>
              </a:srgbClr>
            </a:solidFill>
          </p:spPr>
        </p:sp>
      </p:grpSp>
      <p:grpSp>
        <p:nvGrpSpPr>
          <p:cNvPr id="18" name="Group 18"/>
          <p:cNvGrpSpPr/>
          <p:nvPr/>
        </p:nvGrpSpPr>
        <p:grpSpPr>
          <a:xfrm>
            <a:off x="2220584" y="3941543"/>
            <a:ext cx="4928611" cy="300717"/>
            <a:chOff x="0" y="0"/>
            <a:chExt cx="8937422" cy="545313"/>
          </a:xfrm>
        </p:grpSpPr>
        <p:sp>
          <p:nvSpPr>
            <p:cNvPr id="19" name="Freeform 19"/>
            <p:cNvSpPr/>
            <p:nvPr/>
          </p:nvSpPr>
          <p:spPr>
            <a:xfrm>
              <a:off x="0" y="0"/>
              <a:ext cx="8937371" cy="545338"/>
            </a:xfrm>
            <a:custGeom>
              <a:avLst/>
              <a:gdLst/>
              <a:ahLst/>
              <a:cxnLst/>
              <a:rect l="l" t="t" r="r" b="b"/>
              <a:pathLst>
                <a:path w="8937371" h="545338">
                  <a:moveTo>
                    <a:pt x="0" y="0"/>
                  </a:moveTo>
                  <a:lnTo>
                    <a:pt x="8937371" y="0"/>
                  </a:lnTo>
                  <a:lnTo>
                    <a:pt x="8937371" y="545338"/>
                  </a:lnTo>
                  <a:lnTo>
                    <a:pt x="0" y="545338"/>
                  </a:lnTo>
                  <a:close/>
                </a:path>
              </a:pathLst>
            </a:custGeom>
            <a:solidFill>
              <a:srgbClr val="000000">
                <a:alpha val="0"/>
              </a:srgbClr>
            </a:solidFill>
          </p:spPr>
        </p:sp>
      </p:grpSp>
      <p:grpSp>
        <p:nvGrpSpPr>
          <p:cNvPr id="20" name="Group 20"/>
          <p:cNvGrpSpPr/>
          <p:nvPr/>
        </p:nvGrpSpPr>
        <p:grpSpPr>
          <a:xfrm>
            <a:off x="2220584" y="4242260"/>
            <a:ext cx="4928611" cy="300717"/>
            <a:chOff x="0" y="0"/>
            <a:chExt cx="8937422" cy="545313"/>
          </a:xfrm>
        </p:grpSpPr>
        <p:sp>
          <p:nvSpPr>
            <p:cNvPr id="21" name="Freeform 21"/>
            <p:cNvSpPr/>
            <p:nvPr/>
          </p:nvSpPr>
          <p:spPr>
            <a:xfrm>
              <a:off x="0" y="0"/>
              <a:ext cx="8937371" cy="545338"/>
            </a:xfrm>
            <a:custGeom>
              <a:avLst/>
              <a:gdLst/>
              <a:ahLst/>
              <a:cxnLst/>
              <a:rect l="l" t="t" r="r" b="b"/>
              <a:pathLst>
                <a:path w="8937371" h="545338">
                  <a:moveTo>
                    <a:pt x="0" y="0"/>
                  </a:moveTo>
                  <a:lnTo>
                    <a:pt x="8937371" y="0"/>
                  </a:lnTo>
                  <a:lnTo>
                    <a:pt x="8937371" y="545338"/>
                  </a:lnTo>
                  <a:lnTo>
                    <a:pt x="0" y="545338"/>
                  </a:lnTo>
                  <a:close/>
                </a:path>
              </a:pathLst>
            </a:custGeom>
            <a:solidFill>
              <a:srgbClr val="FFFFFF">
                <a:alpha val="0"/>
              </a:srgbClr>
            </a:solidFill>
          </p:spPr>
        </p:sp>
      </p:grpSp>
      <p:grpSp>
        <p:nvGrpSpPr>
          <p:cNvPr id="22" name="Group 22"/>
          <p:cNvGrpSpPr/>
          <p:nvPr/>
        </p:nvGrpSpPr>
        <p:grpSpPr>
          <a:xfrm>
            <a:off x="2220584" y="4542970"/>
            <a:ext cx="4928611" cy="300717"/>
            <a:chOff x="0" y="0"/>
            <a:chExt cx="8937422" cy="545313"/>
          </a:xfrm>
        </p:grpSpPr>
        <p:sp>
          <p:nvSpPr>
            <p:cNvPr id="23" name="Freeform 23"/>
            <p:cNvSpPr/>
            <p:nvPr/>
          </p:nvSpPr>
          <p:spPr>
            <a:xfrm>
              <a:off x="0" y="0"/>
              <a:ext cx="8937371" cy="545338"/>
            </a:xfrm>
            <a:custGeom>
              <a:avLst/>
              <a:gdLst/>
              <a:ahLst/>
              <a:cxnLst/>
              <a:rect l="l" t="t" r="r" b="b"/>
              <a:pathLst>
                <a:path w="8937371" h="545338">
                  <a:moveTo>
                    <a:pt x="0" y="0"/>
                  </a:moveTo>
                  <a:lnTo>
                    <a:pt x="8937371" y="0"/>
                  </a:lnTo>
                  <a:lnTo>
                    <a:pt x="8937371" y="545338"/>
                  </a:lnTo>
                  <a:lnTo>
                    <a:pt x="0" y="545338"/>
                  </a:lnTo>
                  <a:close/>
                </a:path>
              </a:pathLst>
            </a:custGeom>
            <a:solidFill>
              <a:srgbClr val="000000">
                <a:alpha val="0"/>
              </a:srgbClr>
            </a:solidFill>
          </p:spPr>
        </p:sp>
      </p:grpSp>
      <p:sp>
        <p:nvSpPr>
          <p:cNvPr id="24" name="Freeform 24"/>
          <p:cNvSpPr/>
          <p:nvPr/>
        </p:nvSpPr>
        <p:spPr>
          <a:xfrm>
            <a:off x="9544174" y="2265322"/>
            <a:ext cx="7981883" cy="5966458"/>
          </a:xfrm>
          <a:custGeom>
            <a:avLst/>
            <a:gdLst/>
            <a:ahLst/>
            <a:cxnLst/>
            <a:rect l="l" t="t" r="r" b="b"/>
            <a:pathLst>
              <a:path w="7981883" h="5966458">
                <a:moveTo>
                  <a:pt x="0" y="0"/>
                </a:moveTo>
                <a:lnTo>
                  <a:pt x="7981884" y="0"/>
                </a:lnTo>
                <a:lnTo>
                  <a:pt x="7981884" y="5966458"/>
                </a:lnTo>
                <a:lnTo>
                  <a:pt x="0" y="5966458"/>
                </a:lnTo>
                <a:lnTo>
                  <a:pt x="0" y="0"/>
                </a:lnTo>
                <a:close/>
              </a:path>
            </a:pathLst>
          </a:custGeom>
          <a:blipFill>
            <a:blip r:embed="rId3"/>
            <a:stretch>
              <a:fillRect/>
            </a:stretch>
          </a:blipFill>
        </p:spPr>
      </p:sp>
      <p:sp>
        <p:nvSpPr>
          <p:cNvPr id="25" name="TextBox 25"/>
          <p:cNvSpPr txBox="1"/>
          <p:nvPr/>
        </p:nvSpPr>
        <p:spPr>
          <a:xfrm>
            <a:off x="2207123" y="471192"/>
            <a:ext cx="9299077" cy="513923"/>
          </a:xfrm>
          <a:prstGeom prst="rect">
            <a:avLst/>
          </a:prstGeom>
        </p:spPr>
        <p:txBody>
          <a:bodyPr wrap="square" lIns="0" tIns="0" rIns="0" bIns="0" rtlCol="0" anchor="t">
            <a:spAutoFit/>
          </a:bodyPr>
          <a:lstStyle/>
          <a:p>
            <a:pPr algn="l">
              <a:lnSpc>
                <a:spcPts val="4312"/>
              </a:lnSpc>
            </a:pPr>
            <a:r>
              <a:rPr lang="en-US" sz="3437" b="1" dirty="0" err="1">
                <a:solidFill>
                  <a:srgbClr val="505468"/>
                </a:solidFill>
                <a:latin typeface="Arimo Bold"/>
                <a:ea typeface="Arimo Bold"/>
                <a:cs typeface="Arimo Bold"/>
                <a:sym typeface="Arimo Bold"/>
              </a:rPr>
              <a:t>Ejercicio</a:t>
            </a:r>
            <a:r>
              <a:rPr lang="en-US" sz="3437" b="1" dirty="0">
                <a:solidFill>
                  <a:srgbClr val="505468"/>
                </a:solidFill>
                <a:latin typeface="Arimo Bold"/>
                <a:ea typeface="Arimo Bold"/>
                <a:cs typeface="Arimo Bold"/>
                <a:sym typeface="Arimo Bold"/>
              </a:rPr>
              <a:t> 1: </a:t>
            </a:r>
            <a:r>
              <a:rPr lang="en-US" sz="3437" b="1" dirty="0" err="1">
                <a:solidFill>
                  <a:srgbClr val="505468"/>
                </a:solidFill>
                <a:latin typeface="Arimo Bold"/>
                <a:ea typeface="Arimo Bold"/>
                <a:cs typeface="Arimo Bold"/>
                <a:sym typeface="Arimo Bold"/>
              </a:rPr>
              <a:t>Identificación</a:t>
            </a:r>
            <a:r>
              <a:rPr lang="en-US" sz="3437" b="1" dirty="0">
                <a:solidFill>
                  <a:srgbClr val="505468"/>
                </a:solidFill>
                <a:latin typeface="Arimo Bold"/>
                <a:ea typeface="Arimo Bold"/>
                <a:cs typeface="Arimo Bold"/>
                <a:sym typeface="Arimo Bold"/>
              </a:rPr>
              <a:t> de tokens</a:t>
            </a:r>
          </a:p>
        </p:txBody>
      </p:sp>
      <p:sp>
        <p:nvSpPr>
          <p:cNvPr id="26" name="TextBox 26"/>
          <p:cNvSpPr txBox="1"/>
          <p:nvPr/>
        </p:nvSpPr>
        <p:spPr>
          <a:xfrm>
            <a:off x="2213581" y="1246604"/>
            <a:ext cx="1940303" cy="261547"/>
          </a:xfrm>
          <a:prstGeom prst="rect">
            <a:avLst/>
          </a:prstGeom>
        </p:spPr>
        <p:txBody>
          <a:bodyPr lIns="0" tIns="0" rIns="0" bIns="0" rtlCol="0" anchor="t">
            <a:spAutoFit/>
          </a:bodyPr>
          <a:lstStyle/>
          <a:p>
            <a:pPr algn="l">
              <a:lnSpc>
                <a:spcPts val="1884"/>
              </a:lnSpc>
            </a:pPr>
            <a:r>
              <a:rPr lang="en-US" sz="1516" b="1">
                <a:solidFill>
                  <a:srgbClr val="505468"/>
                </a:solidFill>
                <a:latin typeface="Arimo Bold"/>
                <a:ea typeface="Arimo Bold"/>
                <a:cs typeface="Arimo Bold"/>
                <a:sym typeface="Arimo Bold"/>
              </a:rPr>
              <a:t>Código analizado</a:t>
            </a:r>
          </a:p>
        </p:txBody>
      </p:sp>
      <p:sp>
        <p:nvSpPr>
          <p:cNvPr id="27" name="TextBox 27"/>
          <p:cNvSpPr txBox="1"/>
          <p:nvPr/>
        </p:nvSpPr>
        <p:spPr>
          <a:xfrm>
            <a:off x="2336471" y="1670197"/>
            <a:ext cx="4696844" cy="185174"/>
          </a:xfrm>
          <a:prstGeom prst="rect">
            <a:avLst/>
          </a:prstGeom>
        </p:spPr>
        <p:txBody>
          <a:bodyPr lIns="0" tIns="0" rIns="0" bIns="0" rtlCol="0" anchor="t">
            <a:spAutoFit/>
          </a:bodyPr>
          <a:lstStyle/>
          <a:p>
            <a:pPr algn="l">
              <a:lnSpc>
                <a:spcPts val="1378"/>
              </a:lnSpc>
            </a:pPr>
            <a:r>
              <a:rPr lang="en-US" sz="1011">
                <a:solidFill>
                  <a:srgbClr val="5B5F71"/>
                </a:solidFill>
                <a:latin typeface="Consolas"/>
                <a:ea typeface="Consolas"/>
                <a:cs typeface="Consolas"/>
                <a:sym typeface="Consolas"/>
              </a:rPr>
              <a:t>float promedio = suma / 5;</a:t>
            </a:r>
          </a:p>
        </p:txBody>
      </p:sp>
      <p:sp>
        <p:nvSpPr>
          <p:cNvPr id="28" name="TextBox 28"/>
          <p:cNvSpPr txBox="1"/>
          <p:nvPr/>
        </p:nvSpPr>
        <p:spPr>
          <a:xfrm>
            <a:off x="2213581" y="2066240"/>
            <a:ext cx="3882419" cy="234492"/>
          </a:xfrm>
          <a:prstGeom prst="rect">
            <a:avLst/>
          </a:prstGeom>
        </p:spPr>
        <p:txBody>
          <a:bodyPr wrap="square" lIns="0" tIns="0" rIns="0" bIns="0" rtlCol="0" anchor="t">
            <a:spAutoFit/>
          </a:bodyPr>
          <a:lstStyle/>
          <a:p>
            <a:pPr algn="l">
              <a:lnSpc>
                <a:spcPts val="1884"/>
              </a:lnSpc>
            </a:pPr>
            <a:r>
              <a:rPr lang="en-US" sz="1516" b="1" dirty="0" err="1">
                <a:solidFill>
                  <a:srgbClr val="505468"/>
                </a:solidFill>
                <a:latin typeface="Arimo Bold"/>
                <a:ea typeface="Arimo Bold"/>
                <a:cs typeface="Arimo Bold"/>
                <a:sym typeface="Arimo Bold"/>
              </a:rPr>
              <a:t>Tabla</a:t>
            </a:r>
            <a:r>
              <a:rPr lang="en-US" sz="1516" b="1" dirty="0">
                <a:solidFill>
                  <a:srgbClr val="505468"/>
                </a:solidFill>
                <a:latin typeface="Arimo Bold"/>
                <a:ea typeface="Arimo Bold"/>
                <a:cs typeface="Arimo Bold"/>
                <a:sym typeface="Arimo Bold"/>
              </a:rPr>
              <a:t> de tokens </a:t>
            </a:r>
            <a:r>
              <a:rPr lang="en-US" sz="1516" b="1" dirty="0" err="1">
                <a:solidFill>
                  <a:srgbClr val="505468"/>
                </a:solidFill>
                <a:latin typeface="Arimo Bold"/>
                <a:ea typeface="Arimo Bold"/>
                <a:cs typeface="Arimo Bold"/>
                <a:sym typeface="Arimo Bold"/>
              </a:rPr>
              <a:t>identificados</a:t>
            </a:r>
            <a:endParaRPr lang="en-US" sz="1516" b="1" dirty="0">
              <a:solidFill>
                <a:srgbClr val="505468"/>
              </a:solidFill>
              <a:latin typeface="Arimo Bold"/>
              <a:ea typeface="Arimo Bold"/>
              <a:cs typeface="Arimo Bold"/>
              <a:sym typeface="Arimo Bold"/>
            </a:endParaRPr>
          </a:p>
        </p:txBody>
      </p:sp>
      <p:sp>
        <p:nvSpPr>
          <p:cNvPr id="29" name="TextBox 29"/>
          <p:cNvSpPr txBox="1"/>
          <p:nvPr/>
        </p:nvSpPr>
        <p:spPr>
          <a:xfrm>
            <a:off x="2350037" y="2480868"/>
            <a:ext cx="2202059" cy="195889"/>
          </a:xfrm>
          <a:prstGeom prst="rect">
            <a:avLst/>
          </a:prstGeom>
        </p:spPr>
        <p:txBody>
          <a:bodyPr lIns="0" tIns="0" rIns="0" bIns="0" rtlCol="0" anchor="t">
            <a:spAutoFit/>
          </a:bodyPr>
          <a:lstStyle/>
          <a:p>
            <a:pPr algn="l">
              <a:lnSpc>
                <a:spcPts val="1378"/>
              </a:lnSpc>
            </a:pPr>
            <a:r>
              <a:rPr lang="en-US" sz="1011" b="1">
                <a:solidFill>
                  <a:srgbClr val="5B5F71"/>
                </a:solidFill>
                <a:latin typeface="Arimo Bold"/>
                <a:ea typeface="Arimo Bold"/>
                <a:cs typeface="Arimo Bold"/>
                <a:sym typeface="Arimo Bold"/>
              </a:rPr>
              <a:t>Token</a:t>
            </a:r>
          </a:p>
        </p:txBody>
      </p:sp>
      <p:sp>
        <p:nvSpPr>
          <p:cNvPr id="30" name="TextBox 30"/>
          <p:cNvSpPr txBox="1"/>
          <p:nvPr/>
        </p:nvSpPr>
        <p:spPr>
          <a:xfrm>
            <a:off x="4817789" y="2480868"/>
            <a:ext cx="2202059" cy="195889"/>
          </a:xfrm>
          <a:prstGeom prst="rect">
            <a:avLst/>
          </a:prstGeom>
        </p:spPr>
        <p:txBody>
          <a:bodyPr lIns="0" tIns="0" rIns="0" bIns="0" rtlCol="0" anchor="t">
            <a:spAutoFit/>
          </a:bodyPr>
          <a:lstStyle/>
          <a:p>
            <a:pPr algn="l">
              <a:lnSpc>
                <a:spcPts val="1378"/>
              </a:lnSpc>
            </a:pPr>
            <a:r>
              <a:rPr lang="en-US" sz="1011" b="1">
                <a:solidFill>
                  <a:srgbClr val="5B5F71"/>
                </a:solidFill>
                <a:latin typeface="Arimo Bold"/>
                <a:ea typeface="Arimo Bold"/>
                <a:cs typeface="Arimo Bold"/>
                <a:sym typeface="Arimo Bold"/>
              </a:rPr>
              <a:t>Tipo</a:t>
            </a:r>
          </a:p>
        </p:txBody>
      </p:sp>
      <p:sp>
        <p:nvSpPr>
          <p:cNvPr id="31" name="TextBox 31"/>
          <p:cNvSpPr txBox="1"/>
          <p:nvPr/>
        </p:nvSpPr>
        <p:spPr>
          <a:xfrm>
            <a:off x="2350037" y="2781578"/>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float</a:t>
            </a:r>
          </a:p>
        </p:txBody>
      </p:sp>
      <p:sp>
        <p:nvSpPr>
          <p:cNvPr id="32" name="TextBox 32"/>
          <p:cNvSpPr txBox="1"/>
          <p:nvPr/>
        </p:nvSpPr>
        <p:spPr>
          <a:xfrm>
            <a:off x="4817789" y="2781578"/>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Palabra reservada</a:t>
            </a:r>
          </a:p>
        </p:txBody>
      </p:sp>
      <p:sp>
        <p:nvSpPr>
          <p:cNvPr id="33" name="TextBox 33"/>
          <p:cNvSpPr txBox="1"/>
          <p:nvPr/>
        </p:nvSpPr>
        <p:spPr>
          <a:xfrm>
            <a:off x="2350037" y="3082295"/>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promedio</a:t>
            </a:r>
          </a:p>
        </p:txBody>
      </p:sp>
      <p:sp>
        <p:nvSpPr>
          <p:cNvPr id="34" name="TextBox 34"/>
          <p:cNvSpPr txBox="1"/>
          <p:nvPr/>
        </p:nvSpPr>
        <p:spPr>
          <a:xfrm>
            <a:off x="4817789" y="3082295"/>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Identificador</a:t>
            </a:r>
          </a:p>
        </p:txBody>
      </p:sp>
      <p:sp>
        <p:nvSpPr>
          <p:cNvPr id="35" name="TextBox 35"/>
          <p:cNvSpPr txBox="1"/>
          <p:nvPr/>
        </p:nvSpPr>
        <p:spPr>
          <a:xfrm>
            <a:off x="2350037" y="3383005"/>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a:t>
            </a:r>
          </a:p>
        </p:txBody>
      </p:sp>
      <p:sp>
        <p:nvSpPr>
          <p:cNvPr id="36" name="TextBox 36"/>
          <p:cNvSpPr txBox="1"/>
          <p:nvPr/>
        </p:nvSpPr>
        <p:spPr>
          <a:xfrm>
            <a:off x="4817789" y="3383005"/>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Operador</a:t>
            </a:r>
          </a:p>
        </p:txBody>
      </p:sp>
      <p:sp>
        <p:nvSpPr>
          <p:cNvPr id="37" name="TextBox 37"/>
          <p:cNvSpPr txBox="1"/>
          <p:nvPr/>
        </p:nvSpPr>
        <p:spPr>
          <a:xfrm>
            <a:off x="2350037" y="3683722"/>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suma</a:t>
            </a:r>
          </a:p>
        </p:txBody>
      </p:sp>
      <p:sp>
        <p:nvSpPr>
          <p:cNvPr id="38" name="TextBox 38"/>
          <p:cNvSpPr txBox="1"/>
          <p:nvPr/>
        </p:nvSpPr>
        <p:spPr>
          <a:xfrm>
            <a:off x="4817789" y="3683722"/>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Identificador</a:t>
            </a:r>
          </a:p>
        </p:txBody>
      </p:sp>
      <p:sp>
        <p:nvSpPr>
          <p:cNvPr id="39" name="TextBox 39"/>
          <p:cNvSpPr txBox="1"/>
          <p:nvPr/>
        </p:nvSpPr>
        <p:spPr>
          <a:xfrm>
            <a:off x="2350037" y="3984432"/>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a:t>
            </a:r>
          </a:p>
        </p:txBody>
      </p:sp>
      <p:sp>
        <p:nvSpPr>
          <p:cNvPr id="40" name="TextBox 40"/>
          <p:cNvSpPr txBox="1"/>
          <p:nvPr/>
        </p:nvSpPr>
        <p:spPr>
          <a:xfrm>
            <a:off x="4817789" y="3984432"/>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Operador</a:t>
            </a:r>
          </a:p>
        </p:txBody>
      </p:sp>
      <p:sp>
        <p:nvSpPr>
          <p:cNvPr id="41" name="TextBox 41"/>
          <p:cNvSpPr txBox="1"/>
          <p:nvPr/>
        </p:nvSpPr>
        <p:spPr>
          <a:xfrm>
            <a:off x="2350037" y="4285149"/>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5</a:t>
            </a:r>
          </a:p>
        </p:txBody>
      </p:sp>
      <p:sp>
        <p:nvSpPr>
          <p:cNvPr id="42" name="TextBox 42"/>
          <p:cNvSpPr txBox="1"/>
          <p:nvPr/>
        </p:nvSpPr>
        <p:spPr>
          <a:xfrm>
            <a:off x="4817789" y="4285149"/>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Número</a:t>
            </a:r>
          </a:p>
        </p:txBody>
      </p:sp>
      <p:sp>
        <p:nvSpPr>
          <p:cNvPr id="43" name="TextBox 43"/>
          <p:cNvSpPr txBox="1"/>
          <p:nvPr/>
        </p:nvSpPr>
        <p:spPr>
          <a:xfrm>
            <a:off x="2350037" y="4585859"/>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a:t>
            </a:r>
          </a:p>
        </p:txBody>
      </p:sp>
      <p:sp>
        <p:nvSpPr>
          <p:cNvPr id="44" name="TextBox 44"/>
          <p:cNvSpPr txBox="1"/>
          <p:nvPr/>
        </p:nvSpPr>
        <p:spPr>
          <a:xfrm>
            <a:off x="4817789" y="4585859"/>
            <a:ext cx="2202059" cy="195889"/>
          </a:xfrm>
          <a:prstGeom prst="rect">
            <a:avLst/>
          </a:prstGeom>
        </p:spPr>
        <p:txBody>
          <a:bodyPr lIns="0" tIns="0" rIns="0" bIns="0" rtlCol="0" anchor="t">
            <a:spAutoFit/>
          </a:bodyPr>
          <a:lstStyle/>
          <a:p>
            <a:pPr algn="l">
              <a:lnSpc>
                <a:spcPts val="1378"/>
              </a:lnSpc>
            </a:pPr>
            <a:r>
              <a:rPr lang="en-US" sz="1011">
                <a:solidFill>
                  <a:srgbClr val="5B5F71"/>
                </a:solidFill>
                <a:latin typeface="Arimo"/>
                <a:ea typeface="Arimo"/>
                <a:cs typeface="Arimo"/>
                <a:sym typeface="Arimo"/>
              </a:rPr>
              <a:t>Delimitador</a:t>
            </a:r>
          </a:p>
        </p:txBody>
      </p:sp>
      <p:sp>
        <p:nvSpPr>
          <p:cNvPr id="45" name="TextBox 45"/>
          <p:cNvSpPr txBox="1"/>
          <p:nvPr/>
        </p:nvSpPr>
        <p:spPr>
          <a:xfrm>
            <a:off x="2207123" y="5139942"/>
            <a:ext cx="2638873" cy="348853"/>
          </a:xfrm>
          <a:prstGeom prst="rect">
            <a:avLst/>
          </a:prstGeom>
        </p:spPr>
        <p:txBody>
          <a:bodyPr lIns="0" tIns="0" rIns="0" bIns="0" rtlCol="0" anchor="t">
            <a:spAutoFit/>
          </a:bodyPr>
          <a:lstStyle/>
          <a:p>
            <a:pPr algn="l">
              <a:lnSpc>
                <a:spcPts val="2562"/>
              </a:lnSpc>
            </a:pPr>
            <a:r>
              <a:rPr lang="en-US" sz="2062" b="1">
                <a:solidFill>
                  <a:srgbClr val="505468"/>
                </a:solidFill>
                <a:latin typeface="Arimo Bold"/>
                <a:ea typeface="Arimo Bold"/>
                <a:cs typeface="Arimo Bold"/>
                <a:sym typeface="Arimo Bold"/>
              </a:rPr>
              <a:t>Explicación</a:t>
            </a:r>
          </a:p>
        </p:txBody>
      </p:sp>
      <p:sp>
        <p:nvSpPr>
          <p:cNvPr id="46" name="TextBox 46"/>
          <p:cNvSpPr txBox="1"/>
          <p:nvPr/>
        </p:nvSpPr>
        <p:spPr>
          <a:xfrm>
            <a:off x="2207123" y="5575406"/>
            <a:ext cx="6722116" cy="4852034"/>
          </a:xfrm>
          <a:prstGeom prst="rect">
            <a:avLst/>
          </a:prstGeom>
        </p:spPr>
        <p:txBody>
          <a:bodyPr lIns="0" tIns="0" rIns="0" bIns="0" rtlCol="0" anchor="t">
            <a:spAutoFit/>
          </a:bodyPr>
          <a:lstStyle/>
          <a:p>
            <a:pPr algn="l">
              <a:lnSpc>
                <a:spcPts val="2010"/>
              </a:lnSpc>
            </a:pPr>
            <a:r>
              <a:rPr lang="en-US" sz="1474" dirty="0">
                <a:solidFill>
                  <a:srgbClr val="5B5F71"/>
                </a:solidFill>
                <a:latin typeface="Arimo"/>
                <a:ea typeface="Arimo"/>
                <a:cs typeface="Arimo"/>
                <a:sym typeface="Arimo"/>
              </a:rPr>
              <a:t>En </a:t>
            </a:r>
            <a:r>
              <a:rPr lang="en-US" sz="1474" dirty="0" err="1">
                <a:solidFill>
                  <a:srgbClr val="5B5F71"/>
                </a:solidFill>
                <a:latin typeface="Arimo"/>
                <a:ea typeface="Arimo"/>
                <a:cs typeface="Arimo"/>
                <a:sym typeface="Arimo"/>
              </a:rPr>
              <a:t>este</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ejercicio</a:t>
            </a:r>
            <a:r>
              <a:rPr lang="en-US" sz="1474" dirty="0">
                <a:solidFill>
                  <a:srgbClr val="5B5F71"/>
                </a:solidFill>
                <a:latin typeface="Arimo"/>
                <a:ea typeface="Arimo"/>
                <a:cs typeface="Arimo"/>
                <a:sym typeface="Arimo"/>
              </a:rPr>
              <a:t> se </a:t>
            </a:r>
            <a:r>
              <a:rPr lang="en-US" sz="1474" dirty="0" err="1">
                <a:solidFill>
                  <a:srgbClr val="5B5F71"/>
                </a:solidFill>
                <a:latin typeface="Arimo"/>
                <a:ea typeface="Arimo"/>
                <a:cs typeface="Arimo"/>
                <a:sym typeface="Arimo"/>
              </a:rPr>
              <a:t>analizó</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fragmento</a:t>
            </a:r>
            <a:r>
              <a:rPr lang="en-US" sz="1474" dirty="0">
                <a:solidFill>
                  <a:srgbClr val="5B5F71"/>
                </a:solidFill>
                <a:latin typeface="Arimo"/>
                <a:ea typeface="Arimo"/>
                <a:cs typeface="Arimo"/>
                <a:sym typeface="Arimo"/>
              </a:rPr>
              <a:t> de </a:t>
            </a:r>
            <a:r>
              <a:rPr lang="en-US" sz="1474" dirty="0" err="1">
                <a:solidFill>
                  <a:srgbClr val="5B5F71"/>
                </a:solidFill>
                <a:latin typeface="Arimo"/>
                <a:ea typeface="Arimo"/>
                <a:cs typeface="Arimo"/>
                <a:sym typeface="Arimo"/>
              </a:rPr>
              <a:t>código</a:t>
            </a:r>
            <a:r>
              <a:rPr lang="en-US" sz="1474" dirty="0">
                <a:solidFill>
                  <a:srgbClr val="5B5F71"/>
                </a:solidFill>
                <a:latin typeface="Arimo"/>
                <a:ea typeface="Arimo"/>
                <a:cs typeface="Arimo"/>
                <a:sym typeface="Arimo"/>
              </a:rPr>
              <a:t> float </a:t>
            </a:r>
            <a:r>
              <a:rPr lang="en-US" sz="1474" dirty="0" err="1">
                <a:solidFill>
                  <a:srgbClr val="5B5F71"/>
                </a:solidFill>
                <a:latin typeface="Arimo"/>
                <a:ea typeface="Arimo"/>
                <a:cs typeface="Arimo"/>
                <a:sym typeface="Arimo"/>
              </a:rPr>
              <a:t>promedio</a:t>
            </a:r>
            <a:r>
              <a:rPr lang="en-US" sz="1474" dirty="0">
                <a:solidFill>
                  <a:srgbClr val="5B5F71"/>
                </a:solidFill>
                <a:latin typeface="Arimo"/>
                <a:ea typeface="Arimo"/>
                <a:cs typeface="Arimo"/>
                <a:sym typeface="Arimo"/>
              </a:rPr>
              <a:t> = </a:t>
            </a:r>
            <a:r>
              <a:rPr lang="en-US" sz="1474" dirty="0" err="1">
                <a:solidFill>
                  <a:srgbClr val="5B5F71"/>
                </a:solidFill>
                <a:latin typeface="Arimo"/>
                <a:ea typeface="Arimo"/>
                <a:cs typeface="Arimo"/>
                <a:sym typeface="Arimo"/>
              </a:rPr>
              <a:t>suma</a:t>
            </a:r>
            <a:r>
              <a:rPr lang="en-US" sz="1474" dirty="0">
                <a:solidFill>
                  <a:srgbClr val="5B5F71"/>
                </a:solidFill>
                <a:latin typeface="Arimo"/>
                <a:ea typeface="Arimo"/>
                <a:cs typeface="Arimo"/>
                <a:sym typeface="Arimo"/>
              </a:rPr>
              <a:t> / 5; </a:t>
            </a:r>
            <a:r>
              <a:rPr lang="en-US" sz="1474" dirty="0" err="1">
                <a:solidFill>
                  <a:srgbClr val="5B5F71"/>
                </a:solidFill>
                <a:latin typeface="Arimo"/>
                <a:ea typeface="Arimo"/>
                <a:cs typeface="Arimo"/>
                <a:sym typeface="Arimo"/>
              </a:rPr>
              <a:t>utilizando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analizador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léxico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desarrollado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en</a:t>
            </a:r>
            <a:r>
              <a:rPr lang="en-US" sz="1474" dirty="0">
                <a:solidFill>
                  <a:srgbClr val="5B5F71"/>
                </a:solidFill>
                <a:latin typeface="Arimo"/>
                <a:ea typeface="Arimo"/>
                <a:cs typeface="Arimo"/>
                <a:sym typeface="Arimo"/>
              </a:rPr>
              <a:t> Java. Al </a:t>
            </a:r>
            <a:r>
              <a:rPr lang="en-US" sz="1474" dirty="0" err="1">
                <a:solidFill>
                  <a:srgbClr val="5B5F71"/>
                </a:solidFill>
                <a:latin typeface="Arimo"/>
                <a:ea typeface="Arimo"/>
                <a:cs typeface="Arimo"/>
                <a:sym typeface="Arimo"/>
              </a:rPr>
              <a:t>ejecutar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programa</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código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fue</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dividido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en</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diferentes</a:t>
            </a:r>
            <a:r>
              <a:rPr lang="en-US" sz="1474" dirty="0">
                <a:solidFill>
                  <a:srgbClr val="5B5F71"/>
                </a:solidFill>
                <a:latin typeface="Arimo"/>
                <a:ea typeface="Arimo"/>
                <a:cs typeface="Arimo"/>
                <a:sym typeface="Arimo"/>
              </a:rPr>
              <a:t> tokens, es </a:t>
            </a:r>
            <a:r>
              <a:rPr lang="en-US" sz="1474" dirty="0" err="1">
                <a:solidFill>
                  <a:srgbClr val="5B5F71"/>
                </a:solidFill>
                <a:latin typeface="Arimo"/>
                <a:ea typeface="Arimo"/>
                <a:cs typeface="Arimo"/>
                <a:sym typeface="Arimo"/>
              </a:rPr>
              <a:t>decir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en</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los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elementos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básicos</a:t>
            </a:r>
            <a:r>
              <a:rPr lang="en-US" sz="1474" dirty="0">
                <a:solidFill>
                  <a:srgbClr val="5B5F71"/>
                </a:solidFill>
                <a:latin typeface="Arimo"/>
                <a:ea typeface="Arimo"/>
                <a:cs typeface="Arimo"/>
                <a:sym typeface="Arimo"/>
              </a:rPr>
              <a:t> que </a:t>
            </a:r>
            <a:r>
              <a:rPr lang="en-US" sz="1474" dirty="0" err="1">
                <a:solidFill>
                  <a:srgbClr val="5B5F71"/>
                </a:solidFill>
                <a:latin typeface="Arimo"/>
                <a:ea typeface="Arimo"/>
                <a:cs typeface="Arimo"/>
                <a:sym typeface="Arimo"/>
              </a:rPr>
              <a:t>componen</a:t>
            </a:r>
            <a:r>
              <a:rPr lang="en-US" sz="1474" dirty="0">
                <a:solidFill>
                  <a:srgbClr val="5B5F71"/>
                </a:solidFill>
                <a:latin typeface="Arimo"/>
                <a:ea typeface="Arimo"/>
                <a:cs typeface="Arimo"/>
                <a:sym typeface="Arimo"/>
              </a:rPr>
              <a:t> la </a:t>
            </a:r>
            <a:r>
              <a:rPr lang="en-US" sz="1474" dirty="0" err="1">
                <a:solidFill>
                  <a:srgbClr val="5B5F71"/>
                </a:solidFill>
                <a:latin typeface="Arimo"/>
                <a:ea typeface="Arimo"/>
                <a:cs typeface="Arimo"/>
                <a:sym typeface="Arimo"/>
              </a:rPr>
              <a:t>instrucción</a:t>
            </a:r>
            <a:r>
              <a:rPr lang="en-US" sz="1474" dirty="0">
                <a:solidFill>
                  <a:srgbClr val="5B5F71"/>
                </a:solidFill>
                <a:latin typeface="Arimo"/>
                <a:ea typeface="Arimo"/>
                <a:cs typeface="Arimo"/>
                <a:sym typeface="Arimo"/>
              </a:rPr>
              <a:t>.</a:t>
            </a:r>
          </a:p>
          <a:p>
            <a:pPr algn="l">
              <a:lnSpc>
                <a:spcPts val="2010"/>
              </a:lnSpc>
            </a:pPr>
            <a:endParaRPr lang="en-US" sz="1474" dirty="0">
              <a:solidFill>
                <a:srgbClr val="5B5F71"/>
              </a:solidFill>
              <a:latin typeface="Arimo"/>
              <a:ea typeface="Arimo"/>
              <a:cs typeface="Arimo"/>
              <a:sym typeface="Arimo"/>
            </a:endParaRPr>
          </a:p>
          <a:p>
            <a:pPr algn="l">
              <a:lnSpc>
                <a:spcPts val="2010"/>
              </a:lnSpc>
            </a:pPr>
            <a:r>
              <a:rPr lang="en-US" sz="1474" dirty="0">
                <a:solidFill>
                  <a:srgbClr val="5B5F71"/>
                </a:solidFill>
                <a:latin typeface="Arimo"/>
                <a:ea typeface="Arimo"/>
                <a:cs typeface="Arimo"/>
                <a:sym typeface="Arimo"/>
              </a:rPr>
              <a:t>El </a:t>
            </a:r>
            <a:r>
              <a:rPr lang="en-US" sz="1474" dirty="0" err="1">
                <a:solidFill>
                  <a:srgbClr val="5B5F71"/>
                </a:solidFill>
                <a:latin typeface="Arimo"/>
                <a:ea typeface="Arimo"/>
                <a:cs typeface="Arimo"/>
                <a:sym typeface="Arimo"/>
              </a:rPr>
              <a:t>analizador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identificó</a:t>
            </a:r>
            <a:r>
              <a:rPr lang="en-US" sz="1474" dirty="0">
                <a:solidFill>
                  <a:srgbClr val="5B5F71"/>
                </a:solidFill>
                <a:latin typeface="Arimo"/>
                <a:ea typeface="Arimo"/>
                <a:cs typeface="Arimo"/>
                <a:sym typeface="Arimo"/>
              </a:rPr>
              <a:t> que float </a:t>
            </a:r>
            <a:r>
              <a:rPr lang="en-US" sz="1474" dirty="0" err="1">
                <a:solidFill>
                  <a:srgbClr val="5B5F71"/>
                </a:solidFill>
                <a:latin typeface="Arimo"/>
                <a:ea typeface="Arimo"/>
                <a:cs typeface="Arimo"/>
                <a:sym typeface="Arimo"/>
              </a:rPr>
              <a:t>corresponde</a:t>
            </a:r>
            <a:r>
              <a:rPr lang="en-US" sz="1474" dirty="0">
                <a:solidFill>
                  <a:srgbClr val="5B5F71"/>
                </a:solidFill>
                <a:latin typeface="Arimo"/>
                <a:ea typeface="Arimo"/>
                <a:cs typeface="Arimo"/>
                <a:sym typeface="Arimo"/>
              </a:rPr>
              <a:t> a </a:t>
            </a:r>
            <a:r>
              <a:rPr lang="en-US" sz="1474" dirty="0" err="1">
                <a:solidFill>
                  <a:srgbClr val="5B5F71"/>
                </a:solidFill>
                <a:latin typeface="Arimo"/>
                <a:ea typeface="Arimo"/>
                <a:cs typeface="Arimo"/>
                <a:sym typeface="Arimo"/>
              </a:rPr>
              <a:t>una</a:t>
            </a:r>
            <a:r>
              <a:rPr lang="en-US" sz="1474" dirty="0">
                <a:solidFill>
                  <a:srgbClr val="5B5F71"/>
                </a:solidFill>
                <a:latin typeface="Arimo"/>
                <a:ea typeface="Arimo"/>
                <a:cs typeface="Arimo"/>
                <a:sym typeface="Arimo"/>
              </a:rPr>
              <a:t> palabra </a:t>
            </a:r>
            <a:r>
              <a:rPr lang="en-US" sz="1474" dirty="0" err="1">
                <a:solidFill>
                  <a:srgbClr val="5B5F71"/>
                </a:solidFill>
                <a:latin typeface="Arimo"/>
                <a:ea typeface="Arimo"/>
                <a:cs typeface="Arimo"/>
                <a:sym typeface="Arimo"/>
              </a:rPr>
              <a:t>reservada</a:t>
            </a:r>
            <a:r>
              <a:rPr lang="en-US" sz="1474" dirty="0">
                <a:solidFill>
                  <a:srgbClr val="5B5F71"/>
                </a:solidFill>
                <a:latin typeface="Arimo"/>
                <a:ea typeface="Arimo"/>
                <a:cs typeface="Arimo"/>
                <a:sym typeface="Arimo"/>
              </a:rPr>
              <a:t> del </a:t>
            </a:r>
            <a:r>
              <a:rPr lang="en-US" sz="1474" dirty="0" err="1">
                <a:solidFill>
                  <a:srgbClr val="5B5F71"/>
                </a:solidFill>
                <a:latin typeface="Arimo"/>
                <a:ea typeface="Arimo"/>
                <a:cs typeface="Arimo"/>
                <a:sym typeface="Arimo"/>
              </a:rPr>
              <a:t>lenguaje</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ya</a:t>
            </a:r>
            <a:r>
              <a:rPr lang="en-US" sz="1474" dirty="0">
                <a:solidFill>
                  <a:srgbClr val="5B5F71"/>
                </a:solidFill>
                <a:latin typeface="Arimo"/>
                <a:ea typeface="Arimo"/>
                <a:cs typeface="Arimo"/>
                <a:sym typeface="Arimo"/>
              </a:rPr>
              <a:t> que forma </a:t>
            </a:r>
            <a:r>
              <a:rPr lang="en-US" sz="1474" dirty="0" err="1">
                <a:solidFill>
                  <a:srgbClr val="5B5F71"/>
                </a:solidFill>
                <a:latin typeface="Arimo"/>
                <a:ea typeface="Arimo"/>
                <a:cs typeface="Arimo"/>
                <a:sym typeface="Arimo"/>
              </a:rPr>
              <a:t>parte</a:t>
            </a:r>
            <a:r>
              <a:rPr lang="en-US" sz="1474" dirty="0">
                <a:solidFill>
                  <a:srgbClr val="5B5F71"/>
                </a:solidFill>
                <a:latin typeface="Arimo"/>
                <a:ea typeface="Arimo"/>
                <a:cs typeface="Arimo"/>
                <a:sym typeface="Arimo"/>
              </a:rPr>
              <a:t> de </a:t>
            </a:r>
            <a:r>
              <a:rPr lang="en-US" sz="1474" dirty="0" err="1">
                <a:solidFill>
                  <a:srgbClr val="5B5F71"/>
                </a:solidFill>
                <a:latin typeface="Arimo"/>
                <a:ea typeface="Arimo"/>
                <a:cs typeface="Arimo"/>
                <a:sym typeface="Arimo"/>
              </a:rPr>
              <a:t>los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tipos</a:t>
            </a:r>
            <a:r>
              <a:rPr lang="en-US" sz="1474" dirty="0">
                <a:solidFill>
                  <a:srgbClr val="5B5F71"/>
                </a:solidFill>
                <a:latin typeface="Arimo"/>
                <a:ea typeface="Arimo"/>
                <a:cs typeface="Arimo"/>
                <a:sym typeface="Arimo"/>
              </a:rPr>
              <a:t> de </a:t>
            </a:r>
            <a:r>
              <a:rPr lang="en-US" sz="1474" dirty="0" err="1">
                <a:solidFill>
                  <a:srgbClr val="5B5F71"/>
                </a:solidFill>
                <a:latin typeface="Arimo"/>
                <a:ea typeface="Arimo"/>
                <a:cs typeface="Arimo"/>
                <a:sym typeface="Arimo"/>
              </a:rPr>
              <a:t>datos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definidos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en</a:t>
            </a:r>
            <a:r>
              <a:rPr lang="en-US" sz="1474" dirty="0">
                <a:solidFill>
                  <a:srgbClr val="5B5F71"/>
                </a:solidFill>
                <a:latin typeface="Arimo"/>
                <a:ea typeface="Arimo"/>
                <a:cs typeface="Arimo"/>
                <a:sym typeface="Arimo"/>
              </a:rPr>
              <a:t> Java. Por </a:t>
            </a:r>
            <a:r>
              <a:rPr lang="en-US" sz="1474" dirty="0" err="1">
                <a:solidFill>
                  <a:srgbClr val="5B5F71"/>
                </a:solidFill>
                <a:latin typeface="Arimo"/>
                <a:ea typeface="Arimo"/>
                <a:cs typeface="Arimo"/>
                <a:sym typeface="Arimo"/>
              </a:rPr>
              <a:t>otro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lado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promedio</a:t>
            </a:r>
            <a:r>
              <a:rPr lang="en-US" sz="1474" dirty="0">
                <a:solidFill>
                  <a:srgbClr val="5B5F71"/>
                </a:solidFill>
                <a:latin typeface="Arimo"/>
                <a:ea typeface="Arimo"/>
                <a:cs typeface="Arimo"/>
                <a:sym typeface="Arimo"/>
              </a:rPr>
              <a:t> y </a:t>
            </a:r>
            <a:r>
              <a:rPr lang="en-US" sz="1474" dirty="0" err="1">
                <a:solidFill>
                  <a:srgbClr val="5B5F71"/>
                </a:solidFill>
                <a:latin typeface="Arimo"/>
                <a:ea typeface="Arimo"/>
                <a:cs typeface="Arimo"/>
                <a:sym typeface="Arimo"/>
              </a:rPr>
              <a:t>suma</a:t>
            </a:r>
            <a:r>
              <a:rPr lang="en-US" sz="1474" dirty="0">
                <a:solidFill>
                  <a:srgbClr val="5B5F71"/>
                </a:solidFill>
                <a:latin typeface="Arimo"/>
                <a:ea typeface="Arimo"/>
                <a:cs typeface="Arimo"/>
                <a:sym typeface="Arimo"/>
              </a:rPr>
              <a:t> son </a:t>
            </a:r>
            <a:r>
              <a:rPr lang="en-US" sz="1474" dirty="0" err="1">
                <a:solidFill>
                  <a:srgbClr val="5B5F71"/>
                </a:solidFill>
                <a:latin typeface="Arimo"/>
                <a:ea typeface="Arimo"/>
                <a:cs typeface="Arimo"/>
                <a:sym typeface="Arimo"/>
              </a:rPr>
              <a:t>identificadores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porque</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representan</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nombres</a:t>
            </a:r>
            <a:r>
              <a:rPr lang="en-US" sz="1474" dirty="0">
                <a:solidFill>
                  <a:srgbClr val="5B5F71"/>
                </a:solidFill>
                <a:latin typeface="Arimo"/>
                <a:ea typeface="Arimo"/>
                <a:cs typeface="Arimo"/>
                <a:sym typeface="Arimo"/>
              </a:rPr>
              <a:t> de variables </a:t>
            </a:r>
            <a:r>
              <a:rPr lang="en-US" sz="1474" dirty="0" err="1">
                <a:solidFill>
                  <a:srgbClr val="5B5F71"/>
                </a:solidFill>
                <a:latin typeface="Arimo"/>
                <a:ea typeface="Arimo"/>
                <a:cs typeface="Arimo"/>
                <a:sym typeface="Arimo"/>
              </a:rPr>
              <a:t>definidos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por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programador</a:t>
            </a:r>
            <a:r>
              <a:rPr lang="en-US" sz="1474" dirty="0">
                <a:solidFill>
                  <a:srgbClr val="5B5F71"/>
                </a:solidFill>
                <a:latin typeface="Arimo"/>
                <a:ea typeface="Arimo"/>
                <a:cs typeface="Arimo"/>
                <a:sym typeface="Arimo"/>
              </a:rPr>
              <a:t>. El </a:t>
            </a:r>
            <a:r>
              <a:rPr lang="en-US" sz="1474" dirty="0" err="1">
                <a:solidFill>
                  <a:srgbClr val="5B5F71"/>
                </a:solidFill>
                <a:latin typeface="Arimo"/>
                <a:ea typeface="Arimo"/>
                <a:cs typeface="Arimo"/>
                <a:sym typeface="Arimo"/>
              </a:rPr>
              <a:t>símbolo</a:t>
            </a:r>
            <a:r>
              <a:rPr lang="en-US" sz="1474" dirty="0">
                <a:solidFill>
                  <a:srgbClr val="5B5F71"/>
                </a:solidFill>
                <a:latin typeface="Arimo"/>
                <a:ea typeface="Arimo"/>
                <a:cs typeface="Arimo"/>
                <a:sym typeface="Arimo"/>
              </a:rPr>
              <a:t> = se </a:t>
            </a:r>
            <a:r>
              <a:rPr lang="en-US" sz="1474" dirty="0" err="1">
                <a:solidFill>
                  <a:srgbClr val="5B5F71"/>
                </a:solidFill>
                <a:latin typeface="Arimo"/>
                <a:ea typeface="Arimo"/>
                <a:cs typeface="Arimo"/>
                <a:sym typeface="Arimo"/>
              </a:rPr>
              <a:t>reconoce</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como</a:t>
            </a:r>
            <a:r>
              <a:rPr lang="en-US" sz="1474" dirty="0">
                <a:solidFill>
                  <a:srgbClr val="5B5F71"/>
                </a:solidFill>
                <a:latin typeface="Arimo"/>
                <a:ea typeface="Arimo"/>
                <a:cs typeface="Arimo"/>
                <a:sym typeface="Arimo"/>
              </a:rPr>
              <a:t> un </a:t>
            </a:r>
            <a:r>
              <a:rPr lang="en-US" sz="1474" dirty="0" err="1">
                <a:solidFill>
                  <a:srgbClr val="5B5F71"/>
                </a:solidFill>
                <a:latin typeface="Arimo"/>
                <a:ea typeface="Arimo"/>
                <a:cs typeface="Arimo"/>
                <a:sym typeface="Arimo"/>
              </a:rPr>
              <a:t>operador</a:t>
            </a:r>
            <a:r>
              <a:rPr lang="en-US" sz="1474" dirty="0">
                <a:solidFill>
                  <a:srgbClr val="5B5F71"/>
                </a:solidFill>
                <a:latin typeface="Arimo"/>
                <a:ea typeface="Arimo"/>
                <a:cs typeface="Arimo"/>
                <a:sym typeface="Arimo"/>
              </a:rPr>
              <a:t> de </a:t>
            </a:r>
            <a:r>
              <a:rPr lang="en-US" sz="1474" dirty="0" err="1">
                <a:solidFill>
                  <a:srgbClr val="5B5F71"/>
                </a:solidFill>
                <a:latin typeface="Arimo"/>
                <a:ea typeface="Arimo"/>
                <a:cs typeface="Arimo"/>
                <a:sym typeface="Arimo"/>
              </a:rPr>
              <a:t>asignación</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mientras</a:t>
            </a:r>
            <a:r>
              <a:rPr lang="en-US" sz="1474" dirty="0">
                <a:solidFill>
                  <a:srgbClr val="5B5F71"/>
                </a:solidFill>
                <a:latin typeface="Arimo"/>
                <a:ea typeface="Arimo"/>
                <a:cs typeface="Arimo"/>
                <a:sym typeface="Arimo"/>
              </a:rPr>
              <a:t> que / </a:t>
            </a:r>
            <a:r>
              <a:rPr lang="en-US" sz="1474" dirty="0" err="1">
                <a:solidFill>
                  <a:srgbClr val="5B5F71"/>
                </a:solidFill>
                <a:latin typeface="Arimo"/>
                <a:ea typeface="Arimo"/>
                <a:cs typeface="Arimo"/>
                <a:sym typeface="Arimo"/>
              </a:rPr>
              <a:t>corresponde</a:t>
            </a:r>
            <a:r>
              <a:rPr lang="en-US" sz="1474" dirty="0">
                <a:solidFill>
                  <a:srgbClr val="5B5F71"/>
                </a:solidFill>
                <a:latin typeface="Arimo"/>
                <a:ea typeface="Arimo"/>
                <a:cs typeface="Arimo"/>
                <a:sym typeface="Arimo"/>
              </a:rPr>
              <a:t> a un </a:t>
            </a:r>
            <a:r>
              <a:rPr lang="en-US" sz="1474" dirty="0" err="1">
                <a:solidFill>
                  <a:srgbClr val="5B5F71"/>
                </a:solidFill>
                <a:latin typeface="Arimo"/>
                <a:ea typeface="Arimo"/>
                <a:cs typeface="Arimo"/>
                <a:sym typeface="Arimo"/>
              </a:rPr>
              <a:t>operador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aritmético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utilizado</a:t>
            </a:r>
            <a:r>
              <a:rPr lang="en-US" sz="1474" dirty="0">
                <a:solidFill>
                  <a:srgbClr val="5B5F71"/>
                </a:solidFill>
                <a:latin typeface="Arimo"/>
                <a:ea typeface="Arimo"/>
                <a:cs typeface="Arimo"/>
                <a:sym typeface="Arimo"/>
              </a:rPr>
              <a:t> para </a:t>
            </a:r>
            <a:r>
              <a:rPr lang="en-US" sz="1474" dirty="0" err="1">
                <a:solidFill>
                  <a:srgbClr val="5B5F71"/>
                </a:solidFill>
                <a:latin typeface="Arimo"/>
                <a:ea typeface="Arimo"/>
                <a:cs typeface="Arimo"/>
                <a:sym typeface="Arimo"/>
              </a:rPr>
              <a:t>realizar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una</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división</a:t>
            </a:r>
            <a:r>
              <a:rPr lang="en-US" sz="1474" dirty="0">
                <a:solidFill>
                  <a:srgbClr val="5B5F71"/>
                </a:solidFill>
                <a:latin typeface="Arimo"/>
                <a:ea typeface="Arimo"/>
                <a:cs typeface="Arimo"/>
                <a:sym typeface="Arimo"/>
              </a:rPr>
              <a:t>. El valor 5 se </a:t>
            </a:r>
            <a:r>
              <a:rPr lang="en-US" sz="1474" dirty="0" err="1">
                <a:solidFill>
                  <a:srgbClr val="5B5F71"/>
                </a:solidFill>
                <a:latin typeface="Arimo"/>
                <a:ea typeface="Arimo"/>
                <a:cs typeface="Arimo"/>
                <a:sym typeface="Arimo"/>
              </a:rPr>
              <a:t>identifica</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como</a:t>
            </a:r>
            <a:r>
              <a:rPr lang="en-US" sz="1474" dirty="0">
                <a:solidFill>
                  <a:srgbClr val="5B5F71"/>
                </a:solidFill>
                <a:latin typeface="Arimo"/>
                <a:ea typeface="Arimo"/>
                <a:cs typeface="Arimo"/>
                <a:sym typeface="Arimo"/>
              </a:rPr>
              <a:t> un </a:t>
            </a:r>
            <a:r>
              <a:rPr lang="en-US" sz="1474" dirty="0" err="1">
                <a:solidFill>
                  <a:srgbClr val="5B5F71"/>
                </a:solidFill>
                <a:latin typeface="Arimo"/>
                <a:ea typeface="Arimo"/>
                <a:cs typeface="Arimo"/>
                <a:sym typeface="Arimo"/>
              </a:rPr>
              <a:t>número</a:t>
            </a:r>
            <a:r>
              <a:rPr lang="en-US" sz="1474" dirty="0">
                <a:solidFill>
                  <a:srgbClr val="5B5F71"/>
                </a:solidFill>
                <a:latin typeface="Arimo"/>
                <a:ea typeface="Arimo"/>
                <a:cs typeface="Arimo"/>
                <a:sym typeface="Arimo"/>
              </a:rPr>
              <a:t> que forma </a:t>
            </a:r>
            <a:r>
              <a:rPr lang="en-US" sz="1474" dirty="0" err="1">
                <a:solidFill>
                  <a:srgbClr val="5B5F71"/>
                </a:solidFill>
                <a:latin typeface="Arimo"/>
                <a:ea typeface="Arimo"/>
                <a:cs typeface="Arimo"/>
                <a:sym typeface="Arimo"/>
              </a:rPr>
              <a:t>parte</a:t>
            </a:r>
            <a:r>
              <a:rPr lang="en-US" sz="1474" dirty="0">
                <a:solidFill>
                  <a:srgbClr val="5B5F71"/>
                </a:solidFill>
                <a:latin typeface="Arimo"/>
                <a:ea typeface="Arimo"/>
                <a:cs typeface="Arimo"/>
                <a:sym typeface="Arimo"/>
              </a:rPr>
              <a:t> de la </a:t>
            </a:r>
            <a:r>
              <a:rPr lang="en-US" sz="1474" dirty="0" err="1">
                <a:solidFill>
                  <a:srgbClr val="5B5F71"/>
                </a:solidFill>
                <a:latin typeface="Arimo"/>
                <a:ea typeface="Arimo"/>
                <a:cs typeface="Arimo"/>
                <a:sym typeface="Arimo"/>
              </a:rPr>
              <a:t>operación</a:t>
            </a:r>
            <a:r>
              <a:rPr lang="en-US" sz="1474" dirty="0">
                <a:solidFill>
                  <a:srgbClr val="5B5F71"/>
                </a:solidFill>
                <a:latin typeface="Arimo"/>
                <a:ea typeface="Arimo"/>
                <a:cs typeface="Arimo"/>
                <a:sym typeface="Arimo"/>
              </a:rPr>
              <a:t>, y </a:t>
            </a:r>
            <a:r>
              <a:rPr lang="en-US" sz="1474" dirty="0" err="1">
                <a:solidFill>
                  <a:srgbClr val="5B5F71"/>
                </a:solidFill>
                <a:latin typeface="Arimo"/>
                <a:ea typeface="Arimo"/>
                <a:cs typeface="Arimo"/>
                <a:sym typeface="Arimo"/>
              </a:rPr>
              <a:t>finalmente</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símbolo</a:t>
            </a:r>
            <a:r>
              <a:rPr lang="en-US" sz="1474" dirty="0">
                <a:solidFill>
                  <a:srgbClr val="5B5F71"/>
                </a:solidFill>
                <a:latin typeface="Arimo"/>
                <a:ea typeface="Arimo"/>
                <a:cs typeface="Arimo"/>
                <a:sym typeface="Arimo"/>
              </a:rPr>
              <a:t> ; </a:t>
            </a:r>
            <a:r>
              <a:rPr lang="en-US" sz="1474" dirty="0" err="1">
                <a:solidFill>
                  <a:srgbClr val="5B5F71"/>
                </a:solidFill>
                <a:latin typeface="Arimo"/>
                <a:ea typeface="Arimo"/>
                <a:cs typeface="Arimo"/>
                <a:sym typeface="Arimo"/>
              </a:rPr>
              <a:t>funciona</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como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delimitador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indicando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final de la </a:t>
            </a:r>
            <a:r>
              <a:rPr lang="en-US" sz="1474" dirty="0" err="1">
                <a:solidFill>
                  <a:srgbClr val="5B5F71"/>
                </a:solidFill>
                <a:latin typeface="Arimo"/>
                <a:ea typeface="Arimo"/>
                <a:cs typeface="Arimo"/>
                <a:sym typeface="Arimo"/>
              </a:rPr>
              <a:t>instrucción</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dentro</a:t>
            </a:r>
            <a:r>
              <a:rPr lang="en-US" sz="1474" dirty="0">
                <a:solidFill>
                  <a:srgbClr val="5B5F71"/>
                </a:solidFill>
                <a:latin typeface="Arimo"/>
                <a:ea typeface="Arimo"/>
                <a:cs typeface="Arimo"/>
                <a:sym typeface="Arimo"/>
              </a:rPr>
              <a:t> del </a:t>
            </a:r>
            <a:r>
              <a:rPr lang="en-US" sz="1474" dirty="0" err="1">
                <a:solidFill>
                  <a:srgbClr val="5B5F71"/>
                </a:solidFill>
                <a:latin typeface="Arimo"/>
                <a:ea typeface="Arimo"/>
                <a:cs typeface="Arimo"/>
                <a:sym typeface="Arimo"/>
              </a:rPr>
              <a:t>programa</a:t>
            </a:r>
            <a:r>
              <a:rPr lang="en-US" sz="1474" dirty="0">
                <a:solidFill>
                  <a:srgbClr val="5B5F71"/>
                </a:solidFill>
                <a:latin typeface="Arimo"/>
                <a:ea typeface="Arimo"/>
                <a:cs typeface="Arimo"/>
                <a:sym typeface="Arimo"/>
              </a:rPr>
              <a:t>.</a:t>
            </a:r>
          </a:p>
          <a:p>
            <a:pPr algn="l">
              <a:lnSpc>
                <a:spcPts val="2010"/>
              </a:lnSpc>
            </a:pPr>
            <a:endParaRPr lang="en-US" sz="1474" dirty="0">
              <a:solidFill>
                <a:srgbClr val="5B5F71"/>
              </a:solidFill>
              <a:latin typeface="Arimo"/>
              <a:ea typeface="Arimo"/>
              <a:cs typeface="Arimo"/>
              <a:sym typeface="Arimo"/>
            </a:endParaRPr>
          </a:p>
          <a:p>
            <a:pPr algn="l">
              <a:lnSpc>
                <a:spcPts val="2010"/>
              </a:lnSpc>
            </a:pPr>
            <a:r>
              <a:rPr lang="en-US" sz="1474" dirty="0">
                <a:solidFill>
                  <a:srgbClr val="5B5F71"/>
                </a:solidFill>
                <a:latin typeface="Arimo"/>
                <a:ea typeface="Arimo"/>
                <a:cs typeface="Arimo"/>
                <a:sym typeface="Arimo"/>
              </a:rPr>
              <a:t>De </a:t>
            </a:r>
            <a:r>
              <a:rPr lang="en-US" sz="1474" dirty="0" err="1">
                <a:solidFill>
                  <a:srgbClr val="5B5F71"/>
                </a:solidFill>
                <a:latin typeface="Arimo"/>
                <a:ea typeface="Arimo"/>
                <a:cs typeface="Arimo"/>
                <a:sym typeface="Arimo"/>
              </a:rPr>
              <a:t>esta</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manera</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analizador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léxico</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permite</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separar</a:t>
            </a:r>
            <a:r>
              <a:rPr lang="en-US" sz="1474" dirty="0">
                <a:solidFill>
                  <a:srgbClr val="5B5F71"/>
                </a:solidFill>
                <a:latin typeface="Arimo"/>
                <a:ea typeface="Arimo"/>
                <a:cs typeface="Arimo"/>
                <a:sym typeface="Arimo"/>
              </a:rPr>
              <a:t> y </a:t>
            </a:r>
            <a:r>
              <a:rPr lang="en-US" sz="1474" dirty="0" err="1">
                <a:solidFill>
                  <a:srgbClr val="5B5F71"/>
                </a:solidFill>
                <a:latin typeface="Arimo"/>
                <a:ea typeface="Arimo"/>
                <a:cs typeface="Arimo"/>
                <a:sym typeface="Arimo"/>
              </a:rPr>
              <a:t>clasificar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cada</a:t>
            </a:r>
            <a:r>
              <a:rPr lang="en-US" sz="1474" dirty="0">
                <a:solidFill>
                  <a:srgbClr val="5B5F71"/>
                </a:solidFill>
                <a:latin typeface="Arimo"/>
                <a:ea typeface="Arimo"/>
                <a:cs typeface="Arimo"/>
                <a:sym typeface="Arimo"/>
              </a:rPr>
              <a:t> uno de </a:t>
            </a:r>
            <a:r>
              <a:rPr lang="en-US" sz="1474" dirty="0" err="1">
                <a:solidFill>
                  <a:srgbClr val="5B5F71"/>
                </a:solidFill>
                <a:latin typeface="Arimo"/>
                <a:ea typeface="Arimo"/>
                <a:cs typeface="Arimo"/>
                <a:sym typeface="Arimo"/>
              </a:rPr>
              <a:t>los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elementos</a:t>
            </a:r>
            <a:r>
              <a:rPr lang="en-US" sz="1474" dirty="0">
                <a:solidFill>
                  <a:srgbClr val="5B5F71"/>
                </a:solidFill>
                <a:latin typeface="Arimo"/>
                <a:ea typeface="Arimo"/>
                <a:cs typeface="Arimo"/>
                <a:sym typeface="Arimo"/>
              </a:rPr>
              <a:t> del </a:t>
            </a:r>
            <a:r>
              <a:rPr lang="en-US" sz="1474" dirty="0" err="1">
                <a:solidFill>
                  <a:srgbClr val="5B5F71"/>
                </a:solidFill>
                <a:latin typeface="Arimo"/>
                <a:ea typeface="Arimo"/>
                <a:cs typeface="Arimo"/>
                <a:sym typeface="Arimo"/>
              </a:rPr>
              <a:t>código</a:t>
            </a:r>
            <a:r>
              <a:rPr lang="en-US" sz="1474" dirty="0">
                <a:solidFill>
                  <a:srgbClr val="5B5F71"/>
                </a:solidFill>
                <a:latin typeface="Arimo"/>
                <a:ea typeface="Arimo"/>
                <a:cs typeface="Arimo"/>
                <a:sym typeface="Arimo"/>
              </a:rPr>
              <a:t>, lo que </a:t>
            </a:r>
            <a:r>
              <a:rPr lang="en-US" sz="1474" dirty="0" err="1">
                <a:solidFill>
                  <a:srgbClr val="5B5F71"/>
                </a:solidFill>
                <a:latin typeface="Arimo"/>
                <a:ea typeface="Arimo"/>
                <a:cs typeface="Arimo"/>
                <a:sym typeface="Arimo"/>
              </a:rPr>
              <a:t>facilita</a:t>
            </a:r>
            <a:r>
              <a:rPr lang="en-US" sz="1474" dirty="0">
                <a:solidFill>
                  <a:srgbClr val="5B5F71"/>
                </a:solidFill>
                <a:latin typeface="Arimo"/>
                <a:ea typeface="Arimo"/>
                <a:cs typeface="Arimo"/>
                <a:sym typeface="Arimo"/>
              </a:rPr>
              <a:t> que </a:t>
            </a:r>
            <a:r>
              <a:rPr lang="en-US" sz="1474" dirty="0" err="1">
                <a:solidFill>
                  <a:srgbClr val="5B5F71"/>
                </a:solidFill>
                <a:latin typeface="Arimo"/>
                <a:ea typeface="Arimo"/>
                <a:cs typeface="Arimo"/>
                <a:sym typeface="Arimo"/>
              </a:rPr>
              <a:t>el</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compilador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pueda</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interpretar</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correctamente</a:t>
            </a:r>
            <a:r>
              <a:rPr lang="en-US" sz="1474" dirty="0">
                <a:solidFill>
                  <a:srgbClr val="5B5F71"/>
                </a:solidFill>
                <a:latin typeface="Arimo"/>
                <a:ea typeface="Arimo"/>
                <a:cs typeface="Arimo"/>
                <a:sym typeface="Arimo"/>
              </a:rPr>
              <a:t> la </a:t>
            </a:r>
            <a:r>
              <a:rPr lang="en-US" sz="1474" dirty="0" err="1">
                <a:solidFill>
                  <a:srgbClr val="5B5F71"/>
                </a:solidFill>
                <a:latin typeface="Arimo"/>
                <a:ea typeface="Arimo"/>
                <a:cs typeface="Arimo"/>
                <a:sym typeface="Arimo"/>
              </a:rPr>
              <a:t>instrucción</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en</a:t>
            </a:r>
            <a:r>
              <a:rPr lang="en-US" sz="1474" dirty="0">
                <a:solidFill>
                  <a:srgbClr val="5B5F71"/>
                </a:solidFill>
                <a:latin typeface="Arimo"/>
                <a:ea typeface="Arimo"/>
                <a:cs typeface="Arimo"/>
                <a:sym typeface="Arimo"/>
              </a:rPr>
              <a:t> las </a:t>
            </a:r>
            <a:r>
              <a:rPr lang="en-US" sz="1474" dirty="0" err="1">
                <a:solidFill>
                  <a:srgbClr val="5B5F71"/>
                </a:solidFill>
                <a:latin typeface="Arimo"/>
                <a:ea typeface="Arimo"/>
                <a:cs typeface="Arimo"/>
                <a:sym typeface="Arimo"/>
              </a:rPr>
              <a:t>siguientes</a:t>
            </a:r>
            <a:r>
              <a:rPr lang="en-US" sz="1474" dirty="0">
                <a:solidFill>
                  <a:srgbClr val="5B5F71"/>
                </a:solidFill>
                <a:latin typeface="Arimo"/>
                <a:ea typeface="Arimo"/>
                <a:cs typeface="Arimo"/>
                <a:sym typeface="Arimo"/>
              </a:rPr>
              <a:t> </a:t>
            </a:r>
            <a:r>
              <a:rPr lang="en-US" sz="1474" dirty="0" err="1">
                <a:solidFill>
                  <a:srgbClr val="5B5F71"/>
                </a:solidFill>
                <a:latin typeface="Arimo"/>
                <a:ea typeface="Arimo"/>
                <a:cs typeface="Arimo"/>
                <a:sym typeface="Arimo"/>
              </a:rPr>
              <a:t>etapas</a:t>
            </a:r>
            <a:r>
              <a:rPr lang="en-US" sz="1474" dirty="0">
                <a:solidFill>
                  <a:srgbClr val="5B5F71"/>
                </a:solidFill>
                <a:latin typeface="Arimo"/>
                <a:ea typeface="Arimo"/>
                <a:cs typeface="Arimo"/>
                <a:sym typeface="Arimo"/>
              </a:rPr>
              <a:t> del </a:t>
            </a:r>
            <a:r>
              <a:rPr lang="en-US" sz="1474" dirty="0" err="1">
                <a:solidFill>
                  <a:srgbClr val="5B5F71"/>
                </a:solidFill>
                <a:latin typeface="Arimo"/>
                <a:ea typeface="Arimo"/>
                <a:cs typeface="Arimo"/>
                <a:sym typeface="Arimo"/>
              </a:rPr>
              <a:t>proceso</a:t>
            </a:r>
            <a:r>
              <a:rPr lang="en-US" sz="1474" dirty="0">
                <a:solidFill>
                  <a:srgbClr val="5B5F71"/>
                </a:solidFill>
                <a:latin typeface="Arimo"/>
                <a:ea typeface="Arimo"/>
                <a:cs typeface="Arimo"/>
                <a:sym typeface="Arimo"/>
              </a:rPr>
              <a:t> de </a:t>
            </a:r>
            <a:r>
              <a:rPr lang="en-US" sz="1474" dirty="0" err="1">
                <a:solidFill>
                  <a:srgbClr val="5B5F71"/>
                </a:solidFill>
                <a:latin typeface="Arimo"/>
                <a:ea typeface="Arimo"/>
                <a:cs typeface="Arimo"/>
                <a:sym typeface="Arimo"/>
              </a:rPr>
              <a:t>compilación</a:t>
            </a:r>
            <a:r>
              <a:rPr lang="en-US" sz="1474" dirty="0">
                <a:solidFill>
                  <a:srgbClr val="5B5F71"/>
                </a:solidFill>
                <a:latin typeface="Arimo"/>
                <a:ea typeface="Arimo"/>
                <a:cs typeface="Arimo"/>
                <a:sym typeface="Arimo"/>
              </a:rPr>
              <a:t>.</a:t>
            </a:r>
          </a:p>
          <a:p>
            <a:pPr algn="l">
              <a:lnSpc>
                <a:spcPts val="2011"/>
              </a:lnSpc>
            </a:pPr>
            <a:endParaRPr lang="en-US" sz="1474" dirty="0">
              <a:solidFill>
                <a:srgbClr val="5B5F71"/>
              </a:solidFill>
              <a:latin typeface="Arimo"/>
              <a:ea typeface="Arimo"/>
              <a:cs typeface="Arimo"/>
              <a:sym typeface="Arim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036291" y="1112944"/>
            <a:ext cx="3994842" cy="607809"/>
            <a:chOff x="0" y="0"/>
            <a:chExt cx="5326456" cy="810412"/>
          </a:xfrm>
        </p:grpSpPr>
        <p:sp>
          <p:nvSpPr>
            <p:cNvPr id="3" name="Freeform 3" descr="preencoded.png"/>
            <p:cNvSpPr/>
            <p:nvPr/>
          </p:nvSpPr>
          <p:spPr>
            <a:xfrm>
              <a:off x="0" y="0"/>
              <a:ext cx="5326507" cy="810387"/>
            </a:xfrm>
            <a:custGeom>
              <a:avLst/>
              <a:gdLst/>
              <a:ahLst/>
              <a:cxnLst/>
              <a:rect l="l" t="t" r="r" b="b"/>
              <a:pathLst>
                <a:path w="5326507" h="810387">
                  <a:moveTo>
                    <a:pt x="0" y="0"/>
                  </a:moveTo>
                  <a:lnTo>
                    <a:pt x="5326507" y="0"/>
                  </a:lnTo>
                  <a:lnTo>
                    <a:pt x="5326507" y="810387"/>
                  </a:lnTo>
                  <a:lnTo>
                    <a:pt x="0" y="810387"/>
                  </a:lnTo>
                  <a:lnTo>
                    <a:pt x="0" y="0"/>
                  </a:lnTo>
                  <a:close/>
                </a:path>
              </a:pathLst>
            </a:custGeom>
            <a:blipFill>
              <a:blip r:embed="rId3"/>
              <a:stretch>
                <a:fillRect t="-195" b="-199"/>
              </a:stretch>
            </a:blipFill>
          </p:spPr>
        </p:sp>
      </p:grpSp>
      <p:grpSp>
        <p:nvGrpSpPr>
          <p:cNvPr id="4" name="Group 4"/>
          <p:cNvGrpSpPr/>
          <p:nvPr/>
        </p:nvGrpSpPr>
        <p:grpSpPr>
          <a:xfrm>
            <a:off x="5031134" y="1112944"/>
            <a:ext cx="3994842" cy="607809"/>
            <a:chOff x="0" y="0"/>
            <a:chExt cx="5326456" cy="810412"/>
          </a:xfrm>
        </p:grpSpPr>
        <p:sp>
          <p:nvSpPr>
            <p:cNvPr id="5" name="Freeform 5" descr="preencoded.png"/>
            <p:cNvSpPr/>
            <p:nvPr/>
          </p:nvSpPr>
          <p:spPr>
            <a:xfrm>
              <a:off x="0" y="0"/>
              <a:ext cx="5326507" cy="810387"/>
            </a:xfrm>
            <a:custGeom>
              <a:avLst/>
              <a:gdLst/>
              <a:ahLst/>
              <a:cxnLst/>
              <a:rect l="l" t="t" r="r" b="b"/>
              <a:pathLst>
                <a:path w="5326507" h="810387">
                  <a:moveTo>
                    <a:pt x="0" y="0"/>
                  </a:moveTo>
                  <a:lnTo>
                    <a:pt x="5326507" y="0"/>
                  </a:lnTo>
                  <a:lnTo>
                    <a:pt x="5326507" y="810387"/>
                  </a:lnTo>
                  <a:lnTo>
                    <a:pt x="0" y="810387"/>
                  </a:lnTo>
                  <a:lnTo>
                    <a:pt x="0" y="0"/>
                  </a:lnTo>
                  <a:close/>
                </a:path>
              </a:pathLst>
            </a:custGeom>
            <a:blipFill>
              <a:blip r:embed="rId4"/>
              <a:stretch>
                <a:fillRect t="-195" b="-199"/>
              </a:stretch>
            </a:blipFill>
          </p:spPr>
        </p:sp>
      </p:grpSp>
      <p:grpSp>
        <p:nvGrpSpPr>
          <p:cNvPr id="6" name="Group 6"/>
          <p:cNvGrpSpPr/>
          <p:nvPr/>
        </p:nvGrpSpPr>
        <p:grpSpPr>
          <a:xfrm>
            <a:off x="9025985" y="1112944"/>
            <a:ext cx="3994842" cy="607809"/>
            <a:chOff x="0" y="0"/>
            <a:chExt cx="5326456" cy="810412"/>
          </a:xfrm>
        </p:grpSpPr>
        <p:sp>
          <p:nvSpPr>
            <p:cNvPr id="7" name="Freeform 7" descr="preencoded.png"/>
            <p:cNvSpPr/>
            <p:nvPr/>
          </p:nvSpPr>
          <p:spPr>
            <a:xfrm>
              <a:off x="0" y="0"/>
              <a:ext cx="5326507" cy="810387"/>
            </a:xfrm>
            <a:custGeom>
              <a:avLst/>
              <a:gdLst/>
              <a:ahLst/>
              <a:cxnLst/>
              <a:rect l="l" t="t" r="r" b="b"/>
              <a:pathLst>
                <a:path w="5326507" h="810387">
                  <a:moveTo>
                    <a:pt x="0" y="0"/>
                  </a:moveTo>
                  <a:lnTo>
                    <a:pt x="5326507" y="0"/>
                  </a:lnTo>
                  <a:lnTo>
                    <a:pt x="5326507" y="810387"/>
                  </a:lnTo>
                  <a:lnTo>
                    <a:pt x="0" y="810387"/>
                  </a:lnTo>
                  <a:lnTo>
                    <a:pt x="0" y="0"/>
                  </a:lnTo>
                  <a:close/>
                </a:path>
              </a:pathLst>
            </a:custGeom>
            <a:blipFill>
              <a:blip r:embed="rId5"/>
              <a:stretch>
                <a:fillRect t="-195" b="-199"/>
              </a:stretch>
            </a:blipFill>
          </p:spPr>
        </p:sp>
      </p:grpSp>
      <p:grpSp>
        <p:nvGrpSpPr>
          <p:cNvPr id="8" name="Group 8"/>
          <p:cNvGrpSpPr/>
          <p:nvPr/>
        </p:nvGrpSpPr>
        <p:grpSpPr>
          <a:xfrm>
            <a:off x="1036291" y="3042204"/>
            <a:ext cx="5806973" cy="423710"/>
            <a:chOff x="0" y="0"/>
            <a:chExt cx="7742631" cy="564947"/>
          </a:xfrm>
        </p:grpSpPr>
        <p:sp>
          <p:nvSpPr>
            <p:cNvPr id="9" name="Freeform 9"/>
            <p:cNvSpPr/>
            <p:nvPr/>
          </p:nvSpPr>
          <p:spPr>
            <a:xfrm>
              <a:off x="0" y="0"/>
              <a:ext cx="7742555" cy="564896"/>
            </a:xfrm>
            <a:custGeom>
              <a:avLst/>
              <a:gdLst/>
              <a:ahLst/>
              <a:cxnLst/>
              <a:rect l="l" t="t" r="r" b="b"/>
              <a:pathLst>
                <a:path w="7742555" h="564896">
                  <a:moveTo>
                    <a:pt x="0" y="85090"/>
                  </a:moveTo>
                  <a:cubicBezTo>
                    <a:pt x="0" y="38100"/>
                    <a:pt x="38100" y="0"/>
                    <a:pt x="85090" y="0"/>
                  </a:cubicBezTo>
                  <a:lnTo>
                    <a:pt x="7657465" y="0"/>
                  </a:lnTo>
                  <a:cubicBezTo>
                    <a:pt x="7704455" y="0"/>
                    <a:pt x="7742555" y="38100"/>
                    <a:pt x="7742555" y="85090"/>
                  </a:cubicBezTo>
                  <a:lnTo>
                    <a:pt x="7742555" y="479806"/>
                  </a:lnTo>
                  <a:cubicBezTo>
                    <a:pt x="7742555" y="526796"/>
                    <a:pt x="7704455" y="564896"/>
                    <a:pt x="7657465" y="564896"/>
                  </a:cubicBezTo>
                  <a:lnTo>
                    <a:pt x="85090" y="564896"/>
                  </a:lnTo>
                  <a:cubicBezTo>
                    <a:pt x="38100" y="564896"/>
                    <a:pt x="0" y="526796"/>
                    <a:pt x="0" y="479806"/>
                  </a:cubicBezTo>
                  <a:close/>
                </a:path>
              </a:pathLst>
            </a:custGeom>
            <a:solidFill>
              <a:srgbClr val="F2F2F2"/>
            </a:solidFill>
          </p:spPr>
        </p:sp>
      </p:grpSp>
      <p:grpSp>
        <p:nvGrpSpPr>
          <p:cNvPr id="10" name="Group 10"/>
          <p:cNvGrpSpPr/>
          <p:nvPr/>
        </p:nvGrpSpPr>
        <p:grpSpPr>
          <a:xfrm>
            <a:off x="1028700" y="3042204"/>
            <a:ext cx="5822156" cy="423710"/>
            <a:chOff x="0" y="0"/>
            <a:chExt cx="7762875" cy="564947"/>
          </a:xfrm>
        </p:grpSpPr>
        <p:sp>
          <p:nvSpPr>
            <p:cNvPr id="11" name="Freeform 11"/>
            <p:cNvSpPr/>
            <p:nvPr/>
          </p:nvSpPr>
          <p:spPr>
            <a:xfrm>
              <a:off x="0" y="0"/>
              <a:ext cx="7762875" cy="564896"/>
            </a:xfrm>
            <a:custGeom>
              <a:avLst/>
              <a:gdLst/>
              <a:ahLst/>
              <a:cxnLst/>
              <a:rect l="l" t="t" r="r" b="b"/>
              <a:pathLst>
                <a:path w="7762875" h="564896">
                  <a:moveTo>
                    <a:pt x="0" y="30353"/>
                  </a:moveTo>
                  <a:cubicBezTo>
                    <a:pt x="0" y="13589"/>
                    <a:pt x="13589" y="0"/>
                    <a:pt x="30353" y="0"/>
                  </a:cubicBezTo>
                  <a:lnTo>
                    <a:pt x="7732522" y="0"/>
                  </a:lnTo>
                  <a:cubicBezTo>
                    <a:pt x="7749286" y="0"/>
                    <a:pt x="7762875" y="13589"/>
                    <a:pt x="7762875" y="30353"/>
                  </a:cubicBezTo>
                  <a:lnTo>
                    <a:pt x="7762875" y="534543"/>
                  </a:lnTo>
                  <a:cubicBezTo>
                    <a:pt x="7762875" y="551307"/>
                    <a:pt x="7749286" y="564896"/>
                    <a:pt x="7732522" y="564896"/>
                  </a:cubicBezTo>
                  <a:lnTo>
                    <a:pt x="30353" y="564896"/>
                  </a:lnTo>
                  <a:cubicBezTo>
                    <a:pt x="13589" y="564896"/>
                    <a:pt x="0" y="551307"/>
                    <a:pt x="0" y="534543"/>
                  </a:cubicBezTo>
                  <a:close/>
                </a:path>
              </a:pathLst>
            </a:custGeom>
            <a:solidFill>
              <a:srgbClr val="F2F2F2"/>
            </a:solidFill>
          </p:spPr>
        </p:sp>
      </p:grpSp>
      <p:grpSp>
        <p:nvGrpSpPr>
          <p:cNvPr id="12" name="Group 12"/>
          <p:cNvGrpSpPr/>
          <p:nvPr/>
        </p:nvGrpSpPr>
        <p:grpSpPr>
          <a:xfrm>
            <a:off x="1031529" y="3955404"/>
            <a:ext cx="5816498" cy="1988639"/>
            <a:chOff x="0" y="0"/>
            <a:chExt cx="7755331" cy="2651519"/>
          </a:xfrm>
        </p:grpSpPr>
        <p:sp>
          <p:nvSpPr>
            <p:cNvPr id="13" name="Freeform 13"/>
            <p:cNvSpPr/>
            <p:nvPr/>
          </p:nvSpPr>
          <p:spPr>
            <a:xfrm>
              <a:off x="0" y="0"/>
              <a:ext cx="7755255" cy="2651506"/>
            </a:xfrm>
            <a:custGeom>
              <a:avLst/>
              <a:gdLst/>
              <a:ahLst/>
              <a:cxnLst/>
              <a:rect l="l" t="t" r="r" b="b"/>
              <a:pathLst>
                <a:path w="7755255" h="2651506">
                  <a:moveTo>
                    <a:pt x="0" y="91440"/>
                  </a:moveTo>
                  <a:cubicBezTo>
                    <a:pt x="0" y="40894"/>
                    <a:pt x="41021" y="0"/>
                    <a:pt x="91694" y="0"/>
                  </a:cubicBezTo>
                  <a:lnTo>
                    <a:pt x="7663561" y="0"/>
                  </a:lnTo>
                  <a:lnTo>
                    <a:pt x="7663561" y="6350"/>
                  </a:lnTo>
                  <a:lnTo>
                    <a:pt x="7663561" y="0"/>
                  </a:lnTo>
                  <a:cubicBezTo>
                    <a:pt x="7714234" y="0"/>
                    <a:pt x="7755255" y="40894"/>
                    <a:pt x="7755255" y="91440"/>
                  </a:cubicBezTo>
                  <a:lnTo>
                    <a:pt x="7748905" y="91440"/>
                  </a:lnTo>
                  <a:lnTo>
                    <a:pt x="7755255" y="91440"/>
                  </a:lnTo>
                  <a:lnTo>
                    <a:pt x="7755255" y="2560066"/>
                  </a:lnTo>
                  <a:lnTo>
                    <a:pt x="7748905" y="2560066"/>
                  </a:lnTo>
                  <a:lnTo>
                    <a:pt x="7755255" y="2560066"/>
                  </a:lnTo>
                  <a:cubicBezTo>
                    <a:pt x="7755255" y="2610612"/>
                    <a:pt x="7714234" y="2651506"/>
                    <a:pt x="7663561" y="2651506"/>
                  </a:cubicBezTo>
                  <a:lnTo>
                    <a:pt x="7663561" y="2645156"/>
                  </a:lnTo>
                  <a:lnTo>
                    <a:pt x="7663561" y="2651506"/>
                  </a:lnTo>
                  <a:lnTo>
                    <a:pt x="91694" y="2651506"/>
                  </a:lnTo>
                  <a:lnTo>
                    <a:pt x="91694" y="2645156"/>
                  </a:lnTo>
                  <a:lnTo>
                    <a:pt x="91694" y="2651506"/>
                  </a:lnTo>
                  <a:cubicBezTo>
                    <a:pt x="41021" y="2651506"/>
                    <a:pt x="0" y="2610612"/>
                    <a:pt x="0" y="2560066"/>
                  </a:cubicBezTo>
                  <a:lnTo>
                    <a:pt x="0" y="91440"/>
                  </a:lnTo>
                  <a:lnTo>
                    <a:pt x="6350" y="91440"/>
                  </a:lnTo>
                  <a:lnTo>
                    <a:pt x="0" y="91440"/>
                  </a:lnTo>
                  <a:moveTo>
                    <a:pt x="12700" y="91440"/>
                  </a:moveTo>
                  <a:lnTo>
                    <a:pt x="12700" y="2560066"/>
                  </a:lnTo>
                  <a:lnTo>
                    <a:pt x="6350" y="2560066"/>
                  </a:lnTo>
                  <a:lnTo>
                    <a:pt x="12700" y="2560066"/>
                  </a:lnTo>
                  <a:cubicBezTo>
                    <a:pt x="12700" y="2603500"/>
                    <a:pt x="48006" y="2638806"/>
                    <a:pt x="91694" y="2638806"/>
                  </a:cubicBezTo>
                  <a:lnTo>
                    <a:pt x="7663561" y="2638806"/>
                  </a:lnTo>
                  <a:cubicBezTo>
                    <a:pt x="7707249" y="2638806"/>
                    <a:pt x="7742555" y="2603500"/>
                    <a:pt x="7742555" y="2560066"/>
                  </a:cubicBezTo>
                  <a:lnTo>
                    <a:pt x="7742555" y="91440"/>
                  </a:lnTo>
                  <a:cubicBezTo>
                    <a:pt x="7742555" y="48006"/>
                    <a:pt x="7707249" y="12700"/>
                    <a:pt x="7663561" y="12700"/>
                  </a:cubicBezTo>
                  <a:lnTo>
                    <a:pt x="91694" y="12700"/>
                  </a:lnTo>
                  <a:lnTo>
                    <a:pt x="91694" y="6350"/>
                  </a:lnTo>
                  <a:lnTo>
                    <a:pt x="91694" y="12700"/>
                  </a:lnTo>
                  <a:cubicBezTo>
                    <a:pt x="48006" y="12700"/>
                    <a:pt x="12700" y="48006"/>
                    <a:pt x="12700" y="91440"/>
                  </a:cubicBezTo>
                  <a:close/>
                </a:path>
              </a:pathLst>
            </a:custGeom>
            <a:solidFill>
              <a:srgbClr val="000000">
                <a:alpha val="392"/>
              </a:srgbClr>
            </a:solidFill>
          </p:spPr>
        </p:sp>
      </p:grpSp>
      <p:grpSp>
        <p:nvGrpSpPr>
          <p:cNvPr id="14" name="Group 14"/>
          <p:cNvGrpSpPr/>
          <p:nvPr/>
        </p:nvGrpSpPr>
        <p:grpSpPr>
          <a:xfrm>
            <a:off x="1045816" y="3969691"/>
            <a:ext cx="5787923" cy="326679"/>
            <a:chOff x="0" y="0"/>
            <a:chExt cx="7717231" cy="435572"/>
          </a:xfrm>
        </p:grpSpPr>
        <p:sp>
          <p:nvSpPr>
            <p:cNvPr id="15" name="Freeform 15"/>
            <p:cNvSpPr/>
            <p:nvPr/>
          </p:nvSpPr>
          <p:spPr>
            <a:xfrm>
              <a:off x="0" y="0"/>
              <a:ext cx="7717282" cy="435610"/>
            </a:xfrm>
            <a:custGeom>
              <a:avLst/>
              <a:gdLst/>
              <a:ahLst/>
              <a:cxnLst/>
              <a:rect l="l" t="t" r="r" b="b"/>
              <a:pathLst>
                <a:path w="7717282" h="435610">
                  <a:moveTo>
                    <a:pt x="0" y="0"/>
                  </a:moveTo>
                  <a:lnTo>
                    <a:pt x="7717282" y="0"/>
                  </a:lnTo>
                  <a:lnTo>
                    <a:pt x="7717282" y="435610"/>
                  </a:lnTo>
                  <a:lnTo>
                    <a:pt x="0" y="435610"/>
                  </a:lnTo>
                  <a:close/>
                </a:path>
              </a:pathLst>
            </a:custGeom>
            <a:solidFill>
              <a:srgbClr val="FFFFFF">
                <a:alpha val="0"/>
              </a:srgbClr>
            </a:solidFill>
          </p:spPr>
        </p:sp>
      </p:grpSp>
      <p:grpSp>
        <p:nvGrpSpPr>
          <p:cNvPr id="16" name="Group 16"/>
          <p:cNvGrpSpPr/>
          <p:nvPr/>
        </p:nvGrpSpPr>
        <p:grpSpPr>
          <a:xfrm>
            <a:off x="1045816" y="4296370"/>
            <a:ext cx="5787923" cy="326679"/>
            <a:chOff x="0" y="0"/>
            <a:chExt cx="7717231" cy="435572"/>
          </a:xfrm>
        </p:grpSpPr>
        <p:sp>
          <p:nvSpPr>
            <p:cNvPr id="17" name="Freeform 17"/>
            <p:cNvSpPr/>
            <p:nvPr/>
          </p:nvSpPr>
          <p:spPr>
            <a:xfrm>
              <a:off x="0" y="0"/>
              <a:ext cx="7717282" cy="435610"/>
            </a:xfrm>
            <a:custGeom>
              <a:avLst/>
              <a:gdLst/>
              <a:ahLst/>
              <a:cxnLst/>
              <a:rect l="l" t="t" r="r" b="b"/>
              <a:pathLst>
                <a:path w="7717282" h="435610">
                  <a:moveTo>
                    <a:pt x="0" y="0"/>
                  </a:moveTo>
                  <a:lnTo>
                    <a:pt x="7717282" y="0"/>
                  </a:lnTo>
                  <a:lnTo>
                    <a:pt x="7717282" y="435610"/>
                  </a:lnTo>
                  <a:lnTo>
                    <a:pt x="0" y="435610"/>
                  </a:lnTo>
                  <a:close/>
                </a:path>
              </a:pathLst>
            </a:custGeom>
            <a:solidFill>
              <a:srgbClr val="000000">
                <a:alpha val="0"/>
              </a:srgbClr>
            </a:solidFill>
          </p:spPr>
        </p:sp>
      </p:grpSp>
      <p:grpSp>
        <p:nvGrpSpPr>
          <p:cNvPr id="18" name="Group 18"/>
          <p:cNvGrpSpPr/>
          <p:nvPr/>
        </p:nvGrpSpPr>
        <p:grpSpPr>
          <a:xfrm>
            <a:off x="1045816" y="4623049"/>
            <a:ext cx="5787923" cy="326679"/>
            <a:chOff x="0" y="0"/>
            <a:chExt cx="7717231" cy="435572"/>
          </a:xfrm>
        </p:grpSpPr>
        <p:sp>
          <p:nvSpPr>
            <p:cNvPr id="19" name="Freeform 19"/>
            <p:cNvSpPr/>
            <p:nvPr/>
          </p:nvSpPr>
          <p:spPr>
            <a:xfrm>
              <a:off x="0" y="0"/>
              <a:ext cx="7717282" cy="435610"/>
            </a:xfrm>
            <a:custGeom>
              <a:avLst/>
              <a:gdLst/>
              <a:ahLst/>
              <a:cxnLst/>
              <a:rect l="l" t="t" r="r" b="b"/>
              <a:pathLst>
                <a:path w="7717282" h="435610">
                  <a:moveTo>
                    <a:pt x="0" y="0"/>
                  </a:moveTo>
                  <a:lnTo>
                    <a:pt x="7717282" y="0"/>
                  </a:lnTo>
                  <a:lnTo>
                    <a:pt x="7717282" y="435610"/>
                  </a:lnTo>
                  <a:lnTo>
                    <a:pt x="0" y="435610"/>
                  </a:lnTo>
                  <a:close/>
                </a:path>
              </a:pathLst>
            </a:custGeom>
            <a:solidFill>
              <a:srgbClr val="FFFFFF">
                <a:alpha val="0"/>
              </a:srgbClr>
            </a:solidFill>
          </p:spPr>
        </p:sp>
      </p:grpSp>
      <p:grpSp>
        <p:nvGrpSpPr>
          <p:cNvPr id="20" name="Group 20"/>
          <p:cNvGrpSpPr/>
          <p:nvPr/>
        </p:nvGrpSpPr>
        <p:grpSpPr>
          <a:xfrm>
            <a:off x="1045816" y="4949728"/>
            <a:ext cx="5787923" cy="326679"/>
            <a:chOff x="0" y="0"/>
            <a:chExt cx="7717231" cy="435572"/>
          </a:xfrm>
        </p:grpSpPr>
        <p:sp>
          <p:nvSpPr>
            <p:cNvPr id="21" name="Freeform 21"/>
            <p:cNvSpPr/>
            <p:nvPr/>
          </p:nvSpPr>
          <p:spPr>
            <a:xfrm>
              <a:off x="0" y="0"/>
              <a:ext cx="7717282" cy="435610"/>
            </a:xfrm>
            <a:custGeom>
              <a:avLst/>
              <a:gdLst/>
              <a:ahLst/>
              <a:cxnLst/>
              <a:rect l="l" t="t" r="r" b="b"/>
              <a:pathLst>
                <a:path w="7717282" h="435610">
                  <a:moveTo>
                    <a:pt x="0" y="0"/>
                  </a:moveTo>
                  <a:lnTo>
                    <a:pt x="7717282" y="0"/>
                  </a:lnTo>
                  <a:lnTo>
                    <a:pt x="7717282" y="435610"/>
                  </a:lnTo>
                  <a:lnTo>
                    <a:pt x="0" y="435610"/>
                  </a:lnTo>
                  <a:close/>
                </a:path>
              </a:pathLst>
            </a:custGeom>
            <a:solidFill>
              <a:srgbClr val="000000">
                <a:alpha val="0"/>
              </a:srgbClr>
            </a:solidFill>
          </p:spPr>
        </p:sp>
      </p:grpSp>
      <p:grpSp>
        <p:nvGrpSpPr>
          <p:cNvPr id="22" name="Group 22"/>
          <p:cNvGrpSpPr/>
          <p:nvPr/>
        </p:nvGrpSpPr>
        <p:grpSpPr>
          <a:xfrm>
            <a:off x="1045816" y="5276407"/>
            <a:ext cx="5787923" cy="326679"/>
            <a:chOff x="0" y="0"/>
            <a:chExt cx="7717231" cy="435572"/>
          </a:xfrm>
        </p:grpSpPr>
        <p:sp>
          <p:nvSpPr>
            <p:cNvPr id="23" name="Freeform 23"/>
            <p:cNvSpPr/>
            <p:nvPr/>
          </p:nvSpPr>
          <p:spPr>
            <a:xfrm>
              <a:off x="0" y="0"/>
              <a:ext cx="7717282" cy="435610"/>
            </a:xfrm>
            <a:custGeom>
              <a:avLst/>
              <a:gdLst/>
              <a:ahLst/>
              <a:cxnLst/>
              <a:rect l="l" t="t" r="r" b="b"/>
              <a:pathLst>
                <a:path w="7717282" h="435610">
                  <a:moveTo>
                    <a:pt x="0" y="0"/>
                  </a:moveTo>
                  <a:lnTo>
                    <a:pt x="7717282" y="0"/>
                  </a:lnTo>
                  <a:lnTo>
                    <a:pt x="7717282" y="435610"/>
                  </a:lnTo>
                  <a:lnTo>
                    <a:pt x="0" y="435610"/>
                  </a:lnTo>
                  <a:close/>
                </a:path>
              </a:pathLst>
            </a:custGeom>
            <a:solidFill>
              <a:srgbClr val="FFFFFF">
                <a:alpha val="0"/>
              </a:srgbClr>
            </a:solidFill>
          </p:spPr>
        </p:sp>
      </p:grpSp>
      <p:grpSp>
        <p:nvGrpSpPr>
          <p:cNvPr id="24" name="Group 24"/>
          <p:cNvGrpSpPr/>
          <p:nvPr/>
        </p:nvGrpSpPr>
        <p:grpSpPr>
          <a:xfrm>
            <a:off x="1045816" y="5603086"/>
            <a:ext cx="5787923" cy="326679"/>
            <a:chOff x="0" y="0"/>
            <a:chExt cx="7717231" cy="435572"/>
          </a:xfrm>
        </p:grpSpPr>
        <p:sp>
          <p:nvSpPr>
            <p:cNvPr id="25" name="Freeform 25"/>
            <p:cNvSpPr/>
            <p:nvPr/>
          </p:nvSpPr>
          <p:spPr>
            <a:xfrm>
              <a:off x="0" y="0"/>
              <a:ext cx="7717282" cy="435610"/>
            </a:xfrm>
            <a:custGeom>
              <a:avLst/>
              <a:gdLst/>
              <a:ahLst/>
              <a:cxnLst/>
              <a:rect l="l" t="t" r="r" b="b"/>
              <a:pathLst>
                <a:path w="7717282" h="435610">
                  <a:moveTo>
                    <a:pt x="0" y="0"/>
                  </a:moveTo>
                  <a:lnTo>
                    <a:pt x="7717282" y="0"/>
                  </a:lnTo>
                  <a:lnTo>
                    <a:pt x="7717282" y="435610"/>
                  </a:lnTo>
                  <a:lnTo>
                    <a:pt x="0" y="435610"/>
                  </a:lnTo>
                  <a:close/>
                </a:path>
              </a:pathLst>
            </a:custGeom>
            <a:solidFill>
              <a:srgbClr val="000000">
                <a:alpha val="0"/>
              </a:srgbClr>
            </a:solidFill>
          </p:spPr>
        </p:sp>
      </p:grpSp>
      <p:sp>
        <p:nvSpPr>
          <p:cNvPr id="26" name="Freeform 26"/>
          <p:cNvSpPr/>
          <p:nvPr/>
        </p:nvSpPr>
        <p:spPr>
          <a:xfrm>
            <a:off x="8140910" y="2596442"/>
            <a:ext cx="8796150" cy="5816454"/>
          </a:xfrm>
          <a:custGeom>
            <a:avLst/>
            <a:gdLst/>
            <a:ahLst/>
            <a:cxnLst/>
            <a:rect l="l" t="t" r="r" b="b"/>
            <a:pathLst>
              <a:path w="8796150" h="5816454">
                <a:moveTo>
                  <a:pt x="0" y="0"/>
                </a:moveTo>
                <a:lnTo>
                  <a:pt x="8796150" y="0"/>
                </a:lnTo>
                <a:lnTo>
                  <a:pt x="8796150" y="5816454"/>
                </a:lnTo>
                <a:lnTo>
                  <a:pt x="0" y="5816454"/>
                </a:lnTo>
                <a:lnTo>
                  <a:pt x="0" y="0"/>
                </a:lnTo>
                <a:close/>
              </a:path>
            </a:pathLst>
          </a:custGeom>
          <a:blipFill>
            <a:blip r:embed="rId6"/>
            <a:stretch>
              <a:fillRect/>
            </a:stretch>
          </a:blipFill>
        </p:spPr>
      </p:sp>
      <p:sp>
        <p:nvSpPr>
          <p:cNvPr id="27" name="TextBox 27"/>
          <p:cNvSpPr txBox="1"/>
          <p:nvPr/>
        </p:nvSpPr>
        <p:spPr>
          <a:xfrm>
            <a:off x="1036290" y="423267"/>
            <a:ext cx="7421909" cy="441596"/>
          </a:xfrm>
          <a:prstGeom prst="rect">
            <a:avLst/>
          </a:prstGeom>
        </p:spPr>
        <p:txBody>
          <a:bodyPr wrap="square" lIns="0" tIns="0" rIns="0" bIns="0" rtlCol="0" anchor="t">
            <a:spAutoFit/>
          </a:bodyPr>
          <a:lstStyle/>
          <a:p>
            <a:pPr algn="l">
              <a:lnSpc>
                <a:spcPts val="3687"/>
              </a:lnSpc>
            </a:pPr>
            <a:r>
              <a:rPr lang="en-US" sz="2937" b="1" dirty="0" err="1">
                <a:solidFill>
                  <a:srgbClr val="505468"/>
                </a:solidFill>
                <a:latin typeface="Arimo Bold"/>
                <a:ea typeface="Arimo Bold"/>
                <a:cs typeface="Arimo Bold"/>
                <a:sym typeface="Arimo Bold"/>
              </a:rPr>
              <a:t>Ejercicio</a:t>
            </a:r>
            <a:r>
              <a:rPr lang="en-US" sz="2937" b="1" dirty="0">
                <a:solidFill>
                  <a:srgbClr val="505468"/>
                </a:solidFill>
                <a:latin typeface="Arimo Bold"/>
                <a:ea typeface="Arimo Bold"/>
                <a:cs typeface="Arimo Bold"/>
                <a:sym typeface="Arimo Bold"/>
              </a:rPr>
              <a:t> 2: </a:t>
            </a:r>
            <a:r>
              <a:rPr lang="en-US" sz="2937" b="1" dirty="0" err="1">
                <a:solidFill>
                  <a:srgbClr val="505468"/>
                </a:solidFill>
                <a:latin typeface="Arimo Bold"/>
                <a:ea typeface="Arimo Bold"/>
                <a:cs typeface="Arimo Bold"/>
                <a:sym typeface="Arimo Bold"/>
              </a:rPr>
              <a:t>Lexemas</a:t>
            </a:r>
            <a:r>
              <a:rPr lang="en-US" sz="2937" b="1" dirty="0">
                <a:solidFill>
                  <a:srgbClr val="505468"/>
                </a:solidFill>
                <a:latin typeface="Arimo Bold"/>
                <a:ea typeface="Arimo Bold"/>
                <a:cs typeface="Arimo Bold"/>
                <a:sym typeface="Arimo Bold"/>
              </a:rPr>
              <a:t> y </a:t>
            </a:r>
            <a:r>
              <a:rPr lang="en-US" sz="2937" b="1" dirty="0" err="1">
                <a:solidFill>
                  <a:srgbClr val="505468"/>
                </a:solidFill>
                <a:latin typeface="Arimo Bold"/>
                <a:ea typeface="Arimo Bold"/>
                <a:cs typeface="Arimo Bold"/>
                <a:sym typeface="Arimo Bold"/>
              </a:rPr>
              <a:t>patrones</a:t>
            </a:r>
            <a:endParaRPr lang="en-US" sz="2937" b="1" dirty="0">
              <a:solidFill>
                <a:srgbClr val="505468"/>
              </a:solidFill>
              <a:latin typeface="Arimo Bold"/>
              <a:ea typeface="Arimo Bold"/>
              <a:cs typeface="Arimo Bold"/>
              <a:sym typeface="Arimo Bold"/>
            </a:endParaRPr>
          </a:p>
        </p:txBody>
      </p:sp>
      <p:sp>
        <p:nvSpPr>
          <p:cNvPr id="28" name="TextBox 28"/>
          <p:cNvSpPr txBox="1"/>
          <p:nvPr/>
        </p:nvSpPr>
        <p:spPr>
          <a:xfrm>
            <a:off x="1188244" y="1794724"/>
            <a:ext cx="1899647" cy="256432"/>
          </a:xfrm>
          <a:prstGeom prst="rect">
            <a:avLst/>
          </a:prstGeom>
        </p:spPr>
        <p:txBody>
          <a:bodyPr lIns="0" tIns="0" rIns="0" bIns="0" rtlCol="0" anchor="t">
            <a:spAutoFit/>
          </a:bodyPr>
          <a:lstStyle/>
          <a:p>
            <a:pPr algn="l">
              <a:lnSpc>
                <a:spcPts val="1812"/>
              </a:lnSpc>
            </a:pPr>
            <a:r>
              <a:rPr lang="en-US" sz="1437" b="1">
                <a:solidFill>
                  <a:srgbClr val="5B5F71"/>
                </a:solidFill>
                <a:latin typeface="Arimo Bold"/>
                <a:ea typeface="Arimo Bold"/>
                <a:cs typeface="Arimo Bold"/>
                <a:sym typeface="Arimo Bold"/>
              </a:rPr>
              <a:t>Lexema</a:t>
            </a:r>
          </a:p>
        </p:txBody>
      </p:sp>
      <p:sp>
        <p:nvSpPr>
          <p:cNvPr id="29" name="TextBox 29"/>
          <p:cNvSpPr txBox="1"/>
          <p:nvPr/>
        </p:nvSpPr>
        <p:spPr>
          <a:xfrm>
            <a:off x="1188244" y="2078388"/>
            <a:ext cx="3690938"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Secuencia de caracteres en el código fuente</a:t>
            </a:r>
          </a:p>
        </p:txBody>
      </p:sp>
      <p:sp>
        <p:nvSpPr>
          <p:cNvPr id="30" name="TextBox 30"/>
          <p:cNvSpPr txBox="1"/>
          <p:nvPr/>
        </p:nvSpPr>
        <p:spPr>
          <a:xfrm>
            <a:off x="5183086" y="1794724"/>
            <a:ext cx="1899647" cy="256432"/>
          </a:xfrm>
          <a:prstGeom prst="rect">
            <a:avLst/>
          </a:prstGeom>
        </p:spPr>
        <p:txBody>
          <a:bodyPr lIns="0" tIns="0" rIns="0" bIns="0" rtlCol="0" anchor="t">
            <a:spAutoFit/>
          </a:bodyPr>
          <a:lstStyle/>
          <a:p>
            <a:pPr algn="l">
              <a:lnSpc>
                <a:spcPts val="1812"/>
              </a:lnSpc>
            </a:pPr>
            <a:r>
              <a:rPr lang="en-US" sz="1437" b="1">
                <a:solidFill>
                  <a:srgbClr val="5B5F71"/>
                </a:solidFill>
                <a:latin typeface="Arimo Bold"/>
                <a:ea typeface="Arimo Bold"/>
                <a:cs typeface="Arimo Bold"/>
                <a:sym typeface="Arimo Bold"/>
              </a:rPr>
              <a:t>Patrón</a:t>
            </a:r>
          </a:p>
        </p:txBody>
      </p:sp>
      <p:sp>
        <p:nvSpPr>
          <p:cNvPr id="31" name="TextBox 31"/>
          <p:cNvSpPr txBox="1"/>
          <p:nvPr/>
        </p:nvSpPr>
        <p:spPr>
          <a:xfrm>
            <a:off x="5183086" y="2078388"/>
            <a:ext cx="3690938"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Regla que define la estructura del lexema</a:t>
            </a:r>
          </a:p>
        </p:txBody>
      </p:sp>
      <p:sp>
        <p:nvSpPr>
          <p:cNvPr id="32" name="TextBox 32"/>
          <p:cNvSpPr txBox="1"/>
          <p:nvPr/>
        </p:nvSpPr>
        <p:spPr>
          <a:xfrm>
            <a:off x="9177938" y="1794724"/>
            <a:ext cx="1899647" cy="256432"/>
          </a:xfrm>
          <a:prstGeom prst="rect">
            <a:avLst/>
          </a:prstGeom>
        </p:spPr>
        <p:txBody>
          <a:bodyPr lIns="0" tIns="0" rIns="0" bIns="0" rtlCol="0" anchor="t">
            <a:spAutoFit/>
          </a:bodyPr>
          <a:lstStyle/>
          <a:p>
            <a:pPr algn="l">
              <a:lnSpc>
                <a:spcPts val="1812"/>
              </a:lnSpc>
            </a:pPr>
            <a:r>
              <a:rPr lang="en-US" sz="1437" b="1">
                <a:solidFill>
                  <a:srgbClr val="5B5F71"/>
                </a:solidFill>
                <a:latin typeface="Arimo Bold"/>
                <a:ea typeface="Arimo Bold"/>
                <a:cs typeface="Arimo Bold"/>
                <a:sym typeface="Arimo Bold"/>
              </a:rPr>
              <a:t>Categoría</a:t>
            </a:r>
          </a:p>
        </p:txBody>
      </p:sp>
      <p:sp>
        <p:nvSpPr>
          <p:cNvPr id="33" name="TextBox 33"/>
          <p:cNvSpPr txBox="1"/>
          <p:nvPr/>
        </p:nvSpPr>
        <p:spPr>
          <a:xfrm>
            <a:off x="9177938" y="2078388"/>
            <a:ext cx="3690938"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Tipo de token al que pertenece</a:t>
            </a:r>
          </a:p>
        </p:txBody>
      </p:sp>
      <p:sp>
        <p:nvSpPr>
          <p:cNvPr id="34" name="TextBox 34"/>
          <p:cNvSpPr txBox="1"/>
          <p:nvPr/>
        </p:nvSpPr>
        <p:spPr>
          <a:xfrm>
            <a:off x="1036291" y="2623990"/>
            <a:ext cx="2279599" cy="313582"/>
          </a:xfrm>
          <a:prstGeom prst="rect">
            <a:avLst/>
          </a:prstGeom>
        </p:spPr>
        <p:txBody>
          <a:bodyPr lIns="0" tIns="0" rIns="0" bIns="0" rtlCol="0" anchor="t">
            <a:spAutoFit/>
          </a:bodyPr>
          <a:lstStyle/>
          <a:p>
            <a:pPr algn="l">
              <a:lnSpc>
                <a:spcPts val="2187"/>
              </a:lnSpc>
            </a:pPr>
            <a:r>
              <a:rPr lang="en-US" sz="1750" b="1">
                <a:solidFill>
                  <a:srgbClr val="505468"/>
                </a:solidFill>
                <a:latin typeface="Arimo Bold"/>
                <a:ea typeface="Arimo Bold"/>
                <a:cs typeface="Arimo Bold"/>
                <a:sym typeface="Arimo Bold"/>
              </a:rPr>
              <a:t>Expresión analizada</a:t>
            </a:r>
          </a:p>
        </p:txBody>
      </p:sp>
      <p:sp>
        <p:nvSpPr>
          <p:cNvPr id="35" name="TextBox 35"/>
          <p:cNvSpPr txBox="1"/>
          <p:nvPr/>
        </p:nvSpPr>
        <p:spPr>
          <a:xfrm>
            <a:off x="1180652" y="3117956"/>
            <a:ext cx="829151" cy="219075"/>
          </a:xfrm>
          <a:prstGeom prst="rect">
            <a:avLst/>
          </a:prstGeom>
        </p:spPr>
        <p:txBody>
          <a:bodyPr lIns="0" tIns="0" rIns="0" bIns="0" rtlCol="0" anchor="t">
            <a:spAutoFit/>
          </a:bodyPr>
          <a:lstStyle/>
          <a:p>
            <a:pPr algn="l">
              <a:lnSpc>
                <a:spcPts val="1500"/>
              </a:lnSpc>
            </a:pPr>
            <a:r>
              <a:rPr lang="en-US" sz="1187">
                <a:solidFill>
                  <a:srgbClr val="5B5F71"/>
                </a:solidFill>
                <a:latin typeface="Consolas"/>
                <a:ea typeface="Consolas"/>
                <a:cs typeface="Consolas"/>
                <a:sym typeface="Consolas"/>
              </a:rPr>
              <a:t>x = y + 20</a:t>
            </a:r>
          </a:p>
        </p:txBody>
      </p:sp>
      <p:sp>
        <p:nvSpPr>
          <p:cNvPr id="36" name="TextBox 36"/>
          <p:cNvSpPr txBox="1"/>
          <p:nvPr/>
        </p:nvSpPr>
        <p:spPr>
          <a:xfrm>
            <a:off x="1036291" y="3541962"/>
            <a:ext cx="2279599" cy="313582"/>
          </a:xfrm>
          <a:prstGeom prst="rect">
            <a:avLst/>
          </a:prstGeom>
        </p:spPr>
        <p:txBody>
          <a:bodyPr lIns="0" tIns="0" rIns="0" bIns="0" rtlCol="0" anchor="t">
            <a:spAutoFit/>
          </a:bodyPr>
          <a:lstStyle/>
          <a:p>
            <a:pPr algn="l">
              <a:lnSpc>
                <a:spcPts val="2187"/>
              </a:lnSpc>
            </a:pPr>
            <a:r>
              <a:rPr lang="en-US" sz="1750" b="1">
                <a:solidFill>
                  <a:srgbClr val="505468"/>
                </a:solidFill>
                <a:latin typeface="Arimo Bold"/>
                <a:ea typeface="Arimo Bold"/>
                <a:cs typeface="Arimo Bold"/>
                <a:sym typeface="Arimo Bold"/>
              </a:rPr>
              <a:t>Tabla de lexemas</a:t>
            </a:r>
          </a:p>
        </p:txBody>
      </p:sp>
      <p:sp>
        <p:nvSpPr>
          <p:cNvPr id="37" name="TextBox 37"/>
          <p:cNvSpPr txBox="1"/>
          <p:nvPr/>
        </p:nvSpPr>
        <p:spPr>
          <a:xfrm>
            <a:off x="1197769" y="4006458"/>
            <a:ext cx="2585295" cy="224580"/>
          </a:xfrm>
          <a:prstGeom prst="rect">
            <a:avLst/>
          </a:prstGeom>
        </p:spPr>
        <p:txBody>
          <a:bodyPr lIns="0" tIns="0" rIns="0" bIns="0" rtlCol="0" anchor="t">
            <a:spAutoFit/>
          </a:bodyPr>
          <a:lstStyle/>
          <a:p>
            <a:pPr algn="l">
              <a:lnSpc>
                <a:spcPts val="1500"/>
              </a:lnSpc>
            </a:pPr>
            <a:r>
              <a:rPr lang="en-US" sz="1187" b="1">
                <a:solidFill>
                  <a:srgbClr val="5B5F71"/>
                </a:solidFill>
                <a:latin typeface="Arimo Bold"/>
                <a:ea typeface="Arimo Bold"/>
                <a:cs typeface="Arimo Bold"/>
                <a:sym typeface="Arimo Bold"/>
              </a:rPr>
              <a:t>Lexema</a:t>
            </a:r>
          </a:p>
        </p:txBody>
      </p:sp>
      <p:sp>
        <p:nvSpPr>
          <p:cNvPr id="38" name="TextBox 38"/>
          <p:cNvSpPr txBox="1"/>
          <p:nvPr/>
        </p:nvSpPr>
        <p:spPr>
          <a:xfrm>
            <a:off x="4096493" y="4006458"/>
            <a:ext cx="2585295" cy="224580"/>
          </a:xfrm>
          <a:prstGeom prst="rect">
            <a:avLst/>
          </a:prstGeom>
        </p:spPr>
        <p:txBody>
          <a:bodyPr lIns="0" tIns="0" rIns="0" bIns="0" rtlCol="0" anchor="t">
            <a:spAutoFit/>
          </a:bodyPr>
          <a:lstStyle/>
          <a:p>
            <a:pPr algn="l">
              <a:lnSpc>
                <a:spcPts val="1500"/>
              </a:lnSpc>
            </a:pPr>
            <a:r>
              <a:rPr lang="en-US" sz="1187" b="1">
                <a:solidFill>
                  <a:srgbClr val="5B5F71"/>
                </a:solidFill>
                <a:latin typeface="Arimo Bold"/>
                <a:ea typeface="Arimo Bold"/>
                <a:cs typeface="Arimo Bold"/>
                <a:sym typeface="Arimo Bold"/>
              </a:rPr>
              <a:t>Tipo</a:t>
            </a:r>
          </a:p>
        </p:txBody>
      </p:sp>
      <p:sp>
        <p:nvSpPr>
          <p:cNvPr id="39" name="TextBox 39"/>
          <p:cNvSpPr txBox="1"/>
          <p:nvPr/>
        </p:nvSpPr>
        <p:spPr>
          <a:xfrm>
            <a:off x="1197769" y="4333137"/>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x</a:t>
            </a:r>
          </a:p>
        </p:txBody>
      </p:sp>
      <p:sp>
        <p:nvSpPr>
          <p:cNvPr id="40" name="TextBox 40"/>
          <p:cNvSpPr txBox="1"/>
          <p:nvPr/>
        </p:nvSpPr>
        <p:spPr>
          <a:xfrm>
            <a:off x="4096493" y="4333137"/>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Identificador</a:t>
            </a:r>
          </a:p>
        </p:txBody>
      </p:sp>
      <p:sp>
        <p:nvSpPr>
          <p:cNvPr id="41" name="TextBox 41"/>
          <p:cNvSpPr txBox="1"/>
          <p:nvPr/>
        </p:nvSpPr>
        <p:spPr>
          <a:xfrm>
            <a:off x="1197769" y="4659816"/>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a:t>
            </a:r>
          </a:p>
        </p:txBody>
      </p:sp>
      <p:sp>
        <p:nvSpPr>
          <p:cNvPr id="42" name="TextBox 42"/>
          <p:cNvSpPr txBox="1"/>
          <p:nvPr/>
        </p:nvSpPr>
        <p:spPr>
          <a:xfrm>
            <a:off x="4096493" y="4659816"/>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Operador</a:t>
            </a:r>
          </a:p>
        </p:txBody>
      </p:sp>
      <p:sp>
        <p:nvSpPr>
          <p:cNvPr id="43" name="TextBox 43"/>
          <p:cNvSpPr txBox="1"/>
          <p:nvPr/>
        </p:nvSpPr>
        <p:spPr>
          <a:xfrm>
            <a:off x="1197769" y="4986485"/>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y</a:t>
            </a:r>
          </a:p>
        </p:txBody>
      </p:sp>
      <p:sp>
        <p:nvSpPr>
          <p:cNvPr id="44" name="TextBox 44"/>
          <p:cNvSpPr txBox="1"/>
          <p:nvPr/>
        </p:nvSpPr>
        <p:spPr>
          <a:xfrm>
            <a:off x="4096493" y="4986485"/>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Identificador</a:t>
            </a:r>
          </a:p>
        </p:txBody>
      </p:sp>
      <p:sp>
        <p:nvSpPr>
          <p:cNvPr id="45" name="TextBox 45"/>
          <p:cNvSpPr txBox="1"/>
          <p:nvPr/>
        </p:nvSpPr>
        <p:spPr>
          <a:xfrm>
            <a:off x="1197769" y="5313164"/>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a:t>
            </a:r>
          </a:p>
        </p:txBody>
      </p:sp>
      <p:sp>
        <p:nvSpPr>
          <p:cNvPr id="46" name="TextBox 46"/>
          <p:cNvSpPr txBox="1"/>
          <p:nvPr/>
        </p:nvSpPr>
        <p:spPr>
          <a:xfrm>
            <a:off x="4096493" y="5313164"/>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Operador</a:t>
            </a:r>
          </a:p>
        </p:txBody>
      </p:sp>
      <p:sp>
        <p:nvSpPr>
          <p:cNvPr id="47" name="TextBox 47"/>
          <p:cNvSpPr txBox="1"/>
          <p:nvPr/>
        </p:nvSpPr>
        <p:spPr>
          <a:xfrm>
            <a:off x="1197769" y="5639843"/>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20</a:t>
            </a:r>
          </a:p>
        </p:txBody>
      </p:sp>
      <p:sp>
        <p:nvSpPr>
          <p:cNvPr id="48" name="TextBox 48"/>
          <p:cNvSpPr txBox="1"/>
          <p:nvPr/>
        </p:nvSpPr>
        <p:spPr>
          <a:xfrm>
            <a:off x="4096493" y="5639843"/>
            <a:ext cx="2585295" cy="224580"/>
          </a:xfrm>
          <a:prstGeom prst="rect">
            <a:avLst/>
          </a:prstGeom>
        </p:spPr>
        <p:txBody>
          <a:bodyPr lIns="0" tIns="0" rIns="0" bIns="0" rtlCol="0" anchor="t">
            <a:spAutoFit/>
          </a:bodyPr>
          <a:lstStyle/>
          <a:p>
            <a:pPr algn="l">
              <a:lnSpc>
                <a:spcPts val="1500"/>
              </a:lnSpc>
            </a:pPr>
            <a:r>
              <a:rPr lang="en-US" sz="1187">
                <a:solidFill>
                  <a:srgbClr val="5B5F71"/>
                </a:solidFill>
                <a:latin typeface="Arimo"/>
                <a:ea typeface="Arimo"/>
                <a:cs typeface="Arimo"/>
                <a:sym typeface="Arimo"/>
              </a:rPr>
              <a:t>Número</a:t>
            </a:r>
          </a:p>
        </p:txBody>
      </p:sp>
      <p:sp>
        <p:nvSpPr>
          <p:cNvPr id="49" name="TextBox 49"/>
          <p:cNvSpPr txBox="1"/>
          <p:nvPr/>
        </p:nvSpPr>
        <p:spPr>
          <a:xfrm>
            <a:off x="1180652" y="6760212"/>
            <a:ext cx="5806973" cy="2190762"/>
          </a:xfrm>
          <a:prstGeom prst="rect">
            <a:avLst/>
          </a:prstGeom>
        </p:spPr>
        <p:txBody>
          <a:bodyPr lIns="0" tIns="0" rIns="0" bIns="0" rtlCol="0" anchor="t">
            <a:spAutoFit/>
          </a:bodyPr>
          <a:lstStyle/>
          <a:p>
            <a:pPr marL="179014" lvl="1" indent="-89507" algn="l">
              <a:lnSpc>
                <a:spcPts val="1499"/>
              </a:lnSpc>
              <a:buFont typeface="Arial"/>
              <a:buChar char="•"/>
            </a:pPr>
            <a:r>
              <a:rPr lang="en-US" sz="1187">
                <a:solidFill>
                  <a:srgbClr val="5B5F71"/>
                </a:solidFill>
                <a:latin typeface="Arimo"/>
                <a:ea typeface="Arimo"/>
                <a:cs typeface="Arimo"/>
                <a:sym typeface="Arimo"/>
              </a:rPr>
              <a:t>En este ejercicio se analizó la expresión x = y + 20 utilizando el analizador léxico desarrollado en la práctica. El programa identificó cada uno de los elementos que componen la expresión y los clasificó según su tipo.</a:t>
            </a:r>
          </a:p>
          <a:p>
            <a:pPr algn="l">
              <a:lnSpc>
                <a:spcPts val="1499"/>
              </a:lnSpc>
            </a:pPr>
            <a:endParaRPr lang="en-US" sz="1187">
              <a:solidFill>
                <a:srgbClr val="5B5F71"/>
              </a:solidFill>
              <a:latin typeface="Arimo"/>
              <a:ea typeface="Arimo"/>
              <a:cs typeface="Arimo"/>
              <a:sym typeface="Arimo"/>
            </a:endParaRPr>
          </a:p>
          <a:p>
            <a:pPr marL="179014" lvl="1" indent="-89507" algn="l">
              <a:lnSpc>
                <a:spcPts val="1499"/>
              </a:lnSpc>
              <a:buFont typeface="Arial"/>
              <a:buChar char="•"/>
            </a:pPr>
            <a:r>
              <a:rPr lang="en-US" sz="1187">
                <a:solidFill>
                  <a:srgbClr val="5B5F71"/>
                </a:solidFill>
                <a:latin typeface="Arimo"/>
                <a:ea typeface="Arimo"/>
                <a:cs typeface="Arimo"/>
                <a:sym typeface="Arimo"/>
              </a:rPr>
              <a:t>Las letras x y y fueron reconocidas como identificadores, ya que representan variables dentro de la operación. </a:t>
            </a:r>
          </a:p>
          <a:p>
            <a:pPr algn="l">
              <a:lnSpc>
                <a:spcPts val="1499"/>
              </a:lnSpc>
            </a:pPr>
            <a:endParaRPr lang="en-US" sz="1187">
              <a:solidFill>
                <a:srgbClr val="5B5F71"/>
              </a:solidFill>
              <a:latin typeface="Arimo"/>
              <a:ea typeface="Arimo"/>
              <a:cs typeface="Arimo"/>
              <a:sym typeface="Arimo"/>
            </a:endParaRPr>
          </a:p>
          <a:p>
            <a:pPr marL="179014" lvl="1" indent="-89507" algn="l">
              <a:lnSpc>
                <a:spcPts val="1499"/>
              </a:lnSpc>
              <a:buFont typeface="Arial"/>
              <a:buChar char="•"/>
            </a:pPr>
            <a:r>
              <a:rPr lang="en-US" sz="1187">
                <a:solidFill>
                  <a:srgbClr val="5B5F71"/>
                </a:solidFill>
                <a:latin typeface="Arimo"/>
                <a:ea typeface="Arimo"/>
                <a:cs typeface="Arimo"/>
                <a:sym typeface="Arimo"/>
              </a:rPr>
              <a:t>El símbolo = corresponde a un operador de asignación, mientras que + representa un operador aritmético utilizado para realizar una suma. Finalmente, el valor 20 fue identificado como un número, ya que representa una constante numérica dentro de la expresión.</a:t>
            </a:r>
          </a:p>
          <a:p>
            <a:pPr algn="l">
              <a:lnSpc>
                <a:spcPts val="1500"/>
              </a:lnSpc>
            </a:pPr>
            <a:endParaRPr lang="en-US" sz="1187">
              <a:solidFill>
                <a:srgbClr val="5B5F71"/>
              </a:solidFill>
              <a:latin typeface="Arimo"/>
              <a:ea typeface="Arimo"/>
              <a:cs typeface="Arimo"/>
              <a:sym typeface="Arimo"/>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85636" y="2629304"/>
            <a:ext cx="4441284" cy="357998"/>
            <a:chOff x="0" y="0"/>
            <a:chExt cx="12720041" cy="1025322"/>
          </a:xfrm>
        </p:grpSpPr>
        <p:sp>
          <p:nvSpPr>
            <p:cNvPr id="3" name="Freeform 3"/>
            <p:cNvSpPr/>
            <p:nvPr/>
          </p:nvSpPr>
          <p:spPr>
            <a:xfrm>
              <a:off x="0" y="0"/>
              <a:ext cx="12720066" cy="1025271"/>
            </a:xfrm>
            <a:custGeom>
              <a:avLst/>
              <a:gdLst/>
              <a:ahLst/>
              <a:cxnLst/>
              <a:rect l="l" t="t" r="r" b="b"/>
              <a:pathLst>
                <a:path w="12720066" h="1025271">
                  <a:moveTo>
                    <a:pt x="0" y="138938"/>
                  </a:moveTo>
                  <a:cubicBezTo>
                    <a:pt x="0" y="62230"/>
                    <a:pt x="62230" y="0"/>
                    <a:pt x="138938" y="0"/>
                  </a:cubicBezTo>
                  <a:lnTo>
                    <a:pt x="12581128" y="0"/>
                  </a:lnTo>
                  <a:cubicBezTo>
                    <a:pt x="12657836" y="0"/>
                    <a:pt x="12720066" y="62230"/>
                    <a:pt x="12720066" y="138938"/>
                  </a:cubicBezTo>
                  <a:lnTo>
                    <a:pt x="12720066" y="886333"/>
                  </a:lnTo>
                  <a:cubicBezTo>
                    <a:pt x="12720066" y="963041"/>
                    <a:pt x="12657836" y="1025271"/>
                    <a:pt x="12581128" y="1025271"/>
                  </a:cubicBezTo>
                  <a:lnTo>
                    <a:pt x="138938" y="1025271"/>
                  </a:lnTo>
                  <a:cubicBezTo>
                    <a:pt x="62230" y="1025271"/>
                    <a:pt x="0" y="963168"/>
                    <a:pt x="0" y="886333"/>
                  </a:cubicBezTo>
                  <a:close/>
                </a:path>
              </a:pathLst>
            </a:custGeom>
            <a:solidFill>
              <a:srgbClr val="F2F2F2"/>
            </a:solidFill>
          </p:spPr>
        </p:sp>
      </p:grpSp>
      <p:grpSp>
        <p:nvGrpSpPr>
          <p:cNvPr id="4" name="Group 4"/>
          <p:cNvGrpSpPr/>
          <p:nvPr/>
        </p:nvGrpSpPr>
        <p:grpSpPr>
          <a:xfrm>
            <a:off x="979884" y="2629304"/>
            <a:ext cx="4452786" cy="357998"/>
            <a:chOff x="0" y="0"/>
            <a:chExt cx="12752984" cy="1025322"/>
          </a:xfrm>
        </p:grpSpPr>
        <p:sp>
          <p:nvSpPr>
            <p:cNvPr id="5" name="Freeform 5"/>
            <p:cNvSpPr/>
            <p:nvPr/>
          </p:nvSpPr>
          <p:spPr>
            <a:xfrm>
              <a:off x="0" y="0"/>
              <a:ext cx="12753086" cy="1025398"/>
            </a:xfrm>
            <a:custGeom>
              <a:avLst/>
              <a:gdLst/>
              <a:ahLst/>
              <a:cxnLst/>
              <a:rect l="l" t="t" r="r" b="b"/>
              <a:pathLst>
                <a:path w="12753086" h="1025398">
                  <a:moveTo>
                    <a:pt x="0" y="49657"/>
                  </a:moveTo>
                  <a:cubicBezTo>
                    <a:pt x="0" y="22225"/>
                    <a:pt x="22225" y="0"/>
                    <a:pt x="49657" y="0"/>
                  </a:cubicBezTo>
                  <a:lnTo>
                    <a:pt x="12703429" y="0"/>
                  </a:lnTo>
                  <a:cubicBezTo>
                    <a:pt x="12730861" y="0"/>
                    <a:pt x="12753086" y="22225"/>
                    <a:pt x="12753086" y="49657"/>
                  </a:cubicBezTo>
                  <a:lnTo>
                    <a:pt x="12753086" y="975741"/>
                  </a:lnTo>
                  <a:cubicBezTo>
                    <a:pt x="12753086" y="1003173"/>
                    <a:pt x="12730861" y="1025398"/>
                    <a:pt x="12703429" y="1025398"/>
                  </a:cubicBezTo>
                  <a:lnTo>
                    <a:pt x="49657" y="1025398"/>
                  </a:lnTo>
                  <a:cubicBezTo>
                    <a:pt x="22225" y="1025271"/>
                    <a:pt x="0" y="1003173"/>
                    <a:pt x="0" y="975741"/>
                  </a:cubicBezTo>
                  <a:close/>
                </a:path>
              </a:pathLst>
            </a:custGeom>
            <a:solidFill>
              <a:srgbClr val="F2F2F2"/>
            </a:solidFill>
          </p:spPr>
        </p:sp>
      </p:grpSp>
      <p:grpSp>
        <p:nvGrpSpPr>
          <p:cNvPr id="6" name="Group 6"/>
          <p:cNvGrpSpPr/>
          <p:nvPr/>
        </p:nvGrpSpPr>
        <p:grpSpPr>
          <a:xfrm>
            <a:off x="983419" y="3461425"/>
            <a:ext cx="4445718" cy="2006652"/>
            <a:chOff x="0" y="0"/>
            <a:chExt cx="12732741" cy="5747144"/>
          </a:xfrm>
        </p:grpSpPr>
        <p:sp>
          <p:nvSpPr>
            <p:cNvPr id="7" name="Freeform 7"/>
            <p:cNvSpPr/>
            <p:nvPr/>
          </p:nvSpPr>
          <p:spPr>
            <a:xfrm>
              <a:off x="0" y="0"/>
              <a:ext cx="12732639" cy="5747131"/>
            </a:xfrm>
            <a:custGeom>
              <a:avLst/>
              <a:gdLst/>
              <a:ahLst/>
              <a:cxnLst/>
              <a:rect l="l" t="t" r="r" b="b"/>
              <a:pathLst>
                <a:path w="12732639" h="5747131">
                  <a:moveTo>
                    <a:pt x="0" y="145288"/>
                  </a:moveTo>
                  <a:cubicBezTo>
                    <a:pt x="0" y="65024"/>
                    <a:pt x="65151" y="0"/>
                    <a:pt x="145415" y="0"/>
                  </a:cubicBezTo>
                  <a:lnTo>
                    <a:pt x="12587224" y="0"/>
                  </a:lnTo>
                  <a:lnTo>
                    <a:pt x="12587224" y="6350"/>
                  </a:lnTo>
                  <a:lnTo>
                    <a:pt x="12587224" y="0"/>
                  </a:lnTo>
                  <a:cubicBezTo>
                    <a:pt x="12667615" y="0"/>
                    <a:pt x="12732639" y="65024"/>
                    <a:pt x="12732639" y="145288"/>
                  </a:cubicBezTo>
                  <a:lnTo>
                    <a:pt x="12726289" y="145288"/>
                  </a:lnTo>
                  <a:lnTo>
                    <a:pt x="12732639" y="145288"/>
                  </a:lnTo>
                  <a:lnTo>
                    <a:pt x="12732639" y="5601843"/>
                  </a:lnTo>
                  <a:lnTo>
                    <a:pt x="12726289" y="5601843"/>
                  </a:lnTo>
                  <a:lnTo>
                    <a:pt x="12732639" y="5601843"/>
                  </a:lnTo>
                  <a:cubicBezTo>
                    <a:pt x="12732639" y="5682107"/>
                    <a:pt x="12667488" y="5747131"/>
                    <a:pt x="12587224" y="5747131"/>
                  </a:cubicBezTo>
                  <a:lnTo>
                    <a:pt x="12587224" y="5740781"/>
                  </a:lnTo>
                  <a:lnTo>
                    <a:pt x="12587224" y="5747131"/>
                  </a:lnTo>
                  <a:lnTo>
                    <a:pt x="145415" y="5747131"/>
                  </a:lnTo>
                  <a:lnTo>
                    <a:pt x="145415" y="5740781"/>
                  </a:lnTo>
                  <a:lnTo>
                    <a:pt x="145415" y="5747131"/>
                  </a:lnTo>
                  <a:cubicBezTo>
                    <a:pt x="65151" y="5747131"/>
                    <a:pt x="0" y="5682107"/>
                    <a:pt x="0" y="5601843"/>
                  </a:cubicBezTo>
                  <a:lnTo>
                    <a:pt x="0" y="145288"/>
                  </a:lnTo>
                  <a:lnTo>
                    <a:pt x="6350" y="145288"/>
                  </a:lnTo>
                  <a:lnTo>
                    <a:pt x="0" y="145288"/>
                  </a:lnTo>
                  <a:moveTo>
                    <a:pt x="12700" y="145288"/>
                  </a:moveTo>
                  <a:lnTo>
                    <a:pt x="12700" y="5601843"/>
                  </a:lnTo>
                  <a:lnTo>
                    <a:pt x="6350" y="5601843"/>
                  </a:lnTo>
                  <a:lnTo>
                    <a:pt x="12700" y="5601843"/>
                  </a:lnTo>
                  <a:cubicBezTo>
                    <a:pt x="12700" y="5675122"/>
                    <a:pt x="72136" y="5734431"/>
                    <a:pt x="145415" y="5734431"/>
                  </a:cubicBezTo>
                  <a:lnTo>
                    <a:pt x="12587224" y="5734431"/>
                  </a:lnTo>
                  <a:cubicBezTo>
                    <a:pt x="12660503" y="5734431"/>
                    <a:pt x="12719939" y="5675122"/>
                    <a:pt x="12719939" y="5601843"/>
                  </a:cubicBezTo>
                  <a:lnTo>
                    <a:pt x="12719939" y="145288"/>
                  </a:lnTo>
                  <a:cubicBezTo>
                    <a:pt x="12720066" y="72009"/>
                    <a:pt x="12660630" y="12700"/>
                    <a:pt x="12587224" y="12700"/>
                  </a:cubicBezTo>
                  <a:lnTo>
                    <a:pt x="145415" y="12700"/>
                  </a:lnTo>
                  <a:lnTo>
                    <a:pt x="145415" y="6350"/>
                  </a:lnTo>
                  <a:lnTo>
                    <a:pt x="145415" y="12700"/>
                  </a:lnTo>
                  <a:cubicBezTo>
                    <a:pt x="72136" y="12700"/>
                    <a:pt x="12700" y="72009"/>
                    <a:pt x="12700" y="145288"/>
                  </a:cubicBezTo>
                  <a:close/>
                </a:path>
              </a:pathLst>
            </a:custGeom>
            <a:solidFill>
              <a:srgbClr val="000000">
                <a:alpha val="392"/>
              </a:srgbClr>
            </a:solidFill>
          </p:spPr>
        </p:sp>
      </p:grpSp>
      <p:grpSp>
        <p:nvGrpSpPr>
          <p:cNvPr id="8" name="Group 8"/>
          <p:cNvGrpSpPr/>
          <p:nvPr/>
        </p:nvGrpSpPr>
        <p:grpSpPr>
          <a:xfrm>
            <a:off x="990070" y="3468076"/>
            <a:ext cx="4432415" cy="332226"/>
            <a:chOff x="0" y="0"/>
            <a:chExt cx="12694641" cy="951509"/>
          </a:xfrm>
        </p:grpSpPr>
        <p:sp>
          <p:nvSpPr>
            <p:cNvPr id="9" name="Freeform 9"/>
            <p:cNvSpPr/>
            <p:nvPr/>
          </p:nvSpPr>
          <p:spPr>
            <a:xfrm>
              <a:off x="0" y="0"/>
              <a:ext cx="12694666" cy="951484"/>
            </a:xfrm>
            <a:custGeom>
              <a:avLst/>
              <a:gdLst/>
              <a:ahLst/>
              <a:cxnLst/>
              <a:rect l="l" t="t" r="r" b="b"/>
              <a:pathLst>
                <a:path w="12694666" h="951484">
                  <a:moveTo>
                    <a:pt x="0" y="0"/>
                  </a:moveTo>
                  <a:lnTo>
                    <a:pt x="12694666" y="0"/>
                  </a:lnTo>
                  <a:lnTo>
                    <a:pt x="12694666" y="951484"/>
                  </a:lnTo>
                  <a:lnTo>
                    <a:pt x="0" y="951484"/>
                  </a:lnTo>
                  <a:close/>
                </a:path>
              </a:pathLst>
            </a:custGeom>
            <a:solidFill>
              <a:srgbClr val="FFFFFF">
                <a:alpha val="0"/>
              </a:srgbClr>
            </a:solidFill>
          </p:spPr>
        </p:sp>
      </p:grpSp>
      <p:grpSp>
        <p:nvGrpSpPr>
          <p:cNvPr id="10" name="Group 10"/>
          <p:cNvGrpSpPr/>
          <p:nvPr/>
        </p:nvGrpSpPr>
        <p:grpSpPr>
          <a:xfrm>
            <a:off x="990070" y="3800302"/>
            <a:ext cx="4432415" cy="332226"/>
            <a:chOff x="0" y="0"/>
            <a:chExt cx="12694641" cy="951509"/>
          </a:xfrm>
        </p:grpSpPr>
        <p:sp>
          <p:nvSpPr>
            <p:cNvPr id="11" name="Freeform 11"/>
            <p:cNvSpPr/>
            <p:nvPr/>
          </p:nvSpPr>
          <p:spPr>
            <a:xfrm>
              <a:off x="0" y="0"/>
              <a:ext cx="12694666" cy="951484"/>
            </a:xfrm>
            <a:custGeom>
              <a:avLst/>
              <a:gdLst/>
              <a:ahLst/>
              <a:cxnLst/>
              <a:rect l="l" t="t" r="r" b="b"/>
              <a:pathLst>
                <a:path w="12694666" h="951484">
                  <a:moveTo>
                    <a:pt x="0" y="0"/>
                  </a:moveTo>
                  <a:lnTo>
                    <a:pt x="12694666" y="0"/>
                  </a:lnTo>
                  <a:lnTo>
                    <a:pt x="12694666" y="951484"/>
                  </a:lnTo>
                  <a:lnTo>
                    <a:pt x="0" y="951484"/>
                  </a:lnTo>
                  <a:close/>
                </a:path>
              </a:pathLst>
            </a:custGeom>
            <a:solidFill>
              <a:srgbClr val="000000">
                <a:alpha val="0"/>
              </a:srgbClr>
            </a:solidFill>
          </p:spPr>
        </p:sp>
      </p:grpSp>
      <p:grpSp>
        <p:nvGrpSpPr>
          <p:cNvPr id="12" name="Group 12"/>
          <p:cNvGrpSpPr/>
          <p:nvPr/>
        </p:nvGrpSpPr>
        <p:grpSpPr>
          <a:xfrm>
            <a:off x="990070" y="4132527"/>
            <a:ext cx="4432415" cy="332226"/>
            <a:chOff x="0" y="0"/>
            <a:chExt cx="12694641" cy="951509"/>
          </a:xfrm>
        </p:grpSpPr>
        <p:sp>
          <p:nvSpPr>
            <p:cNvPr id="13" name="Freeform 13"/>
            <p:cNvSpPr/>
            <p:nvPr/>
          </p:nvSpPr>
          <p:spPr>
            <a:xfrm>
              <a:off x="0" y="0"/>
              <a:ext cx="12694666" cy="951484"/>
            </a:xfrm>
            <a:custGeom>
              <a:avLst/>
              <a:gdLst/>
              <a:ahLst/>
              <a:cxnLst/>
              <a:rect l="l" t="t" r="r" b="b"/>
              <a:pathLst>
                <a:path w="12694666" h="951484">
                  <a:moveTo>
                    <a:pt x="0" y="0"/>
                  </a:moveTo>
                  <a:lnTo>
                    <a:pt x="12694666" y="0"/>
                  </a:lnTo>
                  <a:lnTo>
                    <a:pt x="12694666" y="951484"/>
                  </a:lnTo>
                  <a:lnTo>
                    <a:pt x="0" y="951484"/>
                  </a:lnTo>
                  <a:close/>
                </a:path>
              </a:pathLst>
            </a:custGeom>
            <a:solidFill>
              <a:srgbClr val="FFFFFF">
                <a:alpha val="0"/>
              </a:srgbClr>
            </a:solidFill>
          </p:spPr>
        </p:sp>
      </p:grpSp>
      <p:grpSp>
        <p:nvGrpSpPr>
          <p:cNvPr id="14" name="Group 14"/>
          <p:cNvGrpSpPr/>
          <p:nvPr/>
        </p:nvGrpSpPr>
        <p:grpSpPr>
          <a:xfrm>
            <a:off x="990070" y="4464753"/>
            <a:ext cx="4432415" cy="332226"/>
            <a:chOff x="0" y="0"/>
            <a:chExt cx="12694641" cy="951509"/>
          </a:xfrm>
        </p:grpSpPr>
        <p:sp>
          <p:nvSpPr>
            <p:cNvPr id="15" name="Freeform 15"/>
            <p:cNvSpPr/>
            <p:nvPr/>
          </p:nvSpPr>
          <p:spPr>
            <a:xfrm>
              <a:off x="0" y="0"/>
              <a:ext cx="12694666" cy="951484"/>
            </a:xfrm>
            <a:custGeom>
              <a:avLst/>
              <a:gdLst/>
              <a:ahLst/>
              <a:cxnLst/>
              <a:rect l="l" t="t" r="r" b="b"/>
              <a:pathLst>
                <a:path w="12694666" h="951484">
                  <a:moveTo>
                    <a:pt x="0" y="0"/>
                  </a:moveTo>
                  <a:lnTo>
                    <a:pt x="12694666" y="0"/>
                  </a:lnTo>
                  <a:lnTo>
                    <a:pt x="12694666" y="951484"/>
                  </a:lnTo>
                  <a:lnTo>
                    <a:pt x="0" y="951484"/>
                  </a:lnTo>
                  <a:close/>
                </a:path>
              </a:pathLst>
            </a:custGeom>
            <a:solidFill>
              <a:srgbClr val="000000">
                <a:alpha val="0"/>
              </a:srgbClr>
            </a:solidFill>
          </p:spPr>
        </p:sp>
      </p:grpSp>
      <p:grpSp>
        <p:nvGrpSpPr>
          <p:cNvPr id="16" name="Group 16"/>
          <p:cNvGrpSpPr/>
          <p:nvPr/>
        </p:nvGrpSpPr>
        <p:grpSpPr>
          <a:xfrm>
            <a:off x="990070" y="4796979"/>
            <a:ext cx="4432415" cy="332226"/>
            <a:chOff x="0" y="0"/>
            <a:chExt cx="12694641" cy="951509"/>
          </a:xfrm>
        </p:grpSpPr>
        <p:sp>
          <p:nvSpPr>
            <p:cNvPr id="17" name="Freeform 17"/>
            <p:cNvSpPr/>
            <p:nvPr/>
          </p:nvSpPr>
          <p:spPr>
            <a:xfrm>
              <a:off x="0" y="0"/>
              <a:ext cx="12694666" cy="951484"/>
            </a:xfrm>
            <a:custGeom>
              <a:avLst/>
              <a:gdLst/>
              <a:ahLst/>
              <a:cxnLst/>
              <a:rect l="l" t="t" r="r" b="b"/>
              <a:pathLst>
                <a:path w="12694666" h="951484">
                  <a:moveTo>
                    <a:pt x="0" y="0"/>
                  </a:moveTo>
                  <a:lnTo>
                    <a:pt x="12694666" y="0"/>
                  </a:lnTo>
                  <a:lnTo>
                    <a:pt x="12694666" y="951484"/>
                  </a:lnTo>
                  <a:lnTo>
                    <a:pt x="0" y="951484"/>
                  </a:lnTo>
                  <a:close/>
                </a:path>
              </a:pathLst>
            </a:custGeom>
            <a:solidFill>
              <a:srgbClr val="FFFFFF">
                <a:alpha val="0"/>
              </a:srgbClr>
            </a:solidFill>
          </p:spPr>
        </p:sp>
      </p:grpSp>
      <p:grpSp>
        <p:nvGrpSpPr>
          <p:cNvPr id="18" name="Group 18"/>
          <p:cNvGrpSpPr/>
          <p:nvPr/>
        </p:nvGrpSpPr>
        <p:grpSpPr>
          <a:xfrm>
            <a:off x="990070" y="5129200"/>
            <a:ext cx="4432415" cy="332226"/>
            <a:chOff x="0" y="0"/>
            <a:chExt cx="12694641" cy="951509"/>
          </a:xfrm>
        </p:grpSpPr>
        <p:sp>
          <p:nvSpPr>
            <p:cNvPr id="19" name="Freeform 19"/>
            <p:cNvSpPr/>
            <p:nvPr/>
          </p:nvSpPr>
          <p:spPr>
            <a:xfrm>
              <a:off x="0" y="0"/>
              <a:ext cx="12694666" cy="951484"/>
            </a:xfrm>
            <a:custGeom>
              <a:avLst/>
              <a:gdLst/>
              <a:ahLst/>
              <a:cxnLst/>
              <a:rect l="l" t="t" r="r" b="b"/>
              <a:pathLst>
                <a:path w="12694666" h="951484">
                  <a:moveTo>
                    <a:pt x="0" y="0"/>
                  </a:moveTo>
                  <a:lnTo>
                    <a:pt x="12694666" y="0"/>
                  </a:lnTo>
                  <a:lnTo>
                    <a:pt x="12694666" y="951484"/>
                  </a:lnTo>
                  <a:lnTo>
                    <a:pt x="0" y="951484"/>
                  </a:lnTo>
                  <a:close/>
                </a:path>
              </a:pathLst>
            </a:custGeom>
            <a:solidFill>
              <a:srgbClr val="000000">
                <a:alpha val="0"/>
              </a:srgbClr>
            </a:solidFill>
          </p:spPr>
        </p:sp>
      </p:grpSp>
      <p:sp>
        <p:nvSpPr>
          <p:cNvPr id="20" name="Freeform 20"/>
          <p:cNvSpPr/>
          <p:nvPr/>
        </p:nvSpPr>
        <p:spPr>
          <a:xfrm>
            <a:off x="10130541" y="3048097"/>
            <a:ext cx="6847780" cy="5769255"/>
          </a:xfrm>
          <a:custGeom>
            <a:avLst/>
            <a:gdLst/>
            <a:ahLst/>
            <a:cxnLst/>
            <a:rect l="l" t="t" r="r" b="b"/>
            <a:pathLst>
              <a:path w="6847780" h="5769255">
                <a:moveTo>
                  <a:pt x="0" y="0"/>
                </a:moveTo>
                <a:lnTo>
                  <a:pt x="6847781" y="0"/>
                </a:lnTo>
                <a:lnTo>
                  <a:pt x="6847781" y="5769255"/>
                </a:lnTo>
                <a:lnTo>
                  <a:pt x="0" y="5769255"/>
                </a:lnTo>
                <a:lnTo>
                  <a:pt x="0" y="0"/>
                </a:lnTo>
                <a:close/>
              </a:path>
            </a:pathLst>
          </a:custGeom>
          <a:blipFill>
            <a:blip r:embed="rId3"/>
            <a:stretch>
              <a:fillRect/>
            </a:stretch>
          </a:blipFill>
        </p:spPr>
      </p:sp>
      <p:sp>
        <p:nvSpPr>
          <p:cNvPr id="21" name="TextBox 21"/>
          <p:cNvSpPr txBox="1"/>
          <p:nvPr/>
        </p:nvSpPr>
        <p:spPr>
          <a:xfrm>
            <a:off x="992238" y="849659"/>
            <a:ext cx="16152762" cy="728982"/>
          </a:xfrm>
          <a:prstGeom prst="rect">
            <a:avLst/>
          </a:prstGeom>
        </p:spPr>
        <p:txBody>
          <a:bodyPr wrap="square" lIns="0" tIns="0" rIns="0" bIns="0" rtlCol="0" anchor="t">
            <a:spAutoFit/>
          </a:bodyPr>
          <a:lstStyle/>
          <a:p>
            <a:pPr algn="l">
              <a:lnSpc>
                <a:spcPts val="6062"/>
              </a:lnSpc>
            </a:pPr>
            <a:r>
              <a:rPr lang="en-US" sz="4875" b="1" dirty="0" err="1">
                <a:solidFill>
                  <a:srgbClr val="505468"/>
                </a:solidFill>
                <a:latin typeface="Arimo Bold"/>
                <a:ea typeface="Arimo Bold"/>
                <a:cs typeface="Arimo Bold"/>
                <a:sym typeface="Arimo Bold"/>
              </a:rPr>
              <a:t>Ejercicio</a:t>
            </a:r>
            <a:r>
              <a:rPr lang="en-US" sz="4875" b="1" dirty="0">
                <a:solidFill>
                  <a:srgbClr val="505468"/>
                </a:solidFill>
                <a:latin typeface="Arimo Bold"/>
                <a:ea typeface="Arimo Bold"/>
                <a:cs typeface="Arimo Bold"/>
                <a:sym typeface="Arimo Bold"/>
              </a:rPr>
              <a:t> 3: </a:t>
            </a:r>
            <a:r>
              <a:rPr lang="en-US" sz="4875" b="1" dirty="0" err="1">
                <a:solidFill>
                  <a:srgbClr val="505468"/>
                </a:solidFill>
                <a:latin typeface="Arimo Bold"/>
                <a:ea typeface="Arimo Bold"/>
                <a:cs typeface="Arimo Bold"/>
                <a:sym typeface="Arimo Bold"/>
              </a:rPr>
              <a:t>Construcción</a:t>
            </a:r>
            <a:r>
              <a:rPr lang="en-US" sz="4875" b="1" dirty="0">
                <a:solidFill>
                  <a:srgbClr val="505468"/>
                </a:solidFill>
                <a:latin typeface="Arimo Bold"/>
                <a:ea typeface="Arimo Bold"/>
                <a:cs typeface="Arimo Bold"/>
                <a:sym typeface="Arimo Bold"/>
              </a:rPr>
              <a:t> de </a:t>
            </a:r>
            <a:r>
              <a:rPr lang="en-US" sz="4875" b="1" dirty="0" err="1">
                <a:solidFill>
                  <a:srgbClr val="505468"/>
                </a:solidFill>
                <a:latin typeface="Arimo Bold"/>
                <a:ea typeface="Arimo Bold"/>
                <a:cs typeface="Arimo Bold"/>
                <a:sym typeface="Arimo Bold"/>
              </a:rPr>
              <a:t>tabla</a:t>
            </a:r>
            <a:r>
              <a:rPr lang="en-US" sz="4875" b="1" dirty="0">
                <a:solidFill>
                  <a:srgbClr val="505468"/>
                </a:solidFill>
                <a:latin typeface="Arimo Bold"/>
                <a:ea typeface="Arimo Bold"/>
                <a:cs typeface="Arimo Bold"/>
                <a:sym typeface="Arimo Bold"/>
              </a:rPr>
              <a:t> de tokens</a:t>
            </a:r>
          </a:p>
        </p:txBody>
      </p:sp>
      <p:sp>
        <p:nvSpPr>
          <p:cNvPr id="22" name="TextBox 22"/>
          <p:cNvSpPr txBox="1"/>
          <p:nvPr/>
        </p:nvSpPr>
        <p:spPr>
          <a:xfrm>
            <a:off x="985636" y="2263826"/>
            <a:ext cx="1732422" cy="235567"/>
          </a:xfrm>
          <a:prstGeom prst="rect">
            <a:avLst/>
          </a:prstGeom>
        </p:spPr>
        <p:txBody>
          <a:bodyPr lIns="0" tIns="0" rIns="0" bIns="0" rtlCol="0" anchor="t">
            <a:spAutoFit/>
          </a:bodyPr>
          <a:lstStyle/>
          <a:p>
            <a:pPr algn="l">
              <a:lnSpc>
                <a:spcPts val="1687"/>
              </a:lnSpc>
            </a:pPr>
            <a:r>
              <a:rPr lang="en-US" sz="1338" b="1">
                <a:solidFill>
                  <a:srgbClr val="505468"/>
                </a:solidFill>
                <a:latin typeface="Arimo Bold"/>
                <a:ea typeface="Arimo Bold"/>
                <a:cs typeface="Arimo Bold"/>
                <a:sym typeface="Arimo Bold"/>
              </a:rPr>
              <a:t>Código analizado</a:t>
            </a:r>
          </a:p>
        </p:txBody>
      </p:sp>
      <p:sp>
        <p:nvSpPr>
          <p:cNvPr id="23" name="TextBox 23"/>
          <p:cNvSpPr txBox="1"/>
          <p:nvPr/>
        </p:nvSpPr>
        <p:spPr>
          <a:xfrm>
            <a:off x="1095313" y="2658760"/>
            <a:ext cx="4221924" cy="191657"/>
          </a:xfrm>
          <a:prstGeom prst="rect">
            <a:avLst/>
          </a:prstGeom>
        </p:spPr>
        <p:txBody>
          <a:bodyPr lIns="0" tIns="0" rIns="0" bIns="0" rtlCol="0" anchor="t">
            <a:spAutoFit/>
          </a:bodyPr>
          <a:lstStyle/>
          <a:p>
            <a:pPr algn="l">
              <a:lnSpc>
                <a:spcPts val="1454"/>
              </a:lnSpc>
            </a:pPr>
            <a:r>
              <a:rPr lang="en-US" sz="901">
                <a:solidFill>
                  <a:srgbClr val="5B5F71"/>
                </a:solidFill>
                <a:latin typeface="Consolas"/>
                <a:ea typeface="Consolas"/>
                <a:cs typeface="Consolas"/>
                <a:sym typeface="Consolas"/>
              </a:rPr>
              <a:t>int edad = 25;</a:t>
            </a:r>
          </a:p>
        </p:txBody>
      </p:sp>
      <p:sp>
        <p:nvSpPr>
          <p:cNvPr id="24" name="TextBox 24"/>
          <p:cNvSpPr txBox="1"/>
          <p:nvPr/>
        </p:nvSpPr>
        <p:spPr>
          <a:xfrm>
            <a:off x="985636" y="3098164"/>
            <a:ext cx="2976764" cy="202556"/>
          </a:xfrm>
          <a:prstGeom prst="rect">
            <a:avLst/>
          </a:prstGeom>
        </p:spPr>
        <p:txBody>
          <a:bodyPr wrap="square" lIns="0" tIns="0" rIns="0" bIns="0" rtlCol="0" anchor="t">
            <a:spAutoFit/>
          </a:bodyPr>
          <a:lstStyle/>
          <a:p>
            <a:pPr algn="l">
              <a:lnSpc>
                <a:spcPts val="1687"/>
              </a:lnSpc>
            </a:pPr>
            <a:r>
              <a:rPr lang="en-US" sz="1338" b="1" dirty="0" err="1">
                <a:solidFill>
                  <a:srgbClr val="505468"/>
                </a:solidFill>
                <a:latin typeface="Arimo Bold"/>
                <a:ea typeface="Arimo Bold"/>
                <a:cs typeface="Arimo Bold"/>
                <a:sym typeface="Arimo Bold"/>
              </a:rPr>
              <a:t>Tabla</a:t>
            </a:r>
            <a:r>
              <a:rPr lang="en-US" sz="1338" b="1" dirty="0">
                <a:solidFill>
                  <a:srgbClr val="505468"/>
                </a:solidFill>
                <a:latin typeface="Arimo Bold"/>
                <a:ea typeface="Arimo Bold"/>
                <a:cs typeface="Arimo Bold"/>
                <a:sym typeface="Arimo Bold"/>
              </a:rPr>
              <a:t> de tokens </a:t>
            </a:r>
            <a:r>
              <a:rPr lang="en-US" sz="1338" b="1" dirty="0" err="1">
                <a:solidFill>
                  <a:srgbClr val="505468"/>
                </a:solidFill>
                <a:latin typeface="Arimo Bold"/>
                <a:ea typeface="Arimo Bold"/>
                <a:cs typeface="Arimo Bold"/>
                <a:sym typeface="Arimo Bold"/>
              </a:rPr>
              <a:t>generada</a:t>
            </a:r>
            <a:endParaRPr lang="en-US" sz="1338" b="1" dirty="0">
              <a:solidFill>
                <a:srgbClr val="505468"/>
              </a:solidFill>
              <a:latin typeface="Arimo Bold"/>
              <a:ea typeface="Arimo Bold"/>
              <a:cs typeface="Arimo Bold"/>
              <a:sym typeface="Arimo Bold"/>
            </a:endParaRPr>
          </a:p>
        </p:txBody>
      </p:sp>
      <p:sp>
        <p:nvSpPr>
          <p:cNvPr id="25" name="TextBox 25"/>
          <p:cNvSpPr txBox="1"/>
          <p:nvPr/>
        </p:nvSpPr>
        <p:spPr>
          <a:xfrm>
            <a:off x="1105570" y="3494171"/>
            <a:ext cx="1983097" cy="232411"/>
          </a:xfrm>
          <a:prstGeom prst="rect">
            <a:avLst/>
          </a:prstGeom>
        </p:spPr>
        <p:txBody>
          <a:bodyPr lIns="0" tIns="0" rIns="0" bIns="0" rtlCol="0" anchor="t">
            <a:spAutoFit/>
          </a:bodyPr>
          <a:lstStyle/>
          <a:p>
            <a:pPr algn="l">
              <a:lnSpc>
                <a:spcPts val="1454"/>
              </a:lnSpc>
            </a:pPr>
            <a:r>
              <a:rPr lang="en-US" sz="901" b="1">
                <a:solidFill>
                  <a:srgbClr val="5B5F71"/>
                </a:solidFill>
                <a:latin typeface="Arimo Bold"/>
                <a:ea typeface="Arimo Bold"/>
                <a:cs typeface="Arimo Bold"/>
                <a:sym typeface="Arimo Bold"/>
              </a:rPr>
              <a:t>Token</a:t>
            </a:r>
          </a:p>
        </p:txBody>
      </p:sp>
      <p:sp>
        <p:nvSpPr>
          <p:cNvPr id="26" name="TextBox 26"/>
          <p:cNvSpPr txBox="1"/>
          <p:nvPr/>
        </p:nvSpPr>
        <p:spPr>
          <a:xfrm>
            <a:off x="3323959" y="3494171"/>
            <a:ext cx="1983097" cy="232411"/>
          </a:xfrm>
          <a:prstGeom prst="rect">
            <a:avLst/>
          </a:prstGeom>
        </p:spPr>
        <p:txBody>
          <a:bodyPr lIns="0" tIns="0" rIns="0" bIns="0" rtlCol="0" anchor="t">
            <a:spAutoFit/>
          </a:bodyPr>
          <a:lstStyle/>
          <a:p>
            <a:pPr algn="l">
              <a:lnSpc>
                <a:spcPts val="1454"/>
              </a:lnSpc>
            </a:pPr>
            <a:r>
              <a:rPr lang="en-US" sz="901" b="1">
                <a:solidFill>
                  <a:srgbClr val="5B5F71"/>
                </a:solidFill>
                <a:latin typeface="Arimo Bold"/>
                <a:ea typeface="Arimo Bold"/>
                <a:cs typeface="Arimo Bold"/>
                <a:sym typeface="Arimo Bold"/>
              </a:rPr>
              <a:t>Categoría</a:t>
            </a:r>
          </a:p>
        </p:txBody>
      </p:sp>
      <p:sp>
        <p:nvSpPr>
          <p:cNvPr id="27" name="TextBox 27"/>
          <p:cNvSpPr txBox="1"/>
          <p:nvPr/>
        </p:nvSpPr>
        <p:spPr>
          <a:xfrm>
            <a:off x="1105570" y="3826397"/>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int</a:t>
            </a:r>
          </a:p>
        </p:txBody>
      </p:sp>
      <p:sp>
        <p:nvSpPr>
          <p:cNvPr id="28" name="TextBox 28"/>
          <p:cNvSpPr txBox="1"/>
          <p:nvPr/>
        </p:nvSpPr>
        <p:spPr>
          <a:xfrm>
            <a:off x="3323959" y="3826397"/>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Palabra reservada</a:t>
            </a:r>
          </a:p>
        </p:txBody>
      </p:sp>
      <p:sp>
        <p:nvSpPr>
          <p:cNvPr id="29" name="TextBox 29"/>
          <p:cNvSpPr txBox="1"/>
          <p:nvPr/>
        </p:nvSpPr>
        <p:spPr>
          <a:xfrm>
            <a:off x="1105570" y="4158622"/>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edad</a:t>
            </a:r>
          </a:p>
        </p:txBody>
      </p:sp>
      <p:sp>
        <p:nvSpPr>
          <p:cNvPr id="30" name="TextBox 30"/>
          <p:cNvSpPr txBox="1"/>
          <p:nvPr/>
        </p:nvSpPr>
        <p:spPr>
          <a:xfrm>
            <a:off x="3323959" y="4158622"/>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Identificador</a:t>
            </a:r>
          </a:p>
        </p:txBody>
      </p:sp>
      <p:sp>
        <p:nvSpPr>
          <p:cNvPr id="31" name="TextBox 31"/>
          <p:cNvSpPr txBox="1"/>
          <p:nvPr/>
        </p:nvSpPr>
        <p:spPr>
          <a:xfrm>
            <a:off x="1105570" y="4490848"/>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a:t>
            </a:r>
          </a:p>
        </p:txBody>
      </p:sp>
      <p:sp>
        <p:nvSpPr>
          <p:cNvPr id="32" name="TextBox 32"/>
          <p:cNvSpPr txBox="1"/>
          <p:nvPr/>
        </p:nvSpPr>
        <p:spPr>
          <a:xfrm>
            <a:off x="3323959" y="4490848"/>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Operador</a:t>
            </a:r>
          </a:p>
        </p:txBody>
      </p:sp>
      <p:sp>
        <p:nvSpPr>
          <p:cNvPr id="33" name="TextBox 33"/>
          <p:cNvSpPr txBox="1"/>
          <p:nvPr/>
        </p:nvSpPr>
        <p:spPr>
          <a:xfrm>
            <a:off x="1105570" y="4823074"/>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25</a:t>
            </a:r>
          </a:p>
        </p:txBody>
      </p:sp>
      <p:sp>
        <p:nvSpPr>
          <p:cNvPr id="34" name="TextBox 34"/>
          <p:cNvSpPr txBox="1"/>
          <p:nvPr/>
        </p:nvSpPr>
        <p:spPr>
          <a:xfrm>
            <a:off x="3323959" y="4823074"/>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Número</a:t>
            </a:r>
          </a:p>
        </p:txBody>
      </p:sp>
      <p:sp>
        <p:nvSpPr>
          <p:cNvPr id="35" name="TextBox 35"/>
          <p:cNvSpPr txBox="1"/>
          <p:nvPr/>
        </p:nvSpPr>
        <p:spPr>
          <a:xfrm>
            <a:off x="1105570" y="5155299"/>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a:t>
            </a:r>
          </a:p>
        </p:txBody>
      </p:sp>
      <p:sp>
        <p:nvSpPr>
          <p:cNvPr id="36" name="TextBox 36"/>
          <p:cNvSpPr txBox="1"/>
          <p:nvPr/>
        </p:nvSpPr>
        <p:spPr>
          <a:xfrm>
            <a:off x="3323959" y="5155299"/>
            <a:ext cx="1983097" cy="232411"/>
          </a:xfrm>
          <a:prstGeom prst="rect">
            <a:avLst/>
          </a:prstGeom>
        </p:spPr>
        <p:txBody>
          <a:bodyPr lIns="0" tIns="0" rIns="0" bIns="0" rtlCol="0" anchor="t">
            <a:spAutoFit/>
          </a:bodyPr>
          <a:lstStyle/>
          <a:p>
            <a:pPr algn="l">
              <a:lnSpc>
                <a:spcPts val="1454"/>
              </a:lnSpc>
            </a:pPr>
            <a:r>
              <a:rPr lang="en-US" sz="901">
                <a:solidFill>
                  <a:srgbClr val="5B5F71"/>
                </a:solidFill>
                <a:latin typeface="Arimo"/>
                <a:ea typeface="Arimo"/>
                <a:cs typeface="Arimo"/>
                <a:sym typeface="Arimo"/>
              </a:rPr>
              <a:t>Delimitador</a:t>
            </a:r>
          </a:p>
        </p:txBody>
      </p:sp>
      <p:sp>
        <p:nvSpPr>
          <p:cNvPr id="37" name="TextBox 37"/>
          <p:cNvSpPr txBox="1"/>
          <p:nvPr/>
        </p:nvSpPr>
        <p:spPr>
          <a:xfrm>
            <a:off x="979884" y="6171080"/>
            <a:ext cx="2472770" cy="337621"/>
          </a:xfrm>
          <a:prstGeom prst="rect">
            <a:avLst/>
          </a:prstGeom>
        </p:spPr>
        <p:txBody>
          <a:bodyPr lIns="0" tIns="0" rIns="0" bIns="0" rtlCol="0" anchor="t">
            <a:spAutoFit/>
          </a:bodyPr>
          <a:lstStyle/>
          <a:p>
            <a:pPr algn="l">
              <a:lnSpc>
                <a:spcPts val="2408"/>
              </a:lnSpc>
            </a:pPr>
            <a:r>
              <a:rPr lang="en-US" sz="1910" b="1">
                <a:solidFill>
                  <a:srgbClr val="505468"/>
                </a:solidFill>
                <a:latin typeface="Arimo Bold"/>
                <a:ea typeface="Arimo Bold"/>
                <a:cs typeface="Arimo Bold"/>
                <a:sym typeface="Arimo Bold"/>
              </a:rPr>
              <a:t>Explicación</a:t>
            </a:r>
          </a:p>
        </p:txBody>
      </p:sp>
      <p:sp>
        <p:nvSpPr>
          <p:cNvPr id="38" name="TextBox 38"/>
          <p:cNvSpPr txBox="1"/>
          <p:nvPr/>
        </p:nvSpPr>
        <p:spPr>
          <a:xfrm>
            <a:off x="979884" y="6606783"/>
            <a:ext cx="7791757" cy="3632312"/>
          </a:xfrm>
          <a:prstGeom prst="rect">
            <a:avLst/>
          </a:prstGeom>
        </p:spPr>
        <p:txBody>
          <a:bodyPr lIns="0" tIns="0" rIns="0" bIns="0" rtlCol="0" anchor="t">
            <a:spAutoFit/>
          </a:bodyPr>
          <a:lstStyle/>
          <a:p>
            <a:pPr algn="l">
              <a:lnSpc>
                <a:spcPts val="2075"/>
              </a:lnSpc>
            </a:pPr>
            <a:r>
              <a:rPr lang="en-US" sz="1287">
                <a:solidFill>
                  <a:srgbClr val="5B5F71"/>
                </a:solidFill>
                <a:latin typeface="Arimo"/>
                <a:ea typeface="Arimo"/>
                <a:cs typeface="Arimo"/>
                <a:sym typeface="Arimo"/>
              </a:rPr>
              <a:t>En este ejercicio se utilizó el fragmento de código int edad = 25; para analizar los diferentes tokens que lo componen. El analizador léxico toma el código escrito y lo divide en pequeñas partes llamadas tokens, identificando qué tipo de elemento representa cada uno.</a:t>
            </a:r>
          </a:p>
          <a:p>
            <a:pPr algn="l">
              <a:lnSpc>
                <a:spcPts val="2075"/>
              </a:lnSpc>
            </a:pPr>
            <a:endParaRPr lang="en-US" sz="1287">
              <a:solidFill>
                <a:srgbClr val="5B5F71"/>
              </a:solidFill>
              <a:latin typeface="Arimo"/>
              <a:ea typeface="Arimo"/>
              <a:cs typeface="Arimo"/>
              <a:sym typeface="Arimo"/>
            </a:endParaRPr>
          </a:p>
          <a:p>
            <a:pPr algn="l">
              <a:lnSpc>
                <a:spcPts val="2075"/>
              </a:lnSpc>
            </a:pPr>
            <a:r>
              <a:rPr lang="en-US" sz="1287">
                <a:solidFill>
                  <a:srgbClr val="5B5F71"/>
                </a:solidFill>
                <a:latin typeface="Arimo"/>
                <a:ea typeface="Arimo"/>
                <a:cs typeface="Arimo"/>
                <a:sym typeface="Arimo"/>
              </a:rPr>
              <a:t>En este caso, la palabra int es reconocida como una palabra reservada del lenguaje, ya que se utiliza para declarar variables de tipo entero. La palabra edad corresponde a un identificador, porque es el nombre que el programador asigna a la variable. El símbolo = se identifica como un operador de asignación, el número 25 es reconocido como un valor numérico y finalmente el símbolo ; funciona como delimitador que indica el final de la instrucción.</a:t>
            </a:r>
          </a:p>
          <a:p>
            <a:pPr algn="l">
              <a:lnSpc>
                <a:spcPts val="2075"/>
              </a:lnSpc>
            </a:pPr>
            <a:endParaRPr lang="en-US" sz="1287">
              <a:solidFill>
                <a:srgbClr val="5B5F71"/>
              </a:solidFill>
              <a:latin typeface="Arimo"/>
              <a:ea typeface="Arimo"/>
              <a:cs typeface="Arimo"/>
              <a:sym typeface="Arimo"/>
            </a:endParaRPr>
          </a:p>
          <a:p>
            <a:pPr algn="l">
              <a:lnSpc>
                <a:spcPts val="2075"/>
              </a:lnSpc>
            </a:pPr>
            <a:r>
              <a:rPr lang="en-US" sz="1287">
                <a:solidFill>
                  <a:srgbClr val="5B5F71"/>
                </a:solidFill>
                <a:latin typeface="Arimo"/>
                <a:ea typeface="Arimo"/>
                <a:cs typeface="Arimo"/>
                <a:sym typeface="Arimo"/>
              </a:rPr>
              <a:t>Este proceso permite que el compilador comprenda la estructura básica del código antes de continuar con las siguientes fases de análisis.</a:t>
            </a:r>
          </a:p>
          <a:p>
            <a:pPr algn="l">
              <a:lnSpc>
                <a:spcPts val="2076"/>
              </a:lnSpc>
            </a:pPr>
            <a:endParaRPr lang="en-US" sz="1287">
              <a:solidFill>
                <a:srgbClr val="5B5F71"/>
              </a:solidFill>
              <a:latin typeface="Arimo"/>
              <a:ea typeface="Arimo"/>
              <a:cs typeface="Arimo"/>
              <a:sym typeface="Arimo"/>
            </a:endParaRPr>
          </a:p>
          <a:p>
            <a:pPr algn="l">
              <a:lnSpc>
                <a:spcPts val="2075"/>
              </a:lnSpc>
            </a:pPr>
            <a:endParaRPr lang="en-US" sz="1287">
              <a:solidFill>
                <a:srgbClr val="5B5F71"/>
              </a:solidFill>
              <a:latin typeface="Arimo"/>
              <a:ea typeface="Arimo"/>
              <a:cs typeface="Arimo"/>
              <a:sym typeface="Arim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69899" y="2467718"/>
            <a:ext cx="9690202" cy="2650779"/>
            <a:chOff x="0" y="0"/>
            <a:chExt cx="12920269" cy="3534372"/>
          </a:xfrm>
        </p:grpSpPr>
        <p:sp>
          <p:nvSpPr>
            <p:cNvPr id="3" name="Freeform 3"/>
            <p:cNvSpPr/>
            <p:nvPr/>
          </p:nvSpPr>
          <p:spPr>
            <a:xfrm>
              <a:off x="19050" y="19050"/>
              <a:ext cx="12881991" cy="3496310"/>
            </a:xfrm>
            <a:custGeom>
              <a:avLst/>
              <a:gdLst/>
              <a:ahLst/>
              <a:cxnLst/>
              <a:rect l="l" t="t" r="r" b="b"/>
              <a:pathLst>
                <a:path w="12881991" h="3496310">
                  <a:moveTo>
                    <a:pt x="0" y="182880"/>
                  </a:moveTo>
                  <a:cubicBezTo>
                    <a:pt x="0" y="81915"/>
                    <a:pt x="82550" y="0"/>
                    <a:pt x="184277" y="0"/>
                  </a:cubicBezTo>
                  <a:lnTo>
                    <a:pt x="12697714" y="0"/>
                  </a:lnTo>
                  <a:cubicBezTo>
                    <a:pt x="12799568" y="0"/>
                    <a:pt x="12881991" y="81915"/>
                    <a:pt x="12881991" y="182880"/>
                  </a:cubicBezTo>
                  <a:lnTo>
                    <a:pt x="12881991" y="3313430"/>
                  </a:lnTo>
                  <a:cubicBezTo>
                    <a:pt x="12881991" y="3414395"/>
                    <a:pt x="12799441" y="3496310"/>
                    <a:pt x="12697714" y="3496310"/>
                  </a:cubicBezTo>
                  <a:lnTo>
                    <a:pt x="184277" y="3496310"/>
                  </a:lnTo>
                  <a:cubicBezTo>
                    <a:pt x="82550" y="3496310"/>
                    <a:pt x="0" y="3414395"/>
                    <a:pt x="0" y="3313430"/>
                  </a:cubicBezTo>
                  <a:close/>
                </a:path>
              </a:pathLst>
            </a:custGeom>
            <a:solidFill>
              <a:srgbClr val="FFFFFF">
                <a:alpha val="90196"/>
              </a:srgbClr>
            </a:solidFill>
          </p:spPr>
        </p:sp>
        <p:sp>
          <p:nvSpPr>
            <p:cNvPr id="4" name="Freeform 4"/>
            <p:cNvSpPr/>
            <p:nvPr/>
          </p:nvSpPr>
          <p:spPr>
            <a:xfrm>
              <a:off x="0" y="0"/>
              <a:ext cx="12920091" cy="3534410"/>
            </a:xfrm>
            <a:custGeom>
              <a:avLst/>
              <a:gdLst/>
              <a:ahLst/>
              <a:cxnLst/>
              <a:rect l="l" t="t" r="r" b="b"/>
              <a:pathLst>
                <a:path w="12920091" h="3534410">
                  <a:moveTo>
                    <a:pt x="0" y="201930"/>
                  </a:moveTo>
                  <a:cubicBezTo>
                    <a:pt x="0" y="90297"/>
                    <a:pt x="91186" y="0"/>
                    <a:pt x="203327" y="0"/>
                  </a:cubicBezTo>
                  <a:lnTo>
                    <a:pt x="12716764" y="0"/>
                  </a:lnTo>
                  <a:lnTo>
                    <a:pt x="12716764" y="19050"/>
                  </a:lnTo>
                  <a:lnTo>
                    <a:pt x="12716764" y="0"/>
                  </a:lnTo>
                  <a:cubicBezTo>
                    <a:pt x="12828905" y="0"/>
                    <a:pt x="12920091" y="90297"/>
                    <a:pt x="12920091" y="201930"/>
                  </a:cubicBezTo>
                  <a:lnTo>
                    <a:pt x="12901041" y="201930"/>
                  </a:lnTo>
                  <a:lnTo>
                    <a:pt x="12920091" y="201930"/>
                  </a:lnTo>
                  <a:lnTo>
                    <a:pt x="12920091" y="3332480"/>
                  </a:lnTo>
                  <a:lnTo>
                    <a:pt x="12901041" y="3332480"/>
                  </a:lnTo>
                  <a:lnTo>
                    <a:pt x="12920091" y="3332480"/>
                  </a:lnTo>
                  <a:cubicBezTo>
                    <a:pt x="12920091" y="3444113"/>
                    <a:pt x="12828905" y="3534410"/>
                    <a:pt x="12716764" y="3534410"/>
                  </a:cubicBezTo>
                  <a:lnTo>
                    <a:pt x="12716764" y="3515360"/>
                  </a:lnTo>
                  <a:lnTo>
                    <a:pt x="12716764" y="3534410"/>
                  </a:lnTo>
                  <a:lnTo>
                    <a:pt x="203327" y="3534410"/>
                  </a:lnTo>
                  <a:lnTo>
                    <a:pt x="203327" y="3515360"/>
                  </a:lnTo>
                  <a:lnTo>
                    <a:pt x="203327" y="3534410"/>
                  </a:lnTo>
                  <a:cubicBezTo>
                    <a:pt x="91186" y="3534410"/>
                    <a:pt x="0" y="3444113"/>
                    <a:pt x="0" y="3332480"/>
                  </a:cubicBezTo>
                  <a:lnTo>
                    <a:pt x="0" y="201930"/>
                  </a:lnTo>
                  <a:lnTo>
                    <a:pt x="19050" y="201930"/>
                  </a:lnTo>
                  <a:lnTo>
                    <a:pt x="0" y="201930"/>
                  </a:lnTo>
                  <a:moveTo>
                    <a:pt x="38100" y="201930"/>
                  </a:moveTo>
                  <a:lnTo>
                    <a:pt x="38100" y="3332480"/>
                  </a:lnTo>
                  <a:lnTo>
                    <a:pt x="19050" y="3332480"/>
                  </a:lnTo>
                  <a:lnTo>
                    <a:pt x="38100" y="3332480"/>
                  </a:lnTo>
                  <a:cubicBezTo>
                    <a:pt x="38100" y="3422777"/>
                    <a:pt x="112014" y="3496310"/>
                    <a:pt x="203327" y="3496310"/>
                  </a:cubicBezTo>
                  <a:lnTo>
                    <a:pt x="12716764" y="3496310"/>
                  </a:lnTo>
                  <a:cubicBezTo>
                    <a:pt x="12808204" y="3496310"/>
                    <a:pt x="12881991" y="3422777"/>
                    <a:pt x="12881991" y="3332480"/>
                  </a:cubicBezTo>
                  <a:lnTo>
                    <a:pt x="12881991" y="201930"/>
                  </a:lnTo>
                  <a:cubicBezTo>
                    <a:pt x="12881991" y="111633"/>
                    <a:pt x="12808077" y="38100"/>
                    <a:pt x="12716764" y="38100"/>
                  </a:cubicBezTo>
                  <a:lnTo>
                    <a:pt x="203327" y="38100"/>
                  </a:lnTo>
                  <a:lnTo>
                    <a:pt x="203327" y="19050"/>
                  </a:lnTo>
                  <a:lnTo>
                    <a:pt x="203327" y="38100"/>
                  </a:lnTo>
                  <a:cubicBezTo>
                    <a:pt x="112014" y="38100"/>
                    <a:pt x="38100" y="111633"/>
                    <a:pt x="38100" y="201930"/>
                  </a:cubicBezTo>
                  <a:close/>
                </a:path>
              </a:pathLst>
            </a:custGeom>
            <a:solidFill>
              <a:srgbClr val="C8C9CF"/>
            </a:solidFill>
          </p:spPr>
        </p:sp>
      </p:grpSp>
      <p:grpSp>
        <p:nvGrpSpPr>
          <p:cNvPr id="5" name="Group 5"/>
          <p:cNvGrpSpPr/>
          <p:nvPr/>
        </p:nvGrpSpPr>
        <p:grpSpPr>
          <a:xfrm>
            <a:off x="855612" y="2482005"/>
            <a:ext cx="114300" cy="2622204"/>
            <a:chOff x="0" y="0"/>
            <a:chExt cx="152400" cy="3496272"/>
          </a:xfrm>
        </p:grpSpPr>
        <p:sp>
          <p:nvSpPr>
            <p:cNvPr id="6" name="Freeform 6" descr="preencoded.png"/>
            <p:cNvSpPr/>
            <p:nvPr/>
          </p:nvSpPr>
          <p:spPr>
            <a:xfrm>
              <a:off x="0" y="0"/>
              <a:ext cx="152400" cy="3496310"/>
            </a:xfrm>
            <a:custGeom>
              <a:avLst/>
              <a:gdLst/>
              <a:ahLst/>
              <a:cxnLst/>
              <a:rect l="l" t="t" r="r" b="b"/>
              <a:pathLst>
                <a:path w="152400" h="3496310">
                  <a:moveTo>
                    <a:pt x="0" y="0"/>
                  </a:moveTo>
                  <a:lnTo>
                    <a:pt x="152400" y="0"/>
                  </a:lnTo>
                  <a:lnTo>
                    <a:pt x="152400" y="3496310"/>
                  </a:lnTo>
                  <a:lnTo>
                    <a:pt x="0" y="3496310"/>
                  </a:lnTo>
                  <a:lnTo>
                    <a:pt x="0" y="0"/>
                  </a:lnTo>
                  <a:close/>
                </a:path>
              </a:pathLst>
            </a:custGeom>
            <a:blipFill>
              <a:blip r:embed="rId3"/>
              <a:stretch>
                <a:fillRect l="-50" r="-58" b="1"/>
              </a:stretch>
            </a:blipFill>
          </p:spPr>
        </p:sp>
      </p:grpSp>
      <p:grpSp>
        <p:nvGrpSpPr>
          <p:cNvPr id="7" name="Group 7"/>
          <p:cNvGrpSpPr/>
          <p:nvPr/>
        </p:nvGrpSpPr>
        <p:grpSpPr>
          <a:xfrm>
            <a:off x="1219495" y="3298622"/>
            <a:ext cx="9076734" cy="665855"/>
            <a:chOff x="0" y="0"/>
            <a:chExt cx="12102313" cy="887806"/>
          </a:xfrm>
        </p:grpSpPr>
        <p:sp>
          <p:nvSpPr>
            <p:cNvPr id="8" name="Freeform 8"/>
            <p:cNvSpPr/>
            <p:nvPr/>
          </p:nvSpPr>
          <p:spPr>
            <a:xfrm>
              <a:off x="0" y="0"/>
              <a:ext cx="12102338" cy="887857"/>
            </a:xfrm>
            <a:custGeom>
              <a:avLst/>
              <a:gdLst/>
              <a:ahLst/>
              <a:cxnLst/>
              <a:rect l="l" t="t" r="r" b="b"/>
              <a:pathLst>
                <a:path w="12102338" h="887857">
                  <a:moveTo>
                    <a:pt x="0" y="123825"/>
                  </a:moveTo>
                  <a:cubicBezTo>
                    <a:pt x="0" y="55372"/>
                    <a:pt x="55372" y="0"/>
                    <a:pt x="123825" y="0"/>
                  </a:cubicBezTo>
                  <a:lnTo>
                    <a:pt x="11978513" y="0"/>
                  </a:lnTo>
                  <a:cubicBezTo>
                    <a:pt x="12046839" y="0"/>
                    <a:pt x="12102338" y="55372"/>
                    <a:pt x="12102338" y="123825"/>
                  </a:cubicBezTo>
                  <a:lnTo>
                    <a:pt x="12102338" y="764032"/>
                  </a:lnTo>
                  <a:cubicBezTo>
                    <a:pt x="12102338" y="832358"/>
                    <a:pt x="12046966" y="887857"/>
                    <a:pt x="11978513" y="887857"/>
                  </a:cubicBezTo>
                  <a:lnTo>
                    <a:pt x="123825" y="887857"/>
                  </a:lnTo>
                  <a:cubicBezTo>
                    <a:pt x="55372" y="887857"/>
                    <a:pt x="0" y="832358"/>
                    <a:pt x="0" y="764032"/>
                  </a:cubicBezTo>
                  <a:close/>
                </a:path>
              </a:pathLst>
            </a:custGeom>
            <a:solidFill>
              <a:srgbClr val="F2F2F2"/>
            </a:solidFill>
          </p:spPr>
        </p:sp>
      </p:grpSp>
      <p:grpSp>
        <p:nvGrpSpPr>
          <p:cNvPr id="9" name="Group 9"/>
          <p:cNvGrpSpPr/>
          <p:nvPr/>
        </p:nvGrpSpPr>
        <p:grpSpPr>
          <a:xfrm>
            <a:off x="1208484" y="3298622"/>
            <a:ext cx="9098756" cy="665855"/>
            <a:chOff x="0" y="0"/>
            <a:chExt cx="12131675" cy="887806"/>
          </a:xfrm>
        </p:grpSpPr>
        <p:sp>
          <p:nvSpPr>
            <p:cNvPr id="10" name="Freeform 10"/>
            <p:cNvSpPr/>
            <p:nvPr/>
          </p:nvSpPr>
          <p:spPr>
            <a:xfrm>
              <a:off x="0" y="0"/>
              <a:ext cx="12131675" cy="887731"/>
            </a:xfrm>
            <a:custGeom>
              <a:avLst/>
              <a:gdLst/>
              <a:ahLst/>
              <a:cxnLst/>
              <a:rect l="l" t="t" r="r" b="b"/>
              <a:pathLst>
                <a:path w="12131675" h="887731">
                  <a:moveTo>
                    <a:pt x="0" y="44196"/>
                  </a:moveTo>
                  <a:cubicBezTo>
                    <a:pt x="0" y="19812"/>
                    <a:pt x="19812" y="0"/>
                    <a:pt x="44196" y="0"/>
                  </a:cubicBezTo>
                  <a:lnTo>
                    <a:pt x="12087479" y="0"/>
                  </a:lnTo>
                  <a:cubicBezTo>
                    <a:pt x="12111863" y="0"/>
                    <a:pt x="12131675" y="19812"/>
                    <a:pt x="12131675" y="44196"/>
                  </a:cubicBezTo>
                  <a:lnTo>
                    <a:pt x="12131675" y="843534"/>
                  </a:lnTo>
                  <a:cubicBezTo>
                    <a:pt x="12131675" y="867918"/>
                    <a:pt x="12111863" y="887730"/>
                    <a:pt x="12087479" y="887730"/>
                  </a:cubicBezTo>
                  <a:lnTo>
                    <a:pt x="44196" y="887730"/>
                  </a:lnTo>
                  <a:cubicBezTo>
                    <a:pt x="19812" y="887857"/>
                    <a:pt x="0" y="868045"/>
                    <a:pt x="0" y="843534"/>
                  </a:cubicBezTo>
                  <a:close/>
                </a:path>
              </a:pathLst>
            </a:custGeom>
            <a:solidFill>
              <a:srgbClr val="F2F2F2"/>
            </a:solidFill>
          </p:spPr>
        </p:sp>
      </p:grpSp>
      <p:grpSp>
        <p:nvGrpSpPr>
          <p:cNvPr id="11" name="Group 11"/>
          <p:cNvGrpSpPr/>
          <p:nvPr/>
        </p:nvGrpSpPr>
        <p:grpSpPr>
          <a:xfrm>
            <a:off x="869899" y="5286823"/>
            <a:ext cx="9690202" cy="2650779"/>
            <a:chOff x="0" y="0"/>
            <a:chExt cx="12920269" cy="3534372"/>
          </a:xfrm>
        </p:grpSpPr>
        <p:sp>
          <p:nvSpPr>
            <p:cNvPr id="12" name="Freeform 12"/>
            <p:cNvSpPr/>
            <p:nvPr/>
          </p:nvSpPr>
          <p:spPr>
            <a:xfrm>
              <a:off x="19050" y="19050"/>
              <a:ext cx="12881991" cy="3496310"/>
            </a:xfrm>
            <a:custGeom>
              <a:avLst/>
              <a:gdLst/>
              <a:ahLst/>
              <a:cxnLst/>
              <a:rect l="l" t="t" r="r" b="b"/>
              <a:pathLst>
                <a:path w="12881991" h="3496310">
                  <a:moveTo>
                    <a:pt x="0" y="182880"/>
                  </a:moveTo>
                  <a:cubicBezTo>
                    <a:pt x="0" y="81915"/>
                    <a:pt x="82550" y="0"/>
                    <a:pt x="184277" y="0"/>
                  </a:cubicBezTo>
                  <a:lnTo>
                    <a:pt x="12697714" y="0"/>
                  </a:lnTo>
                  <a:cubicBezTo>
                    <a:pt x="12799568" y="0"/>
                    <a:pt x="12881991" y="81915"/>
                    <a:pt x="12881991" y="182880"/>
                  </a:cubicBezTo>
                  <a:lnTo>
                    <a:pt x="12881991" y="3313430"/>
                  </a:lnTo>
                  <a:cubicBezTo>
                    <a:pt x="12881991" y="3414395"/>
                    <a:pt x="12799441" y="3496310"/>
                    <a:pt x="12697714" y="3496310"/>
                  </a:cubicBezTo>
                  <a:lnTo>
                    <a:pt x="184277" y="3496310"/>
                  </a:lnTo>
                  <a:cubicBezTo>
                    <a:pt x="82550" y="3496310"/>
                    <a:pt x="0" y="3414395"/>
                    <a:pt x="0" y="3313430"/>
                  </a:cubicBezTo>
                  <a:close/>
                </a:path>
              </a:pathLst>
            </a:custGeom>
            <a:solidFill>
              <a:srgbClr val="FFFFFF">
                <a:alpha val="90196"/>
              </a:srgbClr>
            </a:solidFill>
          </p:spPr>
        </p:sp>
        <p:sp>
          <p:nvSpPr>
            <p:cNvPr id="13" name="Freeform 13"/>
            <p:cNvSpPr/>
            <p:nvPr/>
          </p:nvSpPr>
          <p:spPr>
            <a:xfrm>
              <a:off x="0" y="0"/>
              <a:ext cx="12920091" cy="3534410"/>
            </a:xfrm>
            <a:custGeom>
              <a:avLst/>
              <a:gdLst/>
              <a:ahLst/>
              <a:cxnLst/>
              <a:rect l="l" t="t" r="r" b="b"/>
              <a:pathLst>
                <a:path w="12920091" h="3534410">
                  <a:moveTo>
                    <a:pt x="0" y="201930"/>
                  </a:moveTo>
                  <a:cubicBezTo>
                    <a:pt x="0" y="90297"/>
                    <a:pt x="91186" y="0"/>
                    <a:pt x="203327" y="0"/>
                  </a:cubicBezTo>
                  <a:lnTo>
                    <a:pt x="12716764" y="0"/>
                  </a:lnTo>
                  <a:lnTo>
                    <a:pt x="12716764" y="19050"/>
                  </a:lnTo>
                  <a:lnTo>
                    <a:pt x="12716764" y="0"/>
                  </a:lnTo>
                  <a:cubicBezTo>
                    <a:pt x="12828905" y="0"/>
                    <a:pt x="12920091" y="90297"/>
                    <a:pt x="12920091" y="201930"/>
                  </a:cubicBezTo>
                  <a:lnTo>
                    <a:pt x="12901041" y="201930"/>
                  </a:lnTo>
                  <a:lnTo>
                    <a:pt x="12920091" y="201930"/>
                  </a:lnTo>
                  <a:lnTo>
                    <a:pt x="12920091" y="3332480"/>
                  </a:lnTo>
                  <a:lnTo>
                    <a:pt x="12901041" y="3332480"/>
                  </a:lnTo>
                  <a:lnTo>
                    <a:pt x="12920091" y="3332480"/>
                  </a:lnTo>
                  <a:cubicBezTo>
                    <a:pt x="12920091" y="3444113"/>
                    <a:pt x="12828905" y="3534410"/>
                    <a:pt x="12716764" y="3534410"/>
                  </a:cubicBezTo>
                  <a:lnTo>
                    <a:pt x="12716764" y="3515360"/>
                  </a:lnTo>
                  <a:lnTo>
                    <a:pt x="12716764" y="3534410"/>
                  </a:lnTo>
                  <a:lnTo>
                    <a:pt x="203327" y="3534410"/>
                  </a:lnTo>
                  <a:lnTo>
                    <a:pt x="203327" y="3515360"/>
                  </a:lnTo>
                  <a:lnTo>
                    <a:pt x="203327" y="3534410"/>
                  </a:lnTo>
                  <a:cubicBezTo>
                    <a:pt x="91186" y="3534410"/>
                    <a:pt x="0" y="3444113"/>
                    <a:pt x="0" y="3332480"/>
                  </a:cubicBezTo>
                  <a:lnTo>
                    <a:pt x="0" y="201930"/>
                  </a:lnTo>
                  <a:lnTo>
                    <a:pt x="19050" y="201930"/>
                  </a:lnTo>
                  <a:lnTo>
                    <a:pt x="0" y="201930"/>
                  </a:lnTo>
                  <a:moveTo>
                    <a:pt x="38100" y="201930"/>
                  </a:moveTo>
                  <a:lnTo>
                    <a:pt x="38100" y="3332480"/>
                  </a:lnTo>
                  <a:lnTo>
                    <a:pt x="19050" y="3332480"/>
                  </a:lnTo>
                  <a:lnTo>
                    <a:pt x="38100" y="3332480"/>
                  </a:lnTo>
                  <a:cubicBezTo>
                    <a:pt x="38100" y="3422777"/>
                    <a:pt x="112014" y="3496310"/>
                    <a:pt x="203327" y="3496310"/>
                  </a:cubicBezTo>
                  <a:lnTo>
                    <a:pt x="12716764" y="3496310"/>
                  </a:lnTo>
                  <a:cubicBezTo>
                    <a:pt x="12808204" y="3496310"/>
                    <a:pt x="12881991" y="3422777"/>
                    <a:pt x="12881991" y="3332480"/>
                  </a:cubicBezTo>
                  <a:lnTo>
                    <a:pt x="12881991" y="201930"/>
                  </a:lnTo>
                  <a:cubicBezTo>
                    <a:pt x="12881991" y="111633"/>
                    <a:pt x="12808077" y="38100"/>
                    <a:pt x="12716764" y="38100"/>
                  </a:cubicBezTo>
                  <a:lnTo>
                    <a:pt x="203327" y="38100"/>
                  </a:lnTo>
                  <a:lnTo>
                    <a:pt x="203327" y="19050"/>
                  </a:lnTo>
                  <a:lnTo>
                    <a:pt x="203327" y="38100"/>
                  </a:lnTo>
                  <a:cubicBezTo>
                    <a:pt x="112014" y="38100"/>
                    <a:pt x="38100" y="111633"/>
                    <a:pt x="38100" y="201930"/>
                  </a:cubicBezTo>
                  <a:close/>
                </a:path>
              </a:pathLst>
            </a:custGeom>
            <a:solidFill>
              <a:srgbClr val="C8C9CF"/>
            </a:solidFill>
          </p:spPr>
        </p:sp>
      </p:grpSp>
      <p:grpSp>
        <p:nvGrpSpPr>
          <p:cNvPr id="14" name="Group 14"/>
          <p:cNvGrpSpPr/>
          <p:nvPr/>
        </p:nvGrpSpPr>
        <p:grpSpPr>
          <a:xfrm>
            <a:off x="855612" y="5301110"/>
            <a:ext cx="114300" cy="2622204"/>
            <a:chOff x="0" y="0"/>
            <a:chExt cx="152400" cy="3496272"/>
          </a:xfrm>
        </p:grpSpPr>
        <p:sp>
          <p:nvSpPr>
            <p:cNvPr id="15" name="Freeform 15" descr="preencoded.png"/>
            <p:cNvSpPr/>
            <p:nvPr/>
          </p:nvSpPr>
          <p:spPr>
            <a:xfrm>
              <a:off x="0" y="0"/>
              <a:ext cx="152400" cy="3496310"/>
            </a:xfrm>
            <a:custGeom>
              <a:avLst/>
              <a:gdLst/>
              <a:ahLst/>
              <a:cxnLst/>
              <a:rect l="l" t="t" r="r" b="b"/>
              <a:pathLst>
                <a:path w="152400" h="3496310">
                  <a:moveTo>
                    <a:pt x="0" y="0"/>
                  </a:moveTo>
                  <a:lnTo>
                    <a:pt x="152400" y="0"/>
                  </a:lnTo>
                  <a:lnTo>
                    <a:pt x="152400" y="3496310"/>
                  </a:lnTo>
                  <a:lnTo>
                    <a:pt x="0" y="3496310"/>
                  </a:lnTo>
                  <a:lnTo>
                    <a:pt x="0" y="0"/>
                  </a:lnTo>
                  <a:close/>
                </a:path>
              </a:pathLst>
            </a:custGeom>
            <a:blipFill>
              <a:blip r:embed="rId3"/>
              <a:stretch>
                <a:fillRect l="-50" r="-58" b="1"/>
              </a:stretch>
            </a:blipFill>
          </p:spPr>
        </p:sp>
      </p:grpSp>
      <p:grpSp>
        <p:nvGrpSpPr>
          <p:cNvPr id="16" name="Group 16"/>
          <p:cNvGrpSpPr/>
          <p:nvPr/>
        </p:nvGrpSpPr>
        <p:grpSpPr>
          <a:xfrm>
            <a:off x="1219495" y="6117727"/>
            <a:ext cx="9076734" cy="665855"/>
            <a:chOff x="0" y="0"/>
            <a:chExt cx="12102313" cy="887806"/>
          </a:xfrm>
        </p:grpSpPr>
        <p:sp>
          <p:nvSpPr>
            <p:cNvPr id="17" name="Freeform 17"/>
            <p:cNvSpPr/>
            <p:nvPr/>
          </p:nvSpPr>
          <p:spPr>
            <a:xfrm>
              <a:off x="0" y="0"/>
              <a:ext cx="12102338" cy="887857"/>
            </a:xfrm>
            <a:custGeom>
              <a:avLst/>
              <a:gdLst/>
              <a:ahLst/>
              <a:cxnLst/>
              <a:rect l="l" t="t" r="r" b="b"/>
              <a:pathLst>
                <a:path w="12102338" h="887857">
                  <a:moveTo>
                    <a:pt x="0" y="123825"/>
                  </a:moveTo>
                  <a:cubicBezTo>
                    <a:pt x="0" y="55372"/>
                    <a:pt x="55372" y="0"/>
                    <a:pt x="123825" y="0"/>
                  </a:cubicBezTo>
                  <a:lnTo>
                    <a:pt x="11978513" y="0"/>
                  </a:lnTo>
                  <a:cubicBezTo>
                    <a:pt x="12046839" y="0"/>
                    <a:pt x="12102338" y="55372"/>
                    <a:pt x="12102338" y="123825"/>
                  </a:cubicBezTo>
                  <a:lnTo>
                    <a:pt x="12102338" y="764032"/>
                  </a:lnTo>
                  <a:cubicBezTo>
                    <a:pt x="12102338" y="832358"/>
                    <a:pt x="12046966" y="887857"/>
                    <a:pt x="11978513" y="887857"/>
                  </a:cubicBezTo>
                  <a:lnTo>
                    <a:pt x="123825" y="887857"/>
                  </a:lnTo>
                  <a:cubicBezTo>
                    <a:pt x="55372" y="887857"/>
                    <a:pt x="0" y="832358"/>
                    <a:pt x="0" y="764032"/>
                  </a:cubicBezTo>
                  <a:close/>
                </a:path>
              </a:pathLst>
            </a:custGeom>
            <a:solidFill>
              <a:srgbClr val="F2F2F2"/>
            </a:solidFill>
          </p:spPr>
        </p:sp>
      </p:grpSp>
      <p:grpSp>
        <p:nvGrpSpPr>
          <p:cNvPr id="18" name="Group 18"/>
          <p:cNvGrpSpPr/>
          <p:nvPr/>
        </p:nvGrpSpPr>
        <p:grpSpPr>
          <a:xfrm>
            <a:off x="1208484" y="6117727"/>
            <a:ext cx="9098756" cy="665855"/>
            <a:chOff x="0" y="0"/>
            <a:chExt cx="12131675" cy="887806"/>
          </a:xfrm>
        </p:grpSpPr>
        <p:sp>
          <p:nvSpPr>
            <p:cNvPr id="19" name="Freeform 19"/>
            <p:cNvSpPr/>
            <p:nvPr/>
          </p:nvSpPr>
          <p:spPr>
            <a:xfrm>
              <a:off x="0" y="0"/>
              <a:ext cx="12131675" cy="887731"/>
            </a:xfrm>
            <a:custGeom>
              <a:avLst/>
              <a:gdLst/>
              <a:ahLst/>
              <a:cxnLst/>
              <a:rect l="l" t="t" r="r" b="b"/>
              <a:pathLst>
                <a:path w="12131675" h="887731">
                  <a:moveTo>
                    <a:pt x="0" y="44196"/>
                  </a:moveTo>
                  <a:cubicBezTo>
                    <a:pt x="0" y="19812"/>
                    <a:pt x="19812" y="0"/>
                    <a:pt x="44196" y="0"/>
                  </a:cubicBezTo>
                  <a:lnTo>
                    <a:pt x="12087479" y="0"/>
                  </a:lnTo>
                  <a:cubicBezTo>
                    <a:pt x="12111863" y="0"/>
                    <a:pt x="12131675" y="19812"/>
                    <a:pt x="12131675" y="44196"/>
                  </a:cubicBezTo>
                  <a:lnTo>
                    <a:pt x="12131675" y="843534"/>
                  </a:lnTo>
                  <a:cubicBezTo>
                    <a:pt x="12131675" y="867918"/>
                    <a:pt x="12111863" y="887730"/>
                    <a:pt x="12087479" y="887730"/>
                  </a:cubicBezTo>
                  <a:lnTo>
                    <a:pt x="44196" y="887730"/>
                  </a:lnTo>
                  <a:cubicBezTo>
                    <a:pt x="19812" y="887857"/>
                    <a:pt x="0" y="868045"/>
                    <a:pt x="0" y="843534"/>
                  </a:cubicBezTo>
                  <a:close/>
                </a:path>
              </a:pathLst>
            </a:custGeom>
            <a:solidFill>
              <a:srgbClr val="F2F2F2"/>
            </a:solidFill>
          </p:spPr>
        </p:sp>
      </p:grpSp>
      <p:sp>
        <p:nvSpPr>
          <p:cNvPr id="20" name="Freeform 20"/>
          <p:cNvSpPr/>
          <p:nvPr/>
        </p:nvSpPr>
        <p:spPr>
          <a:xfrm>
            <a:off x="12199240" y="1240671"/>
            <a:ext cx="4365960" cy="3552800"/>
          </a:xfrm>
          <a:custGeom>
            <a:avLst/>
            <a:gdLst/>
            <a:ahLst/>
            <a:cxnLst/>
            <a:rect l="l" t="t" r="r" b="b"/>
            <a:pathLst>
              <a:path w="4365960" h="3552800">
                <a:moveTo>
                  <a:pt x="0" y="0"/>
                </a:moveTo>
                <a:lnTo>
                  <a:pt x="4365960" y="0"/>
                </a:lnTo>
                <a:lnTo>
                  <a:pt x="4365960" y="3552800"/>
                </a:lnTo>
                <a:lnTo>
                  <a:pt x="0" y="3552800"/>
                </a:lnTo>
                <a:lnTo>
                  <a:pt x="0" y="0"/>
                </a:lnTo>
                <a:close/>
              </a:path>
            </a:pathLst>
          </a:custGeom>
          <a:blipFill>
            <a:blip r:embed="rId4"/>
            <a:stretch>
              <a:fillRect/>
            </a:stretch>
          </a:blipFill>
        </p:spPr>
      </p:sp>
      <p:sp>
        <p:nvSpPr>
          <p:cNvPr id="21" name="Freeform 21"/>
          <p:cNvSpPr/>
          <p:nvPr/>
        </p:nvSpPr>
        <p:spPr>
          <a:xfrm>
            <a:off x="12187722" y="5723368"/>
            <a:ext cx="4342418" cy="4056572"/>
          </a:xfrm>
          <a:custGeom>
            <a:avLst/>
            <a:gdLst/>
            <a:ahLst/>
            <a:cxnLst/>
            <a:rect l="l" t="t" r="r" b="b"/>
            <a:pathLst>
              <a:path w="4342418" h="4056572">
                <a:moveTo>
                  <a:pt x="0" y="0"/>
                </a:moveTo>
                <a:lnTo>
                  <a:pt x="4342417" y="0"/>
                </a:lnTo>
                <a:lnTo>
                  <a:pt x="4342417" y="4056572"/>
                </a:lnTo>
                <a:lnTo>
                  <a:pt x="0" y="4056572"/>
                </a:lnTo>
                <a:lnTo>
                  <a:pt x="0" y="0"/>
                </a:lnTo>
                <a:close/>
              </a:path>
            </a:pathLst>
          </a:custGeom>
          <a:blipFill>
            <a:blip r:embed="rId5"/>
            <a:stretch>
              <a:fillRect/>
            </a:stretch>
          </a:blipFill>
        </p:spPr>
      </p:sp>
      <p:sp>
        <p:nvSpPr>
          <p:cNvPr id="22" name="TextBox 22"/>
          <p:cNvSpPr txBox="1"/>
          <p:nvPr/>
        </p:nvSpPr>
        <p:spPr>
          <a:xfrm>
            <a:off x="884187" y="766762"/>
            <a:ext cx="9661627" cy="1419816"/>
          </a:xfrm>
          <a:prstGeom prst="rect">
            <a:avLst/>
          </a:prstGeom>
        </p:spPr>
        <p:txBody>
          <a:bodyPr lIns="0" tIns="0" rIns="0" bIns="0" rtlCol="0" anchor="t">
            <a:spAutoFit/>
          </a:bodyPr>
          <a:lstStyle/>
          <a:p>
            <a:pPr algn="l">
              <a:lnSpc>
                <a:spcPts val="5437"/>
              </a:lnSpc>
            </a:pPr>
            <a:r>
              <a:rPr lang="en-US" sz="4312" b="1" dirty="0" err="1">
                <a:solidFill>
                  <a:srgbClr val="505468"/>
                </a:solidFill>
                <a:latin typeface="Arimo Bold"/>
                <a:ea typeface="Arimo Bold"/>
                <a:cs typeface="Arimo Bold"/>
                <a:sym typeface="Arimo Bold"/>
              </a:rPr>
              <a:t>Ejercicio</a:t>
            </a:r>
            <a:r>
              <a:rPr lang="en-US" sz="4312" b="1" dirty="0">
                <a:solidFill>
                  <a:srgbClr val="505468"/>
                </a:solidFill>
                <a:latin typeface="Arimo Bold"/>
                <a:ea typeface="Arimo Bold"/>
                <a:cs typeface="Arimo Bold"/>
                <a:sym typeface="Arimo Bold"/>
              </a:rPr>
              <a:t> 4: </a:t>
            </a:r>
            <a:r>
              <a:rPr lang="en-US" sz="4312" b="1" dirty="0" err="1">
                <a:solidFill>
                  <a:srgbClr val="505468"/>
                </a:solidFill>
                <a:latin typeface="Arimo Bold"/>
                <a:ea typeface="Arimo Bold"/>
                <a:cs typeface="Arimo Bold"/>
                <a:sym typeface="Arimo Bold"/>
              </a:rPr>
              <a:t>Detección</a:t>
            </a:r>
            <a:r>
              <a:rPr lang="en-US" sz="4312" b="1" dirty="0">
                <a:solidFill>
                  <a:srgbClr val="505468"/>
                </a:solidFill>
                <a:latin typeface="Arimo Bold"/>
                <a:ea typeface="Arimo Bold"/>
                <a:cs typeface="Arimo Bold"/>
                <a:sym typeface="Arimo Bold"/>
              </a:rPr>
              <a:t> de </a:t>
            </a:r>
            <a:r>
              <a:rPr lang="en-US" sz="4312" b="1" dirty="0" err="1">
                <a:solidFill>
                  <a:srgbClr val="505468"/>
                </a:solidFill>
                <a:latin typeface="Arimo Bold"/>
                <a:ea typeface="Arimo Bold"/>
                <a:cs typeface="Arimo Bold"/>
                <a:sym typeface="Arimo Bold"/>
              </a:rPr>
              <a:t>errores</a:t>
            </a:r>
            <a:r>
              <a:rPr lang="en-US" sz="4312" b="1" dirty="0">
                <a:solidFill>
                  <a:srgbClr val="505468"/>
                </a:solidFill>
                <a:latin typeface="Arimo Bold"/>
                <a:ea typeface="Arimo Bold"/>
                <a:cs typeface="Arimo Bold"/>
                <a:sym typeface="Arimo Bold"/>
              </a:rPr>
              <a:t> </a:t>
            </a:r>
            <a:r>
              <a:rPr lang="en-US" sz="4312" b="1" dirty="0" err="1">
                <a:solidFill>
                  <a:srgbClr val="505468"/>
                </a:solidFill>
                <a:latin typeface="Arimo Bold"/>
                <a:ea typeface="Arimo Bold"/>
                <a:cs typeface="Arimo Bold"/>
                <a:sym typeface="Arimo Bold"/>
              </a:rPr>
              <a:t>léxicos</a:t>
            </a:r>
            <a:endParaRPr lang="en-US" sz="4312" b="1" dirty="0">
              <a:solidFill>
                <a:srgbClr val="505468"/>
              </a:solidFill>
              <a:latin typeface="Arimo Bold"/>
              <a:ea typeface="Arimo Bold"/>
              <a:cs typeface="Arimo Bold"/>
              <a:sym typeface="Arimo Bold"/>
            </a:endParaRPr>
          </a:p>
        </p:txBody>
      </p:sp>
      <p:sp>
        <p:nvSpPr>
          <p:cNvPr id="23" name="TextBox 23"/>
          <p:cNvSpPr txBox="1"/>
          <p:nvPr/>
        </p:nvSpPr>
        <p:spPr>
          <a:xfrm>
            <a:off x="1219494" y="2712539"/>
            <a:ext cx="3733505" cy="321755"/>
          </a:xfrm>
          <a:prstGeom prst="rect">
            <a:avLst/>
          </a:prstGeom>
        </p:spPr>
        <p:txBody>
          <a:bodyPr wrap="square" lIns="0" tIns="0" rIns="0" bIns="0" rtlCol="0" anchor="t">
            <a:spAutoFit/>
          </a:bodyPr>
          <a:lstStyle/>
          <a:p>
            <a:pPr algn="l">
              <a:lnSpc>
                <a:spcPts val="2687"/>
              </a:lnSpc>
            </a:pPr>
            <a:r>
              <a:rPr lang="en-US" sz="2125" b="1" dirty="0">
                <a:solidFill>
                  <a:srgbClr val="5B5F71"/>
                </a:solidFill>
                <a:latin typeface="Arimo Bold"/>
                <a:ea typeface="Arimo Bold"/>
                <a:cs typeface="Arimo Bold"/>
                <a:sym typeface="Arimo Bold"/>
              </a:rPr>
              <a:t>Código con error</a:t>
            </a:r>
          </a:p>
        </p:txBody>
      </p:sp>
      <p:sp>
        <p:nvSpPr>
          <p:cNvPr id="24" name="TextBox 24"/>
          <p:cNvSpPr txBox="1"/>
          <p:nvPr/>
        </p:nvSpPr>
        <p:spPr>
          <a:xfrm>
            <a:off x="1429493" y="3369173"/>
            <a:ext cx="8656739" cy="352425"/>
          </a:xfrm>
          <a:prstGeom prst="rect">
            <a:avLst/>
          </a:prstGeom>
        </p:spPr>
        <p:txBody>
          <a:bodyPr lIns="0" tIns="0" rIns="0" bIns="0" rtlCol="0" anchor="t">
            <a:spAutoFit/>
          </a:bodyPr>
          <a:lstStyle/>
          <a:p>
            <a:pPr algn="l">
              <a:lnSpc>
                <a:spcPts val="2625"/>
              </a:lnSpc>
            </a:pPr>
            <a:r>
              <a:rPr lang="en-US" sz="1687">
                <a:solidFill>
                  <a:srgbClr val="5B5F71"/>
                </a:solidFill>
                <a:latin typeface="Consolas"/>
                <a:ea typeface="Consolas"/>
                <a:cs typeface="Consolas"/>
                <a:sym typeface="Consolas"/>
              </a:rPr>
              <a:t>int 3edad = 20;</a:t>
            </a:r>
          </a:p>
        </p:txBody>
      </p:sp>
      <p:sp>
        <p:nvSpPr>
          <p:cNvPr id="25" name="TextBox 25"/>
          <p:cNvSpPr txBox="1"/>
          <p:nvPr/>
        </p:nvSpPr>
        <p:spPr>
          <a:xfrm>
            <a:off x="1219495" y="4109885"/>
            <a:ext cx="9076734" cy="744741"/>
          </a:xfrm>
          <a:prstGeom prst="rect">
            <a:avLst/>
          </a:prstGeom>
        </p:spPr>
        <p:txBody>
          <a:bodyPr lIns="0" tIns="0" rIns="0" bIns="0" rtlCol="0" anchor="t">
            <a:spAutoFit/>
          </a:bodyPr>
          <a:lstStyle/>
          <a:p>
            <a:pPr algn="l">
              <a:lnSpc>
                <a:spcPts val="2625"/>
              </a:lnSpc>
            </a:pPr>
            <a:r>
              <a:rPr lang="en-US" sz="1687">
                <a:solidFill>
                  <a:srgbClr val="5B5F71"/>
                </a:solidFill>
                <a:latin typeface="Arimo"/>
                <a:ea typeface="Arimo"/>
                <a:cs typeface="Arimo"/>
                <a:sym typeface="Arimo"/>
              </a:rPr>
              <a:t>Un identificador no puede comenzar con un número. Los identificadores deben iniciar con una letra o con un guion bajo, pero nunca con números.</a:t>
            </a:r>
          </a:p>
        </p:txBody>
      </p:sp>
      <p:sp>
        <p:nvSpPr>
          <p:cNvPr id="26" name="TextBox 26"/>
          <p:cNvSpPr txBox="1"/>
          <p:nvPr/>
        </p:nvSpPr>
        <p:spPr>
          <a:xfrm>
            <a:off x="1219495" y="5531644"/>
            <a:ext cx="3733504" cy="321755"/>
          </a:xfrm>
          <a:prstGeom prst="rect">
            <a:avLst/>
          </a:prstGeom>
        </p:spPr>
        <p:txBody>
          <a:bodyPr wrap="square" lIns="0" tIns="0" rIns="0" bIns="0" rtlCol="0" anchor="t">
            <a:spAutoFit/>
          </a:bodyPr>
          <a:lstStyle/>
          <a:p>
            <a:pPr algn="l">
              <a:lnSpc>
                <a:spcPts val="2687"/>
              </a:lnSpc>
            </a:pPr>
            <a:r>
              <a:rPr lang="en-US" sz="2125" b="1" dirty="0" err="1">
                <a:solidFill>
                  <a:srgbClr val="5B5F71"/>
                </a:solidFill>
                <a:latin typeface="Arimo Bold"/>
                <a:ea typeface="Arimo Bold"/>
                <a:cs typeface="Arimo Bold"/>
                <a:sym typeface="Arimo Bold"/>
              </a:rPr>
              <a:t>Corrección</a:t>
            </a:r>
            <a:r>
              <a:rPr lang="en-US" sz="2125" b="1" dirty="0">
                <a:solidFill>
                  <a:srgbClr val="5B5F71"/>
                </a:solidFill>
                <a:latin typeface="Arimo Bold"/>
                <a:ea typeface="Arimo Bold"/>
                <a:cs typeface="Arimo Bold"/>
                <a:sym typeface="Arimo Bold"/>
              </a:rPr>
              <a:t> </a:t>
            </a:r>
            <a:r>
              <a:rPr lang="en-US" sz="2125" b="1" dirty="0" err="1">
                <a:solidFill>
                  <a:srgbClr val="5B5F71"/>
                </a:solidFill>
                <a:latin typeface="Arimo Bold"/>
                <a:ea typeface="Arimo Bold"/>
                <a:cs typeface="Arimo Bold"/>
                <a:sym typeface="Arimo Bold"/>
              </a:rPr>
              <a:t>aplicada</a:t>
            </a:r>
            <a:endParaRPr lang="en-US" sz="2125" b="1" dirty="0">
              <a:solidFill>
                <a:srgbClr val="5B5F71"/>
              </a:solidFill>
              <a:latin typeface="Arimo Bold"/>
              <a:ea typeface="Arimo Bold"/>
              <a:cs typeface="Arimo Bold"/>
              <a:sym typeface="Arimo Bold"/>
            </a:endParaRPr>
          </a:p>
        </p:txBody>
      </p:sp>
      <p:sp>
        <p:nvSpPr>
          <p:cNvPr id="27" name="TextBox 27"/>
          <p:cNvSpPr txBox="1"/>
          <p:nvPr/>
        </p:nvSpPr>
        <p:spPr>
          <a:xfrm>
            <a:off x="1429493" y="6188278"/>
            <a:ext cx="8656739" cy="352425"/>
          </a:xfrm>
          <a:prstGeom prst="rect">
            <a:avLst/>
          </a:prstGeom>
        </p:spPr>
        <p:txBody>
          <a:bodyPr lIns="0" tIns="0" rIns="0" bIns="0" rtlCol="0" anchor="t">
            <a:spAutoFit/>
          </a:bodyPr>
          <a:lstStyle/>
          <a:p>
            <a:pPr algn="l">
              <a:lnSpc>
                <a:spcPts val="2625"/>
              </a:lnSpc>
            </a:pPr>
            <a:r>
              <a:rPr lang="en-US" sz="1687">
                <a:solidFill>
                  <a:srgbClr val="5B5F71"/>
                </a:solidFill>
                <a:latin typeface="Consolas"/>
                <a:ea typeface="Consolas"/>
                <a:cs typeface="Consolas"/>
                <a:sym typeface="Consolas"/>
              </a:rPr>
              <a:t>int edad3 = 20;</a:t>
            </a:r>
          </a:p>
        </p:txBody>
      </p:sp>
      <p:sp>
        <p:nvSpPr>
          <p:cNvPr id="28" name="TextBox 28"/>
          <p:cNvSpPr txBox="1"/>
          <p:nvPr/>
        </p:nvSpPr>
        <p:spPr>
          <a:xfrm>
            <a:off x="1219495" y="6928990"/>
            <a:ext cx="9076734" cy="744741"/>
          </a:xfrm>
          <a:prstGeom prst="rect">
            <a:avLst/>
          </a:prstGeom>
        </p:spPr>
        <p:txBody>
          <a:bodyPr lIns="0" tIns="0" rIns="0" bIns="0" rtlCol="0" anchor="t">
            <a:spAutoFit/>
          </a:bodyPr>
          <a:lstStyle/>
          <a:p>
            <a:pPr algn="l">
              <a:lnSpc>
                <a:spcPts val="2625"/>
              </a:lnSpc>
            </a:pPr>
            <a:r>
              <a:rPr lang="en-US" sz="1687">
                <a:solidFill>
                  <a:srgbClr val="5B5F71"/>
                </a:solidFill>
                <a:latin typeface="Arimo"/>
                <a:ea typeface="Arimo"/>
                <a:cs typeface="Arimo"/>
                <a:sym typeface="Arimo"/>
              </a:rPr>
              <a:t>Al modificar el identificador a </a:t>
            </a:r>
            <a:r>
              <a:rPr lang="en-US" sz="1687">
                <a:solidFill>
                  <a:srgbClr val="505468"/>
                </a:solidFill>
                <a:latin typeface="Arimo"/>
                <a:ea typeface="Arimo"/>
                <a:cs typeface="Arimo"/>
                <a:sym typeface="Arimo"/>
              </a:rPr>
              <a:t>edad3</a:t>
            </a:r>
            <a:r>
              <a:rPr lang="en-US" sz="1687">
                <a:solidFill>
                  <a:srgbClr val="5B5F71"/>
                </a:solidFill>
                <a:latin typeface="Arimo"/>
                <a:ea typeface="Arimo"/>
                <a:cs typeface="Arimo"/>
                <a:sym typeface="Arimo"/>
              </a:rPr>
              <a:t>, el código cumple con las reglas del lenguaje y puede ser reconocido correctamente por el compilador.</a:t>
            </a:r>
          </a:p>
        </p:txBody>
      </p:sp>
      <p:sp>
        <p:nvSpPr>
          <p:cNvPr id="29" name="TextBox 29"/>
          <p:cNvSpPr txBox="1"/>
          <p:nvPr/>
        </p:nvSpPr>
        <p:spPr>
          <a:xfrm>
            <a:off x="307378" y="8070952"/>
            <a:ext cx="11483594" cy="2088515"/>
          </a:xfrm>
          <a:prstGeom prst="rect">
            <a:avLst/>
          </a:prstGeom>
        </p:spPr>
        <p:txBody>
          <a:bodyPr lIns="0" tIns="0" rIns="0" bIns="0" rtlCol="0" anchor="t">
            <a:spAutoFit/>
          </a:bodyPr>
          <a:lstStyle/>
          <a:p>
            <a:pPr algn="l">
              <a:lnSpc>
                <a:spcPts val="1555"/>
              </a:lnSpc>
            </a:pPr>
            <a:r>
              <a:rPr lang="en-US" sz="1000" dirty="0">
                <a:solidFill>
                  <a:srgbClr val="5B5F71"/>
                </a:solidFill>
                <a:latin typeface="Arimo"/>
                <a:ea typeface="Arimo"/>
                <a:cs typeface="Arimo"/>
                <a:sym typeface="Arimo"/>
              </a:rPr>
              <a:t>En </a:t>
            </a:r>
            <a:r>
              <a:rPr lang="en-US" sz="1000" dirty="0" err="1">
                <a:solidFill>
                  <a:srgbClr val="5B5F71"/>
                </a:solidFill>
                <a:latin typeface="Arimo"/>
                <a:ea typeface="Arimo"/>
                <a:cs typeface="Arimo"/>
                <a:sym typeface="Arimo"/>
              </a:rPr>
              <a:t>este</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ejercicio</a:t>
            </a:r>
            <a:r>
              <a:rPr lang="en-US" sz="1000" dirty="0">
                <a:solidFill>
                  <a:srgbClr val="5B5F71"/>
                </a:solidFill>
                <a:latin typeface="Arimo"/>
                <a:ea typeface="Arimo"/>
                <a:cs typeface="Arimo"/>
                <a:sym typeface="Arimo"/>
              </a:rPr>
              <a:t> se </a:t>
            </a:r>
            <a:r>
              <a:rPr lang="en-US" sz="1000" dirty="0" err="1">
                <a:solidFill>
                  <a:srgbClr val="5B5F71"/>
                </a:solidFill>
                <a:latin typeface="Arimo"/>
                <a:ea typeface="Arimo"/>
                <a:cs typeface="Arimo"/>
                <a:sym typeface="Arimo"/>
              </a:rPr>
              <a:t>analizó</a:t>
            </a:r>
            <a:r>
              <a:rPr lang="en-US" sz="1000" dirty="0">
                <a:solidFill>
                  <a:srgbClr val="5B5F71"/>
                </a:solidFill>
                <a:latin typeface="Arimo"/>
                <a:ea typeface="Arimo"/>
                <a:cs typeface="Arimo"/>
                <a:sym typeface="Arimo"/>
              </a:rPr>
              <a:t> un </a:t>
            </a:r>
            <a:r>
              <a:rPr lang="en-US" sz="1000" dirty="0" err="1">
                <a:solidFill>
                  <a:srgbClr val="5B5F71"/>
                </a:solidFill>
                <a:latin typeface="Arimo"/>
                <a:ea typeface="Arimo"/>
                <a:cs typeface="Arimo"/>
                <a:sym typeface="Arimo"/>
              </a:rPr>
              <a:t>ejemplo</a:t>
            </a:r>
            <a:r>
              <a:rPr lang="en-US" sz="1000" dirty="0">
                <a:solidFill>
                  <a:srgbClr val="5B5F71"/>
                </a:solidFill>
                <a:latin typeface="Arimo"/>
                <a:ea typeface="Arimo"/>
                <a:cs typeface="Arimo"/>
                <a:sym typeface="Arimo"/>
              </a:rPr>
              <a:t> que </a:t>
            </a:r>
            <a:r>
              <a:rPr lang="en-US" sz="1000" dirty="0" err="1">
                <a:solidFill>
                  <a:srgbClr val="5B5F71"/>
                </a:solidFill>
                <a:latin typeface="Arimo"/>
                <a:ea typeface="Arimo"/>
                <a:cs typeface="Arimo"/>
                <a:sym typeface="Arimo"/>
              </a:rPr>
              <a:t>contiene</a:t>
            </a:r>
            <a:r>
              <a:rPr lang="en-US" sz="1000" dirty="0">
                <a:solidFill>
                  <a:srgbClr val="5B5F71"/>
                </a:solidFill>
                <a:latin typeface="Arimo"/>
                <a:ea typeface="Arimo"/>
                <a:cs typeface="Arimo"/>
                <a:sym typeface="Arimo"/>
              </a:rPr>
              <a:t> un error </a:t>
            </a:r>
            <a:r>
              <a:rPr lang="en-US" sz="1000" dirty="0" err="1">
                <a:solidFill>
                  <a:srgbClr val="5B5F71"/>
                </a:solidFill>
                <a:latin typeface="Arimo"/>
                <a:ea typeface="Arimo"/>
                <a:cs typeface="Arimo"/>
                <a:sym typeface="Arimo"/>
              </a:rPr>
              <a:t>léxico</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en</a:t>
            </a:r>
            <a:r>
              <a:rPr lang="en-US" sz="1000" dirty="0">
                <a:solidFill>
                  <a:srgbClr val="5B5F71"/>
                </a:solidFill>
                <a:latin typeface="Arimo"/>
                <a:ea typeface="Arimo"/>
                <a:cs typeface="Arimo"/>
                <a:sym typeface="Arimo"/>
              </a:rPr>
              <a:t> la </a:t>
            </a:r>
            <a:r>
              <a:rPr lang="en-US" sz="1000" dirty="0" err="1">
                <a:solidFill>
                  <a:srgbClr val="5B5F71"/>
                </a:solidFill>
                <a:latin typeface="Arimo"/>
                <a:ea typeface="Arimo"/>
                <a:cs typeface="Arimo"/>
                <a:sym typeface="Arimo"/>
              </a:rPr>
              <a:t>declaración</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una</a:t>
            </a:r>
            <a:r>
              <a:rPr lang="en-US" sz="1000" dirty="0">
                <a:solidFill>
                  <a:srgbClr val="5B5F71"/>
                </a:solidFill>
                <a:latin typeface="Arimo"/>
                <a:ea typeface="Arimo"/>
                <a:cs typeface="Arimo"/>
                <a:sym typeface="Arimo"/>
              </a:rPr>
              <a:t> variable. El </a:t>
            </a:r>
            <a:r>
              <a:rPr lang="en-US" sz="1000" dirty="0" err="1">
                <a:solidFill>
                  <a:srgbClr val="5B5F71"/>
                </a:solidFill>
                <a:latin typeface="Arimo"/>
                <a:ea typeface="Arimo"/>
                <a:cs typeface="Arimo"/>
                <a:sym typeface="Arimo"/>
              </a:rPr>
              <a:t>código</a:t>
            </a:r>
            <a:r>
              <a:rPr lang="en-US" sz="1000" dirty="0">
                <a:solidFill>
                  <a:srgbClr val="5B5F71"/>
                </a:solidFill>
                <a:latin typeface="Arimo"/>
                <a:ea typeface="Arimo"/>
                <a:cs typeface="Arimo"/>
                <a:sym typeface="Arimo"/>
              </a:rPr>
              <a:t> original int 3edad = 20; </a:t>
            </a:r>
            <a:r>
              <a:rPr lang="en-US" sz="1000" dirty="0" err="1">
                <a:solidFill>
                  <a:srgbClr val="5B5F71"/>
                </a:solidFill>
                <a:latin typeface="Arimo"/>
                <a:ea typeface="Arimo"/>
                <a:cs typeface="Arimo"/>
                <a:sym typeface="Arimo"/>
              </a:rPr>
              <a:t>presenta</a:t>
            </a:r>
            <a:r>
              <a:rPr lang="en-US" sz="1000" dirty="0">
                <a:solidFill>
                  <a:srgbClr val="5B5F71"/>
                </a:solidFill>
                <a:latin typeface="Arimo"/>
                <a:ea typeface="Arimo"/>
                <a:cs typeface="Arimo"/>
                <a:sym typeface="Arimo"/>
              </a:rPr>
              <a:t> un </a:t>
            </a:r>
            <a:r>
              <a:rPr lang="en-US" sz="1000" dirty="0" err="1">
                <a:solidFill>
                  <a:srgbClr val="5B5F71"/>
                </a:solidFill>
                <a:latin typeface="Arimo"/>
                <a:ea typeface="Arimo"/>
                <a:cs typeface="Arimo"/>
                <a:sym typeface="Arimo"/>
              </a:rPr>
              <a:t>problema</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porque</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identificador</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comienza</a:t>
            </a:r>
            <a:r>
              <a:rPr lang="en-US" sz="1000" dirty="0">
                <a:solidFill>
                  <a:srgbClr val="5B5F71"/>
                </a:solidFill>
                <a:latin typeface="Arimo"/>
                <a:ea typeface="Arimo"/>
                <a:cs typeface="Arimo"/>
                <a:sym typeface="Arimo"/>
              </a:rPr>
              <a:t> con un </a:t>
            </a:r>
            <a:r>
              <a:rPr lang="en-US" sz="1000" dirty="0" err="1">
                <a:solidFill>
                  <a:srgbClr val="5B5F71"/>
                </a:solidFill>
                <a:latin typeface="Arimo"/>
                <a:ea typeface="Arimo"/>
                <a:cs typeface="Arimo"/>
                <a:sym typeface="Arimo"/>
              </a:rPr>
              <a:t>número</a:t>
            </a:r>
            <a:r>
              <a:rPr lang="en-US" sz="1000" dirty="0">
                <a:solidFill>
                  <a:srgbClr val="5B5F71"/>
                </a:solidFill>
                <a:latin typeface="Arimo"/>
                <a:ea typeface="Arimo"/>
                <a:cs typeface="Arimo"/>
                <a:sym typeface="Arimo"/>
              </a:rPr>
              <a:t>, lo </a:t>
            </a:r>
            <a:r>
              <a:rPr lang="en-US" sz="1000" dirty="0" err="1">
                <a:solidFill>
                  <a:srgbClr val="5B5F71"/>
                </a:solidFill>
                <a:latin typeface="Arimo"/>
                <a:ea typeface="Arimo"/>
                <a:cs typeface="Arimo"/>
                <a:sym typeface="Arimo"/>
              </a:rPr>
              <a:t>cual</a:t>
            </a:r>
            <a:r>
              <a:rPr lang="en-US" sz="1000" dirty="0">
                <a:solidFill>
                  <a:srgbClr val="5B5F71"/>
                </a:solidFill>
                <a:latin typeface="Arimo"/>
                <a:ea typeface="Arimo"/>
                <a:cs typeface="Arimo"/>
                <a:sym typeface="Arimo"/>
              </a:rPr>
              <a:t> no </a:t>
            </a:r>
            <a:r>
              <a:rPr lang="en-US" sz="1000" dirty="0" err="1">
                <a:solidFill>
                  <a:srgbClr val="5B5F71"/>
                </a:solidFill>
                <a:latin typeface="Arimo"/>
                <a:ea typeface="Arimo"/>
                <a:cs typeface="Arimo"/>
                <a:sym typeface="Arimo"/>
              </a:rPr>
              <a:t>está</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permitido</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en</a:t>
            </a:r>
            <a:r>
              <a:rPr lang="en-US" sz="1000" dirty="0">
                <a:solidFill>
                  <a:srgbClr val="5B5F71"/>
                </a:solidFill>
                <a:latin typeface="Arimo"/>
                <a:ea typeface="Arimo"/>
                <a:cs typeface="Arimo"/>
                <a:sym typeface="Arimo"/>
              </a:rPr>
              <a:t> la </a:t>
            </a:r>
            <a:r>
              <a:rPr lang="en-US" sz="1000" dirty="0" err="1">
                <a:solidFill>
                  <a:srgbClr val="5B5F71"/>
                </a:solidFill>
                <a:latin typeface="Arimo"/>
                <a:ea typeface="Arimo"/>
                <a:cs typeface="Arimo"/>
                <a:sym typeface="Arimo"/>
              </a:rPr>
              <a:t>mayoría</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los</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lenguajes</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programación</a:t>
            </a:r>
            <a:r>
              <a:rPr lang="en-US" sz="1000" dirty="0">
                <a:solidFill>
                  <a:srgbClr val="5B5F71"/>
                </a:solidFill>
                <a:latin typeface="Arimo"/>
                <a:ea typeface="Arimo"/>
                <a:cs typeface="Arimo"/>
                <a:sym typeface="Arimo"/>
              </a:rPr>
              <a:t>.</a:t>
            </a:r>
          </a:p>
          <a:p>
            <a:pPr algn="l">
              <a:lnSpc>
                <a:spcPts val="1555"/>
              </a:lnSpc>
            </a:pPr>
            <a:endParaRPr lang="en-US" sz="1000" dirty="0">
              <a:solidFill>
                <a:srgbClr val="5B5F71"/>
              </a:solidFill>
              <a:latin typeface="Arimo"/>
              <a:ea typeface="Arimo"/>
              <a:cs typeface="Arimo"/>
              <a:sym typeface="Arimo"/>
            </a:endParaRPr>
          </a:p>
          <a:p>
            <a:pPr algn="l">
              <a:lnSpc>
                <a:spcPts val="1555"/>
              </a:lnSpc>
            </a:pPr>
            <a:r>
              <a:rPr lang="en-US" sz="1000" dirty="0">
                <a:solidFill>
                  <a:srgbClr val="5B5F71"/>
                </a:solidFill>
                <a:latin typeface="Arimo"/>
                <a:ea typeface="Arimo"/>
                <a:cs typeface="Arimo"/>
                <a:sym typeface="Arimo"/>
              </a:rPr>
              <a:t>Los </a:t>
            </a:r>
            <a:r>
              <a:rPr lang="en-US" sz="1000" dirty="0" err="1">
                <a:solidFill>
                  <a:srgbClr val="5B5F71"/>
                </a:solidFill>
                <a:latin typeface="Arimo"/>
                <a:ea typeface="Arimo"/>
                <a:cs typeface="Arimo"/>
                <a:sym typeface="Arimo"/>
              </a:rPr>
              <a:t>identificadores</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deben</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iniciar</a:t>
            </a:r>
            <a:r>
              <a:rPr lang="en-US" sz="1000" dirty="0">
                <a:solidFill>
                  <a:srgbClr val="5B5F71"/>
                </a:solidFill>
                <a:latin typeface="Arimo"/>
                <a:ea typeface="Arimo"/>
                <a:cs typeface="Arimo"/>
                <a:sym typeface="Arimo"/>
              </a:rPr>
              <a:t> con </a:t>
            </a:r>
            <a:r>
              <a:rPr lang="en-US" sz="1000" dirty="0" err="1">
                <a:solidFill>
                  <a:srgbClr val="5B5F71"/>
                </a:solidFill>
                <a:latin typeface="Arimo"/>
                <a:ea typeface="Arimo"/>
                <a:cs typeface="Arimo"/>
                <a:sym typeface="Arimo"/>
              </a:rPr>
              <a:t>una</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letra</a:t>
            </a:r>
            <a:r>
              <a:rPr lang="en-US" sz="1000" dirty="0">
                <a:solidFill>
                  <a:srgbClr val="5B5F71"/>
                </a:solidFill>
                <a:latin typeface="Arimo"/>
                <a:ea typeface="Arimo"/>
                <a:cs typeface="Arimo"/>
                <a:sym typeface="Arimo"/>
              </a:rPr>
              <a:t> o con un </a:t>
            </a:r>
            <a:r>
              <a:rPr lang="en-US" sz="1000" dirty="0" err="1">
                <a:solidFill>
                  <a:srgbClr val="5B5F71"/>
                </a:solidFill>
                <a:latin typeface="Arimo"/>
                <a:ea typeface="Arimo"/>
                <a:cs typeface="Arimo"/>
                <a:sym typeface="Arimo"/>
              </a:rPr>
              <a:t>guion</a:t>
            </a:r>
            <a:r>
              <a:rPr lang="en-US" sz="1000" dirty="0">
                <a:solidFill>
                  <a:srgbClr val="5B5F71"/>
                </a:solidFill>
                <a:latin typeface="Arimo"/>
                <a:ea typeface="Arimo"/>
                <a:cs typeface="Arimo"/>
                <a:sym typeface="Arimo"/>
              </a:rPr>
              <a:t> bajo, </a:t>
            </a:r>
            <a:r>
              <a:rPr lang="en-US" sz="1000" dirty="0" err="1">
                <a:solidFill>
                  <a:srgbClr val="5B5F71"/>
                </a:solidFill>
                <a:latin typeface="Arimo"/>
                <a:ea typeface="Arimo"/>
                <a:cs typeface="Arimo"/>
                <a:sym typeface="Arimo"/>
              </a:rPr>
              <a:t>aunque</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después</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pueden</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contener</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números</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Debido</a:t>
            </a:r>
            <a:r>
              <a:rPr lang="en-US" sz="1000" dirty="0">
                <a:solidFill>
                  <a:srgbClr val="5B5F71"/>
                </a:solidFill>
                <a:latin typeface="Arimo"/>
                <a:ea typeface="Arimo"/>
                <a:cs typeface="Arimo"/>
                <a:sym typeface="Arimo"/>
              </a:rPr>
              <a:t> a </a:t>
            </a:r>
            <a:r>
              <a:rPr lang="en-US" sz="1000" dirty="0" err="1">
                <a:solidFill>
                  <a:srgbClr val="5B5F71"/>
                </a:solidFill>
                <a:latin typeface="Arimo"/>
                <a:ea typeface="Arimo"/>
                <a:cs typeface="Arimo"/>
                <a:sym typeface="Arimo"/>
              </a:rPr>
              <a:t>esta</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regla</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nombre</a:t>
            </a:r>
            <a:r>
              <a:rPr lang="en-US" sz="1000" dirty="0">
                <a:solidFill>
                  <a:srgbClr val="5B5F71"/>
                </a:solidFill>
                <a:latin typeface="Arimo"/>
                <a:ea typeface="Arimo"/>
                <a:cs typeface="Arimo"/>
                <a:sym typeface="Arimo"/>
              </a:rPr>
              <a:t> 3edad es </a:t>
            </a:r>
            <a:r>
              <a:rPr lang="en-US" sz="1000" dirty="0" err="1">
                <a:solidFill>
                  <a:srgbClr val="5B5F71"/>
                </a:solidFill>
                <a:latin typeface="Arimo"/>
                <a:ea typeface="Arimo"/>
                <a:cs typeface="Arimo"/>
                <a:sym typeface="Arimo"/>
              </a:rPr>
              <a:t>inválido</a:t>
            </a:r>
            <a:r>
              <a:rPr lang="en-US" sz="1000" dirty="0">
                <a:solidFill>
                  <a:srgbClr val="5B5F71"/>
                </a:solidFill>
                <a:latin typeface="Arimo"/>
                <a:ea typeface="Arimo"/>
                <a:cs typeface="Arimo"/>
                <a:sym typeface="Arimo"/>
              </a:rPr>
              <a:t> y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analizador</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léxico</a:t>
            </a:r>
            <a:r>
              <a:rPr lang="en-US" sz="1000" dirty="0">
                <a:solidFill>
                  <a:srgbClr val="5B5F71"/>
                </a:solidFill>
                <a:latin typeface="Arimo"/>
                <a:ea typeface="Arimo"/>
                <a:cs typeface="Arimo"/>
                <a:sym typeface="Arimo"/>
              </a:rPr>
              <a:t> no </a:t>
            </a:r>
            <a:r>
              <a:rPr lang="en-US" sz="1000" dirty="0" err="1">
                <a:solidFill>
                  <a:srgbClr val="5B5F71"/>
                </a:solidFill>
                <a:latin typeface="Arimo"/>
                <a:ea typeface="Arimo"/>
                <a:cs typeface="Arimo"/>
                <a:sym typeface="Arimo"/>
              </a:rPr>
              <a:t>puede</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reconocerlo</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correctamente</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como</a:t>
            </a:r>
            <a:r>
              <a:rPr lang="en-US" sz="1000" dirty="0">
                <a:solidFill>
                  <a:srgbClr val="5B5F71"/>
                </a:solidFill>
                <a:latin typeface="Arimo"/>
                <a:ea typeface="Arimo"/>
                <a:cs typeface="Arimo"/>
                <a:sym typeface="Arimo"/>
              </a:rPr>
              <a:t> un </a:t>
            </a:r>
            <a:r>
              <a:rPr lang="en-US" sz="1000" dirty="0" err="1">
                <a:solidFill>
                  <a:srgbClr val="5B5F71"/>
                </a:solidFill>
                <a:latin typeface="Arimo"/>
                <a:ea typeface="Arimo"/>
                <a:cs typeface="Arimo"/>
                <a:sym typeface="Arimo"/>
              </a:rPr>
              <a:t>identificador</a:t>
            </a:r>
            <a:r>
              <a:rPr lang="en-US" sz="1000" dirty="0">
                <a:solidFill>
                  <a:srgbClr val="5B5F71"/>
                </a:solidFill>
                <a:latin typeface="Arimo"/>
                <a:ea typeface="Arimo"/>
                <a:cs typeface="Arimo"/>
                <a:sym typeface="Arimo"/>
              </a:rPr>
              <a:t>.</a:t>
            </a:r>
          </a:p>
          <a:p>
            <a:pPr algn="l">
              <a:lnSpc>
                <a:spcPts val="1555"/>
              </a:lnSpc>
            </a:pPr>
            <a:endParaRPr lang="en-US" sz="1000" dirty="0">
              <a:solidFill>
                <a:srgbClr val="5B5F71"/>
              </a:solidFill>
              <a:latin typeface="Arimo"/>
              <a:ea typeface="Arimo"/>
              <a:cs typeface="Arimo"/>
              <a:sym typeface="Arimo"/>
            </a:endParaRPr>
          </a:p>
          <a:p>
            <a:pPr algn="l">
              <a:lnSpc>
                <a:spcPts val="1555"/>
              </a:lnSpc>
            </a:pPr>
            <a:r>
              <a:rPr lang="en-US" sz="1000" dirty="0">
                <a:solidFill>
                  <a:srgbClr val="5B5F71"/>
                </a:solidFill>
                <a:latin typeface="Arimo"/>
                <a:ea typeface="Arimo"/>
                <a:cs typeface="Arimo"/>
                <a:sym typeface="Arimo"/>
              </a:rPr>
              <a:t>Para </a:t>
            </a:r>
            <a:r>
              <a:rPr lang="en-US" sz="1000" dirty="0" err="1">
                <a:solidFill>
                  <a:srgbClr val="5B5F71"/>
                </a:solidFill>
                <a:latin typeface="Arimo"/>
                <a:ea typeface="Arimo"/>
                <a:cs typeface="Arimo"/>
                <a:sym typeface="Arimo"/>
              </a:rPr>
              <a:t>corregir</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problema</a:t>
            </a:r>
            <a:r>
              <a:rPr lang="en-US" sz="1000" dirty="0">
                <a:solidFill>
                  <a:srgbClr val="5B5F71"/>
                </a:solidFill>
                <a:latin typeface="Arimo"/>
                <a:ea typeface="Arimo"/>
                <a:cs typeface="Arimo"/>
                <a:sym typeface="Arimo"/>
              </a:rPr>
              <a:t> se </a:t>
            </a:r>
            <a:r>
              <a:rPr lang="en-US" sz="1000" dirty="0" err="1">
                <a:solidFill>
                  <a:srgbClr val="5B5F71"/>
                </a:solidFill>
                <a:latin typeface="Arimo"/>
                <a:ea typeface="Arimo"/>
                <a:cs typeface="Arimo"/>
                <a:sym typeface="Arimo"/>
              </a:rPr>
              <a:t>modificó</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nombre</a:t>
            </a:r>
            <a:r>
              <a:rPr lang="en-US" sz="1000" dirty="0">
                <a:solidFill>
                  <a:srgbClr val="5B5F71"/>
                </a:solidFill>
                <a:latin typeface="Arimo"/>
                <a:ea typeface="Arimo"/>
                <a:cs typeface="Arimo"/>
                <a:sym typeface="Arimo"/>
              </a:rPr>
              <a:t> de la variable a edad3, lo </a:t>
            </a:r>
            <a:r>
              <a:rPr lang="en-US" sz="1000" dirty="0" err="1">
                <a:solidFill>
                  <a:srgbClr val="5B5F71"/>
                </a:solidFill>
                <a:latin typeface="Arimo"/>
                <a:ea typeface="Arimo"/>
                <a:cs typeface="Arimo"/>
                <a:sym typeface="Arimo"/>
              </a:rPr>
              <a:t>cual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cumple</a:t>
            </a:r>
            <a:r>
              <a:rPr lang="en-US" sz="1000" dirty="0">
                <a:solidFill>
                  <a:srgbClr val="5B5F71"/>
                </a:solidFill>
                <a:latin typeface="Arimo"/>
                <a:ea typeface="Arimo"/>
                <a:cs typeface="Arimo"/>
                <a:sym typeface="Arimo"/>
              </a:rPr>
              <a:t> con las </a:t>
            </a:r>
            <a:r>
              <a:rPr lang="en-US" sz="1000" dirty="0" err="1">
                <a:solidFill>
                  <a:srgbClr val="5B5F71"/>
                </a:solidFill>
                <a:latin typeface="Arimo"/>
                <a:ea typeface="Arimo"/>
                <a:cs typeface="Arimo"/>
                <a:sym typeface="Arimo"/>
              </a:rPr>
              <a:t>reglas</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formación</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identificadores</a:t>
            </a:r>
            <a:r>
              <a:rPr lang="en-US" sz="1000" dirty="0">
                <a:solidFill>
                  <a:srgbClr val="5B5F71"/>
                </a:solidFill>
                <a:latin typeface="Arimo"/>
                <a:ea typeface="Arimo"/>
                <a:cs typeface="Arimo"/>
                <a:sym typeface="Arimo"/>
              </a:rPr>
              <a:t>. Una </a:t>
            </a:r>
            <a:r>
              <a:rPr lang="en-US" sz="1000" dirty="0" err="1">
                <a:solidFill>
                  <a:srgbClr val="5B5F71"/>
                </a:solidFill>
                <a:latin typeface="Arimo"/>
                <a:ea typeface="Arimo"/>
                <a:cs typeface="Arimo"/>
                <a:sym typeface="Arimo"/>
              </a:rPr>
              <a:t>vez</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corregido</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código</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analizador</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léxico</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puede</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identificar</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correctamente</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los</a:t>
            </a:r>
            <a:r>
              <a:rPr lang="en-US" sz="1000" dirty="0">
                <a:solidFill>
                  <a:srgbClr val="5B5F71"/>
                </a:solidFill>
                <a:latin typeface="Arimo"/>
                <a:ea typeface="Arimo"/>
                <a:cs typeface="Arimo"/>
                <a:sym typeface="Arimo"/>
              </a:rPr>
              <a:t> tokens: la palabra </a:t>
            </a:r>
            <a:r>
              <a:rPr lang="en-US" sz="1000" dirty="0" err="1">
                <a:solidFill>
                  <a:srgbClr val="5B5F71"/>
                </a:solidFill>
                <a:latin typeface="Arimo"/>
                <a:ea typeface="Arimo"/>
                <a:cs typeface="Arimo"/>
                <a:sym typeface="Arimo"/>
              </a:rPr>
              <a:t>reservada</a:t>
            </a:r>
            <a:r>
              <a:rPr lang="en-US" sz="1000" dirty="0">
                <a:solidFill>
                  <a:srgbClr val="5B5F71"/>
                </a:solidFill>
                <a:latin typeface="Arimo"/>
                <a:ea typeface="Arimo"/>
                <a:cs typeface="Arimo"/>
                <a:sym typeface="Arimo"/>
              </a:rPr>
              <a:t> int,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identificador</a:t>
            </a:r>
            <a:r>
              <a:rPr lang="en-US" sz="1000" dirty="0">
                <a:solidFill>
                  <a:srgbClr val="5B5F71"/>
                </a:solidFill>
                <a:latin typeface="Arimo"/>
                <a:ea typeface="Arimo"/>
                <a:cs typeface="Arimo"/>
                <a:sym typeface="Arimo"/>
              </a:rPr>
              <a:t> edad3,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operador</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asignación</a:t>
            </a:r>
            <a:r>
              <a:rPr lang="en-US" sz="1000" dirty="0">
                <a:solidFill>
                  <a:srgbClr val="5B5F71"/>
                </a:solidFill>
                <a:latin typeface="Arimo"/>
                <a:ea typeface="Arimo"/>
                <a:cs typeface="Arimo"/>
                <a:sym typeface="Arimo"/>
              </a:rPr>
              <a:t> =,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número</a:t>
            </a:r>
            <a:r>
              <a:rPr lang="en-US" sz="1000" dirty="0">
                <a:solidFill>
                  <a:srgbClr val="5B5F71"/>
                </a:solidFill>
                <a:latin typeface="Arimo"/>
                <a:ea typeface="Arimo"/>
                <a:cs typeface="Arimo"/>
                <a:sym typeface="Arimo"/>
              </a:rPr>
              <a:t> 20 y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delimitador</a:t>
            </a:r>
            <a:r>
              <a:rPr lang="en-US" sz="1000" dirty="0">
                <a:solidFill>
                  <a:srgbClr val="5B5F71"/>
                </a:solidFill>
                <a:latin typeface="Arimo"/>
                <a:ea typeface="Arimo"/>
                <a:cs typeface="Arimo"/>
                <a:sym typeface="Arimo"/>
              </a:rPr>
              <a:t> ;.</a:t>
            </a:r>
          </a:p>
          <a:p>
            <a:pPr algn="l">
              <a:lnSpc>
                <a:spcPts val="1555"/>
              </a:lnSpc>
            </a:pPr>
            <a:endParaRPr lang="en-US" sz="1000" dirty="0">
              <a:solidFill>
                <a:srgbClr val="5B5F71"/>
              </a:solidFill>
              <a:latin typeface="Arimo"/>
              <a:ea typeface="Arimo"/>
              <a:cs typeface="Arimo"/>
              <a:sym typeface="Arimo"/>
            </a:endParaRPr>
          </a:p>
          <a:p>
            <a:pPr algn="l">
              <a:lnSpc>
                <a:spcPts val="1555"/>
              </a:lnSpc>
            </a:pPr>
            <a:r>
              <a:rPr lang="en-US" sz="1000" dirty="0">
                <a:solidFill>
                  <a:srgbClr val="5B5F71"/>
                </a:solidFill>
                <a:latin typeface="Arimo"/>
                <a:ea typeface="Arimo"/>
                <a:cs typeface="Arimo"/>
                <a:sym typeface="Arimo"/>
              </a:rPr>
              <a:t>Este </a:t>
            </a:r>
            <a:r>
              <a:rPr lang="en-US" sz="1000" dirty="0" err="1">
                <a:solidFill>
                  <a:srgbClr val="5B5F71"/>
                </a:solidFill>
                <a:latin typeface="Arimo"/>
                <a:ea typeface="Arimo"/>
                <a:cs typeface="Arimo"/>
                <a:sym typeface="Arimo"/>
              </a:rPr>
              <a:t>tipo</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errores</a:t>
            </a:r>
            <a:r>
              <a:rPr lang="en-US" sz="1000" dirty="0">
                <a:solidFill>
                  <a:srgbClr val="5B5F71"/>
                </a:solidFill>
                <a:latin typeface="Arimo"/>
                <a:ea typeface="Arimo"/>
                <a:cs typeface="Arimo"/>
                <a:sym typeface="Arimo"/>
              </a:rPr>
              <a:t> es </a:t>
            </a:r>
            <a:r>
              <a:rPr lang="en-US" sz="1000" dirty="0" err="1">
                <a:solidFill>
                  <a:srgbClr val="5B5F71"/>
                </a:solidFill>
                <a:latin typeface="Arimo"/>
                <a:ea typeface="Arimo"/>
                <a:cs typeface="Arimo"/>
                <a:sym typeface="Arimo"/>
              </a:rPr>
              <a:t>común</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cuando</a:t>
            </a:r>
            <a:r>
              <a:rPr lang="en-US" sz="1000" dirty="0">
                <a:solidFill>
                  <a:srgbClr val="5B5F71"/>
                </a:solidFill>
                <a:latin typeface="Arimo"/>
                <a:ea typeface="Arimo"/>
                <a:cs typeface="Arimo"/>
                <a:sym typeface="Arimo"/>
              </a:rPr>
              <a:t> se </a:t>
            </a:r>
            <a:r>
              <a:rPr lang="en-US" sz="1000" dirty="0" err="1">
                <a:solidFill>
                  <a:srgbClr val="5B5F71"/>
                </a:solidFill>
                <a:latin typeface="Arimo"/>
                <a:ea typeface="Arimo"/>
                <a:cs typeface="Arimo"/>
                <a:sym typeface="Arimo"/>
              </a:rPr>
              <a:t>está</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aprendiendo</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programación</a:t>
            </a:r>
            <a:r>
              <a:rPr lang="en-US" sz="1000" dirty="0">
                <a:solidFill>
                  <a:srgbClr val="5B5F71"/>
                </a:solidFill>
                <a:latin typeface="Arimo"/>
                <a:ea typeface="Arimo"/>
                <a:cs typeface="Arimo"/>
                <a:sym typeface="Arimo"/>
              </a:rPr>
              <a:t>, y </a:t>
            </a:r>
            <a:r>
              <a:rPr lang="en-US" sz="1000" dirty="0" err="1">
                <a:solidFill>
                  <a:srgbClr val="5B5F71"/>
                </a:solidFill>
                <a:latin typeface="Arimo"/>
                <a:ea typeface="Arimo"/>
                <a:cs typeface="Arimo"/>
                <a:sym typeface="Arimo"/>
              </a:rPr>
              <a:t>comprender</a:t>
            </a:r>
            <a:r>
              <a:rPr lang="en-US" sz="1000" dirty="0">
                <a:solidFill>
                  <a:srgbClr val="5B5F71"/>
                </a:solidFill>
                <a:latin typeface="Arimo"/>
                <a:ea typeface="Arimo"/>
                <a:cs typeface="Arimo"/>
                <a:sym typeface="Arimo"/>
              </a:rPr>
              <a:t> las </a:t>
            </a:r>
            <a:r>
              <a:rPr lang="en-US" sz="1000" dirty="0" err="1">
                <a:solidFill>
                  <a:srgbClr val="5B5F71"/>
                </a:solidFill>
                <a:latin typeface="Arimo"/>
                <a:ea typeface="Arimo"/>
                <a:cs typeface="Arimo"/>
                <a:sym typeface="Arimo"/>
              </a:rPr>
              <a:t>reglas</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formación</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identificadores</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ayuda</a:t>
            </a:r>
            <a:r>
              <a:rPr lang="en-US" sz="1000" dirty="0">
                <a:solidFill>
                  <a:srgbClr val="5B5F71"/>
                </a:solidFill>
                <a:latin typeface="Arimo"/>
                <a:ea typeface="Arimo"/>
                <a:cs typeface="Arimo"/>
                <a:sym typeface="Arimo"/>
              </a:rPr>
              <a:t> a </a:t>
            </a:r>
            <a:r>
              <a:rPr lang="en-US" sz="1000" dirty="0" err="1">
                <a:solidFill>
                  <a:srgbClr val="5B5F71"/>
                </a:solidFill>
                <a:latin typeface="Arimo"/>
                <a:ea typeface="Arimo"/>
                <a:cs typeface="Arimo"/>
                <a:sym typeface="Arimo"/>
              </a:rPr>
              <a:t>evitar</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problemas</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durante</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el</a:t>
            </a:r>
            <a:r>
              <a:rPr lang="en-US" sz="1000" dirty="0">
                <a:solidFill>
                  <a:srgbClr val="5B5F71"/>
                </a:solidFill>
                <a:latin typeface="Arimo"/>
                <a:ea typeface="Arimo"/>
                <a:cs typeface="Arimo"/>
                <a:sym typeface="Arimo"/>
              </a:rPr>
              <a:t> </a:t>
            </a:r>
            <a:r>
              <a:rPr lang="en-US" sz="1000" dirty="0" err="1">
                <a:solidFill>
                  <a:srgbClr val="5B5F71"/>
                </a:solidFill>
                <a:latin typeface="Arimo"/>
                <a:ea typeface="Arimo"/>
                <a:cs typeface="Arimo"/>
                <a:sym typeface="Arimo"/>
              </a:rPr>
              <a:t>proceso</a:t>
            </a:r>
            <a:r>
              <a:rPr lang="en-US" sz="1000" dirty="0">
                <a:solidFill>
                  <a:srgbClr val="5B5F71"/>
                </a:solidFill>
                <a:latin typeface="Arimo"/>
                <a:ea typeface="Arimo"/>
                <a:cs typeface="Arimo"/>
                <a:sym typeface="Arimo"/>
              </a:rPr>
              <a:t> de </a:t>
            </a:r>
            <a:r>
              <a:rPr lang="en-US" sz="1000" dirty="0" err="1">
                <a:solidFill>
                  <a:srgbClr val="5B5F71"/>
                </a:solidFill>
                <a:latin typeface="Arimo"/>
                <a:ea typeface="Arimo"/>
                <a:cs typeface="Arimo"/>
                <a:sym typeface="Arimo"/>
              </a:rPr>
              <a:t>compilación</a:t>
            </a:r>
            <a:r>
              <a:rPr lang="en-US" sz="1000" dirty="0">
                <a:solidFill>
                  <a:srgbClr val="5B5F71"/>
                </a:solidFill>
                <a:latin typeface="Arimo"/>
                <a:ea typeface="Arimo"/>
                <a:cs typeface="Arimo"/>
                <a:sym typeface="Arimo"/>
              </a:rPr>
              <a:t>.</a:t>
            </a:r>
          </a:p>
          <a:p>
            <a:pPr algn="l">
              <a:lnSpc>
                <a:spcPts val="1555"/>
              </a:lnSpc>
            </a:pPr>
            <a:endParaRPr lang="en-US" sz="1000" dirty="0">
              <a:solidFill>
                <a:srgbClr val="5B5F71"/>
              </a:solidFill>
              <a:latin typeface="Arimo"/>
              <a:ea typeface="Arimo"/>
              <a:cs typeface="Arimo"/>
              <a:sym typeface="Arim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19705" y="1625356"/>
            <a:ext cx="6550371" cy="488747"/>
            <a:chOff x="0" y="0"/>
            <a:chExt cx="8733828" cy="651662"/>
          </a:xfrm>
        </p:grpSpPr>
        <p:sp>
          <p:nvSpPr>
            <p:cNvPr id="3" name="Freeform 3"/>
            <p:cNvSpPr/>
            <p:nvPr/>
          </p:nvSpPr>
          <p:spPr>
            <a:xfrm>
              <a:off x="0" y="0"/>
              <a:ext cx="8733790" cy="651637"/>
            </a:xfrm>
            <a:custGeom>
              <a:avLst/>
              <a:gdLst/>
              <a:ahLst/>
              <a:cxnLst/>
              <a:rect l="l" t="t" r="r" b="b"/>
              <a:pathLst>
                <a:path w="8733790" h="651637">
                  <a:moveTo>
                    <a:pt x="0" y="96012"/>
                  </a:moveTo>
                  <a:cubicBezTo>
                    <a:pt x="0" y="42926"/>
                    <a:pt x="42926" y="0"/>
                    <a:pt x="96012" y="0"/>
                  </a:cubicBezTo>
                  <a:lnTo>
                    <a:pt x="8637778" y="0"/>
                  </a:lnTo>
                  <a:cubicBezTo>
                    <a:pt x="8690737" y="0"/>
                    <a:pt x="8733790" y="42926"/>
                    <a:pt x="8733790" y="96012"/>
                  </a:cubicBezTo>
                  <a:lnTo>
                    <a:pt x="8733790" y="555625"/>
                  </a:lnTo>
                  <a:cubicBezTo>
                    <a:pt x="8733790" y="608584"/>
                    <a:pt x="8690864" y="651637"/>
                    <a:pt x="8637778" y="651637"/>
                  </a:cubicBezTo>
                  <a:lnTo>
                    <a:pt x="96012" y="651637"/>
                  </a:lnTo>
                  <a:cubicBezTo>
                    <a:pt x="42926" y="651637"/>
                    <a:pt x="0" y="608711"/>
                    <a:pt x="0" y="555625"/>
                  </a:cubicBezTo>
                  <a:close/>
                </a:path>
              </a:pathLst>
            </a:custGeom>
            <a:solidFill>
              <a:srgbClr val="F2F2F2"/>
            </a:solidFill>
          </p:spPr>
        </p:sp>
      </p:grpSp>
      <p:grpSp>
        <p:nvGrpSpPr>
          <p:cNvPr id="4" name="Group 4"/>
          <p:cNvGrpSpPr/>
          <p:nvPr/>
        </p:nvGrpSpPr>
        <p:grpSpPr>
          <a:xfrm>
            <a:off x="611228" y="1625356"/>
            <a:ext cx="6567335" cy="488747"/>
            <a:chOff x="0" y="0"/>
            <a:chExt cx="8756447" cy="651662"/>
          </a:xfrm>
        </p:grpSpPr>
        <p:sp>
          <p:nvSpPr>
            <p:cNvPr id="5" name="Freeform 5"/>
            <p:cNvSpPr/>
            <p:nvPr/>
          </p:nvSpPr>
          <p:spPr>
            <a:xfrm>
              <a:off x="0" y="0"/>
              <a:ext cx="8756397" cy="651637"/>
            </a:xfrm>
            <a:custGeom>
              <a:avLst/>
              <a:gdLst/>
              <a:ahLst/>
              <a:cxnLst/>
              <a:rect l="l" t="t" r="r" b="b"/>
              <a:pathLst>
                <a:path w="8756397" h="651637">
                  <a:moveTo>
                    <a:pt x="0" y="34290"/>
                  </a:moveTo>
                  <a:cubicBezTo>
                    <a:pt x="0" y="15367"/>
                    <a:pt x="15367" y="0"/>
                    <a:pt x="34290" y="0"/>
                  </a:cubicBezTo>
                  <a:lnTo>
                    <a:pt x="8722106" y="0"/>
                  </a:lnTo>
                  <a:cubicBezTo>
                    <a:pt x="8741029" y="0"/>
                    <a:pt x="8756397" y="15367"/>
                    <a:pt x="8756397" y="34290"/>
                  </a:cubicBezTo>
                  <a:lnTo>
                    <a:pt x="8756397" y="617347"/>
                  </a:lnTo>
                  <a:cubicBezTo>
                    <a:pt x="8756397" y="636270"/>
                    <a:pt x="8741029" y="651637"/>
                    <a:pt x="8722106" y="651637"/>
                  </a:cubicBezTo>
                  <a:lnTo>
                    <a:pt x="34290" y="651637"/>
                  </a:lnTo>
                  <a:cubicBezTo>
                    <a:pt x="15367" y="651637"/>
                    <a:pt x="0" y="636270"/>
                    <a:pt x="0" y="617347"/>
                  </a:cubicBezTo>
                  <a:close/>
                </a:path>
              </a:pathLst>
            </a:custGeom>
            <a:solidFill>
              <a:srgbClr val="F2F2F2"/>
            </a:solidFill>
          </p:spPr>
        </p:sp>
      </p:grpSp>
      <p:grpSp>
        <p:nvGrpSpPr>
          <p:cNvPr id="6" name="Group 6"/>
          <p:cNvGrpSpPr/>
          <p:nvPr/>
        </p:nvGrpSpPr>
        <p:grpSpPr>
          <a:xfrm>
            <a:off x="614942" y="2697213"/>
            <a:ext cx="6559896" cy="4743450"/>
            <a:chOff x="0" y="0"/>
            <a:chExt cx="8746528" cy="6324600"/>
          </a:xfrm>
        </p:grpSpPr>
        <p:sp>
          <p:nvSpPr>
            <p:cNvPr id="7" name="Freeform 7"/>
            <p:cNvSpPr/>
            <p:nvPr/>
          </p:nvSpPr>
          <p:spPr>
            <a:xfrm>
              <a:off x="0" y="0"/>
              <a:ext cx="8746490" cy="6324600"/>
            </a:xfrm>
            <a:custGeom>
              <a:avLst/>
              <a:gdLst/>
              <a:ahLst/>
              <a:cxnLst/>
              <a:rect l="l" t="t" r="r" b="b"/>
              <a:pathLst>
                <a:path w="8746490" h="6324600">
                  <a:moveTo>
                    <a:pt x="0" y="102362"/>
                  </a:moveTo>
                  <a:cubicBezTo>
                    <a:pt x="0" y="45847"/>
                    <a:pt x="45847" y="0"/>
                    <a:pt x="102362" y="0"/>
                  </a:cubicBezTo>
                  <a:lnTo>
                    <a:pt x="8644128" y="0"/>
                  </a:lnTo>
                  <a:lnTo>
                    <a:pt x="8644128" y="6350"/>
                  </a:lnTo>
                  <a:lnTo>
                    <a:pt x="8644128" y="0"/>
                  </a:lnTo>
                  <a:cubicBezTo>
                    <a:pt x="8700643" y="0"/>
                    <a:pt x="8746490" y="45847"/>
                    <a:pt x="8746490" y="102362"/>
                  </a:cubicBezTo>
                  <a:lnTo>
                    <a:pt x="8740140" y="102362"/>
                  </a:lnTo>
                  <a:lnTo>
                    <a:pt x="8746490" y="102362"/>
                  </a:lnTo>
                  <a:lnTo>
                    <a:pt x="8746490" y="6222238"/>
                  </a:lnTo>
                  <a:lnTo>
                    <a:pt x="8740140" y="6222238"/>
                  </a:lnTo>
                  <a:lnTo>
                    <a:pt x="8746490" y="6222238"/>
                  </a:lnTo>
                  <a:cubicBezTo>
                    <a:pt x="8746490" y="6278753"/>
                    <a:pt x="8700643" y="6324600"/>
                    <a:pt x="8644128" y="6324600"/>
                  </a:cubicBezTo>
                  <a:lnTo>
                    <a:pt x="8644128" y="6318250"/>
                  </a:lnTo>
                  <a:lnTo>
                    <a:pt x="8644128" y="6324600"/>
                  </a:lnTo>
                  <a:lnTo>
                    <a:pt x="102362" y="6324600"/>
                  </a:lnTo>
                  <a:lnTo>
                    <a:pt x="102362" y="6318250"/>
                  </a:lnTo>
                  <a:lnTo>
                    <a:pt x="102362" y="6324600"/>
                  </a:lnTo>
                  <a:cubicBezTo>
                    <a:pt x="45847" y="6324600"/>
                    <a:pt x="0" y="6278753"/>
                    <a:pt x="0" y="6222238"/>
                  </a:cubicBezTo>
                  <a:lnTo>
                    <a:pt x="0" y="102362"/>
                  </a:lnTo>
                  <a:lnTo>
                    <a:pt x="6350" y="102362"/>
                  </a:lnTo>
                  <a:lnTo>
                    <a:pt x="0" y="102362"/>
                  </a:lnTo>
                  <a:moveTo>
                    <a:pt x="12700" y="102362"/>
                  </a:moveTo>
                  <a:lnTo>
                    <a:pt x="12700" y="6222238"/>
                  </a:lnTo>
                  <a:lnTo>
                    <a:pt x="6350" y="6222238"/>
                  </a:lnTo>
                  <a:lnTo>
                    <a:pt x="12700" y="6222238"/>
                  </a:lnTo>
                  <a:cubicBezTo>
                    <a:pt x="12700" y="6271768"/>
                    <a:pt x="52832" y="6311900"/>
                    <a:pt x="102362" y="6311900"/>
                  </a:cubicBezTo>
                  <a:lnTo>
                    <a:pt x="8644128" y="6311900"/>
                  </a:lnTo>
                  <a:cubicBezTo>
                    <a:pt x="8693658" y="6311900"/>
                    <a:pt x="8733790" y="6271768"/>
                    <a:pt x="8733790" y="6222238"/>
                  </a:cubicBezTo>
                  <a:lnTo>
                    <a:pt x="8733790" y="102362"/>
                  </a:lnTo>
                  <a:cubicBezTo>
                    <a:pt x="8733790" y="52832"/>
                    <a:pt x="8693658" y="12700"/>
                    <a:pt x="8644128" y="12700"/>
                  </a:cubicBezTo>
                  <a:lnTo>
                    <a:pt x="102362" y="12700"/>
                  </a:lnTo>
                  <a:lnTo>
                    <a:pt x="102362" y="6350"/>
                  </a:lnTo>
                  <a:lnTo>
                    <a:pt x="102362" y="12700"/>
                  </a:lnTo>
                  <a:cubicBezTo>
                    <a:pt x="52832" y="12700"/>
                    <a:pt x="12700" y="52832"/>
                    <a:pt x="12700" y="102362"/>
                  </a:cubicBezTo>
                  <a:close/>
                </a:path>
              </a:pathLst>
            </a:custGeom>
            <a:solidFill>
              <a:srgbClr val="000000">
                <a:alpha val="392"/>
              </a:srgbClr>
            </a:solidFill>
          </p:spPr>
        </p:sp>
      </p:grpSp>
      <p:grpSp>
        <p:nvGrpSpPr>
          <p:cNvPr id="8" name="Group 8"/>
          <p:cNvGrpSpPr/>
          <p:nvPr/>
        </p:nvGrpSpPr>
        <p:grpSpPr>
          <a:xfrm>
            <a:off x="629230" y="2711501"/>
            <a:ext cx="6531321" cy="392906"/>
            <a:chOff x="0" y="0"/>
            <a:chExt cx="8708428" cy="523875"/>
          </a:xfrm>
        </p:grpSpPr>
        <p:sp>
          <p:nvSpPr>
            <p:cNvPr id="9" name="Freeform 9"/>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FFFFFF">
                <a:alpha val="0"/>
              </a:srgbClr>
            </a:solidFill>
          </p:spPr>
        </p:sp>
      </p:grpSp>
      <p:grpSp>
        <p:nvGrpSpPr>
          <p:cNvPr id="10" name="Group 10"/>
          <p:cNvGrpSpPr/>
          <p:nvPr/>
        </p:nvGrpSpPr>
        <p:grpSpPr>
          <a:xfrm>
            <a:off x="629230" y="3104407"/>
            <a:ext cx="6531321" cy="392906"/>
            <a:chOff x="0" y="0"/>
            <a:chExt cx="8708428" cy="523875"/>
          </a:xfrm>
        </p:grpSpPr>
        <p:sp>
          <p:nvSpPr>
            <p:cNvPr id="11" name="Freeform 11"/>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000000">
                <a:alpha val="0"/>
              </a:srgbClr>
            </a:solidFill>
          </p:spPr>
        </p:sp>
      </p:grpSp>
      <p:grpSp>
        <p:nvGrpSpPr>
          <p:cNvPr id="12" name="Group 12"/>
          <p:cNvGrpSpPr/>
          <p:nvPr/>
        </p:nvGrpSpPr>
        <p:grpSpPr>
          <a:xfrm>
            <a:off x="629230" y="3497313"/>
            <a:ext cx="6531321" cy="392906"/>
            <a:chOff x="0" y="0"/>
            <a:chExt cx="8708428" cy="523875"/>
          </a:xfrm>
        </p:grpSpPr>
        <p:sp>
          <p:nvSpPr>
            <p:cNvPr id="13" name="Freeform 13"/>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FFFFFF">
                <a:alpha val="0"/>
              </a:srgbClr>
            </a:solidFill>
          </p:spPr>
        </p:sp>
      </p:grpSp>
      <p:grpSp>
        <p:nvGrpSpPr>
          <p:cNvPr id="14" name="Group 14"/>
          <p:cNvGrpSpPr/>
          <p:nvPr/>
        </p:nvGrpSpPr>
        <p:grpSpPr>
          <a:xfrm>
            <a:off x="629230" y="3890220"/>
            <a:ext cx="6531321" cy="392906"/>
            <a:chOff x="0" y="0"/>
            <a:chExt cx="8708428" cy="523875"/>
          </a:xfrm>
        </p:grpSpPr>
        <p:sp>
          <p:nvSpPr>
            <p:cNvPr id="15" name="Freeform 15"/>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000000">
                <a:alpha val="0"/>
              </a:srgbClr>
            </a:solidFill>
          </p:spPr>
        </p:sp>
      </p:grpSp>
      <p:grpSp>
        <p:nvGrpSpPr>
          <p:cNvPr id="16" name="Group 16"/>
          <p:cNvGrpSpPr/>
          <p:nvPr/>
        </p:nvGrpSpPr>
        <p:grpSpPr>
          <a:xfrm>
            <a:off x="629230" y="4283126"/>
            <a:ext cx="6531321" cy="392906"/>
            <a:chOff x="0" y="0"/>
            <a:chExt cx="8708428" cy="523875"/>
          </a:xfrm>
        </p:grpSpPr>
        <p:sp>
          <p:nvSpPr>
            <p:cNvPr id="17" name="Freeform 17"/>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FFFFFF">
                <a:alpha val="0"/>
              </a:srgbClr>
            </a:solidFill>
          </p:spPr>
        </p:sp>
      </p:grpSp>
      <p:grpSp>
        <p:nvGrpSpPr>
          <p:cNvPr id="18" name="Group 18"/>
          <p:cNvGrpSpPr/>
          <p:nvPr/>
        </p:nvGrpSpPr>
        <p:grpSpPr>
          <a:xfrm>
            <a:off x="629230" y="4676032"/>
            <a:ext cx="6531321" cy="392906"/>
            <a:chOff x="0" y="0"/>
            <a:chExt cx="8708428" cy="523875"/>
          </a:xfrm>
        </p:grpSpPr>
        <p:sp>
          <p:nvSpPr>
            <p:cNvPr id="19" name="Freeform 19"/>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000000">
                <a:alpha val="0"/>
              </a:srgbClr>
            </a:solidFill>
          </p:spPr>
        </p:sp>
      </p:grpSp>
      <p:grpSp>
        <p:nvGrpSpPr>
          <p:cNvPr id="20" name="Group 20"/>
          <p:cNvGrpSpPr/>
          <p:nvPr/>
        </p:nvGrpSpPr>
        <p:grpSpPr>
          <a:xfrm>
            <a:off x="629230" y="5068938"/>
            <a:ext cx="6531321" cy="392906"/>
            <a:chOff x="0" y="0"/>
            <a:chExt cx="8708428" cy="523875"/>
          </a:xfrm>
        </p:grpSpPr>
        <p:sp>
          <p:nvSpPr>
            <p:cNvPr id="21" name="Freeform 21"/>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FFFFFF">
                <a:alpha val="0"/>
              </a:srgbClr>
            </a:solidFill>
          </p:spPr>
        </p:sp>
      </p:grpSp>
      <p:grpSp>
        <p:nvGrpSpPr>
          <p:cNvPr id="22" name="Group 22"/>
          <p:cNvGrpSpPr/>
          <p:nvPr/>
        </p:nvGrpSpPr>
        <p:grpSpPr>
          <a:xfrm>
            <a:off x="629230" y="5461845"/>
            <a:ext cx="6531321" cy="392906"/>
            <a:chOff x="0" y="0"/>
            <a:chExt cx="8708428" cy="523875"/>
          </a:xfrm>
        </p:grpSpPr>
        <p:sp>
          <p:nvSpPr>
            <p:cNvPr id="23" name="Freeform 23"/>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000000">
                <a:alpha val="0"/>
              </a:srgbClr>
            </a:solidFill>
          </p:spPr>
        </p:sp>
      </p:grpSp>
      <p:grpSp>
        <p:nvGrpSpPr>
          <p:cNvPr id="24" name="Group 24"/>
          <p:cNvGrpSpPr/>
          <p:nvPr/>
        </p:nvGrpSpPr>
        <p:grpSpPr>
          <a:xfrm>
            <a:off x="629230" y="5854751"/>
            <a:ext cx="6531321" cy="392906"/>
            <a:chOff x="0" y="0"/>
            <a:chExt cx="8708428" cy="523875"/>
          </a:xfrm>
        </p:grpSpPr>
        <p:sp>
          <p:nvSpPr>
            <p:cNvPr id="25" name="Freeform 25"/>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FFFFFF">
                <a:alpha val="0"/>
              </a:srgbClr>
            </a:solidFill>
          </p:spPr>
        </p:sp>
      </p:grpSp>
      <p:grpSp>
        <p:nvGrpSpPr>
          <p:cNvPr id="26" name="Group 26"/>
          <p:cNvGrpSpPr/>
          <p:nvPr/>
        </p:nvGrpSpPr>
        <p:grpSpPr>
          <a:xfrm>
            <a:off x="629230" y="6247657"/>
            <a:ext cx="6531321" cy="392906"/>
            <a:chOff x="0" y="0"/>
            <a:chExt cx="8708428" cy="523875"/>
          </a:xfrm>
        </p:grpSpPr>
        <p:sp>
          <p:nvSpPr>
            <p:cNvPr id="27" name="Freeform 27"/>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000000">
                <a:alpha val="0"/>
              </a:srgbClr>
            </a:solidFill>
          </p:spPr>
        </p:sp>
      </p:grpSp>
      <p:grpSp>
        <p:nvGrpSpPr>
          <p:cNvPr id="28" name="Group 28"/>
          <p:cNvGrpSpPr/>
          <p:nvPr/>
        </p:nvGrpSpPr>
        <p:grpSpPr>
          <a:xfrm>
            <a:off x="629230" y="6640563"/>
            <a:ext cx="6531321" cy="392906"/>
            <a:chOff x="0" y="0"/>
            <a:chExt cx="8708428" cy="523875"/>
          </a:xfrm>
        </p:grpSpPr>
        <p:sp>
          <p:nvSpPr>
            <p:cNvPr id="29" name="Freeform 29"/>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FFFFFF">
                <a:alpha val="0"/>
              </a:srgbClr>
            </a:solidFill>
          </p:spPr>
        </p:sp>
      </p:grpSp>
      <p:grpSp>
        <p:nvGrpSpPr>
          <p:cNvPr id="30" name="Group 30"/>
          <p:cNvGrpSpPr/>
          <p:nvPr/>
        </p:nvGrpSpPr>
        <p:grpSpPr>
          <a:xfrm>
            <a:off x="629230" y="7033470"/>
            <a:ext cx="6531321" cy="392906"/>
            <a:chOff x="0" y="0"/>
            <a:chExt cx="8708428" cy="523875"/>
          </a:xfrm>
        </p:grpSpPr>
        <p:sp>
          <p:nvSpPr>
            <p:cNvPr id="31" name="Freeform 31"/>
            <p:cNvSpPr/>
            <p:nvPr/>
          </p:nvSpPr>
          <p:spPr>
            <a:xfrm>
              <a:off x="0" y="0"/>
              <a:ext cx="8708390" cy="523875"/>
            </a:xfrm>
            <a:custGeom>
              <a:avLst/>
              <a:gdLst/>
              <a:ahLst/>
              <a:cxnLst/>
              <a:rect l="l" t="t" r="r" b="b"/>
              <a:pathLst>
                <a:path w="8708390" h="523875">
                  <a:moveTo>
                    <a:pt x="0" y="0"/>
                  </a:moveTo>
                  <a:lnTo>
                    <a:pt x="8708390" y="0"/>
                  </a:lnTo>
                  <a:lnTo>
                    <a:pt x="8708390" y="523875"/>
                  </a:lnTo>
                  <a:lnTo>
                    <a:pt x="0" y="523875"/>
                  </a:lnTo>
                  <a:close/>
                </a:path>
              </a:pathLst>
            </a:custGeom>
            <a:solidFill>
              <a:srgbClr val="000000">
                <a:alpha val="0"/>
              </a:srgbClr>
            </a:solidFill>
          </p:spPr>
        </p:sp>
      </p:grpSp>
      <p:sp>
        <p:nvSpPr>
          <p:cNvPr id="32" name="Freeform 32"/>
          <p:cNvSpPr/>
          <p:nvPr/>
        </p:nvSpPr>
        <p:spPr>
          <a:xfrm>
            <a:off x="8957681" y="1250348"/>
            <a:ext cx="8301619" cy="5904527"/>
          </a:xfrm>
          <a:custGeom>
            <a:avLst/>
            <a:gdLst/>
            <a:ahLst/>
            <a:cxnLst/>
            <a:rect l="l" t="t" r="r" b="b"/>
            <a:pathLst>
              <a:path w="8301619" h="5904527">
                <a:moveTo>
                  <a:pt x="0" y="0"/>
                </a:moveTo>
                <a:lnTo>
                  <a:pt x="8301619" y="0"/>
                </a:lnTo>
                <a:lnTo>
                  <a:pt x="8301619" y="5904526"/>
                </a:lnTo>
                <a:lnTo>
                  <a:pt x="0" y="5904526"/>
                </a:lnTo>
                <a:lnTo>
                  <a:pt x="0" y="0"/>
                </a:lnTo>
                <a:close/>
              </a:path>
            </a:pathLst>
          </a:custGeom>
          <a:blipFill>
            <a:blip r:embed="rId3"/>
            <a:stretch>
              <a:fillRect/>
            </a:stretch>
          </a:blipFill>
        </p:spPr>
      </p:sp>
      <p:sp>
        <p:nvSpPr>
          <p:cNvPr id="33" name="TextBox 33"/>
          <p:cNvSpPr txBox="1"/>
          <p:nvPr/>
        </p:nvSpPr>
        <p:spPr>
          <a:xfrm>
            <a:off x="619705" y="300628"/>
            <a:ext cx="8337976" cy="500650"/>
          </a:xfrm>
          <a:prstGeom prst="rect">
            <a:avLst/>
          </a:prstGeom>
        </p:spPr>
        <p:txBody>
          <a:bodyPr wrap="square" lIns="0" tIns="0" rIns="0" bIns="0" rtlCol="0" anchor="t">
            <a:spAutoFit/>
          </a:bodyPr>
          <a:lstStyle/>
          <a:p>
            <a:pPr algn="l">
              <a:lnSpc>
                <a:spcPts val="4187"/>
              </a:lnSpc>
            </a:pPr>
            <a:r>
              <a:rPr lang="en-US" sz="3312" b="1" dirty="0" err="1">
                <a:solidFill>
                  <a:srgbClr val="505468"/>
                </a:solidFill>
                <a:latin typeface="Arimo Bold"/>
                <a:ea typeface="Arimo Bold"/>
                <a:cs typeface="Arimo Bold"/>
                <a:sym typeface="Arimo Bold"/>
              </a:rPr>
              <a:t>Ejercicio</a:t>
            </a:r>
            <a:r>
              <a:rPr lang="en-US" sz="3312" b="1" dirty="0">
                <a:solidFill>
                  <a:srgbClr val="505468"/>
                </a:solidFill>
                <a:latin typeface="Arimo Bold"/>
                <a:ea typeface="Arimo Bold"/>
                <a:cs typeface="Arimo Bold"/>
                <a:sym typeface="Arimo Bold"/>
              </a:rPr>
              <a:t> 5: </a:t>
            </a:r>
            <a:r>
              <a:rPr lang="en-US" sz="3312" b="1" dirty="0" err="1">
                <a:solidFill>
                  <a:srgbClr val="505468"/>
                </a:solidFill>
                <a:latin typeface="Arimo Bold"/>
                <a:ea typeface="Arimo Bold"/>
                <a:cs typeface="Arimo Bold"/>
                <a:sym typeface="Arimo Bold"/>
              </a:rPr>
              <a:t>Expresión</a:t>
            </a:r>
            <a:r>
              <a:rPr lang="en-US" sz="3312" b="1" dirty="0">
                <a:solidFill>
                  <a:srgbClr val="505468"/>
                </a:solidFill>
                <a:latin typeface="Arimo Bold"/>
                <a:ea typeface="Arimo Bold"/>
                <a:cs typeface="Arimo Bold"/>
                <a:sym typeface="Arimo Bold"/>
              </a:rPr>
              <a:t> </a:t>
            </a:r>
            <a:r>
              <a:rPr lang="en-US" sz="3312" b="1" dirty="0" err="1">
                <a:solidFill>
                  <a:srgbClr val="505468"/>
                </a:solidFill>
                <a:latin typeface="Arimo Bold"/>
                <a:ea typeface="Arimo Bold"/>
                <a:cs typeface="Arimo Bold"/>
                <a:sym typeface="Arimo Bold"/>
              </a:rPr>
              <a:t>compleja</a:t>
            </a:r>
            <a:endParaRPr lang="en-US" sz="3312" b="1" dirty="0">
              <a:solidFill>
                <a:srgbClr val="505468"/>
              </a:solidFill>
              <a:latin typeface="Arimo Bold"/>
              <a:ea typeface="Arimo Bold"/>
              <a:cs typeface="Arimo Bold"/>
              <a:sym typeface="Arimo Bold"/>
            </a:endParaRPr>
          </a:p>
        </p:txBody>
      </p:sp>
      <p:sp>
        <p:nvSpPr>
          <p:cNvPr id="34" name="TextBox 34"/>
          <p:cNvSpPr txBox="1"/>
          <p:nvPr/>
        </p:nvSpPr>
        <p:spPr>
          <a:xfrm>
            <a:off x="619705" y="1151630"/>
            <a:ext cx="2571455" cy="340519"/>
          </a:xfrm>
          <a:prstGeom prst="rect">
            <a:avLst/>
          </a:prstGeom>
        </p:spPr>
        <p:txBody>
          <a:bodyPr lIns="0" tIns="0" rIns="0" bIns="0" rtlCol="0" anchor="t">
            <a:spAutoFit/>
          </a:bodyPr>
          <a:lstStyle/>
          <a:p>
            <a:pPr algn="l">
              <a:lnSpc>
                <a:spcPts val="2500"/>
              </a:lnSpc>
            </a:pPr>
            <a:r>
              <a:rPr lang="en-US" sz="2000" b="1">
                <a:solidFill>
                  <a:srgbClr val="505468"/>
                </a:solidFill>
                <a:latin typeface="Arimo Bold"/>
                <a:ea typeface="Arimo Bold"/>
                <a:cs typeface="Arimo Bold"/>
                <a:sym typeface="Arimo Bold"/>
              </a:rPr>
              <a:t>Código analizado</a:t>
            </a:r>
          </a:p>
        </p:txBody>
      </p:sp>
      <p:sp>
        <p:nvSpPr>
          <p:cNvPr id="35" name="TextBox 35"/>
          <p:cNvSpPr txBox="1"/>
          <p:nvPr/>
        </p:nvSpPr>
        <p:spPr>
          <a:xfrm>
            <a:off x="782525" y="1696641"/>
            <a:ext cx="6224740" cy="255588"/>
          </a:xfrm>
          <a:prstGeom prst="rect">
            <a:avLst/>
          </a:prstGeom>
        </p:spPr>
        <p:txBody>
          <a:bodyPr lIns="0" tIns="0" rIns="0" bIns="0" rtlCol="0" anchor="t">
            <a:spAutoFit/>
          </a:bodyPr>
          <a:lstStyle/>
          <a:p>
            <a:pPr algn="l">
              <a:lnSpc>
                <a:spcPts val="1812"/>
              </a:lnSpc>
            </a:pPr>
            <a:r>
              <a:rPr lang="en-US" sz="1312">
                <a:solidFill>
                  <a:srgbClr val="5B5F71"/>
                </a:solidFill>
                <a:latin typeface="Consolas"/>
                <a:ea typeface="Consolas"/>
                <a:cs typeface="Consolas"/>
                <a:sym typeface="Consolas"/>
              </a:rPr>
              <a:t>double resultado = (a + b) * 2;</a:t>
            </a:r>
          </a:p>
        </p:txBody>
      </p:sp>
      <p:sp>
        <p:nvSpPr>
          <p:cNvPr id="36" name="TextBox 36"/>
          <p:cNvSpPr txBox="1"/>
          <p:nvPr/>
        </p:nvSpPr>
        <p:spPr>
          <a:xfrm>
            <a:off x="619704" y="2228259"/>
            <a:ext cx="4485695" cy="298864"/>
          </a:xfrm>
          <a:prstGeom prst="rect">
            <a:avLst/>
          </a:prstGeom>
        </p:spPr>
        <p:txBody>
          <a:bodyPr wrap="square" lIns="0" tIns="0" rIns="0" bIns="0" rtlCol="0" anchor="t">
            <a:spAutoFit/>
          </a:bodyPr>
          <a:lstStyle/>
          <a:p>
            <a:pPr algn="l">
              <a:lnSpc>
                <a:spcPts val="2500"/>
              </a:lnSpc>
            </a:pPr>
            <a:r>
              <a:rPr lang="en-US" sz="2000" b="1" dirty="0" err="1">
                <a:solidFill>
                  <a:srgbClr val="505468"/>
                </a:solidFill>
                <a:latin typeface="Arimo Bold"/>
                <a:ea typeface="Arimo Bold"/>
                <a:cs typeface="Arimo Bold"/>
                <a:sym typeface="Arimo Bold"/>
              </a:rPr>
              <a:t>Tabla</a:t>
            </a:r>
            <a:r>
              <a:rPr lang="en-US" sz="2000" b="1" dirty="0">
                <a:solidFill>
                  <a:srgbClr val="505468"/>
                </a:solidFill>
                <a:latin typeface="Arimo Bold"/>
                <a:ea typeface="Arimo Bold"/>
                <a:cs typeface="Arimo Bold"/>
                <a:sym typeface="Arimo Bold"/>
              </a:rPr>
              <a:t> de tokens </a:t>
            </a:r>
            <a:r>
              <a:rPr lang="en-US" sz="2000" b="1" dirty="0" err="1">
                <a:solidFill>
                  <a:srgbClr val="505468"/>
                </a:solidFill>
                <a:latin typeface="Arimo Bold"/>
                <a:ea typeface="Arimo Bold"/>
                <a:cs typeface="Arimo Bold"/>
                <a:sym typeface="Arimo Bold"/>
              </a:rPr>
              <a:t>identificados</a:t>
            </a:r>
            <a:endParaRPr lang="en-US" sz="2000" b="1" dirty="0">
              <a:solidFill>
                <a:srgbClr val="505468"/>
              </a:solidFill>
              <a:latin typeface="Arimo Bold"/>
              <a:ea typeface="Arimo Bold"/>
              <a:cs typeface="Arimo Bold"/>
              <a:sym typeface="Arimo Bold"/>
            </a:endParaRPr>
          </a:p>
        </p:txBody>
      </p:sp>
      <p:sp>
        <p:nvSpPr>
          <p:cNvPr id="37" name="TextBox 37"/>
          <p:cNvSpPr txBox="1"/>
          <p:nvPr/>
        </p:nvSpPr>
        <p:spPr>
          <a:xfrm>
            <a:off x="800680" y="2744391"/>
            <a:ext cx="2918222" cy="279502"/>
          </a:xfrm>
          <a:prstGeom prst="rect">
            <a:avLst/>
          </a:prstGeom>
        </p:spPr>
        <p:txBody>
          <a:bodyPr lIns="0" tIns="0" rIns="0" bIns="0" rtlCol="0" anchor="t">
            <a:spAutoFit/>
          </a:bodyPr>
          <a:lstStyle/>
          <a:p>
            <a:pPr algn="l">
              <a:lnSpc>
                <a:spcPts val="1812"/>
              </a:lnSpc>
            </a:pPr>
            <a:r>
              <a:rPr lang="en-US" sz="1312" b="1">
                <a:solidFill>
                  <a:srgbClr val="5B5F71"/>
                </a:solidFill>
                <a:latin typeface="Arimo Bold"/>
                <a:ea typeface="Arimo Bold"/>
                <a:cs typeface="Arimo Bold"/>
                <a:sym typeface="Arimo Bold"/>
              </a:rPr>
              <a:t>Token</a:t>
            </a:r>
          </a:p>
        </p:txBody>
      </p:sp>
      <p:sp>
        <p:nvSpPr>
          <p:cNvPr id="38" name="TextBox 38"/>
          <p:cNvSpPr txBox="1"/>
          <p:nvPr/>
        </p:nvSpPr>
        <p:spPr>
          <a:xfrm>
            <a:off x="4071031" y="2744391"/>
            <a:ext cx="2918222" cy="279502"/>
          </a:xfrm>
          <a:prstGeom prst="rect">
            <a:avLst/>
          </a:prstGeom>
        </p:spPr>
        <p:txBody>
          <a:bodyPr lIns="0" tIns="0" rIns="0" bIns="0" rtlCol="0" anchor="t">
            <a:spAutoFit/>
          </a:bodyPr>
          <a:lstStyle/>
          <a:p>
            <a:pPr algn="l">
              <a:lnSpc>
                <a:spcPts val="1812"/>
              </a:lnSpc>
            </a:pPr>
            <a:r>
              <a:rPr lang="en-US" sz="1312" b="1">
                <a:solidFill>
                  <a:srgbClr val="5B5F71"/>
                </a:solidFill>
                <a:latin typeface="Arimo Bold"/>
                <a:ea typeface="Arimo Bold"/>
                <a:cs typeface="Arimo Bold"/>
                <a:sym typeface="Arimo Bold"/>
              </a:rPr>
              <a:t>Tipo</a:t>
            </a:r>
          </a:p>
        </p:txBody>
      </p:sp>
      <p:sp>
        <p:nvSpPr>
          <p:cNvPr id="39" name="TextBox 39"/>
          <p:cNvSpPr txBox="1"/>
          <p:nvPr/>
        </p:nvSpPr>
        <p:spPr>
          <a:xfrm>
            <a:off x="800680" y="3137297"/>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double</a:t>
            </a:r>
          </a:p>
        </p:txBody>
      </p:sp>
      <p:sp>
        <p:nvSpPr>
          <p:cNvPr id="40" name="TextBox 40"/>
          <p:cNvSpPr txBox="1"/>
          <p:nvPr/>
        </p:nvSpPr>
        <p:spPr>
          <a:xfrm>
            <a:off x="4071031" y="3137297"/>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Palabra reservada</a:t>
            </a:r>
          </a:p>
        </p:txBody>
      </p:sp>
      <p:sp>
        <p:nvSpPr>
          <p:cNvPr id="41" name="TextBox 41"/>
          <p:cNvSpPr txBox="1"/>
          <p:nvPr/>
        </p:nvSpPr>
        <p:spPr>
          <a:xfrm>
            <a:off x="800680" y="3530203"/>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resultado</a:t>
            </a:r>
          </a:p>
        </p:txBody>
      </p:sp>
      <p:sp>
        <p:nvSpPr>
          <p:cNvPr id="42" name="TextBox 42"/>
          <p:cNvSpPr txBox="1"/>
          <p:nvPr/>
        </p:nvSpPr>
        <p:spPr>
          <a:xfrm>
            <a:off x="4071031" y="3530203"/>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Identificador</a:t>
            </a:r>
          </a:p>
        </p:txBody>
      </p:sp>
      <p:sp>
        <p:nvSpPr>
          <p:cNvPr id="43" name="TextBox 43"/>
          <p:cNvSpPr txBox="1"/>
          <p:nvPr/>
        </p:nvSpPr>
        <p:spPr>
          <a:xfrm>
            <a:off x="800680" y="3923109"/>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a:t>
            </a:r>
          </a:p>
        </p:txBody>
      </p:sp>
      <p:sp>
        <p:nvSpPr>
          <p:cNvPr id="44" name="TextBox 44"/>
          <p:cNvSpPr txBox="1"/>
          <p:nvPr/>
        </p:nvSpPr>
        <p:spPr>
          <a:xfrm>
            <a:off x="4071031" y="3923109"/>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Operador</a:t>
            </a:r>
          </a:p>
        </p:txBody>
      </p:sp>
      <p:sp>
        <p:nvSpPr>
          <p:cNvPr id="45" name="TextBox 45"/>
          <p:cNvSpPr txBox="1"/>
          <p:nvPr/>
        </p:nvSpPr>
        <p:spPr>
          <a:xfrm>
            <a:off x="800680" y="4316016"/>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a:t>
            </a:r>
          </a:p>
        </p:txBody>
      </p:sp>
      <p:sp>
        <p:nvSpPr>
          <p:cNvPr id="46" name="TextBox 46"/>
          <p:cNvSpPr txBox="1"/>
          <p:nvPr/>
        </p:nvSpPr>
        <p:spPr>
          <a:xfrm>
            <a:off x="4071031" y="4316016"/>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Delimitador</a:t>
            </a:r>
          </a:p>
        </p:txBody>
      </p:sp>
      <p:sp>
        <p:nvSpPr>
          <p:cNvPr id="47" name="TextBox 47"/>
          <p:cNvSpPr txBox="1"/>
          <p:nvPr/>
        </p:nvSpPr>
        <p:spPr>
          <a:xfrm>
            <a:off x="800680" y="4708922"/>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a</a:t>
            </a:r>
          </a:p>
        </p:txBody>
      </p:sp>
      <p:sp>
        <p:nvSpPr>
          <p:cNvPr id="48" name="TextBox 48"/>
          <p:cNvSpPr txBox="1"/>
          <p:nvPr/>
        </p:nvSpPr>
        <p:spPr>
          <a:xfrm>
            <a:off x="4071031" y="4708922"/>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Identificador</a:t>
            </a:r>
          </a:p>
        </p:txBody>
      </p:sp>
      <p:sp>
        <p:nvSpPr>
          <p:cNvPr id="49" name="TextBox 49"/>
          <p:cNvSpPr txBox="1"/>
          <p:nvPr/>
        </p:nvSpPr>
        <p:spPr>
          <a:xfrm>
            <a:off x="800680" y="5101828"/>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a:t>
            </a:r>
          </a:p>
        </p:txBody>
      </p:sp>
      <p:sp>
        <p:nvSpPr>
          <p:cNvPr id="50" name="TextBox 50"/>
          <p:cNvSpPr txBox="1"/>
          <p:nvPr/>
        </p:nvSpPr>
        <p:spPr>
          <a:xfrm>
            <a:off x="4071031" y="5101828"/>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Operador</a:t>
            </a:r>
          </a:p>
        </p:txBody>
      </p:sp>
      <p:sp>
        <p:nvSpPr>
          <p:cNvPr id="51" name="TextBox 51"/>
          <p:cNvSpPr txBox="1"/>
          <p:nvPr/>
        </p:nvSpPr>
        <p:spPr>
          <a:xfrm>
            <a:off x="800680" y="5494734"/>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b</a:t>
            </a:r>
          </a:p>
        </p:txBody>
      </p:sp>
      <p:sp>
        <p:nvSpPr>
          <p:cNvPr id="52" name="TextBox 52"/>
          <p:cNvSpPr txBox="1"/>
          <p:nvPr/>
        </p:nvSpPr>
        <p:spPr>
          <a:xfrm>
            <a:off x="4071031" y="5494734"/>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Identificador</a:t>
            </a:r>
          </a:p>
        </p:txBody>
      </p:sp>
      <p:sp>
        <p:nvSpPr>
          <p:cNvPr id="53" name="TextBox 53"/>
          <p:cNvSpPr txBox="1"/>
          <p:nvPr/>
        </p:nvSpPr>
        <p:spPr>
          <a:xfrm>
            <a:off x="800680" y="5887641"/>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a:t>
            </a:r>
          </a:p>
        </p:txBody>
      </p:sp>
      <p:sp>
        <p:nvSpPr>
          <p:cNvPr id="54" name="TextBox 54"/>
          <p:cNvSpPr txBox="1"/>
          <p:nvPr/>
        </p:nvSpPr>
        <p:spPr>
          <a:xfrm>
            <a:off x="4071031" y="5887641"/>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Delimitador</a:t>
            </a:r>
          </a:p>
        </p:txBody>
      </p:sp>
      <p:sp>
        <p:nvSpPr>
          <p:cNvPr id="55" name="TextBox 55"/>
          <p:cNvSpPr txBox="1"/>
          <p:nvPr/>
        </p:nvSpPr>
        <p:spPr>
          <a:xfrm>
            <a:off x="800680" y="6280547"/>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a:t>
            </a:r>
          </a:p>
        </p:txBody>
      </p:sp>
      <p:sp>
        <p:nvSpPr>
          <p:cNvPr id="56" name="TextBox 56"/>
          <p:cNvSpPr txBox="1"/>
          <p:nvPr/>
        </p:nvSpPr>
        <p:spPr>
          <a:xfrm>
            <a:off x="4071031" y="6280547"/>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Operador</a:t>
            </a:r>
          </a:p>
        </p:txBody>
      </p:sp>
      <p:sp>
        <p:nvSpPr>
          <p:cNvPr id="57" name="TextBox 57"/>
          <p:cNvSpPr txBox="1"/>
          <p:nvPr/>
        </p:nvSpPr>
        <p:spPr>
          <a:xfrm>
            <a:off x="800680" y="6673453"/>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2</a:t>
            </a:r>
          </a:p>
        </p:txBody>
      </p:sp>
      <p:sp>
        <p:nvSpPr>
          <p:cNvPr id="58" name="TextBox 58"/>
          <p:cNvSpPr txBox="1"/>
          <p:nvPr/>
        </p:nvSpPr>
        <p:spPr>
          <a:xfrm>
            <a:off x="4071031" y="6673453"/>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Número</a:t>
            </a:r>
          </a:p>
        </p:txBody>
      </p:sp>
      <p:sp>
        <p:nvSpPr>
          <p:cNvPr id="59" name="TextBox 59"/>
          <p:cNvSpPr txBox="1"/>
          <p:nvPr/>
        </p:nvSpPr>
        <p:spPr>
          <a:xfrm>
            <a:off x="800680" y="7066359"/>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a:t>
            </a:r>
          </a:p>
        </p:txBody>
      </p:sp>
      <p:sp>
        <p:nvSpPr>
          <p:cNvPr id="60" name="TextBox 60"/>
          <p:cNvSpPr txBox="1"/>
          <p:nvPr/>
        </p:nvSpPr>
        <p:spPr>
          <a:xfrm>
            <a:off x="4071031" y="7066359"/>
            <a:ext cx="2918222" cy="279502"/>
          </a:xfrm>
          <a:prstGeom prst="rect">
            <a:avLst/>
          </a:prstGeom>
        </p:spPr>
        <p:txBody>
          <a:bodyPr lIns="0" tIns="0" rIns="0" bIns="0" rtlCol="0" anchor="t">
            <a:spAutoFit/>
          </a:bodyPr>
          <a:lstStyle/>
          <a:p>
            <a:pPr algn="l">
              <a:lnSpc>
                <a:spcPts val="1812"/>
              </a:lnSpc>
            </a:pPr>
            <a:r>
              <a:rPr lang="en-US" sz="1312">
                <a:solidFill>
                  <a:srgbClr val="5B5F71"/>
                </a:solidFill>
                <a:latin typeface="Arimo"/>
                <a:ea typeface="Arimo"/>
                <a:cs typeface="Arimo"/>
                <a:sym typeface="Arimo"/>
              </a:rPr>
              <a:t>Delimitador</a:t>
            </a:r>
          </a:p>
        </p:txBody>
      </p:sp>
      <p:sp>
        <p:nvSpPr>
          <p:cNvPr id="61" name="TextBox 61"/>
          <p:cNvSpPr txBox="1"/>
          <p:nvPr/>
        </p:nvSpPr>
        <p:spPr>
          <a:xfrm>
            <a:off x="611228" y="7783563"/>
            <a:ext cx="16779374" cy="2075021"/>
          </a:xfrm>
          <a:prstGeom prst="rect">
            <a:avLst/>
          </a:prstGeom>
        </p:spPr>
        <p:txBody>
          <a:bodyPr lIns="0" tIns="0" rIns="0" bIns="0" rtlCol="0" anchor="t">
            <a:spAutoFit/>
          </a:bodyPr>
          <a:lstStyle/>
          <a:p>
            <a:pPr algn="l">
              <a:lnSpc>
                <a:spcPts val="1811"/>
              </a:lnSpc>
            </a:pPr>
            <a:r>
              <a:rPr lang="en-US" sz="1312">
                <a:solidFill>
                  <a:srgbClr val="5B5F71"/>
                </a:solidFill>
                <a:latin typeface="Arimo"/>
                <a:ea typeface="Arimo"/>
                <a:cs typeface="Arimo"/>
                <a:sym typeface="Arimo"/>
              </a:rPr>
              <a:t>En este ejercicio se analiza una expresión matemática más completa dentro de una instrucción de programación. El analizador léxico procesa el código double resultado = (a + b) * 2; y divide la instrucción en diferentes tokens que representan los elementos básicos del lenguaje.</a:t>
            </a:r>
          </a:p>
          <a:p>
            <a:pPr algn="l">
              <a:lnSpc>
                <a:spcPts val="1811"/>
              </a:lnSpc>
            </a:pPr>
            <a:endParaRPr lang="en-US" sz="1312">
              <a:solidFill>
                <a:srgbClr val="5B5F71"/>
              </a:solidFill>
              <a:latin typeface="Arimo"/>
              <a:ea typeface="Arimo"/>
              <a:cs typeface="Arimo"/>
              <a:sym typeface="Arimo"/>
            </a:endParaRPr>
          </a:p>
          <a:p>
            <a:pPr algn="l">
              <a:lnSpc>
                <a:spcPts val="1811"/>
              </a:lnSpc>
            </a:pPr>
            <a:r>
              <a:rPr lang="en-US" sz="1312">
                <a:solidFill>
                  <a:srgbClr val="5B5F71"/>
                </a:solidFill>
                <a:latin typeface="Arimo"/>
                <a:ea typeface="Arimo"/>
                <a:cs typeface="Arimo"/>
                <a:sym typeface="Arimo"/>
              </a:rPr>
              <a:t>En primer lugar, la palabra double es identificada como una palabra reservada utilizada para declarar variables de tipo decimal. Posteriormente se reconoce resultado como un identificador, es decir, el nombre de la variable que almacenará el resultado de la operación.</a:t>
            </a:r>
          </a:p>
          <a:p>
            <a:pPr algn="l">
              <a:lnSpc>
                <a:spcPts val="1811"/>
              </a:lnSpc>
            </a:pPr>
            <a:endParaRPr lang="en-US" sz="1312">
              <a:solidFill>
                <a:srgbClr val="5B5F71"/>
              </a:solidFill>
              <a:latin typeface="Arimo"/>
              <a:ea typeface="Arimo"/>
              <a:cs typeface="Arimo"/>
              <a:sym typeface="Arimo"/>
            </a:endParaRPr>
          </a:p>
          <a:p>
            <a:pPr algn="l">
              <a:lnSpc>
                <a:spcPts val="1812"/>
              </a:lnSpc>
            </a:pPr>
            <a:r>
              <a:rPr lang="en-US" sz="1312">
                <a:solidFill>
                  <a:srgbClr val="5B5F71"/>
                </a:solidFill>
                <a:latin typeface="Arimo"/>
                <a:ea typeface="Arimo"/>
                <a:cs typeface="Arimo"/>
                <a:sym typeface="Arimo"/>
              </a:rPr>
              <a:t>El símbolo = corresponde al operador de asignación. Los paréntesis ( ) son delimitadores que permiten agrupar la operación a + b, mientras que los símbolos + y * representan operadores aritméticos. Finalmente, el número 2 es reconocido como un valor numérico y el símbolo ; indica el final de la instrucción.</a:t>
            </a:r>
          </a:p>
          <a:p>
            <a:pPr algn="l">
              <a:lnSpc>
                <a:spcPts val="1811"/>
              </a:lnSpc>
            </a:pPr>
            <a:endParaRPr lang="en-US" sz="1312">
              <a:solidFill>
                <a:srgbClr val="5B5F71"/>
              </a:solidFill>
              <a:latin typeface="Arimo"/>
              <a:ea typeface="Arimo"/>
              <a:cs typeface="Arimo"/>
              <a:sym typeface="Arim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TextBox 33"/>
          <p:cNvSpPr txBox="1"/>
          <p:nvPr/>
        </p:nvSpPr>
        <p:spPr>
          <a:xfrm>
            <a:off x="619705" y="300628"/>
            <a:ext cx="8337976" cy="500650"/>
          </a:xfrm>
          <a:prstGeom prst="rect">
            <a:avLst/>
          </a:prstGeom>
        </p:spPr>
        <p:txBody>
          <a:bodyPr wrap="square" lIns="0" tIns="0" rIns="0" bIns="0" rtlCol="0" anchor="t">
            <a:spAutoFit/>
          </a:bodyPr>
          <a:lstStyle/>
          <a:p>
            <a:pPr algn="l">
              <a:lnSpc>
                <a:spcPts val="4187"/>
              </a:lnSpc>
            </a:pPr>
            <a:r>
              <a:rPr lang="en-US" sz="3312" b="1" dirty="0">
                <a:solidFill>
                  <a:srgbClr val="505468"/>
                </a:solidFill>
                <a:latin typeface="Arimo Bold"/>
                <a:ea typeface="Arimo Bold"/>
                <a:cs typeface="Arimo Bold"/>
                <a:sym typeface="Arimo Bold"/>
              </a:rPr>
              <a:t>Link de </a:t>
            </a:r>
            <a:r>
              <a:rPr lang="en-US" sz="3312" b="1" dirty="0" err="1">
                <a:solidFill>
                  <a:srgbClr val="505468"/>
                </a:solidFill>
                <a:latin typeface="Arimo Bold"/>
                <a:ea typeface="Arimo Bold"/>
                <a:cs typeface="Arimo Bold"/>
                <a:sym typeface="Arimo Bold"/>
              </a:rPr>
              <a:t>Repositorio</a:t>
            </a:r>
            <a:r>
              <a:rPr lang="en-US" sz="3312" b="1" dirty="0">
                <a:solidFill>
                  <a:srgbClr val="505468"/>
                </a:solidFill>
                <a:latin typeface="Arimo Bold"/>
                <a:ea typeface="Arimo Bold"/>
                <a:cs typeface="Arimo Bold"/>
                <a:sym typeface="Arimo Bold"/>
              </a:rPr>
              <a:t> </a:t>
            </a:r>
          </a:p>
        </p:txBody>
      </p:sp>
      <p:sp>
        <p:nvSpPr>
          <p:cNvPr id="65" name="CuadroTexto 64">
            <a:extLst>
              <a:ext uri="{FF2B5EF4-FFF2-40B4-BE49-F238E27FC236}">
                <a16:creationId xmlns:a16="http://schemas.microsoft.com/office/drawing/2014/main" id="{4B9366A9-73F0-5EDD-2C82-C952BF0D867D}"/>
              </a:ext>
            </a:extLst>
          </p:cNvPr>
          <p:cNvSpPr txBox="1"/>
          <p:nvPr/>
        </p:nvSpPr>
        <p:spPr>
          <a:xfrm>
            <a:off x="619704" y="1181100"/>
            <a:ext cx="17439696" cy="954107"/>
          </a:xfrm>
          <a:prstGeom prst="rect">
            <a:avLst/>
          </a:prstGeom>
          <a:noFill/>
        </p:spPr>
        <p:txBody>
          <a:bodyPr wrap="square">
            <a:spAutoFit/>
          </a:bodyPr>
          <a:lstStyle/>
          <a:p>
            <a:r>
              <a:rPr lang="es-MX" sz="2800" dirty="0">
                <a:hlinkClick r:id="rId3"/>
              </a:rPr>
              <a:t>https://github.com/amaurycolochos-cpu/LENGUAJES-Y-AUTOMATAS-1/tree/main/UNIDAD%204/AnalizadorLexicoFX</a:t>
            </a:r>
            <a:endParaRPr lang="es-MX" sz="2800" dirty="0"/>
          </a:p>
          <a:p>
            <a:endParaRPr lang="es-MX" sz="2800" dirty="0"/>
          </a:p>
        </p:txBody>
      </p:sp>
    </p:spTree>
    <p:extLst>
      <p:ext uri="{BB962C8B-B14F-4D97-AF65-F5344CB8AC3E}">
        <p14:creationId xmlns:p14="http://schemas.microsoft.com/office/powerpoint/2010/main" val="2189507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992238" y="1184377"/>
            <a:ext cx="6202261" cy="813197"/>
          </a:xfrm>
          <a:prstGeom prst="rect">
            <a:avLst/>
          </a:prstGeom>
        </p:spPr>
        <p:txBody>
          <a:bodyPr lIns="0" tIns="0" rIns="0" bIns="0" rtlCol="0" anchor="t">
            <a:spAutoFit/>
          </a:bodyPr>
          <a:lstStyle/>
          <a:p>
            <a:pPr algn="l">
              <a:lnSpc>
                <a:spcPts val="6062"/>
              </a:lnSpc>
            </a:pPr>
            <a:r>
              <a:rPr lang="en-US" sz="4875" b="1">
                <a:solidFill>
                  <a:srgbClr val="505468"/>
                </a:solidFill>
                <a:latin typeface="Arimo Bold"/>
                <a:ea typeface="Arimo Bold"/>
                <a:cs typeface="Arimo Bold"/>
                <a:sym typeface="Arimo Bold"/>
              </a:rPr>
              <a:t>Conclusión</a:t>
            </a:r>
          </a:p>
        </p:txBody>
      </p:sp>
      <p:grpSp>
        <p:nvGrpSpPr>
          <p:cNvPr id="3" name="Group 3"/>
          <p:cNvGrpSpPr/>
          <p:nvPr/>
        </p:nvGrpSpPr>
        <p:grpSpPr>
          <a:xfrm>
            <a:off x="987476" y="2488854"/>
            <a:ext cx="5278641" cy="3640779"/>
            <a:chOff x="0" y="0"/>
            <a:chExt cx="7038188" cy="4854372"/>
          </a:xfrm>
        </p:grpSpPr>
        <p:sp>
          <p:nvSpPr>
            <p:cNvPr id="4" name="Freeform 4"/>
            <p:cNvSpPr/>
            <p:nvPr/>
          </p:nvSpPr>
          <p:spPr>
            <a:xfrm>
              <a:off x="6350" y="6350"/>
              <a:ext cx="7025513" cy="4841621"/>
            </a:xfrm>
            <a:custGeom>
              <a:avLst/>
              <a:gdLst/>
              <a:ahLst/>
              <a:cxnLst/>
              <a:rect l="l" t="t" r="r" b="b"/>
              <a:pathLst>
                <a:path w="7025513" h="4841621">
                  <a:moveTo>
                    <a:pt x="0" y="138938"/>
                  </a:moveTo>
                  <a:cubicBezTo>
                    <a:pt x="0" y="62230"/>
                    <a:pt x="62230" y="0"/>
                    <a:pt x="139065" y="0"/>
                  </a:cubicBezTo>
                  <a:lnTo>
                    <a:pt x="6886448" y="0"/>
                  </a:lnTo>
                  <a:cubicBezTo>
                    <a:pt x="6963283" y="0"/>
                    <a:pt x="7025513" y="62230"/>
                    <a:pt x="7025513" y="138938"/>
                  </a:cubicBezTo>
                  <a:lnTo>
                    <a:pt x="7025513" y="4702683"/>
                  </a:lnTo>
                  <a:cubicBezTo>
                    <a:pt x="7025513" y="4779391"/>
                    <a:pt x="6963283" y="4841621"/>
                    <a:pt x="6886448" y="4841621"/>
                  </a:cubicBezTo>
                  <a:lnTo>
                    <a:pt x="139065" y="4841621"/>
                  </a:lnTo>
                  <a:cubicBezTo>
                    <a:pt x="62230" y="4841621"/>
                    <a:pt x="0" y="4779518"/>
                    <a:pt x="0" y="4702683"/>
                  </a:cubicBezTo>
                  <a:close/>
                </a:path>
              </a:pathLst>
            </a:custGeom>
            <a:solidFill>
              <a:srgbClr val="E2E3E9"/>
            </a:solidFill>
          </p:spPr>
        </p:sp>
        <p:sp>
          <p:nvSpPr>
            <p:cNvPr id="5" name="Freeform 5"/>
            <p:cNvSpPr/>
            <p:nvPr/>
          </p:nvSpPr>
          <p:spPr>
            <a:xfrm>
              <a:off x="0" y="0"/>
              <a:ext cx="7038213" cy="4854321"/>
            </a:xfrm>
            <a:custGeom>
              <a:avLst/>
              <a:gdLst/>
              <a:ahLst/>
              <a:cxnLst/>
              <a:rect l="l" t="t" r="r" b="b"/>
              <a:pathLst>
                <a:path w="7038213" h="4854321">
                  <a:moveTo>
                    <a:pt x="0" y="145288"/>
                  </a:moveTo>
                  <a:cubicBezTo>
                    <a:pt x="0" y="65024"/>
                    <a:pt x="65151" y="0"/>
                    <a:pt x="145415" y="0"/>
                  </a:cubicBezTo>
                  <a:lnTo>
                    <a:pt x="6892798" y="0"/>
                  </a:lnTo>
                  <a:lnTo>
                    <a:pt x="6892798" y="6350"/>
                  </a:lnTo>
                  <a:lnTo>
                    <a:pt x="6892798" y="0"/>
                  </a:lnTo>
                  <a:cubicBezTo>
                    <a:pt x="6973062" y="0"/>
                    <a:pt x="7038213" y="65024"/>
                    <a:pt x="7038213" y="145288"/>
                  </a:cubicBezTo>
                  <a:lnTo>
                    <a:pt x="7031863" y="145288"/>
                  </a:lnTo>
                  <a:lnTo>
                    <a:pt x="7038213" y="145288"/>
                  </a:lnTo>
                  <a:lnTo>
                    <a:pt x="7038213" y="4709033"/>
                  </a:lnTo>
                  <a:lnTo>
                    <a:pt x="7031863" y="4709033"/>
                  </a:lnTo>
                  <a:lnTo>
                    <a:pt x="7038213" y="4709033"/>
                  </a:lnTo>
                  <a:cubicBezTo>
                    <a:pt x="7038213" y="4789297"/>
                    <a:pt x="6973062" y="4854321"/>
                    <a:pt x="6892798" y="4854321"/>
                  </a:cubicBezTo>
                  <a:lnTo>
                    <a:pt x="6892798" y="4847971"/>
                  </a:lnTo>
                  <a:lnTo>
                    <a:pt x="6892798" y="4854321"/>
                  </a:lnTo>
                  <a:lnTo>
                    <a:pt x="145415" y="4854321"/>
                  </a:lnTo>
                  <a:lnTo>
                    <a:pt x="145415" y="4847971"/>
                  </a:lnTo>
                  <a:lnTo>
                    <a:pt x="145415" y="4854321"/>
                  </a:lnTo>
                  <a:cubicBezTo>
                    <a:pt x="65151" y="4854321"/>
                    <a:pt x="0" y="4789297"/>
                    <a:pt x="0" y="4709033"/>
                  </a:cubicBezTo>
                  <a:lnTo>
                    <a:pt x="0" y="145288"/>
                  </a:lnTo>
                  <a:lnTo>
                    <a:pt x="6350" y="145288"/>
                  </a:lnTo>
                  <a:lnTo>
                    <a:pt x="0" y="145288"/>
                  </a:lnTo>
                  <a:moveTo>
                    <a:pt x="12700" y="145288"/>
                  </a:moveTo>
                  <a:lnTo>
                    <a:pt x="12700" y="4709033"/>
                  </a:lnTo>
                  <a:lnTo>
                    <a:pt x="6350" y="4709033"/>
                  </a:lnTo>
                  <a:lnTo>
                    <a:pt x="12700" y="4709033"/>
                  </a:lnTo>
                  <a:cubicBezTo>
                    <a:pt x="12700" y="4782312"/>
                    <a:pt x="72136" y="4841621"/>
                    <a:pt x="145415" y="4841621"/>
                  </a:cubicBezTo>
                  <a:lnTo>
                    <a:pt x="6892798" y="4841621"/>
                  </a:lnTo>
                  <a:cubicBezTo>
                    <a:pt x="6966077" y="4841621"/>
                    <a:pt x="7025513" y="4782185"/>
                    <a:pt x="7025513" y="4709033"/>
                  </a:cubicBezTo>
                  <a:lnTo>
                    <a:pt x="7025513" y="145288"/>
                  </a:lnTo>
                  <a:cubicBezTo>
                    <a:pt x="7025513" y="72136"/>
                    <a:pt x="6966077" y="12700"/>
                    <a:pt x="6892798" y="12700"/>
                  </a:cubicBezTo>
                  <a:lnTo>
                    <a:pt x="145415" y="12700"/>
                  </a:lnTo>
                  <a:lnTo>
                    <a:pt x="145415" y="6350"/>
                  </a:lnTo>
                  <a:lnTo>
                    <a:pt x="145415" y="12700"/>
                  </a:lnTo>
                  <a:cubicBezTo>
                    <a:pt x="72136" y="12700"/>
                    <a:pt x="12700" y="72136"/>
                    <a:pt x="12700" y="145288"/>
                  </a:cubicBezTo>
                  <a:close/>
                </a:path>
              </a:pathLst>
            </a:custGeom>
            <a:solidFill>
              <a:srgbClr val="C8C9CF"/>
            </a:solidFill>
          </p:spPr>
        </p:sp>
      </p:grpSp>
      <p:grpSp>
        <p:nvGrpSpPr>
          <p:cNvPr id="6" name="Group 6"/>
          <p:cNvGrpSpPr/>
          <p:nvPr/>
        </p:nvGrpSpPr>
        <p:grpSpPr>
          <a:xfrm>
            <a:off x="1249709" y="2751087"/>
            <a:ext cx="744141" cy="744141"/>
            <a:chOff x="0" y="0"/>
            <a:chExt cx="992188" cy="992188"/>
          </a:xfrm>
        </p:grpSpPr>
        <p:sp>
          <p:nvSpPr>
            <p:cNvPr id="7" name="Freeform 7" descr="preencoded.png"/>
            <p:cNvSpPr/>
            <p:nvPr/>
          </p:nvSpPr>
          <p:spPr>
            <a:xfrm>
              <a:off x="0" y="0"/>
              <a:ext cx="992251" cy="992251"/>
            </a:xfrm>
            <a:custGeom>
              <a:avLst/>
              <a:gdLst/>
              <a:ahLst/>
              <a:cxnLst/>
              <a:rect l="l" t="t" r="r" b="b"/>
              <a:pathLst>
                <a:path w="992251" h="992251">
                  <a:moveTo>
                    <a:pt x="0" y="0"/>
                  </a:moveTo>
                  <a:lnTo>
                    <a:pt x="992251" y="0"/>
                  </a:lnTo>
                  <a:lnTo>
                    <a:pt x="992251" y="992251"/>
                  </a:lnTo>
                  <a:lnTo>
                    <a:pt x="0" y="992251"/>
                  </a:lnTo>
                  <a:lnTo>
                    <a:pt x="0" y="0"/>
                  </a:lnTo>
                  <a:close/>
                </a:path>
              </a:pathLst>
            </a:custGeom>
            <a:blipFill>
              <a:blip r:embed="rId3"/>
              <a:stretch>
                <a:fillRect r="6" b="6"/>
              </a:stretch>
            </a:blipFill>
          </p:spPr>
        </p:sp>
      </p:grpSp>
      <p:sp>
        <p:nvSpPr>
          <p:cNvPr id="8" name="Freeform 8" descr="preencoded.png"/>
          <p:cNvSpPr/>
          <p:nvPr/>
        </p:nvSpPr>
        <p:spPr>
          <a:xfrm>
            <a:off x="1454353" y="2955579"/>
            <a:ext cx="334861" cy="334861"/>
          </a:xfrm>
          <a:custGeom>
            <a:avLst/>
            <a:gdLst/>
            <a:ahLst/>
            <a:cxnLst/>
            <a:rect l="l" t="t" r="r" b="b"/>
            <a:pathLst>
              <a:path w="334861" h="334861">
                <a:moveTo>
                  <a:pt x="0" y="0"/>
                </a:moveTo>
                <a:lnTo>
                  <a:pt x="334861" y="0"/>
                </a:lnTo>
                <a:lnTo>
                  <a:pt x="334861" y="334861"/>
                </a:lnTo>
                <a:lnTo>
                  <a:pt x="0" y="334861"/>
                </a:lnTo>
                <a:lnTo>
                  <a:pt x="0" y="0"/>
                </a:lnTo>
                <a:close/>
              </a:path>
            </a:pathLst>
          </a:custGeom>
          <a:blipFill>
            <a:blip r:embed="rId4">
              <a:extLst>
                <a:ext uri="{96DAC541-7B7A-43D3-8B79-37D633B846F1}">
                  <asvg:svgBlip xmlns:asvg="http://schemas.microsoft.com/office/drawing/2016/SVG/main" r:embed="rId5"/>
                </a:ext>
              </a:extLst>
            </a:blip>
            <a:stretch>
              <a:fillRect t="-18056" b="-18056"/>
            </a:stretch>
          </a:blipFill>
        </p:spPr>
      </p:sp>
      <p:sp>
        <p:nvSpPr>
          <p:cNvPr id="9" name="TextBox 9"/>
          <p:cNvSpPr txBox="1"/>
          <p:nvPr/>
        </p:nvSpPr>
        <p:spPr>
          <a:xfrm>
            <a:off x="1249709" y="3733648"/>
            <a:ext cx="4533338" cy="359714"/>
          </a:xfrm>
          <a:prstGeom prst="rect">
            <a:avLst/>
          </a:prstGeom>
        </p:spPr>
        <p:txBody>
          <a:bodyPr wrap="square" lIns="0" tIns="0" rIns="0" bIns="0" rtlCol="0" anchor="t">
            <a:spAutoFit/>
          </a:bodyPr>
          <a:lstStyle/>
          <a:p>
            <a:pPr algn="l">
              <a:lnSpc>
                <a:spcPts val="2999"/>
              </a:lnSpc>
            </a:pPr>
            <a:r>
              <a:rPr lang="en-US" sz="2437" b="1" dirty="0" err="1">
                <a:solidFill>
                  <a:srgbClr val="5B5F71"/>
                </a:solidFill>
                <a:latin typeface="Arimo Bold"/>
                <a:ea typeface="Arimo Bold"/>
                <a:cs typeface="Arimo Bold"/>
                <a:sym typeface="Arimo Bold"/>
              </a:rPr>
              <a:t>Comprensión</a:t>
            </a:r>
            <a:r>
              <a:rPr lang="en-US" sz="2437" b="1" dirty="0">
                <a:solidFill>
                  <a:srgbClr val="5B5F71"/>
                </a:solidFill>
                <a:latin typeface="Arimo Bold"/>
                <a:ea typeface="Arimo Bold"/>
                <a:cs typeface="Arimo Bold"/>
                <a:sym typeface="Arimo Bold"/>
              </a:rPr>
              <a:t> del </a:t>
            </a:r>
            <a:r>
              <a:rPr lang="en-US" sz="2437" b="1" dirty="0" err="1">
                <a:solidFill>
                  <a:srgbClr val="5B5F71"/>
                </a:solidFill>
                <a:latin typeface="Arimo Bold"/>
                <a:ea typeface="Arimo Bold"/>
                <a:cs typeface="Arimo Bold"/>
                <a:sym typeface="Arimo Bold"/>
              </a:rPr>
              <a:t>proceso</a:t>
            </a:r>
            <a:endParaRPr lang="en-US" sz="2437" b="1" dirty="0">
              <a:solidFill>
                <a:srgbClr val="5B5F71"/>
              </a:solidFill>
              <a:latin typeface="Arimo Bold"/>
              <a:ea typeface="Arimo Bold"/>
              <a:cs typeface="Arimo Bold"/>
              <a:sym typeface="Arimo Bold"/>
            </a:endParaRPr>
          </a:p>
        </p:txBody>
      </p:sp>
      <p:sp>
        <p:nvSpPr>
          <p:cNvPr id="10" name="TextBox 10"/>
          <p:cNvSpPr txBox="1"/>
          <p:nvPr/>
        </p:nvSpPr>
        <p:spPr>
          <a:xfrm>
            <a:off x="1249709" y="4184447"/>
            <a:ext cx="4754166" cy="1682953"/>
          </a:xfrm>
          <a:prstGeom prst="rect">
            <a:avLst/>
          </a:prstGeom>
        </p:spPr>
        <p:txBody>
          <a:bodyPr lIns="0" tIns="0" rIns="0" bIns="0" rtlCol="0" anchor="t">
            <a:spAutoFit/>
          </a:bodyPr>
          <a:lstStyle/>
          <a:p>
            <a:pPr algn="l">
              <a:lnSpc>
                <a:spcPts val="3125"/>
              </a:lnSpc>
            </a:pPr>
            <a:r>
              <a:rPr lang="en-US" sz="1937">
                <a:solidFill>
                  <a:srgbClr val="5B5F71"/>
                </a:solidFill>
                <a:latin typeface="Arimo"/>
                <a:ea typeface="Arimo"/>
                <a:cs typeface="Arimo"/>
                <a:sym typeface="Arimo"/>
              </a:rPr>
              <a:t>Los ejercicios permitieron comprender cómo funciona el análisis léxico dentro del proceso de compilación de un programa</a:t>
            </a:r>
          </a:p>
        </p:txBody>
      </p:sp>
      <p:grpSp>
        <p:nvGrpSpPr>
          <p:cNvPr id="11" name="Group 11"/>
          <p:cNvGrpSpPr/>
          <p:nvPr/>
        </p:nvGrpSpPr>
        <p:grpSpPr>
          <a:xfrm>
            <a:off x="6504537" y="2488854"/>
            <a:ext cx="5278784" cy="3640779"/>
            <a:chOff x="0" y="0"/>
            <a:chExt cx="7038378" cy="4854372"/>
          </a:xfrm>
        </p:grpSpPr>
        <p:sp>
          <p:nvSpPr>
            <p:cNvPr id="12" name="Freeform 12"/>
            <p:cNvSpPr/>
            <p:nvPr/>
          </p:nvSpPr>
          <p:spPr>
            <a:xfrm>
              <a:off x="6350" y="6350"/>
              <a:ext cx="7025640" cy="4841621"/>
            </a:xfrm>
            <a:custGeom>
              <a:avLst/>
              <a:gdLst/>
              <a:ahLst/>
              <a:cxnLst/>
              <a:rect l="l" t="t" r="r" b="b"/>
              <a:pathLst>
                <a:path w="7025640" h="4841621">
                  <a:moveTo>
                    <a:pt x="0" y="138938"/>
                  </a:moveTo>
                  <a:cubicBezTo>
                    <a:pt x="0" y="62230"/>
                    <a:pt x="62230" y="0"/>
                    <a:pt x="139065" y="0"/>
                  </a:cubicBezTo>
                  <a:lnTo>
                    <a:pt x="6886575" y="0"/>
                  </a:lnTo>
                  <a:cubicBezTo>
                    <a:pt x="6963410" y="0"/>
                    <a:pt x="7025640" y="62230"/>
                    <a:pt x="7025640" y="138938"/>
                  </a:cubicBezTo>
                  <a:lnTo>
                    <a:pt x="7025640" y="4702683"/>
                  </a:lnTo>
                  <a:cubicBezTo>
                    <a:pt x="7025640" y="4779391"/>
                    <a:pt x="6963410" y="4841621"/>
                    <a:pt x="6886575" y="4841621"/>
                  </a:cubicBezTo>
                  <a:lnTo>
                    <a:pt x="139065" y="4841621"/>
                  </a:lnTo>
                  <a:cubicBezTo>
                    <a:pt x="62230" y="4841621"/>
                    <a:pt x="0" y="4779518"/>
                    <a:pt x="0" y="4702683"/>
                  </a:cubicBezTo>
                  <a:close/>
                </a:path>
              </a:pathLst>
            </a:custGeom>
            <a:solidFill>
              <a:srgbClr val="E2E3E9"/>
            </a:solidFill>
          </p:spPr>
        </p:sp>
        <p:sp>
          <p:nvSpPr>
            <p:cNvPr id="13" name="Freeform 13"/>
            <p:cNvSpPr/>
            <p:nvPr/>
          </p:nvSpPr>
          <p:spPr>
            <a:xfrm>
              <a:off x="0" y="0"/>
              <a:ext cx="7038340" cy="4854321"/>
            </a:xfrm>
            <a:custGeom>
              <a:avLst/>
              <a:gdLst/>
              <a:ahLst/>
              <a:cxnLst/>
              <a:rect l="l" t="t" r="r" b="b"/>
              <a:pathLst>
                <a:path w="7038340" h="4854321">
                  <a:moveTo>
                    <a:pt x="0" y="145288"/>
                  </a:moveTo>
                  <a:cubicBezTo>
                    <a:pt x="0" y="65024"/>
                    <a:pt x="65151" y="0"/>
                    <a:pt x="145415" y="0"/>
                  </a:cubicBezTo>
                  <a:lnTo>
                    <a:pt x="6892925" y="0"/>
                  </a:lnTo>
                  <a:lnTo>
                    <a:pt x="6892925" y="6350"/>
                  </a:lnTo>
                  <a:lnTo>
                    <a:pt x="6892925" y="0"/>
                  </a:lnTo>
                  <a:cubicBezTo>
                    <a:pt x="6973189" y="0"/>
                    <a:pt x="7038340" y="65024"/>
                    <a:pt x="7038340" y="145288"/>
                  </a:cubicBezTo>
                  <a:lnTo>
                    <a:pt x="7031990" y="145288"/>
                  </a:lnTo>
                  <a:lnTo>
                    <a:pt x="7038340" y="145288"/>
                  </a:lnTo>
                  <a:lnTo>
                    <a:pt x="7038340" y="4709033"/>
                  </a:lnTo>
                  <a:lnTo>
                    <a:pt x="7031990" y="4709033"/>
                  </a:lnTo>
                  <a:lnTo>
                    <a:pt x="7038340" y="4709033"/>
                  </a:lnTo>
                  <a:cubicBezTo>
                    <a:pt x="7038340" y="4789297"/>
                    <a:pt x="6973189" y="4854321"/>
                    <a:pt x="6892925" y="4854321"/>
                  </a:cubicBezTo>
                  <a:lnTo>
                    <a:pt x="6892925" y="4847971"/>
                  </a:lnTo>
                  <a:lnTo>
                    <a:pt x="6892925" y="4854321"/>
                  </a:lnTo>
                  <a:lnTo>
                    <a:pt x="145415" y="4854321"/>
                  </a:lnTo>
                  <a:lnTo>
                    <a:pt x="145415" y="4847971"/>
                  </a:lnTo>
                  <a:lnTo>
                    <a:pt x="145415" y="4854321"/>
                  </a:lnTo>
                  <a:cubicBezTo>
                    <a:pt x="65151" y="4854321"/>
                    <a:pt x="0" y="4789297"/>
                    <a:pt x="0" y="4709033"/>
                  </a:cubicBezTo>
                  <a:lnTo>
                    <a:pt x="0" y="145288"/>
                  </a:lnTo>
                  <a:lnTo>
                    <a:pt x="6350" y="145288"/>
                  </a:lnTo>
                  <a:lnTo>
                    <a:pt x="0" y="145288"/>
                  </a:lnTo>
                  <a:moveTo>
                    <a:pt x="12700" y="145288"/>
                  </a:moveTo>
                  <a:lnTo>
                    <a:pt x="12700" y="4709033"/>
                  </a:lnTo>
                  <a:lnTo>
                    <a:pt x="6350" y="4709033"/>
                  </a:lnTo>
                  <a:lnTo>
                    <a:pt x="12700" y="4709033"/>
                  </a:lnTo>
                  <a:cubicBezTo>
                    <a:pt x="12700" y="4782312"/>
                    <a:pt x="72136" y="4841621"/>
                    <a:pt x="145415" y="4841621"/>
                  </a:cubicBezTo>
                  <a:lnTo>
                    <a:pt x="6892925" y="4841621"/>
                  </a:lnTo>
                  <a:cubicBezTo>
                    <a:pt x="6966203" y="4841621"/>
                    <a:pt x="7025640" y="4782185"/>
                    <a:pt x="7025640" y="4709033"/>
                  </a:cubicBezTo>
                  <a:lnTo>
                    <a:pt x="7025640" y="145288"/>
                  </a:lnTo>
                  <a:cubicBezTo>
                    <a:pt x="7025640" y="72136"/>
                    <a:pt x="6966204" y="12700"/>
                    <a:pt x="6892925" y="12700"/>
                  </a:cubicBezTo>
                  <a:lnTo>
                    <a:pt x="145415" y="12700"/>
                  </a:lnTo>
                  <a:lnTo>
                    <a:pt x="145415" y="6350"/>
                  </a:lnTo>
                  <a:lnTo>
                    <a:pt x="145415" y="12700"/>
                  </a:lnTo>
                  <a:cubicBezTo>
                    <a:pt x="72136" y="12700"/>
                    <a:pt x="12700" y="72136"/>
                    <a:pt x="12700" y="145288"/>
                  </a:cubicBezTo>
                  <a:close/>
                </a:path>
              </a:pathLst>
            </a:custGeom>
            <a:solidFill>
              <a:srgbClr val="C8C9CF"/>
            </a:solidFill>
          </p:spPr>
        </p:sp>
      </p:grpSp>
      <p:grpSp>
        <p:nvGrpSpPr>
          <p:cNvPr id="14" name="Group 14"/>
          <p:cNvGrpSpPr/>
          <p:nvPr/>
        </p:nvGrpSpPr>
        <p:grpSpPr>
          <a:xfrm>
            <a:off x="6766770" y="2751087"/>
            <a:ext cx="744141" cy="744141"/>
            <a:chOff x="0" y="0"/>
            <a:chExt cx="992188" cy="992188"/>
          </a:xfrm>
        </p:grpSpPr>
        <p:sp>
          <p:nvSpPr>
            <p:cNvPr id="15" name="Freeform 15" descr="preencoded.png"/>
            <p:cNvSpPr/>
            <p:nvPr/>
          </p:nvSpPr>
          <p:spPr>
            <a:xfrm>
              <a:off x="0" y="0"/>
              <a:ext cx="992251" cy="992251"/>
            </a:xfrm>
            <a:custGeom>
              <a:avLst/>
              <a:gdLst/>
              <a:ahLst/>
              <a:cxnLst/>
              <a:rect l="l" t="t" r="r" b="b"/>
              <a:pathLst>
                <a:path w="992251" h="992251">
                  <a:moveTo>
                    <a:pt x="0" y="0"/>
                  </a:moveTo>
                  <a:lnTo>
                    <a:pt x="992251" y="0"/>
                  </a:lnTo>
                  <a:lnTo>
                    <a:pt x="992251" y="992251"/>
                  </a:lnTo>
                  <a:lnTo>
                    <a:pt x="0" y="992251"/>
                  </a:lnTo>
                  <a:lnTo>
                    <a:pt x="0" y="0"/>
                  </a:lnTo>
                  <a:close/>
                </a:path>
              </a:pathLst>
            </a:custGeom>
            <a:blipFill>
              <a:blip r:embed="rId6"/>
              <a:stretch>
                <a:fillRect r="6" b="6"/>
              </a:stretch>
            </a:blipFill>
          </p:spPr>
        </p:sp>
      </p:grpSp>
      <p:sp>
        <p:nvSpPr>
          <p:cNvPr id="16" name="Freeform 16" descr="preencoded.png"/>
          <p:cNvSpPr/>
          <p:nvPr/>
        </p:nvSpPr>
        <p:spPr>
          <a:xfrm>
            <a:off x="6971405" y="2955579"/>
            <a:ext cx="334861" cy="334861"/>
          </a:xfrm>
          <a:custGeom>
            <a:avLst/>
            <a:gdLst/>
            <a:ahLst/>
            <a:cxnLst/>
            <a:rect l="l" t="t" r="r" b="b"/>
            <a:pathLst>
              <a:path w="334861" h="334861">
                <a:moveTo>
                  <a:pt x="0" y="0"/>
                </a:moveTo>
                <a:lnTo>
                  <a:pt x="334861" y="0"/>
                </a:lnTo>
                <a:lnTo>
                  <a:pt x="334861" y="334861"/>
                </a:lnTo>
                <a:lnTo>
                  <a:pt x="0" y="334861"/>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sp>
      <p:sp>
        <p:nvSpPr>
          <p:cNvPr id="17" name="TextBox 17"/>
          <p:cNvSpPr txBox="1"/>
          <p:nvPr/>
        </p:nvSpPr>
        <p:spPr>
          <a:xfrm>
            <a:off x="6766770" y="3733648"/>
            <a:ext cx="4754318" cy="359714"/>
          </a:xfrm>
          <a:prstGeom prst="rect">
            <a:avLst/>
          </a:prstGeom>
        </p:spPr>
        <p:txBody>
          <a:bodyPr wrap="square" lIns="0" tIns="0" rIns="0" bIns="0" rtlCol="0" anchor="t">
            <a:spAutoFit/>
          </a:bodyPr>
          <a:lstStyle/>
          <a:p>
            <a:pPr algn="l">
              <a:lnSpc>
                <a:spcPts val="2999"/>
              </a:lnSpc>
            </a:pPr>
            <a:r>
              <a:rPr lang="en-US" sz="2437" b="1" dirty="0" err="1">
                <a:solidFill>
                  <a:srgbClr val="5B5F71"/>
                </a:solidFill>
                <a:latin typeface="Arimo Bold"/>
                <a:ea typeface="Arimo Bold"/>
                <a:cs typeface="Arimo Bold"/>
                <a:sym typeface="Arimo Bold"/>
              </a:rPr>
              <a:t>Identificación</a:t>
            </a:r>
            <a:r>
              <a:rPr lang="en-US" sz="2437" b="1" dirty="0">
                <a:solidFill>
                  <a:srgbClr val="5B5F71"/>
                </a:solidFill>
                <a:latin typeface="Arimo Bold"/>
                <a:ea typeface="Arimo Bold"/>
                <a:cs typeface="Arimo Bold"/>
                <a:sym typeface="Arimo Bold"/>
              </a:rPr>
              <a:t> de </a:t>
            </a:r>
            <a:r>
              <a:rPr lang="en-US" sz="2437" b="1" dirty="0" err="1">
                <a:solidFill>
                  <a:srgbClr val="5B5F71"/>
                </a:solidFill>
                <a:latin typeface="Arimo Bold"/>
                <a:ea typeface="Arimo Bold"/>
                <a:cs typeface="Arimo Bold"/>
                <a:sym typeface="Arimo Bold"/>
              </a:rPr>
              <a:t>elementos</a:t>
            </a:r>
            <a:endParaRPr lang="en-US" sz="2437" b="1" dirty="0">
              <a:solidFill>
                <a:srgbClr val="5B5F71"/>
              </a:solidFill>
              <a:latin typeface="Arimo Bold"/>
              <a:ea typeface="Arimo Bold"/>
              <a:cs typeface="Arimo Bold"/>
              <a:sym typeface="Arimo Bold"/>
            </a:endParaRPr>
          </a:p>
        </p:txBody>
      </p:sp>
      <p:sp>
        <p:nvSpPr>
          <p:cNvPr id="18" name="TextBox 18"/>
          <p:cNvSpPr txBox="1"/>
          <p:nvPr/>
        </p:nvSpPr>
        <p:spPr>
          <a:xfrm>
            <a:off x="6766770" y="4184447"/>
            <a:ext cx="4754318" cy="1286027"/>
          </a:xfrm>
          <a:prstGeom prst="rect">
            <a:avLst/>
          </a:prstGeom>
        </p:spPr>
        <p:txBody>
          <a:bodyPr lIns="0" tIns="0" rIns="0" bIns="0" rtlCol="0" anchor="t">
            <a:spAutoFit/>
          </a:bodyPr>
          <a:lstStyle/>
          <a:p>
            <a:pPr algn="l">
              <a:lnSpc>
                <a:spcPts val="3125"/>
              </a:lnSpc>
            </a:pPr>
            <a:r>
              <a:rPr lang="en-US" sz="1937">
                <a:solidFill>
                  <a:srgbClr val="5B5F71"/>
                </a:solidFill>
                <a:latin typeface="Arimo"/>
                <a:ea typeface="Arimo"/>
                <a:cs typeface="Arimo"/>
                <a:sym typeface="Arimo"/>
              </a:rPr>
              <a:t>Se dominó la identificación de tokens, lexemas y errores léxicos en diferentes fragmentos de código</a:t>
            </a:r>
          </a:p>
        </p:txBody>
      </p:sp>
      <p:grpSp>
        <p:nvGrpSpPr>
          <p:cNvPr id="19" name="Group 19"/>
          <p:cNvGrpSpPr/>
          <p:nvPr/>
        </p:nvGrpSpPr>
        <p:grpSpPr>
          <a:xfrm>
            <a:off x="12021741" y="2488854"/>
            <a:ext cx="5278641" cy="3640779"/>
            <a:chOff x="0" y="0"/>
            <a:chExt cx="7038188" cy="4854372"/>
          </a:xfrm>
        </p:grpSpPr>
        <p:sp>
          <p:nvSpPr>
            <p:cNvPr id="20" name="Freeform 20"/>
            <p:cNvSpPr/>
            <p:nvPr/>
          </p:nvSpPr>
          <p:spPr>
            <a:xfrm>
              <a:off x="6350" y="6350"/>
              <a:ext cx="7025513" cy="4841621"/>
            </a:xfrm>
            <a:custGeom>
              <a:avLst/>
              <a:gdLst/>
              <a:ahLst/>
              <a:cxnLst/>
              <a:rect l="l" t="t" r="r" b="b"/>
              <a:pathLst>
                <a:path w="7025513" h="4841621">
                  <a:moveTo>
                    <a:pt x="0" y="138938"/>
                  </a:moveTo>
                  <a:cubicBezTo>
                    <a:pt x="0" y="62230"/>
                    <a:pt x="62230" y="0"/>
                    <a:pt x="139065" y="0"/>
                  </a:cubicBezTo>
                  <a:lnTo>
                    <a:pt x="6886448" y="0"/>
                  </a:lnTo>
                  <a:cubicBezTo>
                    <a:pt x="6963283" y="0"/>
                    <a:pt x="7025513" y="62230"/>
                    <a:pt x="7025513" y="138938"/>
                  </a:cubicBezTo>
                  <a:lnTo>
                    <a:pt x="7025513" y="4702683"/>
                  </a:lnTo>
                  <a:cubicBezTo>
                    <a:pt x="7025513" y="4779391"/>
                    <a:pt x="6963283" y="4841621"/>
                    <a:pt x="6886448" y="4841621"/>
                  </a:cubicBezTo>
                  <a:lnTo>
                    <a:pt x="139065" y="4841621"/>
                  </a:lnTo>
                  <a:cubicBezTo>
                    <a:pt x="62230" y="4841621"/>
                    <a:pt x="0" y="4779518"/>
                    <a:pt x="0" y="4702683"/>
                  </a:cubicBezTo>
                  <a:close/>
                </a:path>
              </a:pathLst>
            </a:custGeom>
            <a:solidFill>
              <a:srgbClr val="E2E3E9"/>
            </a:solidFill>
          </p:spPr>
        </p:sp>
        <p:sp>
          <p:nvSpPr>
            <p:cNvPr id="21" name="Freeform 21"/>
            <p:cNvSpPr/>
            <p:nvPr/>
          </p:nvSpPr>
          <p:spPr>
            <a:xfrm>
              <a:off x="0" y="0"/>
              <a:ext cx="7038213" cy="4854321"/>
            </a:xfrm>
            <a:custGeom>
              <a:avLst/>
              <a:gdLst/>
              <a:ahLst/>
              <a:cxnLst/>
              <a:rect l="l" t="t" r="r" b="b"/>
              <a:pathLst>
                <a:path w="7038213" h="4854321">
                  <a:moveTo>
                    <a:pt x="0" y="145288"/>
                  </a:moveTo>
                  <a:cubicBezTo>
                    <a:pt x="0" y="65024"/>
                    <a:pt x="65151" y="0"/>
                    <a:pt x="145415" y="0"/>
                  </a:cubicBezTo>
                  <a:lnTo>
                    <a:pt x="6892798" y="0"/>
                  </a:lnTo>
                  <a:lnTo>
                    <a:pt x="6892798" y="6350"/>
                  </a:lnTo>
                  <a:lnTo>
                    <a:pt x="6892798" y="0"/>
                  </a:lnTo>
                  <a:cubicBezTo>
                    <a:pt x="6973062" y="0"/>
                    <a:pt x="7038213" y="65024"/>
                    <a:pt x="7038213" y="145288"/>
                  </a:cubicBezTo>
                  <a:lnTo>
                    <a:pt x="7031863" y="145288"/>
                  </a:lnTo>
                  <a:lnTo>
                    <a:pt x="7038213" y="145288"/>
                  </a:lnTo>
                  <a:lnTo>
                    <a:pt x="7038213" y="4709033"/>
                  </a:lnTo>
                  <a:lnTo>
                    <a:pt x="7031863" y="4709033"/>
                  </a:lnTo>
                  <a:lnTo>
                    <a:pt x="7038213" y="4709033"/>
                  </a:lnTo>
                  <a:cubicBezTo>
                    <a:pt x="7038213" y="4789297"/>
                    <a:pt x="6973062" y="4854321"/>
                    <a:pt x="6892798" y="4854321"/>
                  </a:cubicBezTo>
                  <a:lnTo>
                    <a:pt x="6892798" y="4847971"/>
                  </a:lnTo>
                  <a:lnTo>
                    <a:pt x="6892798" y="4854321"/>
                  </a:lnTo>
                  <a:lnTo>
                    <a:pt x="145415" y="4854321"/>
                  </a:lnTo>
                  <a:lnTo>
                    <a:pt x="145415" y="4847971"/>
                  </a:lnTo>
                  <a:lnTo>
                    <a:pt x="145415" y="4854321"/>
                  </a:lnTo>
                  <a:cubicBezTo>
                    <a:pt x="65151" y="4854321"/>
                    <a:pt x="0" y="4789297"/>
                    <a:pt x="0" y="4709033"/>
                  </a:cubicBezTo>
                  <a:lnTo>
                    <a:pt x="0" y="145288"/>
                  </a:lnTo>
                  <a:lnTo>
                    <a:pt x="6350" y="145288"/>
                  </a:lnTo>
                  <a:lnTo>
                    <a:pt x="0" y="145288"/>
                  </a:lnTo>
                  <a:moveTo>
                    <a:pt x="12700" y="145288"/>
                  </a:moveTo>
                  <a:lnTo>
                    <a:pt x="12700" y="4709033"/>
                  </a:lnTo>
                  <a:lnTo>
                    <a:pt x="6350" y="4709033"/>
                  </a:lnTo>
                  <a:lnTo>
                    <a:pt x="12700" y="4709033"/>
                  </a:lnTo>
                  <a:cubicBezTo>
                    <a:pt x="12700" y="4782312"/>
                    <a:pt x="72136" y="4841621"/>
                    <a:pt x="145415" y="4841621"/>
                  </a:cubicBezTo>
                  <a:lnTo>
                    <a:pt x="6892798" y="4841621"/>
                  </a:lnTo>
                  <a:cubicBezTo>
                    <a:pt x="6966077" y="4841621"/>
                    <a:pt x="7025513" y="4782185"/>
                    <a:pt x="7025513" y="4709033"/>
                  </a:cubicBezTo>
                  <a:lnTo>
                    <a:pt x="7025513" y="145288"/>
                  </a:lnTo>
                  <a:cubicBezTo>
                    <a:pt x="7025513" y="72136"/>
                    <a:pt x="6966077" y="12700"/>
                    <a:pt x="6892798" y="12700"/>
                  </a:cubicBezTo>
                  <a:lnTo>
                    <a:pt x="145415" y="12700"/>
                  </a:lnTo>
                  <a:lnTo>
                    <a:pt x="145415" y="6350"/>
                  </a:lnTo>
                  <a:lnTo>
                    <a:pt x="145415" y="12700"/>
                  </a:lnTo>
                  <a:cubicBezTo>
                    <a:pt x="72136" y="12700"/>
                    <a:pt x="12700" y="72136"/>
                    <a:pt x="12700" y="145288"/>
                  </a:cubicBezTo>
                  <a:close/>
                </a:path>
              </a:pathLst>
            </a:custGeom>
            <a:solidFill>
              <a:srgbClr val="C8C9CF"/>
            </a:solidFill>
          </p:spPr>
        </p:sp>
      </p:grpSp>
      <p:grpSp>
        <p:nvGrpSpPr>
          <p:cNvPr id="22" name="Group 22"/>
          <p:cNvGrpSpPr/>
          <p:nvPr/>
        </p:nvGrpSpPr>
        <p:grpSpPr>
          <a:xfrm>
            <a:off x="12283973" y="2751087"/>
            <a:ext cx="744141" cy="744141"/>
            <a:chOff x="0" y="0"/>
            <a:chExt cx="992188" cy="992188"/>
          </a:xfrm>
        </p:grpSpPr>
        <p:sp>
          <p:nvSpPr>
            <p:cNvPr id="23" name="Freeform 23" descr="preencoded.png"/>
            <p:cNvSpPr/>
            <p:nvPr/>
          </p:nvSpPr>
          <p:spPr>
            <a:xfrm>
              <a:off x="0" y="0"/>
              <a:ext cx="992251" cy="992251"/>
            </a:xfrm>
            <a:custGeom>
              <a:avLst/>
              <a:gdLst/>
              <a:ahLst/>
              <a:cxnLst/>
              <a:rect l="l" t="t" r="r" b="b"/>
              <a:pathLst>
                <a:path w="992251" h="992251">
                  <a:moveTo>
                    <a:pt x="0" y="0"/>
                  </a:moveTo>
                  <a:lnTo>
                    <a:pt x="992251" y="0"/>
                  </a:lnTo>
                  <a:lnTo>
                    <a:pt x="992251" y="992251"/>
                  </a:lnTo>
                  <a:lnTo>
                    <a:pt x="0" y="992251"/>
                  </a:lnTo>
                  <a:lnTo>
                    <a:pt x="0" y="0"/>
                  </a:lnTo>
                  <a:close/>
                </a:path>
              </a:pathLst>
            </a:custGeom>
            <a:blipFill>
              <a:blip r:embed="rId9"/>
              <a:stretch>
                <a:fillRect r="6" b="6"/>
              </a:stretch>
            </a:blipFill>
          </p:spPr>
        </p:sp>
      </p:grpSp>
      <p:sp>
        <p:nvSpPr>
          <p:cNvPr id="24" name="Freeform 24" descr="preencoded.png"/>
          <p:cNvSpPr/>
          <p:nvPr/>
        </p:nvSpPr>
        <p:spPr>
          <a:xfrm>
            <a:off x="12488618" y="2955579"/>
            <a:ext cx="334861" cy="334861"/>
          </a:xfrm>
          <a:custGeom>
            <a:avLst/>
            <a:gdLst/>
            <a:ahLst/>
            <a:cxnLst/>
            <a:rect l="l" t="t" r="r" b="b"/>
            <a:pathLst>
              <a:path w="334861" h="334861">
                <a:moveTo>
                  <a:pt x="0" y="0"/>
                </a:moveTo>
                <a:lnTo>
                  <a:pt x="334861" y="0"/>
                </a:lnTo>
                <a:lnTo>
                  <a:pt x="334861" y="334861"/>
                </a:lnTo>
                <a:lnTo>
                  <a:pt x="0" y="334861"/>
                </a:lnTo>
                <a:lnTo>
                  <a:pt x="0" y="0"/>
                </a:lnTo>
                <a:close/>
              </a:path>
            </a:pathLst>
          </a:custGeom>
          <a:blipFill>
            <a:blip r:embed="rId10">
              <a:extLst>
                <a:ext uri="{96DAC541-7B7A-43D3-8B79-37D633B846F1}">
                  <asvg:svgBlip xmlns:asvg="http://schemas.microsoft.com/office/drawing/2016/SVG/main" r:embed="rId11"/>
                </a:ext>
              </a:extLst>
            </a:blip>
            <a:stretch>
              <a:fillRect t="-8334" b="-8334"/>
            </a:stretch>
          </a:blipFill>
        </p:spPr>
      </p:sp>
      <p:sp>
        <p:nvSpPr>
          <p:cNvPr id="25" name="TextBox 25"/>
          <p:cNvSpPr txBox="1"/>
          <p:nvPr/>
        </p:nvSpPr>
        <p:spPr>
          <a:xfrm>
            <a:off x="12283973" y="3733649"/>
            <a:ext cx="4327627" cy="359714"/>
          </a:xfrm>
          <a:prstGeom prst="rect">
            <a:avLst/>
          </a:prstGeom>
        </p:spPr>
        <p:txBody>
          <a:bodyPr wrap="square" lIns="0" tIns="0" rIns="0" bIns="0" rtlCol="0" anchor="t">
            <a:spAutoFit/>
          </a:bodyPr>
          <a:lstStyle/>
          <a:p>
            <a:pPr algn="l">
              <a:lnSpc>
                <a:spcPts val="2999"/>
              </a:lnSpc>
            </a:pPr>
            <a:r>
              <a:rPr lang="en-US" sz="2437" b="1" dirty="0" err="1">
                <a:solidFill>
                  <a:srgbClr val="5B5F71"/>
                </a:solidFill>
                <a:latin typeface="Arimo Bold"/>
                <a:ea typeface="Arimo Bold"/>
                <a:cs typeface="Arimo Bold"/>
                <a:sym typeface="Arimo Bold"/>
              </a:rPr>
              <a:t>Importancia</a:t>
            </a:r>
            <a:r>
              <a:rPr lang="en-US" sz="2437" b="1" dirty="0">
                <a:solidFill>
                  <a:srgbClr val="5B5F71"/>
                </a:solidFill>
                <a:latin typeface="Arimo Bold"/>
                <a:ea typeface="Arimo Bold"/>
                <a:cs typeface="Arimo Bold"/>
                <a:sym typeface="Arimo Bold"/>
              </a:rPr>
              <a:t> de las </a:t>
            </a:r>
            <a:r>
              <a:rPr lang="en-US" sz="2437" b="1" dirty="0" err="1">
                <a:solidFill>
                  <a:srgbClr val="5B5F71"/>
                </a:solidFill>
                <a:latin typeface="Arimo Bold"/>
                <a:ea typeface="Arimo Bold"/>
                <a:cs typeface="Arimo Bold"/>
                <a:sym typeface="Arimo Bold"/>
              </a:rPr>
              <a:t>reglas</a:t>
            </a:r>
            <a:endParaRPr lang="en-US" sz="2437" b="1" dirty="0">
              <a:solidFill>
                <a:srgbClr val="5B5F71"/>
              </a:solidFill>
              <a:latin typeface="Arimo Bold"/>
              <a:ea typeface="Arimo Bold"/>
              <a:cs typeface="Arimo Bold"/>
              <a:sym typeface="Arimo Bold"/>
            </a:endParaRPr>
          </a:p>
        </p:txBody>
      </p:sp>
      <p:sp>
        <p:nvSpPr>
          <p:cNvPr id="26" name="TextBox 26"/>
          <p:cNvSpPr txBox="1"/>
          <p:nvPr/>
        </p:nvSpPr>
        <p:spPr>
          <a:xfrm>
            <a:off x="12283973" y="4184447"/>
            <a:ext cx="4754166" cy="1286027"/>
          </a:xfrm>
          <a:prstGeom prst="rect">
            <a:avLst/>
          </a:prstGeom>
        </p:spPr>
        <p:txBody>
          <a:bodyPr lIns="0" tIns="0" rIns="0" bIns="0" rtlCol="0" anchor="t">
            <a:spAutoFit/>
          </a:bodyPr>
          <a:lstStyle/>
          <a:p>
            <a:pPr algn="l">
              <a:lnSpc>
                <a:spcPts val="3125"/>
              </a:lnSpc>
            </a:pPr>
            <a:r>
              <a:rPr lang="en-US" sz="1937">
                <a:solidFill>
                  <a:srgbClr val="5B5F71"/>
                </a:solidFill>
                <a:latin typeface="Arimo"/>
                <a:ea typeface="Arimo"/>
                <a:cs typeface="Arimo"/>
                <a:sym typeface="Arimo"/>
              </a:rPr>
              <a:t>Se entendió la importancia de seguir las reglas del lenguaje de programación para evitar errores</a:t>
            </a:r>
          </a:p>
        </p:txBody>
      </p:sp>
      <p:sp>
        <p:nvSpPr>
          <p:cNvPr id="27" name="TextBox 27"/>
          <p:cNvSpPr txBox="1"/>
          <p:nvPr/>
        </p:nvSpPr>
        <p:spPr>
          <a:xfrm>
            <a:off x="992238" y="6308674"/>
            <a:ext cx="16303523" cy="1286027"/>
          </a:xfrm>
          <a:prstGeom prst="rect">
            <a:avLst/>
          </a:prstGeom>
        </p:spPr>
        <p:txBody>
          <a:bodyPr lIns="0" tIns="0" rIns="0" bIns="0" rtlCol="0" anchor="t">
            <a:spAutoFit/>
          </a:bodyPr>
          <a:lstStyle/>
          <a:p>
            <a:pPr algn="l">
              <a:lnSpc>
                <a:spcPts val="3125"/>
              </a:lnSpc>
            </a:pPr>
            <a:r>
              <a:rPr lang="en-US" sz="1937">
                <a:solidFill>
                  <a:srgbClr val="5B5F71"/>
                </a:solidFill>
                <a:latin typeface="Arimo"/>
                <a:ea typeface="Arimo"/>
                <a:cs typeface="Arimo"/>
                <a:sym typeface="Arimo"/>
              </a:rPr>
              <a:t>La realización de estos ejercicios permitió comprender de manera más clara cómo funciona el análisis léxico dentro del proceso de compilación. A través de la identificación práctica de tokens, lexemas y errores léxicos, fue posible observar cómo el compilador interpreta cada elemento del código fuente.</a:t>
            </a:r>
          </a:p>
        </p:txBody>
      </p:sp>
      <p:sp>
        <p:nvSpPr>
          <p:cNvPr id="28" name="TextBox 28"/>
          <p:cNvSpPr txBox="1"/>
          <p:nvPr/>
        </p:nvSpPr>
        <p:spPr>
          <a:xfrm>
            <a:off x="992238" y="7778506"/>
            <a:ext cx="16303523" cy="1286027"/>
          </a:xfrm>
          <a:prstGeom prst="rect">
            <a:avLst/>
          </a:prstGeom>
        </p:spPr>
        <p:txBody>
          <a:bodyPr lIns="0" tIns="0" rIns="0" bIns="0" rtlCol="0" anchor="t">
            <a:spAutoFit/>
          </a:bodyPr>
          <a:lstStyle/>
          <a:p>
            <a:pPr algn="l">
              <a:lnSpc>
                <a:spcPts val="3125"/>
              </a:lnSpc>
            </a:pPr>
            <a:r>
              <a:rPr lang="en-US" sz="1937">
                <a:solidFill>
                  <a:srgbClr val="5B5F71"/>
                </a:solidFill>
                <a:latin typeface="Arimo"/>
                <a:ea typeface="Arimo"/>
                <a:cs typeface="Arimo"/>
                <a:sym typeface="Arimo"/>
              </a:rPr>
              <a:t>Además, estos ejercicios ayudan a entender la importancia de seguir las reglas del lenguaje de programación, ya que cualquier error léxico puede provocar que el código no sea interpretado correctamente. Esta actividad permitió reforzar los conceptos teóricos mediante ejemplos prácticos que muestran el funcionamiento básico del análisis léxico.</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1053177" y="846830"/>
            <a:ext cx="12809981" cy="773112"/>
          </a:xfrm>
          <a:prstGeom prst="rect">
            <a:avLst/>
          </a:prstGeom>
        </p:spPr>
        <p:txBody>
          <a:bodyPr lIns="0" tIns="0" rIns="0" bIns="0" rtlCol="0" anchor="t">
            <a:spAutoFit/>
          </a:bodyPr>
          <a:lstStyle/>
          <a:p>
            <a:pPr algn="l">
              <a:lnSpc>
                <a:spcPts val="6062"/>
              </a:lnSpc>
            </a:pPr>
            <a:r>
              <a:rPr lang="en-US" sz="4875" b="1">
                <a:solidFill>
                  <a:srgbClr val="505468"/>
                </a:solidFill>
                <a:latin typeface="Arimo Bold"/>
                <a:ea typeface="Arimo Bold"/>
                <a:cs typeface="Arimo Bold"/>
                <a:sym typeface="Arimo Bold"/>
              </a:rPr>
              <a:t>Referencias bibliográficas</a:t>
            </a:r>
          </a:p>
        </p:txBody>
      </p:sp>
      <p:grpSp>
        <p:nvGrpSpPr>
          <p:cNvPr id="3" name="Group 3"/>
          <p:cNvGrpSpPr/>
          <p:nvPr/>
        </p:nvGrpSpPr>
        <p:grpSpPr>
          <a:xfrm>
            <a:off x="1028700" y="2017814"/>
            <a:ext cx="16230600" cy="2457745"/>
            <a:chOff x="0" y="0"/>
            <a:chExt cx="21640800" cy="3276994"/>
          </a:xfrm>
        </p:grpSpPr>
        <p:sp>
          <p:nvSpPr>
            <p:cNvPr id="4" name="Freeform 4"/>
            <p:cNvSpPr/>
            <p:nvPr/>
          </p:nvSpPr>
          <p:spPr>
            <a:xfrm>
              <a:off x="32636" y="19050"/>
              <a:ext cx="21575399" cy="3238881"/>
            </a:xfrm>
            <a:custGeom>
              <a:avLst/>
              <a:gdLst/>
              <a:ahLst/>
              <a:cxnLst/>
              <a:rect l="l" t="t" r="r" b="b"/>
              <a:pathLst>
                <a:path w="21575399" h="3238881">
                  <a:moveTo>
                    <a:pt x="0" y="138938"/>
                  </a:moveTo>
                  <a:cubicBezTo>
                    <a:pt x="0" y="62230"/>
                    <a:pt x="107480" y="0"/>
                    <a:pt x="239980" y="0"/>
                  </a:cubicBezTo>
                  <a:lnTo>
                    <a:pt x="21335418" y="0"/>
                  </a:lnTo>
                  <a:cubicBezTo>
                    <a:pt x="21467918" y="0"/>
                    <a:pt x="21575399" y="62230"/>
                    <a:pt x="21575399" y="138938"/>
                  </a:cubicBezTo>
                  <a:lnTo>
                    <a:pt x="21575399" y="3099943"/>
                  </a:lnTo>
                  <a:cubicBezTo>
                    <a:pt x="21575399" y="3176651"/>
                    <a:pt x="21467918" y="3238881"/>
                    <a:pt x="21335418" y="3238881"/>
                  </a:cubicBezTo>
                  <a:lnTo>
                    <a:pt x="239980" y="3238881"/>
                  </a:lnTo>
                  <a:cubicBezTo>
                    <a:pt x="107480" y="3238881"/>
                    <a:pt x="0" y="3176651"/>
                    <a:pt x="0" y="3099943"/>
                  </a:cubicBezTo>
                  <a:close/>
                </a:path>
              </a:pathLst>
            </a:custGeom>
            <a:solidFill>
              <a:srgbClr val="FFFFFF">
                <a:alpha val="90196"/>
              </a:srgbClr>
            </a:solidFill>
          </p:spPr>
        </p:sp>
        <p:sp>
          <p:nvSpPr>
            <p:cNvPr id="5" name="Freeform 5"/>
            <p:cNvSpPr/>
            <p:nvPr/>
          </p:nvSpPr>
          <p:spPr>
            <a:xfrm>
              <a:off x="0" y="0"/>
              <a:ext cx="21640670" cy="3276981"/>
            </a:xfrm>
            <a:custGeom>
              <a:avLst/>
              <a:gdLst/>
              <a:ahLst/>
              <a:cxnLst/>
              <a:rect l="l" t="t" r="r" b="b"/>
              <a:pathLst>
                <a:path w="21640670" h="3276981">
                  <a:moveTo>
                    <a:pt x="0" y="157988"/>
                  </a:moveTo>
                  <a:cubicBezTo>
                    <a:pt x="0" y="70612"/>
                    <a:pt x="122275" y="0"/>
                    <a:pt x="272616" y="0"/>
                  </a:cubicBezTo>
                  <a:lnTo>
                    <a:pt x="21368054" y="0"/>
                  </a:lnTo>
                  <a:lnTo>
                    <a:pt x="21368054" y="19050"/>
                  </a:lnTo>
                  <a:lnTo>
                    <a:pt x="21368054" y="0"/>
                  </a:lnTo>
                  <a:cubicBezTo>
                    <a:pt x="21518394" y="0"/>
                    <a:pt x="21640670" y="70612"/>
                    <a:pt x="21640670" y="157988"/>
                  </a:cubicBezTo>
                  <a:lnTo>
                    <a:pt x="21608035" y="157988"/>
                  </a:lnTo>
                  <a:lnTo>
                    <a:pt x="21640670" y="157988"/>
                  </a:lnTo>
                  <a:lnTo>
                    <a:pt x="21640670" y="3118993"/>
                  </a:lnTo>
                  <a:lnTo>
                    <a:pt x="21608035" y="3118993"/>
                  </a:lnTo>
                  <a:lnTo>
                    <a:pt x="21640670" y="3118993"/>
                  </a:lnTo>
                  <a:cubicBezTo>
                    <a:pt x="21640670" y="3206369"/>
                    <a:pt x="21518394" y="3276981"/>
                    <a:pt x="21368054" y="3276981"/>
                  </a:cubicBezTo>
                  <a:lnTo>
                    <a:pt x="21368054" y="3257931"/>
                  </a:lnTo>
                  <a:lnTo>
                    <a:pt x="21368054" y="3276981"/>
                  </a:lnTo>
                  <a:lnTo>
                    <a:pt x="272616" y="3276981"/>
                  </a:lnTo>
                  <a:lnTo>
                    <a:pt x="272616" y="3257931"/>
                  </a:lnTo>
                  <a:lnTo>
                    <a:pt x="272616" y="3276981"/>
                  </a:lnTo>
                  <a:cubicBezTo>
                    <a:pt x="122275" y="3276981"/>
                    <a:pt x="0" y="3206369"/>
                    <a:pt x="0" y="3118993"/>
                  </a:cubicBezTo>
                  <a:lnTo>
                    <a:pt x="0" y="157988"/>
                  </a:lnTo>
                  <a:lnTo>
                    <a:pt x="32636" y="157988"/>
                  </a:lnTo>
                  <a:lnTo>
                    <a:pt x="0" y="157988"/>
                  </a:lnTo>
                  <a:moveTo>
                    <a:pt x="65271" y="157988"/>
                  </a:moveTo>
                  <a:lnTo>
                    <a:pt x="65271" y="3118993"/>
                  </a:lnTo>
                  <a:lnTo>
                    <a:pt x="32636" y="3118993"/>
                  </a:lnTo>
                  <a:lnTo>
                    <a:pt x="65271" y="3118993"/>
                  </a:lnTo>
                  <a:cubicBezTo>
                    <a:pt x="65271" y="3185033"/>
                    <a:pt x="157956" y="3238881"/>
                    <a:pt x="272616" y="3238881"/>
                  </a:cubicBezTo>
                  <a:lnTo>
                    <a:pt x="21368054" y="3238881"/>
                  </a:lnTo>
                  <a:cubicBezTo>
                    <a:pt x="21482931" y="3238881"/>
                    <a:pt x="21575399" y="3185033"/>
                    <a:pt x="21575399" y="3118993"/>
                  </a:cubicBezTo>
                  <a:lnTo>
                    <a:pt x="21575399" y="157988"/>
                  </a:lnTo>
                  <a:cubicBezTo>
                    <a:pt x="21575399" y="91948"/>
                    <a:pt x="21482714" y="38100"/>
                    <a:pt x="21368054" y="38100"/>
                  </a:cubicBezTo>
                  <a:lnTo>
                    <a:pt x="272616" y="38100"/>
                  </a:lnTo>
                  <a:lnTo>
                    <a:pt x="272616" y="19050"/>
                  </a:lnTo>
                  <a:lnTo>
                    <a:pt x="272616" y="38100"/>
                  </a:lnTo>
                  <a:cubicBezTo>
                    <a:pt x="157956" y="38100"/>
                    <a:pt x="65271" y="91948"/>
                    <a:pt x="65271" y="157988"/>
                  </a:cubicBezTo>
                  <a:close/>
                </a:path>
              </a:pathLst>
            </a:custGeom>
            <a:solidFill>
              <a:srgbClr val="C8C9CF"/>
            </a:solidFill>
          </p:spPr>
        </p:sp>
      </p:grpSp>
      <p:sp>
        <p:nvSpPr>
          <p:cNvPr id="6" name="TextBox 6"/>
          <p:cNvSpPr txBox="1"/>
          <p:nvPr/>
        </p:nvSpPr>
        <p:spPr>
          <a:xfrm>
            <a:off x="1526899" y="2299097"/>
            <a:ext cx="11067044" cy="371475"/>
          </a:xfrm>
          <a:prstGeom prst="rect">
            <a:avLst/>
          </a:prstGeom>
        </p:spPr>
        <p:txBody>
          <a:bodyPr lIns="0" tIns="0" rIns="0" bIns="0" rtlCol="0" anchor="t">
            <a:spAutoFit/>
          </a:bodyPr>
          <a:lstStyle/>
          <a:p>
            <a:pPr algn="l">
              <a:lnSpc>
                <a:spcPts val="2999"/>
              </a:lnSpc>
            </a:pPr>
            <a:r>
              <a:rPr lang="en-US" sz="2437" b="1">
                <a:solidFill>
                  <a:srgbClr val="5B5F71"/>
                </a:solidFill>
                <a:latin typeface="Arimo Bold"/>
                <a:ea typeface="Arimo Bold"/>
                <a:cs typeface="Arimo Bold"/>
                <a:sym typeface="Arimo Bold"/>
              </a:rPr>
              <a:t>Aho, A. V., Lam, M. S., Sethi, R., &amp; Ullman, J. D.</a:t>
            </a:r>
          </a:p>
        </p:txBody>
      </p:sp>
      <p:sp>
        <p:nvSpPr>
          <p:cNvPr id="7" name="TextBox 7"/>
          <p:cNvSpPr txBox="1"/>
          <p:nvPr/>
        </p:nvSpPr>
        <p:spPr>
          <a:xfrm>
            <a:off x="1526899" y="2749896"/>
            <a:ext cx="15234202" cy="384175"/>
          </a:xfrm>
          <a:prstGeom prst="rect">
            <a:avLst/>
          </a:prstGeom>
        </p:spPr>
        <p:txBody>
          <a:bodyPr lIns="0" tIns="0" rIns="0" bIns="0" rtlCol="0" anchor="t">
            <a:spAutoFit/>
          </a:bodyPr>
          <a:lstStyle/>
          <a:p>
            <a:pPr algn="l">
              <a:lnSpc>
                <a:spcPts val="3125"/>
              </a:lnSpc>
            </a:pPr>
            <a:r>
              <a:rPr lang="en-US" sz="1937" i="1">
                <a:solidFill>
                  <a:srgbClr val="5B5F71"/>
                </a:solidFill>
                <a:latin typeface="Arimo Italics"/>
                <a:ea typeface="Arimo Italics"/>
                <a:cs typeface="Arimo Italics"/>
                <a:sym typeface="Arimo Italics"/>
              </a:rPr>
              <a:t>Compiladores: principios, técnicas y herramientas</a:t>
            </a:r>
            <a:r>
              <a:rPr lang="en-US" sz="1937">
                <a:solidFill>
                  <a:srgbClr val="5B5F71"/>
                </a:solidFill>
                <a:latin typeface="Arimo"/>
                <a:ea typeface="Arimo"/>
                <a:cs typeface="Arimo"/>
                <a:sym typeface="Arimo"/>
              </a:rPr>
              <a:t>. Pearson, 2008.</a:t>
            </a:r>
          </a:p>
        </p:txBody>
      </p:sp>
      <p:grpSp>
        <p:nvGrpSpPr>
          <p:cNvPr id="9" name="Group 9"/>
          <p:cNvGrpSpPr/>
          <p:nvPr/>
        </p:nvGrpSpPr>
        <p:grpSpPr>
          <a:xfrm>
            <a:off x="1028700" y="4694930"/>
            <a:ext cx="16230600" cy="2854671"/>
            <a:chOff x="0" y="0"/>
            <a:chExt cx="21640800" cy="3806228"/>
          </a:xfrm>
        </p:grpSpPr>
        <p:sp>
          <p:nvSpPr>
            <p:cNvPr id="10" name="Freeform 10"/>
            <p:cNvSpPr/>
            <p:nvPr/>
          </p:nvSpPr>
          <p:spPr>
            <a:xfrm>
              <a:off x="32636" y="19050"/>
              <a:ext cx="21575616" cy="3768090"/>
            </a:xfrm>
            <a:custGeom>
              <a:avLst/>
              <a:gdLst/>
              <a:ahLst/>
              <a:cxnLst/>
              <a:rect l="l" t="t" r="r" b="b"/>
              <a:pathLst>
                <a:path w="21575616" h="3768090">
                  <a:moveTo>
                    <a:pt x="0" y="138938"/>
                  </a:moveTo>
                  <a:cubicBezTo>
                    <a:pt x="0" y="62230"/>
                    <a:pt x="107262" y="0"/>
                    <a:pt x="239763" y="0"/>
                  </a:cubicBezTo>
                  <a:lnTo>
                    <a:pt x="21335853" y="0"/>
                  </a:lnTo>
                  <a:cubicBezTo>
                    <a:pt x="21468137" y="0"/>
                    <a:pt x="21575616" y="62230"/>
                    <a:pt x="21575616" y="138938"/>
                  </a:cubicBezTo>
                  <a:lnTo>
                    <a:pt x="21575616" y="3629152"/>
                  </a:lnTo>
                  <a:cubicBezTo>
                    <a:pt x="21575616" y="3705860"/>
                    <a:pt x="21468354" y="3768090"/>
                    <a:pt x="21335853" y="3768090"/>
                  </a:cubicBezTo>
                  <a:lnTo>
                    <a:pt x="239763" y="3768090"/>
                  </a:lnTo>
                  <a:cubicBezTo>
                    <a:pt x="107480" y="3768090"/>
                    <a:pt x="0" y="3705860"/>
                    <a:pt x="0" y="3629152"/>
                  </a:cubicBezTo>
                  <a:close/>
                </a:path>
              </a:pathLst>
            </a:custGeom>
            <a:solidFill>
              <a:srgbClr val="FFFFFF">
                <a:alpha val="90196"/>
              </a:srgbClr>
            </a:solidFill>
          </p:spPr>
        </p:sp>
        <p:sp>
          <p:nvSpPr>
            <p:cNvPr id="11" name="Freeform 11"/>
            <p:cNvSpPr/>
            <p:nvPr/>
          </p:nvSpPr>
          <p:spPr>
            <a:xfrm>
              <a:off x="0" y="0"/>
              <a:ext cx="21640851" cy="3806190"/>
            </a:xfrm>
            <a:custGeom>
              <a:avLst/>
              <a:gdLst/>
              <a:ahLst/>
              <a:cxnLst/>
              <a:rect l="l" t="t" r="r" b="b"/>
              <a:pathLst>
                <a:path w="21640851" h="3806190">
                  <a:moveTo>
                    <a:pt x="0" y="157988"/>
                  </a:moveTo>
                  <a:cubicBezTo>
                    <a:pt x="0" y="70612"/>
                    <a:pt x="122057" y="0"/>
                    <a:pt x="272399" y="0"/>
                  </a:cubicBezTo>
                  <a:lnTo>
                    <a:pt x="21368489" y="0"/>
                  </a:lnTo>
                  <a:lnTo>
                    <a:pt x="21368489" y="19050"/>
                  </a:lnTo>
                  <a:lnTo>
                    <a:pt x="21368489" y="0"/>
                  </a:lnTo>
                  <a:cubicBezTo>
                    <a:pt x="21518614" y="0"/>
                    <a:pt x="21640851" y="70612"/>
                    <a:pt x="21640851" y="157988"/>
                  </a:cubicBezTo>
                  <a:lnTo>
                    <a:pt x="21608252" y="157988"/>
                  </a:lnTo>
                  <a:lnTo>
                    <a:pt x="21640851" y="157988"/>
                  </a:lnTo>
                  <a:lnTo>
                    <a:pt x="21640851" y="3648202"/>
                  </a:lnTo>
                  <a:lnTo>
                    <a:pt x="21608252" y="3648202"/>
                  </a:lnTo>
                  <a:lnTo>
                    <a:pt x="21640851" y="3648202"/>
                  </a:lnTo>
                  <a:cubicBezTo>
                    <a:pt x="21640851" y="3735578"/>
                    <a:pt x="21518829" y="3806190"/>
                    <a:pt x="21368489" y="3806190"/>
                  </a:cubicBezTo>
                  <a:lnTo>
                    <a:pt x="21368489" y="3787140"/>
                  </a:lnTo>
                  <a:lnTo>
                    <a:pt x="21368489" y="3806190"/>
                  </a:lnTo>
                  <a:lnTo>
                    <a:pt x="272399" y="3806190"/>
                  </a:lnTo>
                  <a:lnTo>
                    <a:pt x="272399" y="3787140"/>
                  </a:lnTo>
                  <a:lnTo>
                    <a:pt x="272399" y="3806190"/>
                  </a:lnTo>
                  <a:cubicBezTo>
                    <a:pt x="122057" y="3806190"/>
                    <a:pt x="0" y="3735578"/>
                    <a:pt x="0" y="3648202"/>
                  </a:cubicBezTo>
                  <a:lnTo>
                    <a:pt x="0" y="157988"/>
                  </a:lnTo>
                  <a:lnTo>
                    <a:pt x="32636" y="157988"/>
                  </a:lnTo>
                  <a:lnTo>
                    <a:pt x="0" y="157988"/>
                  </a:lnTo>
                  <a:moveTo>
                    <a:pt x="65271" y="157988"/>
                  </a:moveTo>
                  <a:lnTo>
                    <a:pt x="65271" y="3648202"/>
                  </a:lnTo>
                  <a:lnTo>
                    <a:pt x="32636" y="3648202"/>
                  </a:lnTo>
                  <a:lnTo>
                    <a:pt x="65271" y="3648202"/>
                  </a:lnTo>
                  <a:cubicBezTo>
                    <a:pt x="65271" y="3714242"/>
                    <a:pt x="157739" y="3768090"/>
                    <a:pt x="272399" y="3768090"/>
                  </a:cubicBezTo>
                  <a:lnTo>
                    <a:pt x="21368489" y="3768090"/>
                  </a:lnTo>
                  <a:cubicBezTo>
                    <a:pt x="21483149" y="3768090"/>
                    <a:pt x="21575616" y="3714242"/>
                    <a:pt x="21575616" y="3648202"/>
                  </a:cubicBezTo>
                  <a:lnTo>
                    <a:pt x="21575616" y="157988"/>
                  </a:lnTo>
                  <a:cubicBezTo>
                    <a:pt x="21575616" y="91948"/>
                    <a:pt x="21483149" y="38100"/>
                    <a:pt x="21368489" y="38100"/>
                  </a:cubicBezTo>
                  <a:lnTo>
                    <a:pt x="272399" y="38100"/>
                  </a:lnTo>
                  <a:lnTo>
                    <a:pt x="272399" y="19050"/>
                  </a:lnTo>
                  <a:lnTo>
                    <a:pt x="272399" y="38100"/>
                  </a:lnTo>
                  <a:cubicBezTo>
                    <a:pt x="157739" y="38100"/>
                    <a:pt x="65271" y="91948"/>
                    <a:pt x="65271" y="157988"/>
                  </a:cubicBezTo>
                  <a:close/>
                </a:path>
              </a:pathLst>
            </a:custGeom>
            <a:solidFill>
              <a:srgbClr val="C8C9CF"/>
            </a:solidFill>
          </p:spPr>
        </p:sp>
      </p:grpSp>
      <p:sp>
        <p:nvSpPr>
          <p:cNvPr id="12" name="TextBox 12"/>
          <p:cNvSpPr txBox="1"/>
          <p:nvPr/>
        </p:nvSpPr>
        <p:spPr>
          <a:xfrm>
            <a:off x="1526899" y="4976222"/>
            <a:ext cx="9068619" cy="371475"/>
          </a:xfrm>
          <a:prstGeom prst="rect">
            <a:avLst/>
          </a:prstGeom>
        </p:spPr>
        <p:txBody>
          <a:bodyPr lIns="0" tIns="0" rIns="0" bIns="0" rtlCol="0" anchor="t">
            <a:spAutoFit/>
          </a:bodyPr>
          <a:lstStyle/>
          <a:p>
            <a:pPr algn="l">
              <a:lnSpc>
                <a:spcPts val="2999"/>
              </a:lnSpc>
            </a:pPr>
            <a:r>
              <a:rPr lang="en-US" sz="2437" b="1">
                <a:solidFill>
                  <a:srgbClr val="5B5F71"/>
                </a:solidFill>
                <a:latin typeface="Arimo Bold"/>
                <a:ea typeface="Arimo Bold"/>
                <a:cs typeface="Arimo Bold"/>
                <a:sym typeface="Arimo Bold"/>
              </a:rPr>
              <a:t>Hopcroft, J., Motwani, R., &amp; Ullman, J.</a:t>
            </a:r>
          </a:p>
        </p:txBody>
      </p:sp>
      <p:sp>
        <p:nvSpPr>
          <p:cNvPr id="13" name="TextBox 13"/>
          <p:cNvSpPr txBox="1"/>
          <p:nvPr/>
        </p:nvSpPr>
        <p:spPr>
          <a:xfrm>
            <a:off x="1526899" y="5427021"/>
            <a:ext cx="15234202" cy="384175"/>
          </a:xfrm>
          <a:prstGeom prst="rect">
            <a:avLst/>
          </a:prstGeom>
        </p:spPr>
        <p:txBody>
          <a:bodyPr lIns="0" tIns="0" rIns="0" bIns="0" rtlCol="0" anchor="t">
            <a:spAutoFit/>
          </a:bodyPr>
          <a:lstStyle/>
          <a:p>
            <a:pPr algn="l">
              <a:lnSpc>
                <a:spcPts val="3125"/>
              </a:lnSpc>
            </a:pPr>
            <a:r>
              <a:rPr lang="en-US" sz="1937" i="1">
                <a:solidFill>
                  <a:srgbClr val="5B5F71"/>
                </a:solidFill>
                <a:latin typeface="Arimo Italics"/>
                <a:ea typeface="Arimo Italics"/>
                <a:cs typeface="Arimo Italics"/>
                <a:sym typeface="Arimo Italics"/>
              </a:rPr>
              <a:t>Introducción a la teoría de autómatas, lenguajes y computación</a:t>
            </a:r>
            <a:r>
              <a:rPr lang="en-US" sz="1937">
                <a:solidFill>
                  <a:srgbClr val="5B5F71"/>
                </a:solidFill>
                <a:latin typeface="Arimo"/>
                <a:ea typeface="Arimo"/>
                <a:cs typeface="Arimo"/>
                <a:sym typeface="Arimo"/>
              </a:rPr>
              <a:t>. Pearson, 2007.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TotalTime>
  <Words>1546</Words>
  <Application>Microsoft Office PowerPoint</Application>
  <PresentationFormat>Personalizado</PresentationFormat>
  <Paragraphs>192</Paragraphs>
  <Slides>11</Slides>
  <Notes>11</Notes>
  <HiddenSlides>0</HiddenSlides>
  <MMClips>0</MMClips>
  <ScaleCrop>false</ScaleCrop>
  <HeadingPairs>
    <vt:vector size="8" baseType="variant">
      <vt:variant>
        <vt:lpstr>Fuentes usadas</vt:lpstr>
      </vt:variant>
      <vt:variant>
        <vt:i4>7</vt:i4>
      </vt:variant>
      <vt:variant>
        <vt:lpstr>Tema</vt:lpstr>
      </vt:variant>
      <vt:variant>
        <vt:i4>1</vt:i4>
      </vt:variant>
      <vt:variant>
        <vt:lpstr>Servidores OLE incrustados</vt:lpstr>
      </vt:variant>
      <vt:variant>
        <vt:i4>1</vt:i4>
      </vt:variant>
      <vt:variant>
        <vt:lpstr>Títulos de diapositiva</vt:lpstr>
      </vt:variant>
      <vt:variant>
        <vt:i4>11</vt:i4>
      </vt:variant>
    </vt:vector>
  </HeadingPairs>
  <TitlesOfParts>
    <vt:vector size="20" baseType="lpstr">
      <vt:lpstr>Arimo</vt:lpstr>
      <vt:lpstr>Arimo Italics</vt:lpstr>
      <vt:lpstr>Consolas</vt:lpstr>
      <vt:lpstr>Arial</vt:lpstr>
      <vt:lpstr>Arimo Bold</vt:lpstr>
      <vt:lpstr>Calibri</vt:lpstr>
      <vt:lpstr>Montserrat Bold</vt:lpstr>
      <vt:lpstr>Office Theme</vt:lpstr>
      <vt:lpstr>Worksheet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Actividad 4.3</dc:title>
  <cp:lastModifiedBy>Amaury</cp:lastModifiedBy>
  <cp:revision>4</cp:revision>
  <dcterms:created xsi:type="dcterms:W3CDTF">2006-08-16T00:00:00Z</dcterms:created>
  <dcterms:modified xsi:type="dcterms:W3CDTF">2026-03-18T17:36:06Z</dcterms:modified>
  <dc:identifier>DAHECOMg0wc</dc:identifier>
</cp:coreProperties>
</file>