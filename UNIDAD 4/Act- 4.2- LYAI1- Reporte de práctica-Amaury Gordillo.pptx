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mo" panose="020B0604020202020204" charset="0"/>
      <p:regular r:id="rId14"/>
    </p:embeddedFont>
    <p:embeddedFont>
      <p:font typeface="Arimo Bold" panose="020B0604020202020204" charset="0"/>
      <p:regular r:id="rId15"/>
    </p:embeddedFont>
    <p:embeddedFont>
      <p:font typeface="Arimo Italics" panose="020B0604020202020204" charset="0"/>
      <p:regular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Montserrat Bold" panose="00000800000000000000" pitchFamily="2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52" d="100"/>
          <a:sy n="52" d="100"/>
        </p:scale>
        <p:origin x="87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hyperlink" Target="https://gluonhq.com/products/javafx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luonhq.com/products/javafx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763" y="241581"/>
            <a:ext cx="2193321" cy="1574239"/>
          </a:xfrm>
          <a:custGeom>
            <a:avLst/>
            <a:gdLst/>
            <a:ahLst/>
            <a:cxnLst/>
            <a:rect l="l" t="t" r="r" b="b"/>
            <a:pathLst>
              <a:path w="2193321" h="1574239">
                <a:moveTo>
                  <a:pt x="0" y="0"/>
                </a:moveTo>
                <a:lnTo>
                  <a:pt x="2193321" y="0"/>
                </a:lnTo>
                <a:lnTo>
                  <a:pt x="2193321" y="1574238"/>
                </a:lnTo>
                <a:lnTo>
                  <a:pt x="0" y="1574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76879" y="177283"/>
            <a:ext cx="3503050" cy="1538377"/>
          </a:xfrm>
          <a:custGeom>
            <a:avLst/>
            <a:gdLst/>
            <a:ahLst/>
            <a:cxnLst/>
            <a:rect l="l" t="t" r="r" b="b"/>
            <a:pathLst>
              <a:path w="3503050" h="1538377">
                <a:moveTo>
                  <a:pt x="0" y="0"/>
                </a:moveTo>
                <a:lnTo>
                  <a:pt x="3503050" y="0"/>
                </a:lnTo>
                <a:lnTo>
                  <a:pt x="3503050" y="1538377"/>
                </a:lnTo>
                <a:lnTo>
                  <a:pt x="0" y="1538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aphicFrame>
        <p:nvGraphicFramePr>
          <p:cNvPr id="4" name="Object 4"/>
          <p:cNvGraphicFramePr/>
          <p:nvPr/>
        </p:nvGraphicFramePr>
        <p:xfrm>
          <a:off x="5036284" y="5556911"/>
          <a:ext cx="8443912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0134600" imgH="4191000" progId="Excel.Sheet.12">
                  <p:embed/>
                </p:oleObj>
              </mc:Choice>
              <mc:Fallback>
                <p:oleObj name="Worksheet" r:id="rId5" imgW="10134600" imgH="4191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36284" y="5556911"/>
                        <a:ext cx="8443912" cy="251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5036284" y="917896"/>
            <a:ext cx="8215432" cy="849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TECNOLÓGICO NACIONAL DE MÉXICO</a:t>
            </a:r>
          </a:p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UNIDAD ACADÉMICA VENUSTIANO CARRANZA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91000" y="2180208"/>
            <a:ext cx="9601200" cy="849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“INGENIERÍA EN SISTEMAS COMPUTACIONALES”</a:t>
            </a:r>
          </a:p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LENGUAJES Y AUTOMATAS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24400" y="3439183"/>
            <a:ext cx="8755796" cy="849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</a:t>
            </a:r>
          </a:p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4.2 </a:t>
            </a:r>
            <a:r>
              <a:rPr lang="en-US" sz="2625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Reporte</a:t>
            </a: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</a:t>
            </a:r>
            <a:r>
              <a:rPr lang="en-US" sz="2625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práctica</a:t>
            </a:r>
            <a:endParaRPr lang="en-US" sz="2625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620000" y="4698072"/>
            <a:ext cx="2463999" cy="410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RPESENTA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43401" y="7223786"/>
            <a:ext cx="9448800" cy="849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DOCENTE</a:t>
            </a:r>
          </a:p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ING. FRANCISCO JAVIER MINGO VELAZQUEZ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52801" y="9229725"/>
            <a:ext cx="11208306" cy="410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09 DE MARZO DE 2026 VENUSTIANO CARRANZA, CHIAPAS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2238" y="2603002"/>
            <a:ext cx="3920966" cy="773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Introducción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2238" y="3816991"/>
            <a:ext cx="16303523" cy="1286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En el desarrollo de compiladores existe una serie de etapas que permiten analizar y procesar un programa escrito en un lenguaje de programación. La primera de estas etapas es el </a:t>
            </a:r>
            <a:r>
              <a:rPr lang="en-US" sz="1937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análisis léxico</a:t>
            </a: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, cuyo objetivo es leer el código fuente y dividirlo en elementos básicos llamados </a:t>
            </a:r>
            <a:r>
              <a:rPr lang="en-US" sz="1937" i="1">
                <a:solidFill>
                  <a:srgbClr val="5B5F71"/>
                </a:solidFill>
                <a:latin typeface="Arimo Italics"/>
                <a:ea typeface="Arimo Italics"/>
                <a:cs typeface="Arimo Italics"/>
                <a:sym typeface="Arimo Italics"/>
              </a:rPr>
              <a:t>tokens</a:t>
            </a: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2238" y="5286823"/>
            <a:ext cx="16303523" cy="1286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El análisis léxico permite identificar las diferentes partes del código como palabras reservadas, identificadores, operadores, números o delimitadores. Esta fase es fundamental porque facilita que las siguientes etapas del compilador puedan interpretar correctamente la estructura del programa.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2238" y="6756644"/>
            <a:ext cx="16303523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En esta práctica se desarrolló un pequeño programa utilizando </a:t>
            </a:r>
            <a:r>
              <a:rPr lang="en-US" sz="1937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Java y JavaFX</a:t>
            </a: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, con el objetivo de simular el funcionamiento de un analizador léxico sencillo. El programa permite ingresar una línea de código y mostrar los tokens que la componen junto con su tipo.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2238" y="2438848"/>
            <a:ext cx="12190362" cy="728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Justificación</a:t>
            </a:r>
            <a:r>
              <a:rPr lang="en-US" sz="4875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y </a:t>
            </a:r>
            <a:r>
              <a:rPr lang="en-US" sz="4875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Objetivo</a:t>
            </a:r>
            <a:endParaRPr lang="en-US" sz="4875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92238" y="3843490"/>
            <a:ext cx="6780162" cy="430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¿Por </a:t>
            </a:r>
            <a:r>
              <a:rPr lang="en-US" sz="2874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qué</a:t>
            </a:r>
            <a:r>
              <a:rPr lang="en-US" sz="2874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es </a:t>
            </a:r>
            <a:r>
              <a:rPr lang="en-US" sz="2874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importante</a:t>
            </a:r>
            <a:r>
              <a:rPr lang="en-US" sz="2874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2238" y="4489847"/>
            <a:ext cx="7849191" cy="1286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El estudio del análisis léxico es importante dentro de la materia de </a:t>
            </a:r>
            <a:r>
              <a:rPr lang="en-US" sz="1937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Lenguajes y Autómatas</a:t>
            </a: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, ya que permite comprender cómo los compiladores interpretan el código que escriben los programadores.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2238" y="5903862"/>
            <a:ext cx="7849191" cy="168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Realizar una práctica mediante programación ayuda a entender de forma más clara este proceso, ya que permite observar directamente cómo un programa puede analizar un fragmento de código y separar cada uno de sus componentes.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56096" y="3843490"/>
            <a:ext cx="6780162" cy="430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Objetivo</a:t>
            </a:r>
            <a:r>
              <a:rPr lang="en-US" sz="2874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de la </a:t>
            </a:r>
            <a:r>
              <a:rPr lang="en-US" sz="2874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práctica</a:t>
            </a:r>
            <a:endParaRPr lang="en-US" sz="2874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456096" y="4489847"/>
            <a:ext cx="7849191" cy="168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Desarrollar un programa en Java que permita analizar un fragmento de código fuente e identificar los tokens que lo componen, con el fin de comprender el funcionamiento básico del análisis léxico dentro del proceso de compilación.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56096" y="6300788"/>
            <a:ext cx="7849191" cy="1286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El uso de herramientas como </a:t>
            </a:r>
            <a:r>
              <a:rPr lang="en-US" sz="1937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Java y JavaFX</a:t>
            </a: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facilita la creación de interfaces simples que permiten visualizar los resultados del análisis léxico de manera más clara.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430" y="717052"/>
            <a:ext cx="9176385" cy="725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562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Fundamentos del Análisis Léxico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29430" y="1831029"/>
            <a:ext cx="16429139" cy="805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El análisis léxico es la primera fase del proceso de compilación. En esta etapa, el compilador recibe el código fuente como una secuencia de caracteres y lo divide en unidades significativas llamadas </a:t>
            </a:r>
            <a:r>
              <a:rPr lang="en-US" sz="1812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tokens</a:t>
            </a: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9430" y="2795587"/>
            <a:ext cx="16429139" cy="4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Un </a:t>
            </a:r>
            <a:r>
              <a:rPr lang="en-US" sz="1812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token</a:t>
            </a: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representa una categoría dentro del lenguaje de programación, y puede ser: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24668" y="3481235"/>
            <a:ext cx="5340848" cy="2621309"/>
            <a:chOff x="0" y="0"/>
            <a:chExt cx="7121131" cy="3495078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7108444" cy="3482467"/>
            </a:xfrm>
            <a:custGeom>
              <a:avLst/>
              <a:gdLst/>
              <a:ahLst/>
              <a:cxnLst/>
              <a:rect l="l" t="t" r="r" b="b"/>
              <a:pathLst>
                <a:path w="7108444" h="3482467">
                  <a:moveTo>
                    <a:pt x="0" y="130175"/>
                  </a:moveTo>
                  <a:cubicBezTo>
                    <a:pt x="0" y="58293"/>
                    <a:pt x="58420" y="0"/>
                    <a:pt x="130429" y="0"/>
                  </a:cubicBezTo>
                  <a:lnTo>
                    <a:pt x="6978015" y="0"/>
                  </a:lnTo>
                  <a:cubicBezTo>
                    <a:pt x="7050024" y="0"/>
                    <a:pt x="7108444" y="58293"/>
                    <a:pt x="7108444" y="130175"/>
                  </a:cubicBezTo>
                  <a:lnTo>
                    <a:pt x="7108444" y="3352292"/>
                  </a:lnTo>
                  <a:cubicBezTo>
                    <a:pt x="7108444" y="3424174"/>
                    <a:pt x="7050024" y="3482467"/>
                    <a:pt x="6978015" y="3482467"/>
                  </a:cubicBezTo>
                  <a:lnTo>
                    <a:pt x="130429" y="3482467"/>
                  </a:lnTo>
                  <a:cubicBezTo>
                    <a:pt x="58420" y="3482340"/>
                    <a:pt x="0" y="3424174"/>
                    <a:pt x="0" y="3352292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7121144" cy="3495167"/>
            </a:xfrm>
            <a:custGeom>
              <a:avLst/>
              <a:gdLst/>
              <a:ahLst/>
              <a:cxnLst/>
              <a:rect l="l" t="t" r="r" b="b"/>
              <a:pathLst>
                <a:path w="7121144" h="3495167">
                  <a:moveTo>
                    <a:pt x="0" y="136525"/>
                  </a:moveTo>
                  <a:cubicBezTo>
                    <a:pt x="0" y="61087"/>
                    <a:pt x="61214" y="0"/>
                    <a:pt x="136779" y="0"/>
                  </a:cubicBezTo>
                  <a:lnTo>
                    <a:pt x="6984365" y="0"/>
                  </a:lnTo>
                  <a:lnTo>
                    <a:pt x="6984365" y="6350"/>
                  </a:lnTo>
                  <a:lnTo>
                    <a:pt x="6984365" y="0"/>
                  </a:lnTo>
                  <a:cubicBezTo>
                    <a:pt x="7059930" y="0"/>
                    <a:pt x="7121144" y="61087"/>
                    <a:pt x="7121144" y="136525"/>
                  </a:cubicBezTo>
                  <a:lnTo>
                    <a:pt x="7114794" y="136525"/>
                  </a:lnTo>
                  <a:lnTo>
                    <a:pt x="7121144" y="136525"/>
                  </a:lnTo>
                  <a:lnTo>
                    <a:pt x="7121144" y="3358642"/>
                  </a:lnTo>
                  <a:lnTo>
                    <a:pt x="7114794" y="3358642"/>
                  </a:lnTo>
                  <a:lnTo>
                    <a:pt x="7121144" y="3358642"/>
                  </a:lnTo>
                  <a:cubicBezTo>
                    <a:pt x="7121144" y="3434080"/>
                    <a:pt x="7059930" y="3495167"/>
                    <a:pt x="6984365" y="3495167"/>
                  </a:cubicBezTo>
                  <a:lnTo>
                    <a:pt x="6984365" y="3488817"/>
                  </a:lnTo>
                  <a:lnTo>
                    <a:pt x="6984365" y="3495167"/>
                  </a:lnTo>
                  <a:lnTo>
                    <a:pt x="136779" y="3495167"/>
                  </a:lnTo>
                  <a:lnTo>
                    <a:pt x="136779" y="3488817"/>
                  </a:lnTo>
                  <a:lnTo>
                    <a:pt x="136779" y="3495167"/>
                  </a:lnTo>
                  <a:cubicBezTo>
                    <a:pt x="61214" y="3495040"/>
                    <a:pt x="0" y="3433953"/>
                    <a:pt x="0" y="3358642"/>
                  </a:cubicBezTo>
                  <a:lnTo>
                    <a:pt x="0" y="136525"/>
                  </a:lnTo>
                  <a:lnTo>
                    <a:pt x="6350" y="136525"/>
                  </a:lnTo>
                  <a:lnTo>
                    <a:pt x="0" y="136525"/>
                  </a:lnTo>
                  <a:moveTo>
                    <a:pt x="12700" y="136525"/>
                  </a:moveTo>
                  <a:lnTo>
                    <a:pt x="12700" y="3358642"/>
                  </a:lnTo>
                  <a:lnTo>
                    <a:pt x="6350" y="3358642"/>
                  </a:lnTo>
                  <a:lnTo>
                    <a:pt x="12700" y="3358642"/>
                  </a:lnTo>
                  <a:cubicBezTo>
                    <a:pt x="12700" y="3426968"/>
                    <a:pt x="68199" y="3482467"/>
                    <a:pt x="136779" y="3482467"/>
                  </a:cubicBezTo>
                  <a:lnTo>
                    <a:pt x="6984365" y="3482467"/>
                  </a:lnTo>
                  <a:cubicBezTo>
                    <a:pt x="7052818" y="3482467"/>
                    <a:pt x="7108444" y="3427095"/>
                    <a:pt x="7108444" y="3358642"/>
                  </a:cubicBezTo>
                  <a:lnTo>
                    <a:pt x="7108444" y="136525"/>
                  </a:lnTo>
                  <a:cubicBezTo>
                    <a:pt x="7108444" y="68199"/>
                    <a:pt x="7052945" y="12700"/>
                    <a:pt x="6984365" y="12700"/>
                  </a:cubicBezTo>
                  <a:lnTo>
                    <a:pt x="136779" y="12700"/>
                  </a:lnTo>
                  <a:lnTo>
                    <a:pt x="136779" y="6350"/>
                  </a:lnTo>
                  <a:lnTo>
                    <a:pt x="136779" y="12700"/>
                  </a:lnTo>
                  <a:cubicBezTo>
                    <a:pt x="68199" y="12700"/>
                    <a:pt x="12700" y="68072"/>
                    <a:pt x="12700" y="136525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71280" y="3727847"/>
            <a:ext cx="697116" cy="697116"/>
            <a:chOff x="0" y="0"/>
            <a:chExt cx="929488" cy="929488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29513" cy="929513"/>
            </a:xfrm>
            <a:custGeom>
              <a:avLst/>
              <a:gdLst/>
              <a:ahLst/>
              <a:cxnLst/>
              <a:rect l="l" t="t" r="r" b="b"/>
              <a:pathLst>
                <a:path w="929513" h="929513">
                  <a:moveTo>
                    <a:pt x="0" y="0"/>
                  </a:moveTo>
                  <a:lnTo>
                    <a:pt x="929513" y="0"/>
                  </a:lnTo>
                  <a:lnTo>
                    <a:pt x="929513" y="929513"/>
                  </a:lnTo>
                  <a:lnTo>
                    <a:pt x="0" y="929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 b="2"/>
              </a:stretch>
            </a:blipFill>
          </p:spPr>
        </p:sp>
      </p:grpSp>
      <p:sp>
        <p:nvSpPr>
          <p:cNvPr id="10" name="Freeform 10" descr="preencoded.png"/>
          <p:cNvSpPr/>
          <p:nvPr/>
        </p:nvSpPr>
        <p:spPr>
          <a:xfrm>
            <a:off x="1362970" y="3919538"/>
            <a:ext cx="313582" cy="313582"/>
          </a:xfrm>
          <a:custGeom>
            <a:avLst/>
            <a:gdLst/>
            <a:ahLst/>
            <a:cxnLst/>
            <a:rect l="l" t="t" r="r" b="b"/>
            <a:pathLst>
              <a:path w="313582" h="313582">
                <a:moveTo>
                  <a:pt x="0" y="0"/>
                </a:moveTo>
                <a:lnTo>
                  <a:pt x="313582" y="0"/>
                </a:lnTo>
                <a:lnTo>
                  <a:pt x="313582" y="313582"/>
                </a:lnTo>
                <a:lnTo>
                  <a:pt x="0" y="313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1515" r="-51512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71280" y="4613967"/>
            <a:ext cx="2904677" cy="39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Palabras reservadas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1280" y="5050479"/>
            <a:ext cx="4847634" cy="4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Palabras del lenguaje como int, float, if, while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473581" y="3481235"/>
            <a:ext cx="5340848" cy="2621309"/>
            <a:chOff x="0" y="0"/>
            <a:chExt cx="7121131" cy="3495078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7108444" cy="3482467"/>
            </a:xfrm>
            <a:custGeom>
              <a:avLst/>
              <a:gdLst/>
              <a:ahLst/>
              <a:cxnLst/>
              <a:rect l="l" t="t" r="r" b="b"/>
              <a:pathLst>
                <a:path w="7108444" h="3482467">
                  <a:moveTo>
                    <a:pt x="0" y="130175"/>
                  </a:moveTo>
                  <a:cubicBezTo>
                    <a:pt x="0" y="58293"/>
                    <a:pt x="58420" y="0"/>
                    <a:pt x="130429" y="0"/>
                  </a:cubicBezTo>
                  <a:lnTo>
                    <a:pt x="6978015" y="0"/>
                  </a:lnTo>
                  <a:cubicBezTo>
                    <a:pt x="7050024" y="0"/>
                    <a:pt x="7108444" y="58293"/>
                    <a:pt x="7108444" y="130175"/>
                  </a:cubicBezTo>
                  <a:lnTo>
                    <a:pt x="7108444" y="3352292"/>
                  </a:lnTo>
                  <a:cubicBezTo>
                    <a:pt x="7108444" y="3424174"/>
                    <a:pt x="7050024" y="3482467"/>
                    <a:pt x="6978015" y="3482467"/>
                  </a:cubicBezTo>
                  <a:lnTo>
                    <a:pt x="130429" y="3482467"/>
                  </a:lnTo>
                  <a:cubicBezTo>
                    <a:pt x="58420" y="3482340"/>
                    <a:pt x="0" y="3424174"/>
                    <a:pt x="0" y="3352292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7121144" cy="3495167"/>
            </a:xfrm>
            <a:custGeom>
              <a:avLst/>
              <a:gdLst/>
              <a:ahLst/>
              <a:cxnLst/>
              <a:rect l="l" t="t" r="r" b="b"/>
              <a:pathLst>
                <a:path w="7121144" h="3495167">
                  <a:moveTo>
                    <a:pt x="0" y="136525"/>
                  </a:moveTo>
                  <a:cubicBezTo>
                    <a:pt x="0" y="61087"/>
                    <a:pt x="61214" y="0"/>
                    <a:pt x="136779" y="0"/>
                  </a:cubicBezTo>
                  <a:lnTo>
                    <a:pt x="6984365" y="0"/>
                  </a:lnTo>
                  <a:lnTo>
                    <a:pt x="6984365" y="6350"/>
                  </a:lnTo>
                  <a:lnTo>
                    <a:pt x="6984365" y="0"/>
                  </a:lnTo>
                  <a:cubicBezTo>
                    <a:pt x="7059930" y="0"/>
                    <a:pt x="7121144" y="61087"/>
                    <a:pt x="7121144" y="136525"/>
                  </a:cubicBezTo>
                  <a:lnTo>
                    <a:pt x="7114794" y="136525"/>
                  </a:lnTo>
                  <a:lnTo>
                    <a:pt x="7121144" y="136525"/>
                  </a:lnTo>
                  <a:lnTo>
                    <a:pt x="7121144" y="3358642"/>
                  </a:lnTo>
                  <a:lnTo>
                    <a:pt x="7114794" y="3358642"/>
                  </a:lnTo>
                  <a:lnTo>
                    <a:pt x="7121144" y="3358642"/>
                  </a:lnTo>
                  <a:cubicBezTo>
                    <a:pt x="7121144" y="3434080"/>
                    <a:pt x="7059930" y="3495167"/>
                    <a:pt x="6984365" y="3495167"/>
                  </a:cubicBezTo>
                  <a:lnTo>
                    <a:pt x="6984365" y="3488817"/>
                  </a:lnTo>
                  <a:lnTo>
                    <a:pt x="6984365" y="3495167"/>
                  </a:lnTo>
                  <a:lnTo>
                    <a:pt x="136779" y="3495167"/>
                  </a:lnTo>
                  <a:lnTo>
                    <a:pt x="136779" y="3488817"/>
                  </a:lnTo>
                  <a:lnTo>
                    <a:pt x="136779" y="3495167"/>
                  </a:lnTo>
                  <a:cubicBezTo>
                    <a:pt x="61214" y="3495040"/>
                    <a:pt x="0" y="3433953"/>
                    <a:pt x="0" y="3358642"/>
                  </a:cubicBezTo>
                  <a:lnTo>
                    <a:pt x="0" y="136525"/>
                  </a:lnTo>
                  <a:lnTo>
                    <a:pt x="6350" y="136525"/>
                  </a:lnTo>
                  <a:lnTo>
                    <a:pt x="0" y="136525"/>
                  </a:lnTo>
                  <a:moveTo>
                    <a:pt x="12700" y="136525"/>
                  </a:moveTo>
                  <a:lnTo>
                    <a:pt x="12700" y="3358642"/>
                  </a:lnTo>
                  <a:lnTo>
                    <a:pt x="6350" y="3358642"/>
                  </a:lnTo>
                  <a:lnTo>
                    <a:pt x="12700" y="3358642"/>
                  </a:lnTo>
                  <a:cubicBezTo>
                    <a:pt x="12700" y="3426968"/>
                    <a:pt x="68199" y="3482467"/>
                    <a:pt x="136779" y="3482467"/>
                  </a:cubicBezTo>
                  <a:lnTo>
                    <a:pt x="6984365" y="3482467"/>
                  </a:lnTo>
                  <a:cubicBezTo>
                    <a:pt x="7052818" y="3482467"/>
                    <a:pt x="7108444" y="3427095"/>
                    <a:pt x="7108444" y="3358642"/>
                  </a:cubicBezTo>
                  <a:lnTo>
                    <a:pt x="7108444" y="136525"/>
                  </a:lnTo>
                  <a:cubicBezTo>
                    <a:pt x="7108444" y="68199"/>
                    <a:pt x="7052945" y="12700"/>
                    <a:pt x="6984365" y="12700"/>
                  </a:cubicBezTo>
                  <a:lnTo>
                    <a:pt x="136779" y="12700"/>
                  </a:lnTo>
                  <a:lnTo>
                    <a:pt x="136779" y="6350"/>
                  </a:lnTo>
                  <a:lnTo>
                    <a:pt x="136779" y="12700"/>
                  </a:lnTo>
                  <a:cubicBezTo>
                    <a:pt x="68199" y="12700"/>
                    <a:pt x="12700" y="68072"/>
                    <a:pt x="12700" y="136525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720183" y="3727847"/>
            <a:ext cx="697116" cy="697116"/>
            <a:chOff x="0" y="0"/>
            <a:chExt cx="929488" cy="929488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929513" cy="929513"/>
            </a:xfrm>
            <a:custGeom>
              <a:avLst/>
              <a:gdLst/>
              <a:ahLst/>
              <a:cxnLst/>
              <a:rect l="l" t="t" r="r" b="b"/>
              <a:pathLst>
                <a:path w="929513" h="929513">
                  <a:moveTo>
                    <a:pt x="0" y="0"/>
                  </a:moveTo>
                  <a:lnTo>
                    <a:pt x="929513" y="0"/>
                  </a:lnTo>
                  <a:lnTo>
                    <a:pt x="929513" y="929513"/>
                  </a:lnTo>
                  <a:lnTo>
                    <a:pt x="0" y="929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" b="2"/>
              </a:stretch>
            </a:blipFill>
          </p:spPr>
        </p:sp>
      </p:grpSp>
      <p:sp>
        <p:nvSpPr>
          <p:cNvPr id="18" name="Freeform 18" descr="preencoded.png"/>
          <p:cNvSpPr/>
          <p:nvPr/>
        </p:nvSpPr>
        <p:spPr>
          <a:xfrm>
            <a:off x="6911873" y="3919538"/>
            <a:ext cx="313582" cy="313582"/>
          </a:xfrm>
          <a:custGeom>
            <a:avLst/>
            <a:gdLst/>
            <a:ahLst/>
            <a:cxnLst/>
            <a:rect l="l" t="t" r="r" b="b"/>
            <a:pathLst>
              <a:path w="313582" h="313582">
                <a:moveTo>
                  <a:pt x="0" y="0"/>
                </a:moveTo>
                <a:lnTo>
                  <a:pt x="313582" y="0"/>
                </a:lnTo>
                <a:lnTo>
                  <a:pt x="313582" y="313582"/>
                </a:lnTo>
                <a:lnTo>
                  <a:pt x="0" y="3135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6666" b="-16666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720183" y="4613967"/>
            <a:ext cx="2904677" cy="39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Identificadores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20183" y="5050479"/>
            <a:ext cx="4847634" cy="805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Nombres de variables, funciones y estructuras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22484" y="3481235"/>
            <a:ext cx="5340848" cy="2621309"/>
            <a:chOff x="0" y="0"/>
            <a:chExt cx="7121131" cy="3495078"/>
          </a:xfrm>
        </p:grpSpPr>
        <p:sp>
          <p:nvSpPr>
            <p:cNvPr id="22" name="Freeform 22"/>
            <p:cNvSpPr/>
            <p:nvPr/>
          </p:nvSpPr>
          <p:spPr>
            <a:xfrm>
              <a:off x="6350" y="6350"/>
              <a:ext cx="7108444" cy="3482467"/>
            </a:xfrm>
            <a:custGeom>
              <a:avLst/>
              <a:gdLst/>
              <a:ahLst/>
              <a:cxnLst/>
              <a:rect l="l" t="t" r="r" b="b"/>
              <a:pathLst>
                <a:path w="7108444" h="3482467">
                  <a:moveTo>
                    <a:pt x="0" y="130175"/>
                  </a:moveTo>
                  <a:cubicBezTo>
                    <a:pt x="0" y="58293"/>
                    <a:pt x="58420" y="0"/>
                    <a:pt x="130429" y="0"/>
                  </a:cubicBezTo>
                  <a:lnTo>
                    <a:pt x="6978015" y="0"/>
                  </a:lnTo>
                  <a:cubicBezTo>
                    <a:pt x="7050024" y="0"/>
                    <a:pt x="7108444" y="58293"/>
                    <a:pt x="7108444" y="130175"/>
                  </a:cubicBezTo>
                  <a:lnTo>
                    <a:pt x="7108444" y="3352292"/>
                  </a:lnTo>
                  <a:cubicBezTo>
                    <a:pt x="7108444" y="3424174"/>
                    <a:pt x="7050024" y="3482467"/>
                    <a:pt x="6978015" y="3482467"/>
                  </a:cubicBezTo>
                  <a:lnTo>
                    <a:pt x="130429" y="3482467"/>
                  </a:lnTo>
                  <a:cubicBezTo>
                    <a:pt x="58420" y="3482340"/>
                    <a:pt x="0" y="3424174"/>
                    <a:pt x="0" y="3352292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7121144" cy="3495167"/>
            </a:xfrm>
            <a:custGeom>
              <a:avLst/>
              <a:gdLst/>
              <a:ahLst/>
              <a:cxnLst/>
              <a:rect l="l" t="t" r="r" b="b"/>
              <a:pathLst>
                <a:path w="7121144" h="3495167">
                  <a:moveTo>
                    <a:pt x="0" y="136525"/>
                  </a:moveTo>
                  <a:cubicBezTo>
                    <a:pt x="0" y="61087"/>
                    <a:pt x="61214" y="0"/>
                    <a:pt x="136779" y="0"/>
                  </a:cubicBezTo>
                  <a:lnTo>
                    <a:pt x="6984365" y="0"/>
                  </a:lnTo>
                  <a:lnTo>
                    <a:pt x="6984365" y="6350"/>
                  </a:lnTo>
                  <a:lnTo>
                    <a:pt x="6984365" y="0"/>
                  </a:lnTo>
                  <a:cubicBezTo>
                    <a:pt x="7059930" y="0"/>
                    <a:pt x="7121144" y="61087"/>
                    <a:pt x="7121144" y="136525"/>
                  </a:cubicBezTo>
                  <a:lnTo>
                    <a:pt x="7114794" y="136525"/>
                  </a:lnTo>
                  <a:lnTo>
                    <a:pt x="7121144" y="136525"/>
                  </a:lnTo>
                  <a:lnTo>
                    <a:pt x="7121144" y="3358642"/>
                  </a:lnTo>
                  <a:lnTo>
                    <a:pt x="7114794" y="3358642"/>
                  </a:lnTo>
                  <a:lnTo>
                    <a:pt x="7121144" y="3358642"/>
                  </a:lnTo>
                  <a:cubicBezTo>
                    <a:pt x="7121144" y="3434080"/>
                    <a:pt x="7059930" y="3495167"/>
                    <a:pt x="6984365" y="3495167"/>
                  </a:cubicBezTo>
                  <a:lnTo>
                    <a:pt x="6984365" y="3488817"/>
                  </a:lnTo>
                  <a:lnTo>
                    <a:pt x="6984365" y="3495167"/>
                  </a:lnTo>
                  <a:lnTo>
                    <a:pt x="136779" y="3495167"/>
                  </a:lnTo>
                  <a:lnTo>
                    <a:pt x="136779" y="3488817"/>
                  </a:lnTo>
                  <a:lnTo>
                    <a:pt x="136779" y="3495167"/>
                  </a:lnTo>
                  <a:cubicBezTo>
                    <a:pt x="61214" y="3495040"/>
                    <a:pt x="0" y="3433953"/>
                    <a:pt x="0" y="3358642"/>
                  </a:cubicBezTo>
                  <a:lnTo>
                    <a:pt x="0" y="136525"/>
                  </a:lnTo>
                  <a:lnTo>
                    <a:pt x="6350" y="136525"/>
                  </a:lnTo>
                  <a:lnTo>
                    <a:pt x="0" y="136525"/>
                  </a:lnTo>
                  <a:moveTo>
                    <a:pt x="12700" y="136525"/>
                  </a:moveTo>
                  <a:lnTo>
                    <a:pt x="12700" y="3358642"/>
                  </a:lnTo>
                  <a:lnTo>
                    <a:pt x="6350" y="3358642"/>
                  </a:lnTo>
                  <a:lnTo>
                    <a:pt x="12700" y="3358642"/>
                  </a:lnTo>
                  <a:cubicBezTo>
                    <a:pt x="12700" y="3426968"/>
                    <a:pt x="68199" y="3482467"/>
                    <a:pt x="136779" y="3482467"/>
                  </a:cubicBezTo>
                  <a:lnTo>
                    <a:pt x="6984365" y="3482467"/>
                  </a:lnTo>
                  <a:cubicBezTo>
                    <a:pt x="7052818" y="3482467"/>
                    <a:pt x="7108444" y="3427095"/>
                    <a:pt x="7108444" y="3358642"/>
                  </a:cubicBezTo>
                  <a:lnTo>
                    <a:pt x="7108444" y="136525"/>
                  </a:lnTo>
                  <a:cubicBezTo>
                    <a:pt x="7108444" y="68199"/>
                    <a:pt x="7052945" y="12700"/>
                    <a:pt x="6984365" y="12700"/>
                  </a:cubicBezTo>
                  <a:lnTo>
                    <a:pt x="136779" y="12700"/>
                  </a:lnTo>
                  <a:lnTo>
                    <a:pt x="136779" y="6350"/>
                  </a:lnTo>
                  <a:lnTo>
                    <a:pt x="136779" y="12700"/>
                  </a:lnTo>
                  <a:cubicBezTo>
                    <a:pt x="68199" y="12700"/>
                    <a:pt x="12700" y="68072"/>
                    <a:pt x="12700" y="136525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2269095" y="3727847"/>
            <a:ext cx="697116" cy="697116"/>
            <a:chOff x="0" y="0"/>
            <a:chExt cx="929488" cy="929488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929513" cy="929513"/>
            </a:xfrm>
            <a:custGeom>
              <a:avLst/>
              <a:gdLst/>
              <a:ahLst/>
              <a:cxnLst/>
              <a:rect l="l" t="t" r="r" b="b"/>
              <a:pathLst>
                <a:path w="929513" h="929513">
                  <a:moveTo>
                    <a:pt x="0" y="0"/>
                  </a:moveTo>
                  <a:lnTo>
                    <a:pt x="929513" y="0"/>
                  </a:lnTo>
                  <a:lnTo>
                    <a:pt x="929513" y="929513"/>
                  </a:lnTo>
                  <a:lnTo>
                    <a:pt x="0" y="929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2" b="2"/>
              </a:stretch>
            </a:blipFill>
          </p:spPr>
        </p:sp>
      </p:grpSp>
      <p:sp>
        <p:nvSpPr>
          <p:cNvPr id="26" name="Freeform 26" descr="preencoded.png"/>
          <p:cNvSpPr/>
          <p:nvPr/>
        </p:nvSpPr>
        <p:spPr>
          <a:xfrm>
            <a:off x="12460786" y="3919538"/>
            <a:ext cx="313582" cy="313582"/>
          </a:xfrm>
          <a:custGeom>
            <a:avLst/>
            <a:gdLst/>
            <a:ahLst/>
            <a:cxnLst/>
            <a:rect l="l" t="t" r="r" b="b"/>
            <a:pathLst>
              <a:path w="313582" h="313582">
                <a:moveTo>
                  <a:pt x="0" y="0"/>
                </a:moveTo>
                <a:lnTo>
                  <a:pt x="313582" y="0"/>
                </a:lnTo>
                <a:lnTo>
                  <a:pt x="313582" y="313582"/>
                </a:lnTo>
                <a:lnTo>
                  <a:pt x="0" y="313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15" r="-1515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2269095" y="4613967"/>
            <a:ext cx="2904677" cy="39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Operadores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269095" y="5050479"/>
            <a:ext cx="4847634" cy="4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Símbolos aritméticos y lógicos como +, -, *, /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24668" y="6310608"/>
            <a:ext cx="8115300" cy="2261445"/>
            <a:chOff x="0" y="0"/>
            <a:chExt cx="10820400" cy="3015259"/>
          </a:xfrm>
        </p:grpSpPr>
        <p:sp>
          <p:nvSpPr>
            <p:cNvPr id="30" name="Freeform 30"/>
            <p:cNvSpPr/>
            <p:nvPr/>
          </p:nvSpPr>
          <p:spPr>
            <a:xfrm>
              <a:off x="6350" y="6350"/>
              <a:ext cx="10807700" cy="3002661"/>
            </a:xfrm>
            <a:custGeom>
              <a:avLst/>
              <a:gdLst/>
              <a:ahLst/>
              <a:cxnLst/>
              <a:rect l="l" t="t" r="r" b="b"/>
              <a:pathLst>
                <a:path w="10807700" h="3002661">
                  <a:moveTo>
                    <a:pt x="0" y="130175"/>
                  </a:moveTo>
                  <a:cubicBezTo>
                    <a:pt x="0" y="58293"/>
                    <a:pt x="58420" y="0"/>
                    <a:pt x="130556" y="0"/>
                  </a:cubicBezTo>
                  <a:lnTo>
                    <a:pt x="10677144" y="0"/>
                  </a:lnTo>
                  <a:cubicBezTo>
                    <a:pt x="10749280" y="0"/>
                    <a:pt x="10807700" y="58293"/>
                    <a:pt x="10807700" y="130175"/>
                  </a:cubicBezTo>
                  <a:lnTo>
                    <a:pt x="10807700" y="2872486"/>
                  </a:lnTo>
                  <a:cubicBezTo>
                    <a:pt x="10807700" y="2944368"/>
                    <a:pt x="10749280" y="3002661"/>
                    <a:pt x="10677144" y="3002661"/>
                  </a:cubicBezTo>
                  <a:lnTo>
                    <a:pt x="130556" y="3002661"/>
                  </a:lnTo>
                  <a:cubicBezTo>
                    <a:pt x="58420" y="3002534"/>
                    <a:pt x="0" y="2944241"/>
                    <a:pt x="0" y="2872486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10820400" cy="3015361"/>
            </a:xfrm>
            <a:custGeom>
              <a:avLst/>
              <a:gdLst/>
              <a:ahLst/>
              <a:cxnLst/>
              <a:rect l="l" t="t" r="r" b="b"/>
              <a:pathLst>
                <a:path w="10820400" h="3015361">
                  <a:moveTo>
                    <a:pt x="0" y="136525"/>
                  </a:moveTo>
                  <a:cubicBezTo>
                    <a:pt x="0" y="61087"/>
                    <a:pt x="61341" y="0"/>
                    <a:pt x="136906" y="0"/>
                  </a:cubicBezTo>
                  <a:lnTo>
                    <a:pt x="10683494" y="0"/>
                  </a:lnTo>
                  <a:lnTo>
                    <a:pt x="10683494" y="6350"/>
                  </a:lnTo>
                  <a:lnTo>
                    <a:pt x="10683494" y="0"/>
                  </a:lnTo>
                  <a:cubicBezTo>
                    <a:pt x="10759059" y="0"/>
                    <a:pt x="10820400" y="61087"/>
                    <a:pt x="10820400" y="136525"/>
                  </a:cubicBezTo>
                  <a:lnTo>
                    <a:pt x="10814050" y="136525"/>
                  </a:lnTo>
                  <a:lnTo>
                    <a:pt x="10820400" y="136525"/>
                  </a:lnTo>
                  <a:lnTo>
                    <a:pt x="10820400" y="2878836"/>
                  </a:lnTo>
                  <a:lnTo>
                    <a:pt x="10814050" y="2878836"/>
                  </a:lnTo>
                  <a:lnTo>
                    <a:pt x="10820400" y="2878836"/>
                  </a:lnTo>
                  <a:cubicBezTo>
                    <a:pt x="10820400" y="2954274"/>
                    <a:pt x="10759059" y="3015361"/>
                    <a:pt x="10683494" y="3015361"/>
                  </a:cubicBezTo>
                  <a:lnTo>
                    <a:pt x="10683494" y="3009011"/>
                  </a:lnTo>
                  <a:lnTo>
                    <a:pt x="10683494" y="3015361"/>
                  </a:lnTo>
                  <a:lnTo>
                    <a:pt x="136906" y="3015361"/>
                  </a:lnTo>
                  <a:lnTo>
                    <a:pt x="136906" y="3009011"/>
                  </a:lnTo>
                  <a:lnTo>
                    <a:pt x="136906" y="3015361"/>
                  </a:lnTo>
                  <a:cubicBezTo>
                    <a:pt x="61341" y="3015234"/>
                    <a:pt x="0" y="2954147"/>
                    <a:pt x="0" y="2878836"/>
                  </a:cubicBezTo>
                  <a:lnTo>
                    <a:pt x="0" y="136525"/>
                  </a:lnTo>
                  <a:lnTo>
                    <a:pt x="6350" y="136525"/>
                  </a:lnTo>
                  <a:lnTo>
                    <a:pt x="0" y="136525"/>
                  </a:lnTo>
                  <a:moveTo>
                    <a:pt x="12700" y="136525"/>
                  </a:moveTo>
                  <a:lnTo>
                    <a:pt x="12700" y="2878836"/>
                  </a:lnTo>
                  <a:lnTo>
                    <a:pt x="6350" y="2878836"/>
                  </a:lnTo>
                  <a:lnTo>
                    <a:pt x="12700" y="2878836"/>
                  </a:lnTo>
                  <a:cubicBezTo>
                    <a:pt x="12700" y="2947162"/>
                    <a:pt x="68326" y="3002661"/>
                    <a:pt x="136906" y="3002661"/>
                  </a:cubicBezTo>
                  <a:lnTo>
                    <a:pt x="10683494" y="3002661"/>
                  </a:lnTo>
                  <a:cubicBezTo>
                    <a:pt x="10752074" y="3002661"/>
                    <a:pt x="10807700" y="2947162"/>
                    <a:pt x="10807700" y="2878836"/>
                  </a:cubicBezTo>
                  <a:lnTo>
                    <a:pt x="10807700" y="136525"/>
                  </a:lnTo>
                  <a:cubicBezTo>
                    <a:pt x="10807700" y="68199"/>
                    <a:pt x="10752074" y="12700"/>
                    <a:pt x="10683494" y="12700"/>
                  </a:cubicBezTo>
                  <a:lnTo>
                    <a:pt x="136906" y="12700"/>
                  </a:lnTo>
                  <a:lnTo>
                    <a:pt x="136906" y="6350"/>
                  </a:lnTo>
                  <a:lnTo>
                    <a:pt x="136906" y="12700"/>
                  </a:lnTo>
                  <a:cubicBezTo>
                    <a:pt x="68326" y="12700"/>
                    <a:pt x="12700" y="68199"/>
                    <a:pt x="12700" y="136525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171280" y="6557220"/>
            <a:ext cx="697116" cy="697116"/>
            <a:chOff x="0" y="0"/>
            <a:chExt cx="929488" cy="929488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929513" cy="929513"/>
            </a:xfrm>
            <a:custGeom>
              <a:avLst/>
              <a:gdLst/>
              <a:ahLst/>
              <a:cxnLst/>
              <a:rect l="l" t="t" r="r" b="b"/>
              <a:pathLst>
                <a:path w="929513" h="929513">
                  <a:moveTo>
                    <a:pt x="0" y="0"/>
                  </a:moveTo>
                  <a:lnTo>
                    <a:pt x="929513" y="0"/>
                  </a:lnTo>
                  <a:lnTo>
                    <a:pt x="929513" y="929513"/>
                  </a:lnTo>
                  <a:lnTo>
                    <a:pt x="0" y="929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2" b="2"/>
              </a:stretch>
            </a:blipFill>
          </p:spPr>
        </p:sp>
      </p:grpSp>
      <p:sp>
        <p:nvSpPr>
          <p:cNvPr id="34" name="Freeform 34" descr="preencoded.png"/>
          <p:cNvSpPr/>
          <p:nvPr/>
        </p:nvSpPr>
        <p:spPr>
          <a:xfrm>
            <a:off x="1362970" y="6748910"/>
            <a:ext cx="313582" cy="313582"/>
          </a:xfrm>
          <a:custGeom>
            <a:avLst/>
            <a:gdLst/>
            <a:ahLst/>
            <a:cxnLst/>
            <a:rect l="l" t="t" r="r" b="b"/>
            <a:pathLst>
              <a:path w="313582" h="313582">
                <a:moveTo>
                  <a:pt x="0" y="0"/>
                </a:moveTo>
                <a:lnTo>
                  <a:pt x="313582" y="0"/>
                </a:lnTo>
                <a:lnTo>
                  <a:pt x="313582" y="313582"/>
                </a:lnTo>
                <a:lnTo>
                  <a:pt x="0" y="3135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t="-62119" b="-62122"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171280" y="7443340"/>
            <a:ext cx="2904677" cy="39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Números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71280" y="7879852"/>
            <a:ext cx="7622086" cy="4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Constantes numéricas enteras o de punto flotante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248032" y="6310608"/>
            <a:ext cx="8115300" cy="2261445"/>
            <a:chOff x="0" y="0"/>
            <a:chExt cx="10820400" cy="3015259"/>
          </a:xfrm>
        </p:grpSpPr>
        <p:sp>
          <p:nvSpPr>
            <p:cNvPr id="38" name="Freeform 38"/>
            <p:cNvSpPr/>
            <p:nvPr/>
          </p:nvSpPr>
          <p:spPr>
            <a:xfrm>
              <a:off x="6350" y="6350"/>
              <a:ext cx="10807700" cy="3002661"/>
            </a:xfrm>
            <a:custGeom>
              <a:avLst/>
              <a:gdLst/>
              <a:ahLst/>
              <a:cxnLst/>
              <a:rect l="l" t="t" r="r" b="b"/>
              <a:pathLst>
                <a:path w="10807700" h="3002661">
                  <a:moveTo>
                    <a:pt x="0" y="130175"/>
                  </a:moveTo>
                  <a:cubicBezTo>
                    <a:pt x="0" y="58293"/>
                    <a:pt x="58420" y="0"/>
                    <a:pt x="130556" y="0"/>
                  </a:cubicBezTo>
                  <a:lnTo>
                    <a:pt x="10677144" y="0"/>
                  </a:lnTo>
                  <a:cubicBezTo>
                    <a:pt x="10749280" y="0"/>
                    <a:pt x="10807700" y="58293"/>
                    <a:pt x="10807700" y="130175"/>
                  </a:cubicBezTo>
                  <a:lnTo>
                    <a:pt x="10807700" y="2872486"/>
                  </a:lnTo>
                  <a:cubicBezTo>
                    <a:pt x="10807700" y="2944368"/>
                    <a:pt x="10749280" y="3002661"/>
                    <a:pt x="10677144" y="3002661"/>
                  </a:cubicBezTo>
                  <a:lnTo>
                    <a:pt x="130556" y="3002661"/>
                  </a:lnTo>
                  <a:cubicBezTo>
                    <a:pt x="58420" y="3002534"/>
                    <a:pt x="0" y="2944241"/>
                    <a:pt x="0" y="2872486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10820400" cy="3015361"/>
            </a:xfrm>
            <a:custGeom>
              <a:avLst/>
              <a:gdLst/>
              <a:ahLst/>
              <a:cxnLst/>
              <a:rect l="l" t="t" r="r" b="b"/>
              <a:pathLst>
                <a:path w="10820400" h="3015361">
                  <a:moveTo>
                    <a:pt x="0" y="136525"/>
                  </a:moveTo>
                  <a:cubicBezTo>
                    <a:pt x="0" y="61087"/>
                    <a:pt x="61341" y="0"/>
                    <a:pt x="136906" y="0"/>
                  </a:cubicBezTo>
                  <a:lnTo>
                    <a:pt x="10683494" y="0"/>
                  </a:lnTo>
                  <a:lnTo>
                    <a:pt x="10683494" y="6350"/>
                  </a:lnTo>
                  <a:lnTo>
                    <a:pt x="10683494" y="0"/>
                  </a:lnTo>
                  <a:cubicBezTo>
                    <a:pt x="10759059" y="0"/>
                    <a:pt x="10820400" y="61087"/>
                    <a:pt x="10820400" y="136525"/>
                  </a:cubicBezTo>
                  <a:lnTo>
                    <a:pt x="10814050" y="136525"/>
                  </a:lnTo>
                  <a:lnTo>
                    <a:pt x="10820400" y="136525"/>
                  </a:lnTo>
                  <a:lnTo>
                    <a:pt x="10820400" y="2878836"/>
                  </a:lnTo>
                  <a:lnTo>
                    <a:pt x="10814050" y="2878836"/>
                  </a:lnTo>
                  <a:lnTo>
                    <a:pt x="10820400" y="2878836"/>
                  </a:lnTo>
                  <a:cubicBezTo>
                    <a:pt x="10820400" y="2954274"/>
                    <a:pt x="10759059" y="3015361"/>
                    <a:pt x="10683494" y="3015361"/>
                  </a:cubicBezTo>
                  <a:lnTo>
                    <a:pt x="10683494" y="3009011"/>
                  </a:lnTo>
                  <a:lnTo>
                    <a:pt x="10683494" y="3015361"/>
                  </a:lnTo>
                  <a:lnTo>
                    <a:pt x="136906" y="3015361"/>
                  </a:lnTo>
                  <a:lnTo>
                    <a:pt x="136906" y="3009011"/>
                  </a:lnTo>
                  <a:lnTo>
                    <a:pt x="136906" y="3015361"/>
                  </a:lnTo>
                  <a:cubicBezTo>
                    <a:pt x="61341" y="3015234"/>
                    <a:pt x="0" y="2954147"/>
                    <a:pt x="0" y="2878836"/>
                  </a:cubicBezTo>
                  <a:lnTo>
                    <a:pt x="0" y="136525"/>
                  </a:lnTo>
                  <a:lnTo>
                    <a:pt x="6350" y="136525"/>
                  </a:lnTo>
                  <a:lnTo>
                    <a:pt x="0" y="136525"/>
                  </a:lnTo>
                  <a:moveTo>
                    <a:pt x="12700" y="136525"/>
                  </a:moveTo>
                  <a:lnTo>
                    <a:pt x="12700" y="2878836"/>
                  </a:lnTo>
                  <a:lnTo>
                    <a:pt x="6350" y="2878836"/>
                  </a:lnTo>
                  <a:lnTo>
                    <a:pt x="12700" y="2878836"/>
                  </a:lnTo>
                  <a:cubicBezTo>
                    <a:pt x="12700" y="2947162"/>
                    <a:pt x="68326" y="3002661"/>
                    <a:pt x="136906" y="3002661"/>
                  </a:cubicBezTo>
                  <a:lnTo>
                    <a:pt x="10683494" y="3002661"/>
                  </a:lnTo>
                  <a:cubicBezTo>
                    <a:pt x="10752074" y="3002661"/>
                    <a:pt x="10807700" y="2947162"/>
                    <a:pt x="10807700" y="2878836"/>
                  </a:cubicBezTo>
                  <a:lnTo>
                    <a:pt x="10807700" y="136525"/>
                  </a:lnTo>
                  <a:cubicBezTo>
                    <a:pt x="10807700" y="68199"/>
                    <a:pt x="10752074" y="12700"/>
                    <a:pt x="10683494" y="12700"/>
                  </a:cubicBezTo>
                  <a:lnTo>
                    <a:pt x="136906" y="12700"/>
                  </a:lnTo>
                  <a:lnTo>
                    <a:pt x="136906" y="6350"/>
                  </a:lnTo>
                  <a:lnTo>
                    <a:pt x="136906" y="12700"/>
                  </a:lnTo>
                  <a:cubicBezTo>
                    <a:pt x="68326" y="12700"/>
                    <a:pt x="12700" y="68199"/>
                    <a:pt x="12700" y="136525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9494634" y="6557220"/>
            <a:ext cx="697116" cy="697116"/>
            <a:chOff x="0" y="0"/>
            <a:chExt cx="929488" cy="929488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929513" cy="929513"/>
            </a:xfrm>
            <a:custGeom>
              <a:avLst/>
              <a:gdLst/>
              <a:ahLst/>
              <a:cxnLst/>
              <a:rect l="l" t="t" r="r" b="b"/>
              <a:pathLst>
                <a:path w="929513" h="929513">
                  <a:moveTo>
                    <a:pt x="0" y="0"/>
                  </a:moveTo>
                  <a:lnTo>
                    <a:pt x="929513" y="0"/>
                  </a:lnTo>
                  <a:lnTo>
                    <a:pt x="929513" y="929513"/>
                  </a:lnTo>
                  <a:lnTo>
                    <a:pt x="0" y="929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r="2" b="2"/>
              </a:stretch>
            </a:blipFill>
          </p:spPr>
        </p:sp>
      </p:grpSp>
      <p:sp>
        <p:nvSpPr>
          <p:cNvPr id="42" name="Freeform 42" descr="preencoded.png"/>
          <p:cNvSpPr/>
          <p:nvPr/>
        </p:nvSpPr>
        <p:spPr>
          <a:xfrm>
            <a:off x="9686334" y="6748910"/>
            <a:ext cx="313582" cy="313582"/>
          </a:xfrm>
          <a:custGeom>
            <a:avLst/>
            <a:gdLst/>
            <a:ahLst/>
            <a:cxnLst/>
            <a:rect l="l" t="t" r="r" b="b"/>
            <a:pathLst>
              <a:path w="313582" h="313582">
                <a:moveTo>
                  <a:pt x="0" y="0"/>
                </a:moveTo>
                <a:lnTo>
                  <a:pt x="313582" y="0"/>
                </a:lnTo>
                <a:lnTo>
                  <a:pt x="313582" y="313582"/>
                </a:lnTo>
                <a:lnTo>
                  <a:pt x="0" y="31358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t="-87877" b="-87880"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9494634" y="7443340"/>
            <a:ext cx="2904677" cy="39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Delimitadores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94634" y="7879852"/>
            <a:ext cx="7622086" cy="4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Caracteres como ;, {, }, (, ) para estructura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29430" y="8726386"/>
            <a:ext cx="16429139" cy="805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1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El analizador léxico trabaja leyendo el código carácter por carácter y agrupando los símbolos que forman cada token. Posteriormente, estos tokens son enviados al analizador sintáctico, que se encarga de verificar la estructura del programa.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2238" y="1173661"/>
            <a:ext cx="9142362" cy="728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El </a:t>
            </a:r>
            <a:r>
              <a:rPr lang="en-US" sz="4875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Concepto</a:t>
            </a:r>
            <a:r>
              <a:rPr lang="en-US" sz="4875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de </a:t>
            </a:r>
            <a:r>
              <a:rPr lang="en-US" sz="4875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Lexema</a:t>
            </a:r>
            <a:endParaRPr lang="en-US" sz="4875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00382" y="2439295"/>
            <a:ext cx="15828647" cy="2118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321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Los tokens generalmente están formados por </a:t>
            </a:r>
            <a:r>
              <a:rPr lang="en-US" sz="3214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lexemas</a:t>
            </a:r>
            <a:r>
              <a:rPr lang="en-US" sz="321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, que son las secuencias reales de caracteres que aparecen en el código fuente. Por ejemplo, en la instrucción: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00382" y="5020872"/>
            <a:ext cx="15828647" cy="1275897"/>
            <a:chOff x="0" y="0"/>
            <a:chExt cx="12720041" cy="10253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720066" cy="1025271"/>
            </a:xfrm>
            <a:custGeom>
              <a:avLst/>
              <a:gdLst/>
              <a:ahLst/>
              <a:cxnLst/>
              <a:rect l="l" t="t" r="r" b="b"/>
              <a:pathLst>
                <a:path w="12720066" h="1025271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12581128" y="0"/>
                  </a:lnTo>
                  <a:cubicBezTo>
                    <a:pt x="12657836" y="0"/>
                    <a:pt x="12720066" y="62230"/>
                    <a:pt x="12720066" y="138938"/>
                  </a:cubicBezTo>
                  <a:lnTo>
                    <a:pt x="12720066" y="886333"/>
                  </a:lnTo>
                  <a:cubicBezTo>
                    <a:pt x="12720066" y="963041"/>
                    <a:pt x="12657836" y="1025271"/>
                    <a:pt x="12581128" y="1025271"/>
                  </a:cubicBezTo>
                  <a:lnTo>
                    <a:pt x="138938" y="1025271"/>
                  </a:lnTo>
                  <a:cubicBezTo>
                    <a:pt x="62230" y="1025271"/>
                    <a:pt x="0" y="963168"/>
                    <a:pt x="0" y="88633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79884" y="5020872"/>
            <a:ext cx="15869642" cy="1275897"/>
            <a:chOff x="0" y="0"/>
            <a:chExt cx="12752984" cy="10253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53086" cy="1025398"/>
            </a:xfrm>
            <a:custGeom>
              <a:avLst/>
              <a:gdLst/>
              <a:ahLst/>
              <a:cxnLst/>
              <a:rect l="l" t="t" r="r" b="b"/>
              <a:pathLst>
                <a:path w="12753086" h="102539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2703429" y="0"/>
                  </a:lnTo>
                  <a:cubicBezTo>
                    <a:pt x="12730861" y="0"/>
                    <a:pt x="12753086" y="22225"/>
                    <a:pt x="12753086" y="49657"/>
                  </a:cubicBezTo>
                  <a:lnTo>
                    <a:pt x="12753086" y="975741"/>
                  </a:lnTo>
                  <a:cubicBezTo>
                    <a:pt x="12753086" y="1003173"/>
                    <a:pt x="12730861" y="1025398"/>
                    <a:pt x="12703429" y="1025398"/>
                  </a:cubicBezTo>
                  <a:lnTo>
                    <a:pt x="49657" y="1025398"/>
                  </a:lnTo>
                  <a:cubicBezTo>
                    <a:pt x="22225" y="1025271"/>
                    <a:pt x="0" y="1003173"/>
                    <a:pt x="0" y="97574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391271" y="5139050"/>
            <a:ext cx="15046854" cy="84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3214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int a = 10 + 5;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0382" y="6616911"/>
            <a:ext cx="15828647" cy="1491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3214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Los lexemas serían: int, a, =, 10, +, 5 y ;. Cada uno de estos elementos pertenece a una categoría específica del lenguaje.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2238" y="1572968"/>
            <a:ext cx="10361562" cy="728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Desarrollo de la </a:t>
            </a:r>
            <a:r>
              <a:rPr lang="en-US" sz="4875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Práctica</a:t>
            </a:r>
            <a:endParaRPr lang="en-US" sz="4875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92238" y="2653455"/>
            <a:ext cx="16267062" cy="90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8"/>
              </a:lnSpc>
            </a:pPr>
            <a:r>
              <a:rPr lang="en-US" sz="2286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Para realizar esta práctica se utilizó el lenguaje </a:t>
            </a:r>
            <a:r>
              <a:rPr lang="en-US" sz="2286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Java</a:t>
            </a:r>
            <a:r>
              <a:rPr lang="en-US" sz="2286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junto con la librería </a:t>
            </a:r>
            <a:r>
              <a:rPr lang="en-US" sz="2286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JavaFX</a:t>
            </a:r>
            <a:r>
              <a:rPr lang="en-US" sz="2286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, que permite crear interfaces gráficas de usuario.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044685"/>
            <a:ext cx="247945" cy="35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92238" y="4488327"/>
            <a:ext cx="7920017" cy="33727"/>
            <a:chOff x="0" y="0"/>
            <a:chExt cx="8946905" cy="38100"/>
          </a:xfrm>
        </p:grpSpPr>
        <p:sp>
          <p:nvSpPr>
            <p:cNvPr id="6" name="Freeform 6" descr="preencoded.png"/>
            <p:cNvSpPr/>
            <p:nvPr/>
          </p:nvSpPr>
          <p:spPr>
            <a:xfrm>
              <a:off x="0" y="0"/>
              <a:ext cx="8946868" cy="38100"/>
            </a:xfrm>
            <a:custGeom>
              <a:avLst/>
              <a:gdLst/>
              <a:ahLst/>
              <a:cxnLst/>
              <a:rect l="l" t="t" r="r" b="b"/>
              <a:pathLst>
                <a:path w="8946868" h="38100">
                  <a:moveTo>
                    <a:pt x="0" y="0"/>
                  </a:moveTo>
                  <a:lnTo>
                    <a:pt x="8946868" y="0"/>
                  </a:lnTo>
                  <a:lnTo>
                    <a:pt x="8946868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927" b="-22927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992238" y="4430895"/>
            <a:ext cx="7110598" cy="44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2876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Descarga del SDK de JavaFX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978429"/>
            <a:ext cx="7920017" cy="90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8"/>
              </a:lnSpc>
            </a:pPr>
            <a:r>
              <a:rPr lang="en-US" sz="2286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Se descargó el SDK desde </a:t>
            </a:r>
            <a:r>
              <a:rPr lang="en-US" sz="2286" u="sng">
                <a:solidFill>
                  <a:srgbClr val="505468"/>
                </a:solidFill>
                <a:latin typeface="Arimo"/>
                <a:ea typeface="Arimo"/>
                <a:cs typeface="Arimo"/>
                <a:sym typeface="Arimo"/>
                <a:hlinkClick r:id="rId4" tooltip="https://gluonhq.com/products/javafx/"/>
              </a:rPr>
              <a:t>gluonhq.com/products/javafx/</a:t>
            </a:r>
            <a:r>
              <a:rPr lang="en-US" sz="2286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, específicamente la versión JavaFX SDK 21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39283" y="3919805"/>
            <a:ext cx="427011" cy="422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8"/>
              </a:lnSpc>
            </a:pPr>
            <a:r>
              <a:rPr lang="en-US" sz="2286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39283" y="4517478"/>
            <a:ext cx="7920017" cy="33727"/>
            <a:chOff x="0" y="0"/>
            <a:chExt cx="8946905" cy="381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946868" cy="38100"/>
            </a:xfrm>
            <a:custGeom>
              <a:avLst/>
              <a:gdLst/>
              <a:ahLst/>
              <a:cxnLst/>
              <a:rect l="l" t="t" r="r" b="b"/>
              <a:pathLst>
                <a:path w="8946868" h="38100">
                  <a:moveTo>
                    <a:pt x="0" y="0"/>
                  </a:moveTo>
                  <a:lnTo>
                    <a:pt x="8946868" y="0"/>
                  </a:lnTo>
                  <a:lnTo>
                    <a:pt x="8946868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927" b="-22927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339283" y="4346548"/>
            <a:ext cx="6685113" cy="44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2876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Extracción y configuración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39283" y="4894082"/>
            <a:ext cx="7920017" cy="90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8"/>
              </a:lnSpc>
            </a:pPr>
            <a:r>
              <a:rPr lang="en-US" sz="2286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Se extrajo el archivo descargado y se utilizó la carpeta lib para ejecutar aplicaciones JavaFX desde la terminal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7061077"/>
            <a:ext cx="247945" cy="35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28700" y="7223221"/>
            <a:ext cx="16267062" cy="33727"/>
            <a:chOff x="0" y="0"/>
            <a:chExt cx="18376204" cy="3810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8376255" cy="38100"/>
            </a:xfrm>
            <a:custGeom>
              <a:avLst/>
              <a:gdLst/>
              <a:ahLst/>
              <a:cxnLst/>
              <a:rect l="l" t="t" r="r" b="b"/>
              <a:pathLst>
                <a:path w="18376255" h="38100">
                  <a:moveTo>
                    <a:pt x="0" y="0"/>
                  </a:moveTo>
                  <a:lnTo>
                    <a:pt x="18376255" y="0"/>
                  </a:lnTo>
                  <a:lnTo>
                    <a:pt x="1837625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931" b="-22931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28700" y="7447287"/>
            <a:ext cx="8201706" cy="44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2876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Desarrollo en Visual Studio Code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7994821"/>
            <a:ext cx="16267062" cy="445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8"/>
              </a:lnSpc>
            </a:pPr>
            <a:r>
              <a:rPr lang="en-US" sz="2286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Se creó el archivo AnalizadorLexicoFX.java con el código del programa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2238" y="5078168"/>
            <a:ext cx="4420191" cy="1959769"/>
            <a:chOff x="0" y="0"/>
            <a:chExt cx="5893587" cy="26130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93562" cy="2613025"/>
            </a:xfrm>
            <a:custGeom>
              <a:avLst/>
              <a:gdLst/>
              <a:ahLst/>
              <a:cxnLst/>
              <a:rect l="l" t="t" r="r" b="b"/>
              <a:pathLst>
                <a:path w="5893562" h="2613025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5754624" y="0"/>
                  </a:lnTo>
                  <a:cubicBezTo>
                    <a:pt x="5831332" y="0"/>
                    <a:pt x="5893562" y="62230"/>
                    <a:pt x="5893562" y="138938"/>
                  </a:cubicBezTo>
                  <a:lnTo>
                    <a:pt x="5893562" y="2474087"/>
                  </a:lnTo>
                  <a:cubicBezTo>
                    <a:pt x="5893562" y="2550795"/>
                    <a:pt x="5831332" y="2613025"/>
                    <a:pt x="5754624" y="2613025"/>
                  </a:cubicBezTo>
                  <a:lnTo>
                    <a:pt x="138938" y="2613025"/>
                  </a:lnTo>
                  <a:cubicBezTo>
                    <a:pt x="62230" y="2613025"/>
                    <a:pt x="0" y="2550795"/>
                    <a:pt x="0" y="247408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79884" y="5078168"/>
            <a:ext cx="4444898" cy="1959769"/>
            <a:chOff x="0" y="0"/>
            <a:chExt cx="5926531" cy="26130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26582" cy="2613025"/>
            </a:xfrm>
            <a:custGeom>
              <a:avLst/>
              <a:gdLst/>
              <a:ahLst/>
              <a:cxnLst/>
              <a:rect l="l" t="t" r="r" b="b"/>
              <a:pathLst>
                <a:path w="5926582" h="2613025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5876925" y="0"/>
                  </a:lnTo>
                  <a:cubicBezTo>
                    <a:pt x="5904357" y="0"/>
                    <a:pt x="5926582" y="22225"/>
                    <a:pt x="5926582" y="49657"/>
                  </a:cubicBezTo>
                  <a:lnTo>
                    <a:pt x="5926582" y="2563368"/>
                  </a:lnTo>
                  <a:cubicBezTo>
                    <a:pt x="5926582" y="2590800"/>
                    <a:pt x="5904357" y="2613025"/>
                    <a:pt x="5876925" y="2613025"/>
                  </a:cubicBezTo>
                  <a:lnTo>
                    <a:pt x="49657" y="2613025"/>
                  </a:lnTo>
                  <a:cubicBezTo>
                    <a:pt x="22225" y="2613025"/>
                    <a:pt x="0" y="2590800"/>
                    <a:pt x="0" y="256336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027096" y="4681242"/>
            <a:ext cx="4420191" cy="1959769"/>
            <a:chOff x="0" y="0"/>
            <a:chExt cx="5893587" cy="26130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93562" cy="2613025"/>
            </a:xfrm>
            <a:custGeom>
              <a:avLst/>
              <a:gdLst/>
              <a:ahLst/>
              <a:cxnLst/>
              <a:rect l="l" t="t" r="r" b="b"/>
              <a:pathLst>
                <a:path w="5893562" h="2613025">
                  <a:moveTo>
                    <a:pt x="0" y="138938"/>
                  </a:moveTo>
                  <a:cubicBezTo>
                    <a:pt x="0" y="62230"/>
                    <a:pt x="62230" y="0"/>
                    <a:pt x="138938" y="0"/>
                  </a:cubicBezTo>
                  <a:lnTo>
                    <a:pt x="5754624" y="0"/>
                  </a:lnTo>
                  <a:cubicBezTo>
                    <a:pt x="5831332" y="0"/>
                    <a:pt x="5893562" y="62230"/>
                    <a:pt x="5893562" y="138938"/>
                  </a:cubicBezTo>
                  <a:lnTo>
                    <a:pt x="5893562" y="2474087"/>
                  </a:lnTo>
                  <a:cubicBezTo>
                    <a:pt x="5893562" y="2550795"/>
                    <a:pt x="5831332" y="2613025"/>
                    <a:pt x="5754624" y="2613025"/>
                  </a:cubicBezTo>
                  <a:lnTo>
                    <a:pt x="138938" y="2613025"/>
                  </a:lnTo>
                  <a:cubicBezTo>
                    <a:pt x="62230" y="2613025"/>
                    <a:pt x="0" y="2550795"/>
                    <a:pt x="0" y="247408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014742" y="4681242"/>
            <a:ext cx="4444898" cy="1959769"/>
            <a:chOff x="0" y="0"/>
            <a:chExt cx="5926531" cy="26130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26582" cy="2613025"/>
            </a:xfrm>
            <a:custGeom>
              <a:avLst/>
              <a:gdLst/>
              <a:ahLst/>
              <a:cxnLst/>
              <a:rect l="l" t="t" r="r" b="b"/>
              <a:pathLst>
                <a:path w="5926582" h="2613025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5876925" y="0"/>
                  </a:lnTo>
                  <a:cubicBezTo>
                    <a:pt x="5904357" y="0"/>
                    <a:pt x="5926582" y="22225"/>
                    <a:pt x="5926582" y="49657"/>
                  </a:cubicBezTo>
                  <a:lnTo>
                    <a:pt x="5926582" y="2563368"/>
                  </a:lnTo>
                  <a:cubicBezTo>
                    <a:pt x="5926582" y="2590800"/>
                    <a:pt x="5904357" y="2613025"/>
                    <a:pt x="5876925" y="2613025"/>
                  </a:cubicBezTo>
                  <a:lnTo>
                    <a:pt x="49657" y="2613025"/>
                  </a:lnTo>
                  <a:cubicBezTo>
                    <a:pt x="22225" y="2613025"/>
                    <a:pt x="0" y="2590800"/>
                    <a:pt x="0" y="256336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1580395" y="3771540"/>
            <a:ext cx="5620297" cy="3323000"/>
          </a:xfrm>
          <a:custGeom>
            <a:avLst/>
            <a:gdLst/>
            <a:ahLst/>
            <a:cxnLst/>
            <a:rect l="l" t="t" r="r" b="b"/>
            <a:pathLst>
              <a:path w="5620297" h="3323000">
                <a:moveTo>
                  <a:pt x="0" y="0"/>
                </a:moveTo>
                <a:lnTo>
                  <a:pt x="5620297" y="0"/>
                </a:lnTo>
                <a:lnTo>
                  <a:pt x="5620297" y="3323000"/>
                </a:lnTo>
                <a:lnTo>
                  <a:pt x="0" y="3323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92238" y="1462088"/>
            <a:ext cx="10361562" cy="728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Compilación</a:t>
            </a:r>
            <a:r>
              <a:rPr lang="en-US" sz="4875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y </a:t>
            </a:r>
            <a:r>
              <a:rPr lang="en-US" sz="4875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Ejecución</a:t>
            </a:r>
            <a:endParaRPr lang="en-US" sz="4875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2238" y="2866730"/>
            <a:ext cx="3805533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Compilar el programa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3513087"/>
            <a:ext cx="4420191" cy="1286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Para compilar el programa se utilizó la terminal de VS Code con el siguiente comando: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7830" y="5140376"/>
            <a:ext cx="3949008" cy="171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javac --module-path "C:\javafx-sdk-21.0.10\lib" </a:t>
            </a:r>
          </a:p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--add-modules javafx.controls </a:t>
            </a:r>
          </a:p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AnalizadorLexicoFX.java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27096" y="2866730"/>
            <a:ext cx="5479104" cy="430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Ejecutar</a:t>
            </a:r>
            <a:r>
              <a:rPr lang="en-US" sz="2874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la </a:t>
            </a:r>
            <a:r>
              <a:rPr lang="en-US" sz="2874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aplicación</a:t>
            </a:r>
            <a:endParaRPr lang="en-US" sz="2874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027096" y="3513087"/>
            <a:ext cx="4420191" cy="889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 dirty="0" err="1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Después</a:t>
            </a:r>
            <a:r>
              <a:rPr lang="en-US" sz="193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se </a:t>
            </a:r>
            <a:r>
              <a:rPr lang="en-US" sz="1937" dirty="0" err="1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ejecutó</a:t>
            </a:r>
            <a:r>
              <a:rPr lang="en-US" sz="193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937" dirty="0" err="1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el</a:t>
            </a:r>
            <a:r>
              <a:rPr lang="en-US" sz="193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937" dirty="0" err="1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programa</a:t>
            </a:r>
            <a:r>
              <a:rPr lang="en-US" sz="193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con </a:t>
            </a:r>
            <a:r>
              <a:rPr lang="en-US" sz="1937" dirty="0" err="1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el</a:t>
            </a:r>
            <a:r>
              <a:rPr lang="en-US" sz="193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937" dirty="0" err="1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siguiente</a:t>
            </a:r>
            <a:r>
              <a:rPr lang="en-US" sz="193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937" dirty="0" err="1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comando</a:t>
            </a:r>
            <a:r>
              <a:rPr lang="en-US" sz="1937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62687" y="4743450"/>
            <a:ext cx="3719513" cy="1947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600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java --module-path "C:\javafx-sdk-21.0.10\lib" </a:t>
            </a:r>
          </a:p>
          <a:p>
            <a:pPr algn="l">
              <a:lnSpc>
                <a:spcPts val="3125"/>
              </a:lnSpc>
            </a:pPr>
            <a:r>
              <a:rPr lang="en-US" sz="1600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--add-modules </a:t>
            </a:r>
            <a:r>
              <a:rPr lang="en-US" sz="1600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javafx.controls</a:t>
            </a:r>
            <a:r>
              <a:rPr lang="en-US" sz="1600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lnSpc>
                <a:spcPts val="3125"/>
              </a:lnSpc>
            </a:pPr>
            <a:r>
              <a:rPr lang="en-US" sz="1600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sz="1600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AnalizadorLexicoFX</a:t>
            </a:r>
            <a:endParaRPr lang="en-US" sz="1600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92238" y="7500785"/>
            <a:ext cx="9445523" cy="1286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Al ejecutar el programa se abre una ventana con una interfaz gráfica donde se puede escribir código fuente y presionar el botón </a:t>
            </a:r>
            <a:r>
              <a:rPr lang="en-US" sz="1937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Analizar</a:t>
            </a: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para identificar los tokens.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24918" y="304144"/>
            <a:ext cx="6799882" cy="359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Código del Analizador Léxico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24918" y="806293"/>
            <a:ext cx="16257693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5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El programa fue desarrollado utilizando JavaFX para crear una interfaz gráfica que permite ingresar código y analizar los tokens. El código utiliza expresiones regulares para identificar los diferentes tipos de tokens.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253065" y="1219791"/>
            <a:ext cx="9781880" cy="9255471"/>
            <a:chOff x="0" y="0"/>
            <a:chExt cx="13042506" cy="123406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42519" cy="12340589"/>
            </a:xfrm>
            <a:custGeom>
              <a:avLst/>
              <a:gdLst/>
              <a:ahLst/>
              <a:cxnLst/>
              <a:rect l="l" t="t" r="r" b="b"/>
              <a:pathLst>
                <a:path w="13042519" h="12340589">
                  <a:moveTo>
                    <a:pt x="0" y="69469"/>
                  </a:moveTo>
                  <a:cubicBezTo>
                    <a:pt x="0" y="31115"/>
                    <a:pt x="31115" y="0"/>
                    <a:pt x="69469" y="0"/>
                  </a:cubicBezTo>
                  <a:lnTo>
                    <a:pt x="12973050" y="0"/>
                  </a:lnTo>
                  <a:cubicBezTo>
                    <a:pt x="13011404" y="0"/>
                    <a:pt x="13042519" y="31115"/>
                    <a:pt x="13042519" y="69469"/>
                  </a:cubicBezTo>
                  <a:lnTo>
                    <a:pt x="13042519" y="12271121"/>
                  </a:lnTo>
                  <a:cubicBezTo>
                    <a:pt x="13042519" y="12309475"/>
                    <a:pt x="13011404" y="12340589"/>
                    <a:pt x="12973050" y="12340589"/>
                  </a:cubicBezTo>
                  <a:lnTo>
                    <a:pt x="69469" y="12340589"/>
                  </a:lnTo>
                  <a:cubicBezTo>
                    <a:pt x="31115" y="12340589"/>
                    <a:pt x="0" y="12309475"/>
                    <a:pt x="0" y="1227112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246959" y="1219791"/>
            <a:ext cx="9794081" cy="9255471"/>
            <a:chOff x="0" y="0"/>
            <a:chExt cx="13058775" cy="123406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58775" cy="12340590"/>
            </a:xfrm>
            <a:custGeom>
              <a:avLst/>
              <a:gdLst/>
              <a:ahLst/>
              <a:cxnLst/>
              <a:rect l="l" t="t" r="r" b="b"/>
              <a:pathLst>
                <a:path w="13058775" h="12340590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13034011" y="0"/>
                  </a:lnTo>
                  <a:cubicBezTo>
                    <a:pt x="13047726" y="0"/>
                    <a:pt x="13058775" y="11049"/>
                    <a:pt x="13058775" y="24765"/>
                  </a:cubicBezTo>
                  <a:lnTo>
                    <a:pt x="13058775" y="12315825"/>
                  </a:lnTo>
                  <a:cubicBezTo>
                    <a:pt x="13058775" y="12329541"/>
                    <a:pt x="13047726" y="12340590"/>
                    <a:pt x="13034011" y="12340590"/>
                  </a:cubicBezTo>
                  <a:lnTo>
                    <a:pt x="24765" y="12340590"/>
                  </a:lnTo>
                  <a:cubicBezTo>
                    <a:pt x="11049" y="12340590"/>
                    <a:pt x="0" y="12329541"/>
                    <a:pt x="0" y="12315825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4370937" y="1293762"/>
            <a:ext cx="9546136" cy="9077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javafx.application.Application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javafx.scene.Scene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javafx.scene.control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.*;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javafx.scene.layout.VBox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javafx.stage.Stage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public class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AnalizadorLexicoFX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extends Application {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@Override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public void start(Stage stage) {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// Area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donde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el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usuario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escribe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el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codigo</a:t>
            </a: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TextArea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codigo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= new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TextArea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codigo.setPromptText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("Escribe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el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codigo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aqui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...");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//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Boton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para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analizar</a:t>
            </a: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Button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analizar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= new Button("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Analizar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");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// Area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donde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se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mostraran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los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tokens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TextArea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resultado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= new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TextArea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resultado.setEditable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(false);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analizar.setOnAction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(e -&gt; {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String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texto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codigo.getText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String[] tokens =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texto.split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(" ");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String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salida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= "Token\t\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tTipo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\n";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for (String token : tokens) {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if (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token.equals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("int")) {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salida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+= token + "\t\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tPalabra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reservada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\n";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else if (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token.matches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("[a-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zA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-Z]+")) {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salida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+= token + "\t\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tIdentificador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\n";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else if (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token.matches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("[0-9]+")) {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salida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+= token + "\t\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tNumero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\n";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else if (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token.equals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("=") ||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token.equals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("+")) {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salida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+= token + "\t\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tOperador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\n";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else if (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token.contains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(";")) {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salida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+= token + "\t\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tDelimitador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\n";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resultado.setText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salida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});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VBox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layout = new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VBox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(10);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layout.getChildren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addAll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new Label("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Codigo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fuente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"),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codigo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analizar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new Label("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Resultado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"),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resultado</a:t>
            </a: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);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Scene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escena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= new Scene(layout, 500, 400);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stage.setTitle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Analizador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Lexico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");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stage.setScene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escena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stage.show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public static void main(String[] </a:t>
            </a:r>
            <a:r>
              <a:rPr lang="en-US" sz="837" dirty="0" err="1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  launch();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</a:p>
          <a:p>
            <a:pPr algn="l">
              <a:lnSpc>
                <a:spcPts val="1005"/>
              </a:lnSpc>
            </a:pPr>
            <a:r>
              <a:rPr lang="en-US" sz="837" dirty="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algn="l">
              <a:lnSpc>
                <a:spcPts val="1005"/>
              </a:lnSpc>
            </a:pPr>
            <a:endParaRPr lang="en-US" sz="837" dirty="0">
              <a:solidFill>
                <a:srgbClr val="5B5F7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2378" y="856507"/>
            <a:ext cx="893742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Resultados</a:t>
            </a:r>
            <a:r>
              <a:rPr lang="en-US" sz="4375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375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Obtenidos</a:t>
            </a:r>
            <a:endParaRPr lang="en-US" sz="4375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92378" y="1916906"/>
            <a:ext cx="16503253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Para probar el funcionamiento del programa se utilizó el siguiente fragmento de código: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92378" y="2557615"/>
            <a:ext cx="16503253" cy="673446"/>
            <a:chOff x="0" y="0"/>
            <a:chExt cx="22004338" cy="8979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04401" cy="898017"/>
            </a:xfrm>
            <a:custGeom>
              <a:avLst/>
              <a:gdLst/>
              <a:ahLst/>
              <a:cxnLst/>
              <a:rect l="l" t="t" r="r" b="b"/>
              <a:pathLst>
                <a:path w="22004401" h="898017">
                  <a:moveTo>
                    <a:pt x="0" y="124968"/>
                  </a:moveTo>
                  <a:cubicBezTo>
                    <a:pt x="0" y="55880"/>
                    <a:pt x="55880" y="0"/>
                    <a:pt x="124968" y="0"/>
                  </a:cubicBezTo>
                  <a:lnTo>
                    <a:pt x="21879433" y="0"/>
                  </a:lnTo>
                  <a:cubicBezTo>
                    <a:pt x="21948395" y="0"/>
                    <a:pt x="22004401" y="55880"/>
                    <a:pt x="22004401" y="124968"/>
                  </a:cubicBezTo>
                  <a:lnTo>
                    <a:pt x="22004401" y="773049"/>
                  </a:lnTo>
                  <a:cubicBezTo>
                    <a:pt x="22004401" y="842010"/>
                    <a:pt x="21948521" y="898017"/>
                    <a:pt x="21879433" y="898017"/>
                  </a:cubicBezTo>
                  <a:lnTo>
                    <a:pt x="124968" y="898017"/>
                  </a:lnTo>
                  <a:cubicBezTo>
                    <a:pt x="55880" y="897890"/>
                    <a:pt x="0" y="842010"/>
                    <a:pt x="0" y="77304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81358" y="2557615"/>
            <a:ext cx="16525284" cy="673446"/>
            <a:chOff x="0" y="0"/>
            <a:chExt cx="22033713" cy="8979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33612" cy="897890"/>
            </a:xfrm>
            <a:custGeom>
              <a:avLst/>
              <a:gdLst/>
              <a:ahLst/>
              <a:cxnLst/>
              <a:rect l="l" t="t" r="r" b="b"/>
              <a:pathLst>
                <a:path w="22033612" h="897890">
                  <a:moveTo>
                    <a:pt x="0" y="44577"/>
                  </a:moveTo>
                  <a:cubicBezTo>
                    <a:pt x="0" y="19939"/>
                    <a:pt x="19939" y="0"/>
                    <a:pt x="44577" y="0"/>
                  </a:cubicBezTo>
                  <a:lnTo>
                    <a:pt x="21989035" y="0"/>
                  </a:lnTo>
                  <a:cubicBezTo>
                    <a:pt x="22013673" y="0"/>
                    <a:pt x="22033612" y="19939"/>
                    <a:pt x="22033612" y="44577"/>
                  </a:cubicBezTo>
                  <a:lnTo>
                    <a:pt x="22033612" y="853313"/>
                  </a:lnTo>
                  <a:cubicBezTo>
                    <a:pt x="22033612" y="877951"/>
                    <a:pt x="22013673" y="897890"/>
                    <a:pt x="21989035" y="897890"/>
                  </a:cubicBezTo>
                  <a:lnTo>
                    <a:pt x="44577" y="897890"/>
                  </a:lnTo>
                  <a:cubicBezTo>
                    <a:pt x="19939" y="897890"/>
                    <a:pt x="0" y="877951"/>
                    <a:pt x="0" y="85331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04452" y="2629643"/>
            <a:ext cx="1607909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Consolas"/>
                <a:ea typeface="Consolas"/>
                <a:cs typeface="Consolas"/>
                <a:sym typeface="Consolas"/>
              </a:rPr>
              <a:t>int a = 10 + 5;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2378" y="3380480"/>
            <a:ext cx="16503253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El analizador léxico identificó los siguientes tokens: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87616" y="4016426"/>
            <a:ext cx="16512778" cy="4816078"/>
            <a:chOff x="0" y="0"/>
            <a:chExt cx="22017038" cy="64214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17101" cy="6421501"/>
            </a:xfrm>
            <a:custGeom>
              <a:avLst/>
              <a:gdLst/>
              <a:ahLst/>
              <a:cxnLst/>
              <a:rect l="l" t="t" r="r" b="b"/>
              <a:pathLst>
                <a:path w="22017101" h="6421501">
                  <a:moveTo>
                    <a:pt x="0" y="131318"/>
                  </a:moveTo>
                  <a:cubicBezTo>
                    <a:pt x="0" y="58801"/>
                    <a:pt x="58801" y="0"/>
                    <a:pt x="131445" y="0"/>
                  </a:cubicBezTo>
                  <a:lnTo>
                    <a:pt x="21885656" y="0"/>
                  </a:lnTo>
                  <a:lnTo>
                    <a:pt x="21885656" y="6350"/>
                  </a:lnTo>
                  <a:lnTo>
                    <a:pt x="21885656" y="0"/>
                  </a:lnTo>
                  <a:cubicBezTo>
                    <a:pt x="21958173" y="0"/>
                    <a:pt x="22017101" y="58801"/>
                    <a:pt x="22017101" y="131318"/>
                  </a:cubicBezTo>
                  <a:lnTo>
                    <a:pt x="22010751" y="131318"/>
                  </a:lnTo>
                  <a:lnTo>
                    <a:pt x="22017101" y="131318"/>
                  </a:lnTo>
                  <a:lnTo>
                    <a:pt x="22017101" y="6290183"/>
                  </a:lnTo>
                  <a:lnTo>
                    <a:pt x="22010751" y="6290183"/>
                  </a:lnTo>
                  <a:lnTo>
                    <a:pt x="22017101" y="6290183"/>
                  </a:lnTo>
                  <a:cubicBezTo>
                    <a:pt x="22017101" y="6362700"/>
                    <a:pt x="21958300" y="6421501"/>
                    <a:pt x="21885656" y="6421501"/>
                  </a:cubicBezTo>
                  <a:lnTo>
                    <a:pt x="21885656" y="6415151"/>
                  </a:lnTo>
                  <a:lnTo>
                    <a:pt x="21885656" y="6421501"/>
                  </a:lnTo>
                  <a:lnTo>
                    <a:pt x="131445" y="6421501"/>
                  </a:lnTo>
                  <a:lnTo>
                    <a:pt x="131445" y="6415151"/>
                  </a:lnTo>
                  <a:lnTo>
                    <a:pt x="131445" y="6421501"/>
                  </a:lnTo>
                  <a:cubicBezTo>
                    <a:pt x="58801" y="6421501"/>
                    <a:pt x="0" y="6362700"/>
                    <a:pt x="0" y="6290183"/>
                  </a:cubicBezTo>
                  <a:lnTo>
                    <a:pt x="0" y="131318"/>
                  </a:lnTo>
                  <a:lnTo>
                    <a:pt x="6350" y="131318"/>
                  </a:lnTo>
                  <a:lnTo>
                    <a:pt x="0" y="131318"/>
                  </a:lnTo>
                  <a:moveTo>
                    <a:pt x="12700" y="131318"/>
                  </a:moveTo>
                  <a:lnTo>
                    <a:pt x="12700" y="6290183"/>
                  </a:lnTo>
                  <a:lnTo>
                    <a:pt x="6350" y="6290183"/>
                  </a:lnTo>
                  <a:lnTo>
                    <a:pt x="12700" y="6290183"/>
                  </a:lnTo>
                  <a:cubicBezTo>
                    <a:pt x="12700" y="6355588"/>
                    <a:pt x="65913" y="6408801"/>
                    <a:pt x="131445" y="6408801"/>
                  </a:cubicBezTo>
                  <a:lnTo>
                    <a:pt x="21885656" y="6408801"/>
                  </a:lnTo>
                  <a:cubicBezTo>
                    <a:pt x="21951189" y="6408801"/>
                    <a:pt x="22004401" y="6355715"/>
                    <a:pt x="22004401" y="6290183"/>
                  </a:cubicBezTo>
                  <a:lnTo>
                    <a:pt x="22004401" y="131318"/>
                  </a:lnTo>
                  <a:cubicBezTo>
                    <a:pt x="22004401" y="65913"/>
                    <a:pt x="21951189" y="12700"/>
                    <a:pt x="21885656" y="12700"/>
                  </a:cubicBezTo>
                  <a:lnTo>
                    <a:pt x="131445" y="12700"/>
                  </a:lnTo>
                  <a:lnTo>
                    <a:pt x="131445" y="6350"/>
                  </a:lnTo>
                  <a:lnTo>
                    <a:pt x="131445" y="12700"/>
                  </a:lnTo>
                  <a:cubicBezTo>
                    <a:pt x="65913" y="12700"/>
                    <a:pt x="12700" y="65786"/>
                    <a:pt x="12700" y="131318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01903" y="4030713"/>
            <a:ext cx="16484203" cy="598437"/>
            <a:chOff x="0" y="0"/>
            <a:chExt cx="21978938" cy="7979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79001" cy="797941"/>
            </a:xfrm>
            <a:custGeom>
              <a:avLst/>
              <a:gdLst/>
              <a:ahLst/>
              <a:cxnLst/>
              <a:rect l="l" t="t" r="r" b="b"/>
              <a:pathLst>
                <a:path w="21979001" h="797941">
                  <a:moveTo>
                    <a:pt x="0" y="0"/>
                  </a:moveTo>
                  <a:lnTo>
                    <a:pt x="21979001" y="0"/>
                  </a:lnTo>
                  <a:lnTo>
                    <a:pt x="21979001" y="797941"/>
                  </a:lnTo>
                  <a:lnTo>
                    <a:pt x="0" y="79794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124988" y="4084291"/>
            <a:ext cx="614273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Token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23432" y="4084291"/>
            <a:ext cx="943957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Tipo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01903" y="4629150"/>
            <a:ext cx="16484203" cy="598437"/>
            <a:chOff x="0" y="0"/>
            <a:chExt cx="21978938" cy="79791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79001" cy="797941"/>
            </a:xfrm>
            <a:custGeom>
              <a:avLst/>
              <a:gdLst/>
              <a:ahLst/>
              <a:cxnLst/>
              <a:rect l="l" t="t" r="r" b="b"/>
              <a:pathLst>
                <a:path w="21979001" h="797941">
                  <a:moveTo>
                    <a:pt x="0" y="0"/>
                  </a:moveTo>
                  <a:lnTo>
                    <a:pt x="21979001" y="0"/>
                  </a:lnTo>
                  <a:lnTo>
                    <a:pt x="21979001" y="797941"/>
                  </a:lnTo>
                  <a:lnTo>
                    <a:pt x="0" y="7979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124988" y="4682728"/>
            <a:ext cx="614273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int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23432" y="4682728"/>
            <a:ext cx="943957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Palabra reservada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01903" y="5227587"/>
            <a:ext cx="16484203" cy="598437"/>
            <a:chOff x="0" y="0"/>
            <a:chExt cx="21978938" cy="7979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79001" cy="797941"/>
            </a:xfrm>
            <a:custGeom>
              <a:avLst/>
              <a:gdLst/>
              <a:ahLst/>
              <a:cxnLst/>
              <a:rect l="l" t="t" r="r" b="b"/>
              <a:pathLst>
                <a:path w="21979001" h="797941">
                  <a:moveTo>
                    <a:pt x="0" y="0"/>
                  </a:moveTo>
                  <a:lnTo>
                    <a:pt x="21979001" y="0"/>
                  </a:lnTo>
                  <a:lnTo>
                    <a:pt x="21979001" y="797941"/>
                  </a:lnTo>
                  <a:lnTo>
                    <a:pt x="0" y="79794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124988" y="5281165"/>
            <a:ext cx="614273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23432" y="5281165"/>
            <a:ext cx="943957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Identificador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01903" y="5826023"/>
            <a:ext cx="16484203" cy="598437"/>
            <a:chOff x="0" y="0"/>
            <a:chExt cx="21978938" cy="79791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979001" cy="797941"/>
            </a:xfrm>
            <a:custGeom>
              <a:avLst/>
              <a:gdLst/>
              <a:ahLst/>
              <a:cxnLst/>
              <a:rect l="l" t="t" r="r" b="b"/>
              <a:pathLst>
                <a:path w="21979001" h="797941">
                  <a:moveTo>
                    <a:pt x="0" y="0"/>
                  </a:moveTo>
                  <a:lnTo>
                    <a:pt x="21979001" y="0"/>
                  </a:lnTo>
                  <a:lnTo>
                    <a:pt x="21979001" y="797941"/>
                  </a:lnTo>
                  <a:lnTo>
                    <a:pt x="0" y="7979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124988" y="5879602"/>
            <a:ext cx="614273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=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23432" y="5879602"/>
            <a:ext cx="943957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Operador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01903" y="6424460"/>
            <a:ext cx="16484203" cy="598437"/>
            <a:chOff x="0" y="0"/>
            <a:chExt cx="21978938" cy="79791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79001" cy="797941"/>
            </a:xfrm>
            <a:custGeom>
              <a:avLst/>
              <a:gdLst/>
              <a:ahLst/>
              <a:cxnLst/>
              <a:rect l="l" t="t" r="r" b="b"/>
              <a:pathLst>
                <a:path w="21979001" h="797941">
                  <a:moveTo>
                    <a:pt x="0" y="0"/>
                  </a:moveTo>
                  <a:lnTo>
                    <a:pt x="21979001" y="0"/>
                  </a:lnTo>
                  <a:lnTo>
                    <a:pt x="21979001" y="797941"/>
                  </a:lnTo>
                  <a:lnTo>
                    <a:pt x="0" y="79794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124988" y="6478038"/>
            <a:ext cx="614273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23432" y="6478038"/>
            <a:ext cx="943957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Número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01903" y="7022897"/>
            <a:ext cx="16484203" cy="598437"/>
            <a:chOff x="0" y="0"/>
            <a:chExt cx="21978938" cy="79791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979001" cy="797941"/>
            </a:xfrm>
            <a:custGeom>
              <a:avLst/>
              <a:gdLst/>
              <a:ahLst/>
              <a:cxnLst/>
              <a:rect l="l" t="t" r="r" b="b"/>
              <a:pathLst>
                <a:path w="21979001" h="797941">
                  <a:moveTo>
                    <a:pt x="0" y="0"/>
                  </a:moveTo>
                  <a:lnTo>
                    <a:pt x="21979001" y="0"/>
                  </a:lnTo>
                  <a:lnTo>
                    <a:pt x="21979001" y="797941"/>
                  </a:lnTo>
                  <a:lnTo>
                    <a:pt x="0" y="7979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1124988" y="7076484"/>
            <a:ext cx="614273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23432" y="7076484"/>
            <a:ext cx="943957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Operador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01903" y="7621343"/>
            <a:ext cx="16484203" cy="598437"/>
            <a:chOff x="0" y="0"/>
            <a:chExt cx="21978938" cy="79791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979001" cy="797941"/>
            </a:xfrm>
            <a:custGeom>
              <a:avLst/>
              <a:gdLst/>
              <a:ahLst/>
              <a:cxnLst/>
              <a:rect l="l" t="t" r="r" b="b"/>
              <a:pathLst>
                <a:path w="21979001" h="797941">
                  <a:moveTo>
                    <a:pt x="0" y="0"/>
                  </a:moveTo>
                  <a:lnTo>
                    <a:pt x="21979001" y="0"/>
                  </a:lnTo>
                  <a:lnTo>
                    <a:pt x="21979001" y="797941"/>
                  </a:lnTo>
                  <a:lnTo>
                    <a:pt x="0" y="79794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1124988" y="7674921"/>
            <a:ext cx="614273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723432" y="7674921"/>
            <a:ext cx="943957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Número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01903" y="8219780"/>
            <a:ext cx="16484203" cy="598437"/>
            <a:chOff x="0" y="0"/>
            <a:chExt cx="21978938" cy="7979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1979001" cy="797941"/>
            </a:xfrm>
            <a:custGeom>
              <a:avLst/>
              <a:gdLst/>
              <a:ahLst/>
              <a:cxnLst/>
              <a:rect l="l" t="t" r="r" b="b"/>
              <a:pathLst>
                <a:path w="21979001" h="797941">
                  <a:moveTo>
                    <a:pt x="0" y="0"/>
                  </a:moveTo>
                  <a:lnTo>
                    <a:pt x="21979001" y="0"/>
                  </a:lnTo>
                  <a:lnTo>
                    <a:pt x="21979001" y="797941"/>
                  </a:lnTo>
                  <a:lnTo>
                    <a:pt x="0" y="7979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42" name="TextBox 42"/>
          <p:cNvSpPr txBox="1"/>
          <p:nvPr/>
        </p:nvSpPr>
        <p:spPr>
          <a:xfrm>
            <a:off x="1124988" y="8273358"/>
            <a:ext cx="614273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;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723432" y="8273358"/>
            <a:ext cx="9439570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Delimitador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2378" y="8977160"/>
            <a:ext cx="16503253" cy="41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Esto demuestra cómo el analizador léxico separa los elementos del programa y los clasifica según su tipo.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45544" y="1666263"/>
            <a:ext cx="14379262" cy="8088335"/>
          </a:xfrm>
          <a:custGeom>
            <a:avLst/>
            <a:gdLst/>
            <a:ahLst/>
            <a:cxnLst/>
            <a:rect l="l" t="t" r="r" b="b"/>
            <a:pathLst>
              <a:path w="14379262" h="8088335">
                <a:moveTo>
                  <a:pt x="0" y="0"/>
                </a:moveTo>
                <a:lnTo>
                  <a:pt x="14379262" y="0"/>
                </a:lnTo>
                <a:lnTo>
                  <a:pt x="14379262" y="8088335"/>
                </a:lnTo>
                <a:lnTo>
                  <a:pt x="0" y="8088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92378" y="856507"/>
            <a:ext cx="8632622" cy="64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Resultados</a:t>
            </a:r>
            <a:r>
              <a:rPr lang="en-US" sz="4375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375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Obtenidos</a:t>
            </a:r>
            <a:endParaRPr lang="en-US" sz="4375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2238" y="718690"/>
            <a:ext cx="6202261" cy="813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Conclusión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2238" y="1932680"/>
            <a:ext cx="16303523" cy="1286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La realización de esta práctica permitió comprender de forma más clara cómo funciona el proceso de análisis léxico dentro de un compilador. A través del desarrollo de un programa sencillo en Java fue posible observar cómo un fragmento de código puede dividirse en diferentes tokens y clasificarse según su función dentro del lenguaje de programación.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77951" y="3483473"/>
            <a:ext cx="5297691" cy="3102769"/>
            <a:chOff x="0" y="0"/>
            <a:chExt cx="7063588" cy="4137025"/>
          </a:xfrm>
        </p:grpSpPr>
        <p:sp>
          <p:nvSpPr>
            <p:cNvPr id="5" name="Freeform 5"/>
            <p:cNvSpPr/>
            <p:nvPr/>
          </p:nvSpPr>
          <p:spPr>
            <a:xfrm>
              <a:off x="19050" y="19050"/>
              <a:ext cx="7025513" cy="4098925"/>
            </a:xfrm>
            <a:custGeom>
              <a:avLst/>
              <a:gdLst/>
              <a:ahLst/>
              <a:cxnLst/>
              <a:rect l="l" t="t" r="r" b="b"/>
              <a:pathLst>
                <a:path w="7025513" h="4098925">
                  <a:moveTo>
                    <a:pt x="0" y="138938"/>
                  </a:moveTo>
                  <a:cubicBezTo>
                    <a:pt x="0" y="62230"/>
                    <a:pt x="62484" y="0"/>
                    <a:pt x="139446" y="0"/>
                  </a:cubicBezTo>
                  <a:lnTo>
                    <a:pt x="6886067" y="0"/>
                  </a:lnTo>
                  <a:cubicBezTo>
                    <a:pt x="6963029" y="0"/>
                    <a:pt x="7025513" y="62230"/>
                    <a:pt x="7025513" y="138938"/>
                  </a:cubicBezTo>
                  <a:lnTo>
                    <a:pt x="7025513" y="3959987"/>
                  </a:lnTo>
                  <a:cubicBezTo>
                    <a:pt x="7025513" y="4036695"/>
                    <a:pt x="6963029" y="4098925"/>
                    <a:pt x="6886067" y="4098925"/>
                  </a:cubicBezTo>
                  <a:lnTo>
                    <a:pt x="139446" y="4098925"/>
                  </a:lnTo>
                  <a:cubicBezTo>
                    <a:pt x="62484" y="4098925"/>
                    <a:pt x="0" y="4036695"/>
                    <a:pt x="0" y="395998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7063613" cy="4137025"/>
            </a:xfrm>
            <a:custGeom>
              <a:avLst/>
              <a:gdLst/>
              <a:ahLst/>
              <a:cxnLst/>
              <a:rect l="l" t="t" r="r" b="b"/>
              <a:pathLst>
                <a:path w="7063613" h="4137025">
                  <a:moveTo>
                    <a:pt x="0" y="157988"/>
                  </a:moveTo>
                  <a:cubicBezTo>
                    <a:pt x="0" y="70612"/>
                    <a:pt x="70993" y="0"/>
                    <a:pt x="158496" y="0"/>
                  </a:cubicBezTo>
                  <a:lnTo>
                    <a:pt x="6905117" y="0"/>
                  </a:lnTo>
                  <a:lnTo>
                    <a:pt x="6905117" y="19050"/>
                  </a:lnTo>
                  <a:lnTo>
                    <a:pt x="6905117" y="0"/>
                  </a:lnTo>
                  <a:cubicBezTo>
                    <a:pt x="6992620" y="0"/>
                    <a:pt x="7063613" y="70612"/>
                    <a:pt x="7063613" y="157988"/>
                  </a:cubicBezTo>
                  <a:lnTo>
                    <a:pt x="7044563" y="157988"/>
                  </a:lnTo>
                  <a:lnTo>
                    <a:pt x="7063613" y="157988"/>
                  </a:lnTo>
                  <a:lnTo>
                    <a:pt x="7063613" y="3979037"/>
                  </a:lnTo>
                  <a:lnTo>
                    <a:pt x="7044563" y="3979037"/>
                  </a:lnTo>
                  <a:lnTo>
                    <a:pt x="7063613" y="3979037"/>
                  </a:lnTo>
                  <a:cubicBezTo>
                    <a:pt x="7063613" y="4066286"/>
                    <a:pt x="6992620" y="4137025"/>
                    <a:pt x="6905117" y="4137025"/>
                  </a:cubicBezTo>
                  <a:lnTo>
                    <a:pt x="6905117" y="4117975"/>
                  </a:lnTo>
                  <a:lnTo>
                    <a:pt x="6905117" y="4137025"/>
                  </a:lnTo>
                  <a:lnTo>
                    <a:pt x="158496" y="4137025"/>
                  </a:lnTo>
                  <a:lnTo>
                    <a:pt x="158496" y="4117975"/>
                  </a:lnTo>
                  <a:lnTo>
                    <a:pt x="158496" y="4137025"/>
                  </a:lnTo>
                  <a:cubicBezTo>
                    <a:pt x="70993" y="4137025"/>
                    <a:pt x="0" y="4066413"/>
                    <a:pt x="0" y="3979037"/>
                  </a:cubicBezTo>
                  <a:lnTo>
                    <a:pt x="0" y="157988"/>
                  </a:lnTo>
                  <a:lnTo>
                    <a:pt x="19050" y="157988"/>
                  </a:lnTo>
                  <a:lnTo>
                    <a:pt x="0" y="157988"/>
                  </a:lnTo>
                  <a:moveTo>
                    <a:pt x="38100" y="157988"/>
                  </a:moveTo>
                  <a:lnTo>
                    <a:pt x="38100" y="3979037"/>
                  </a:lnTo>
                  <a:lnTo>
                    <a:pt x="19050" y="3979037"/>
                  </a:lnTo>
                  <a:lnTo>
                    <a:pt x="38100" y="3979037"/>
                  </a:lnTo>
                  <a:cubicBezTo>
                    <a:pt x="38100" y="4045204"/>
                    <a:pt x="91948" y="4098925"/>
                    <a:pt x="158496" y="4098925"/>
                  </a:cubicBezTo>
                  <a:lnTo>
                    <a:pt x="6905117" y="4098925"/>
                  </a:lnTo>
                  <a:cubicBezTo>
                    <a:pt x="6971665" y="4098925"/>
                    <a:pt x="7025513" y="4045204"/>
                    <a:pt x="7025513" y="3979037"/>
                  </a:cubicBezTo>
                  <a:lnTo>
                    <a:pt x="7025513" y="157988"/>
                  </a:lnTo>
                  <a:cubicBezTo>
                    <a:pt x="7025513" y="91821"/>
                    <a:pt x="6971665" y="38100"/>
                    <a:pt x="6905117" y="38100"/>
                  </a:cubicBezTo>
                  <a:lnTo>
                    <a:pt x="158496" y="38100"/>
                  </a:lnTo>
                  <a:lnTo>
                    <a:pt x="158496" y="19050"/>
                  </a:lnTo>
                  <a:lnTo>
                    <a:pt x="158496" y="38100"/>
                  </a:lnTo>
                  <a:cubicBezTo>
                    <a:pt x="91948" y="38100"/>
                    <a:pt x="38100" y="91821"/>
                    <a:pt x="38100" y="157988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268759" y="3764756"/>
            <a:ext cx="4716066" cy="784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Aplicación práctica de conceptos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8759" y="4603252"/>
            <a:ext cx="4716066" cy="1286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El uso de JavaFX permitió crear una interfaz gráfica que facilita visualizar el proceso de análisis del código fuente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495012" y="3483473"/>
            <a:ext cx="5297834" cy="3102769"/>
            <a:chOff x="0" y="0"/>
            <a:chExt cx="7063778" cy="4137025"/>
          </a:xfrm>
        </p:grpSpPr>
        <p:sp>
          <p:nvSpPr>
            <p:cNvPr id="10" name="Freeform 10"/>
            <p:cNvSpPr/>
            <p:nvPr/>
          </p:nvSpPr>
          <p:spPr>
            <a:xfrm>
              <a:off x="19050" y="19050"/>
              <a:ext cx="7025639" cy="4098925"/>
            </a:xfrm>
            <a:custGeom>
              <a:avLst/>
              <a:gdLst/>
              <a:ahLst/>
              <a:cxnLst/>
              <a:rect l="l" t="t" r="r" b="b"/>
              <a:pathLst>
                <a:path w="7025639" h="4098925">
                  <a:moveTo>
                    <a:pt x="0" y="138938"/>
                  </a:moveTo>
                  <a:cubicBezTo>
                    <a:pt x="0" y="62230"/>
                    <a:pt x="62484" y="0"/>
                    <a:pt x="139446" y="0"/>
                  </a:cubicBezTo>
                  <a:lnTo>
                    <a:pt x="6886194" y="0"/>
                  </a:lnTo>
                  <a:cubicBezTo>
                    <a:pt x="6963156" y="0"/>
                    <a:pt x="7025639" y="62230"/>
                    <a:pt x="7025639" y="138938"/>
                  </a:cubicBezTo>
                  <a:lnTo>
                    <a:pt x="7025639" y="3959987"/>
                  </a:lnTo>
                  <a:cubicBezTo>
                    <a:pt x="7025639" y="4036695"/>
                    <a:pt x="6963156" y="4098925"/>
                    <a:pt x="6886194" y="4098925"/>
                  </a:cubicBezTo>
                  <a:lnTo>
                    <a:pt x="139446" y="4098925"/>
                  </a:lnTo>
                  <a:cubicBezTo>
                    <a:pt x="62484" y="4098925"/>
                    <a:pt x="0" y="4036695"/>
                    <a:pt x="0" y="395998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7063739" cy="4137025"/>
            </a:xfrm>
            <a:custGeom>
              <a:avLst/>
              <a:gdLst/>
              <a:ahLst/>
              <a:cxnLst/>
              <a:rect l="l" t="t" r="r" b="b"/>
              <a:pathLst>
                <a:path w="7063739" h="4137025">
                  <a:moveTo>
                    <a:pt x="0" y="157988"/>
                  </a:moveTo>
                  <a:cubicBezTo>
                    <a:pt x="0" y="70612"/>
                    <a:pt x="70993" y="0"/>
                    <a:pt x="158496" y="0"/>
                  </a:cubicBezTo>
                  <a:lnTo>
                    <a:pt x="6905244" y="0"/>
                  </a:lnTo>
                  <a:lnTo>
                    <a:pt x="6905244" y="19050"/>
                  </a:lnTo>
                  <a:lnTo>
                    <a:pt x="6905244" y="0"/>
                  </a:lnTo>
                  <a:cubicBezTo>
                    <a:pt x="6992747" y="0"/>
                    <a:pt x="7063739" y="70612"/>
                    <a:pt x="7063739" y="157988"/>
                  </a:cubicBezTo>
                  <a:lnTo>
                    <a:pt x="7044689" y="157988"/>
                  </a:lnTo>
                  <a:lnTo>
                    <a:pt x="7063739" y="157988"/>
                  </a:lnTo>
                  <a:lnTo>
                    <a:pt x="7063739" y="3979037"/>
                  </a:lnTo>
                  <a:lnTo>
                    <a:pt x="7044689" y="3979037"/>
                  </a:lnTo>
                  <a:lnTo>
                    <a:pt x="7063739" y="3979037"/>
                  </a:lnTo>
                  <a:cubicBezTo>
                    <a:pt x="7063739" y="4066286"/>
                    <a:pt x="6992747" y="4137025"/>
                    <a:pt x="6905244" y="4137025"/>
                  </a:cubicBezTo>
                  <a:lnTo>
                    <a:pt x="6905244" y="4117975"/>
                  </a:lnTo>
                  <a:lnTo>
                    <a:pt x="6905244" y="4137025"/>
                  </a:lnTo>
                  <a:lnTo>
                    <a:pt x="158496" y="4137025"/>
                  </a:lnTo>
                  <a:lnTo>
                    <a:pt x="158496" y="4117975"/>
                  </a:lnTo>
                  <a:lnTo>
                    <a:pt x="158496" y="4137025"/>
                  </a:lnTo>
                  <a:cubicBezTo>
                    <a:pt x="70993" y="4137025"/>
                    <a:pt x="0" y="4066413"/>
                    <a:pt x="0" y="3979037"/>
                  </a:cubicBezTo>
                  <a:lnTo>
                    <a:pt x="0" y="157988"/>
                  </a:lnTo>
                  <a:lnTo>
                    <a:pt x="19050" y="157988"/>
                  </a:lnTo>
                  <a:lnTo>
                    <a:pt x="0" y="157988"/>
                  </a:lnTo>
                  <a:moveTo>
                    <a:pt x="38100" y="157988"/>
                  </a:moveTo>
                  <a:lnTo>
                    <a:pt x="38100" y="3979037"/>
                  </a:lnTo>
                  <a:lnTo>
                    <a:pt x="19050" y="3979037"/>
                  </a:lnTo>
                  <a:lnTo>
                    <a:pt x="38100" y="3979037"/>
                  </a:lnTo>
                  <a:cubicBezTo>
                    <a:pt x="38100" y="4045204"/>
                    <a:pt x="91948" y="4098925"/>
                    <a:pt x="158496" y="4098925"/>
                  </a:cubicBezTo>
                  <a:lnTo>
                    <a:pt x="6905244" y="4098925"/>
                  </a:lnTo>
                  <a:cubicBezTo>
                    <a:pt x="6971792" y="4098925"/>
                    <a:pt x="7025639" y="4045204"/>
                    <a:pt x="7025639" y="3979037"/>
                  </a:cubicBezTo>
                  <a:lnTo>
                    <a:pt x="7025639" y="157988"/>
                  </a:lnTo>
                  <a:cubicBezTo>
                    <a:pt x="7025639" y="91821"/>
                    <a:pt x="6971792" y="38100"/>
                    <a:pt x="6905244" y="38100"/>
                  </a:cubicBezTo>
                  <a:lnTo>
                    <a:pt x="158496" y="38100"/>
                  </a:lnTo>
                  <a:lnTo>
                    <a:pt x="158496" y="19050"/>
                  </a:lnTo>
                  <a:lnTo>
                    <a:pt x="158496" y="38100"/>
                  </a:lnTo>
                  <a:cubicBezTo>
                    <a:pt x="91948" y="38100"/>
                    <a:pt x="38100" y="91821"/>
                    <a:pt x="38100" y="157988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6785820" y="3764756"/>
            <a:ext cx="3101130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Refuerzo de teoría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85820" y="4215555"/>
            <a:ext cx="4716218" cy="2079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Este tipo de ejercicios ayuda a reforzar los conceptos teóricos vistos en clase y a entender mejor cómo los compiladores procesan los programas escritos por los programadores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012216" y="3483473"/>
            <a:ext cx="5297691" cy="3102769"/>
            <a:chOff x="0" y="0"/>
            <a:chExt cx="7063588" cy="4137025"/>
          </a:xfrm>
        </p:grpSpPr>
        <p:sp>
          <p:nvSpPr>
            <p:cNvPr id="15" name="Freeform 15"/>
            <p:cNvSpPr/>
            <p:nvPr/>
          </p:nvSpPr>
          <p:spPr>
            <a:xfrm>
              <a:off x="19050" y="19050"/>
              <a:ext cx="7025513" cy="4098925"/>
            </a:xfrm>
            <a:custGeom>
              <a:avLst/>
              <a:gdLst/>
              <a:ahLst/>
              <a:cxnLst/>
              <a:rect l="l" t="t" r="r" b="b"/>
              <a:pathLst>
                <a:path w="7025513" h="4098925">
                  <a:moveTo>
                    <a:pt x="0" y="138938"/>
                  </a:moveTo>
                  <a:cubicBezTo>
                    <a:pt x="0" y="62230"/>
                    <a:pt x="62484" y="0"/>
                    <a:pt x="139446" y="0"/>
                  </a:cubicBezTo>
                  <a:lnTo>
                    <a:pt x="6886067" y="0"/>
                  </a:lnTo>
                  <a:cubicBezTo>
                    <a:pt x="6963029" y="0"/>
                    <a:pt x="7025513" y="62230"/>
                    <a:pt x="7025513" y="138938"/>
                  </a:cubicBezTo>
                  <a:lnTo>
                    <a:pt x="7025513" y="3959987"/>
                  </a:lnTo>
                  <a:cubicBezTo>
                    <a:pt x="7025513" y="4036695"/>
                    <a:pt x="6963029" y="4098925"/>
                    <a:pt x="6886067" y="4098925"/>
                  </a:cubicBezTo>
                  <a:lnTo>
                    <a:pt x="139446" y="4098925"/>
                  </a:lnTo>
                  <a:cubicBezTo>
                    <a:pt x="62484" y="4098925"/>
                    <a:pt x="0" y="4036695"/>
                    <a:pt x="0" y="395998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063613" cy="4137025"/>
            </a:xfrm>
            <a:custGeom>
              <a:avLst/>
              <a:gdLst/>
              <a:ahLst/>
              <a:cxnLst/>
              <a:rect l="l" t="t" r="r" b="b"/>
              <a:pathLst>
                <a:path w="7063613" h="4137025">
                  <a:moveTo>
                    <a:pt x="0" y="157988"/>
                  </a:moveTo>
                  <a:cubicBezTo>
                    <a:pt x="0" y="70612"/>
                    <a:pt x="70993" y="0"/>
                    <a:pt x="158496" y="0"/>
                  </a:cubicBezTo>
                  <a:lnTo>
                    <a:pt x="6905117" y="0"/>
                  </a:lnTo>
                  <a:lnTo>
                    <a:pt x="6905117" y="19050"/>
                  </a:lnTo>
                  <a:lnTo>
                    <a:pt x="6905117" y="0"/>
                  </a:lnTo>
                  <a:cubicBezTo>
                    <a:pt x="6992620" y="0"/>
                    <a:pt x="7063613" y="70612"/>
                    <a:pt x="7063613" y="157988"/>
                  </a:cubicBezTo>
                  <a:lnTo>
                    <a:pt x="7044563" y="157988"/>
                  </a:lnTo>
                  <a:lnTo>
                    <a:pt x="7063613" y="157988"/>
                  </a:lnTo>
                  <a:lnTo>
                    <a:pt x="7063613" y="3979037"/>
                  </a:lnTo>
                  <a:lnTo>
                    <a:pt x="7044563" y="3979037"/>
                  </a:lnTo>
                  <a:lnTo>
                    <a:pt x="7063613" y="3979037"/>
                  </a:lnTo>
                  <a:cubicBezTo>
                    <a:pt x="7063613" y="4066286"/>
                    <a:pt x="6992620" y="4137025"/>
                    <a:pt x="6905117" y="4137025"/>
                  </a:cubicBezTo>
                  <a:lnTo>
                    <a:pt x="6905117" y="4117975"/>
                  </a:lnTo>
                  <a:lnTo>
                    <a:pt x="6905117" y="4137025"/>
                  </a:lnTo>
                  <a:lnTo>
                    <a:pt x="158496" y="4137025"/>
                  </a:lnTo>
                  <a:lnTo>
                    <a:pt x="158496" y="4117975"/>
                  </a:lnTo>
                  <a:lnTo>
                    <a:pt x="158496" y="4137025"/>
                  </a:lnTo>
                  <a:cubicBezTo>
                    <a:pt x="70993" y="4137025"/>
                    <a:pt x="0" y="4066413"/>
                    <a:pt x="0" y="3979037"/>
                  </a:cubicBezTo>
                  <a:lnTo>
                    <a:pt x="0" y="157988"/>
                  </a:lnTo>
                  <a:lnTo>
                    <a:pt x="19050" y="157988"/>
                  </a:lnTo>
                  <a:lnTo>
                    <a:pt x="0" y="157988"/>
                  </a:lnTo>
                  <a:moveTo>
                    <a:pt x="38100" y="157988"/>
                  </a:moveTo>
                  <a:lnTo>
                    <a:pt x="38100" y="3979037"/>
                  </a:lnTo>
                  <a:lnTo>
                    <a:pt x="19050" y="3979037"/>
                  </a:lnTo>
                  <a:lnTo>
                    <a:pt x="38100" y="3979037"/>
                  </a:lnTo>
                  <a:cubicBezTo>
                    <a:pt x="38100" y="4045204"/>
                    <a:pt x="91948" y="4098925"/>
                    <a:pt x="158496" y="4098925"/>
                  </a:cubicBezTo>
                  <a:lnTo>
                    <a:pt x="6905117" y="4098925"/>
                  </a:lnTo>
                  <a:cubicBezTo>
                    <a:pt x="6971665" y="4098925"/>
                    <a:pt x="7025513" y="4045204"/>
                    <a:pt x="7025513" y="3979037"/>
                  </a:cubicBezTo>
                  <a:lnTo>
                    <a:pt x="7025513" y="157988"/>
                  </a:lnTo>
                  <a:cubicBezTo>
                    <a:pt x="7025513" y="91821"/>
                    <a:pt x="6971665" y="38100"/>
                    <a:pt x="6905117" y="38100"/>
                  </a:cubicBezTo>
                  <a:lnTo>
                    <a:pt x="158496" y="38100"/>
                  </a:lnTo>
                  <a:lnTo>
                    <a:pt x="158496" y="19050"/>
                  </a:lnTo>
                  <a:lnTo>
                    <a:pt x="158496" y="38100"/>
                  </a:lnTo>
                  <a:cubicBezTo>
                    <a:pt x="91948" y="38100"/>
                    <a:pt x="38100" y="91821"/>
                    <a:pt x="38100" y="157988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303023" y="3764756"/>
            <a:ext cx="4345781" cy="39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1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Importancia del análisis léxico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03023" y="4215555"/>
            <a:ext cx="4716066" cy="168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La práctica permitió comprender la importancia del análisis léxico dentro del funcionamiento de los lenguajes de programación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238" y="6915445"/>
            <a:ext cx="3721303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Referencias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2238" y="7685932"/>
            <a:ext cx="16303523" cy="492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Aho, A. V., Lam, M. S., Sethi, R., &amp; Ullman, J. D. (2008). </a:t>
            </a:r>
            <a:r>
              <a:rPr lang="en-US" sz="1937" i="1">
                <a:solidFill>
                  <a:srgbClr val="5B5F71"/>
                </a:solidFill>
                <a:latin typeface="Arimo Italics"/>
                <a:ea typeface="Arimo Italics"/>
                <a:cs typeface="Arimo Italics"/>
                <a:sym typeface="Arimo Italics"/>
              </a:rPr>
              <a:t>Compiladores: principios, técnicas y herramientas</a:t>
            </a: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. Pearson.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2238" y="8361912"/>
            <a:ext cx="16303523" cy="492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Hopcroft, J., Motwani, R., &amp; Ullman, J. (2007). </a:t>
            </a:r>
            <a:r>
              <a:rPr lang="en-US" sz="1937" i="1">
                <a:solidFill>
                  <a:srgbClr val="5B5F71"/>
                </a:solidFill>
                <a:latin typeface="Arimo Italics"/>
                <a:ea typeface="Arimo Italics"/>
                <a:cs typeface="Arimo Italics"/>
                <a:sym typeface="Arimo Italics"/>
              </a:rPr>
              <a:t>Introducción a la teoría de autómatas, lenguajes y computación</a:t>
            </a: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. Pearson.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2238" y="9037882"/>
            <a:ext cx="16303523" cy="492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Gluon. (2024). JavaFX SDK. </a:t>
            </a:r>
            <a:r>
              <a:rPr lang="en-US" sz="1937" u="sng">
                <a:solidFill>
                  <a:srgbClr val="505468"/>
                </a:solidFill>
                <a:latin typeface="Arimo"/>
                <a:ea typeface="Arimo"/>
                <a:cs typeface="Arimo"/>
                <a:sym typeface="Arimo"/>
                <a:hlinkClick r:id="rId3" tooltip="https://gluonhq.com/products/javafx/"/>
              </a:rPr>
              <a:t>https://gluonhq.com/products/javafx/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1476</Words>
  <Application>Microsoft Office PowerPoint</Application>
  <PresentationFormat>Personalizado</PresentationFormat>
  <Paragraphs>203</Paragraphs>
  <Slides>11</Slides>
  <Notes>11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0" baseType="lpstr">
      <vt:lpstr>Montserrat Bold</vt:lpstr>
      <vt:lpstr>Arimo Bold</vt:lpstr>
      <vt:lpstr>Arial</vt:lpstr>
      <vt:lpstr>Consolas</vt:lpstr>
      <vt:lpstr>Arimo Italics</vt:lpstr>
      <vt:lpstr>Calibri</vt:lpstr>
      <vt:lpstr>Arimo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4.2 Reporte de práctica</dc:title>
  <cp:lastModifiedBy>Amaury</cp:lastModifiedBy>
  <cp:revision>3</cp:revision>
  <dcterms:created xsi:type="dcterms:W3CDTF">2006-08-16T00:00:00Z</dcterms:created>
  <dcterms:modified xsi:type="dcterms:W3CDTF">2026-03-15T17:26:52Z</dcterms:modified>
  <dc:identifier>DAHECJXR2oo</dc:identifier>
</cp:coreProperties>
</file>