
<file path=[Content_Types].xml><?xml version="1.0" encoding="utf-8"?>
<Types xmlns="http://schemas.openxmlformats.org/package/2006/content-types">
  <Default Extension="bin" ContentType="application/vnd.openxmlformats-officedocument.oleObject"/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>
  <p:sldMasterIdLst>
    <p:sldMasterId id="2147483648" r:id="rId1"/>
  </p:sldMasterIdLst>
  <p:notesMasterIdLst>
    <p:notesMasterId r:id="rId14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7" r:id="rId12"/>
    <p:sldId id="266" r:id="rId13"/>
  </p:sldIdLst>
  <p:sldSz cx="18288000" cy="10287000"/>
  <p:notesSz cx="6858000" cy="9144000"/>
  <p:embeddedFontLst>
    <p:embeddedFont>
      <p:font typeface="Arimo" panose="020B0604020202020204" charset="0"/>
      <p:regular r:id="rId15"/>
    </p:embeddedFont>
    <p:embeddedFont>
      <p:font typeface="Arimo Bold" panose="020B0604020202020204" charset="0"/>
      <p:regular r:id="rId16"/>
    </p:embeddedFont>
    <p:embeddedFont>
      <p:font typeface="Arimo Italics" panose="020B0604020202020204" charset="0"/>
      <p:regular r:id="rId17"/>
    </p:embeddedFont>
    <p:embeddedFont>
      <p:font typeface="Consolas" panose="020B0609020204030204" pitchFamily="49" charset="0"/>
      <p:regular r:id="rId18"/>
      <p:bold r:id="rId19"/>
      <p:italic r:id="rId20"/>
      <p:boldItalic r:id="rId21"/>
    </p:embeddedFont>
    <p:embeddedFont>
      <p:font typeface="Montserrat Bold" panose="00000800000000000000" pitchFamily="2" charset="0"/>
      <p:regular r:id="rId22"/>
      <p:bold r:id="rId23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099" autoAdjust="0"/>
    <p:restoredTop sz="94622" autoAdjust="0"/>
  </p:normalViewPr>
  <p:slideViewPr>
    <p:cSldViewPr>
      <p:cViewPr varScale="1">
        <p:scale>
          <a:sx n="52" d="100"/>
          <a:sy n="52" d="100"/>
        </p:scale>
        <p:origin x="874" y="62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font" Target="fonts/font4.fntdata"/><Relationship Id="rId26" Type="http://schemas.openxmlformats.org/officeDocument/2006/relationships/theme" Target="theme/theme1.xml"/><Relationship Id="rId3" Type="http://schemas.openxmlformats.org/officeDocument/2006/relationships/slide" Target="slides/slide2.xml"/><Relationship Id="rId21" Type="http://schemas.openxmlformats.org/officeDocument/2006/relationships/font" Target="fonts/font7.fntdata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font" Target="fonts/font3.fntdata"/><Relationship Id="rId25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font" Target="fonts/font2.fntdata"/><Relationship Id="rId20" Type="http://schemas.openxmlformats.org/officeDocument/2006/relationships/font" Target="fonts/font6.fntdata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presProps" Target="presProps.xml"/><Relationship Id="rId5" Type="http://schemas.openxmlformats.org/officeDocument/2006/relationships/slide" Target="slides/slide4.xml"/><Relationship Id="rId15" Type="http://schemas.openxmlformats.org/officeDocument/2006/relationships/font" Target="fonts/font1.fntdata"/><Relationship Id="rId23" Type="http://schemas.openxmlformats.org/officeDocument/2006/relationships/font" Target="fonts/font9.fntdata"/><Relationship Id="rId10" Type="http://schemas.openxmlformats.org/officeDocument/2006/relationships/slide" Target="slides/slide9.xml"/><Relationship Id="rId19" Type="http://schemas.openxmlformats.org/officeDocument/2006/relationships/font" Target="fonts/font5.fntdata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notesMaster" Target="notesMasters/notesMaster1.xml"/><Relationship Id="rId22" Type="http://schemas.openxmlformats.org/officeDocument/2006/relationships/font" Target="fonts/font8.fntdata"/><Relationship Id="rId2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cs-CZ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7268E1E-0E44-426D-905E-8AD9B19D2182}" type="datetimeFigureOut">
              <a:rPr lang="cs-CZ" smtClean="0"/>
              <a:t>18.03.2026</a:t>
            </a:fld>
            <a:endParaRPr lang="cs-CZ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cs-CZ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cs-CZ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cs-CZ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71B2431-D351-4C6E-A3CF-9DFAC0E3E050}" type="slidenum">
              <a:rPr lang="cs-CZ" smtClean="0"/>
              <a:t>‹Nº›</a:t>
            </a:fld>
            <a:endParaRPr lang="cs-CZ"/>
          </a:p>
        </p:txBody>
      </p:sp>
    </p:spTree>
    <p:extLst>
      <p:ext uri="{BB962C8B-B14F-4D97-AF65-F5344CB8AC3E}">
        <p14:creationId xmlns:p14="http://schemas.microsoft.com/office/powerpoint/2010/main" val="179888911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290763" y="512763"/>
            <a:ext cx="4562475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/>
              <a:t>1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/>
              <a:t>2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290763" y="512763"/>
            <a:ext cx="4562475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/>
              <a:t>3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/>
              <a:t>4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290763" y="512763"/>
            <a:ext cx="4562475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/>
              <a:t>5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290763" y="512763"/>
            <a:ext cx="4562475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/>
              <a:t>6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290763" y="512763"/>
            <a:ext cx="4562475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/>
              <a:t>7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290763" y="512763"/>
            <a:ext cx="4562475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/>
              <a:t>8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290763" y="512763"/>
            <a:ext cx="4562475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/>
              <a:t>9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290763" y="512763"/>
            <a:ext cx="4562475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/>
              <a:t>9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290763" y="512763"/>
            <a:ext cx="4562475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/>
              <a:t>8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  <p:extLst>
      <p:ext uri="{BB962C8B-B14F-4D97-AF65-F5344CB8AC3E}">
        <p14:creationId xmlns:p14="http://schemas.microsoft.com/office/powerpoint/2010/main" val="94577372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/>
              <a:t>10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3/18/2026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3/18/2026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3/18/2026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3/18/2026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3/18/2026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3/18/2026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3/18/2026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3/18/2026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3/18/2026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3/18/2026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3/18/2026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3/18/2026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3.png"/><Relationship Id="rId5" Type="http://schemas.openxmlformats.org/officeDocument/2006/relationships/oleObject" Target="../embeddings/oleObject1.bin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9.svg"/><Relationship Id="rId13" Type="http://schemas.openxmlformats.org/officeDocument/2006/relationships/image" Target="../media/image14.png"/><Relationship Id="rId3" Type="http://schemas.openxmlformats.org/officeDocument/2006/relationships/image" Target="../media/image4.png"/><Relationship Id="rId7" Type="http://schemas.openxmlformats.org/officeDocument/2006/relationships/image" Target="../media/image8.png"/><Relationship Id="rId12" Type="http://schemas.openxmlformats.org/officeDocument/2006/relationships/image" Target="../media/image13.png"/><Relationship Id="rId17" Type="http://schemas.openxmlformats.org/officeDocument/2006/relationships/image" Target="../media/image18.svg"/><Relationship Id="rId2" Type="http://schemas.openxmlformats.org/officeDocument/2006/relationships/notesSlide" Target="../notesSlides/notesSlide4.xml"/><Relationship Id="rId16" Type="http://schemas.openxmlformats.org/officeDocument/2006/relationships/image" Target="../media/image17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7.png"/><Relationship Id="rId11" Type="http://schemas.openxmlformats.org/officeDocument/2006/relationships/image" Target="../media/image12.svg"/><Relationship Id="rId5" Type="http://schemas.openxmlformats.org/officeDocument/2006/relationships/image" Target="../media/image6.svg"/><Relationship Id="rId15" Type="http://schemas.openxmlformats.org/officeDocument/2006/relationships/image" Target="../media/image16.png"/><Relationship Id="rId10" Type="http://schemas.openxmlformats.org/officeDocument/2006/relationships/image" Target="../media/image11.png"/><Relationship Id="rId4" Type="http://schemas.openxmlformats.org/officeDocument/2006/relationships/image" Target="../media/image5.png"/><Relationship Id="rId9" Type="http://schemas.openxmlformats.org/officeDocument/2006/relationships/image" Target="../media/image10.png"/><Relationship Id="rId14" Type="http://schemas.openxmlformats.org/officeDocument/2006/relationships/image" Target="../media/image15.svg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20.png"/><Relationship Id="rId4" Type="http://schemas.openxmlformats.org/officeDocument/2006/relationships/hyperlink" Target="https://gluonhq.com/products/javafx/" TargetMode="Externa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amaurycolochos-cpu/LENGUAJES-Y-AUTOMATAS-1/tree/main/UNIDAD%204/AnalizadorLexicoFX" TargetMode="External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hyperlink" Target="https://gluonhq.com/products/javafx/" TargetMode="External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158763" y="241581"/>
            <a:ext cx="2193321" cy="1574239"/>
          </a:xfrm>
          <a:custGeom>
            <a:avLst/>
            <a:gdLst/>
            <a:ahLst/>
            <a:cxnLst/>
            <a:rect l="l" t="t" r="r" b="b"/>
            <a:pathLst>
              <a:path w="2193321" h="1574239">
                <a:moveTo>
                  <a:pt x="0" y="0"/>
                </a:moveTo>
                <a:lnTo>
                  <a:pt x="2193321" y="0"/>
                </a:lnTo>
                <a:lnTo>
                  <a:pt x="2193321" y="1574238"/>
                </a:lnTo>
                <a:lnTo>
                  <a:pt x="0" y="1574238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</p:sp>
      <p:sp>
        <p:nvSpPr>
          <p:cNvPr id="3" name="Freeform 3"/>
          <p:cNvSpPr/>
          <p:nvPr/>
        </p:nvSpPr>
        <p:spPr>
          <a:xfrm>
            <a:off x="14576879" y="177283"/>
            <a:ext cx="3503050" cy="1538377"/>
          </a:xfrm>
          <a:custGeom>
            <a:avLst/>
            <a:gdLst/>
            <a:ahLst/>
            <a:cxnLst/>
            <a:rect l="l" t="t" r="r" b="b"/>
            <a:pathLst>
              <a:path w="3503050" h="1538377">
                <a:moveTo>
                  <a:pt x="0" y="0"/>
                </a:moveTo>
                <a:lnTo>
                  <a:pt x="3503050" y="0"/>
                </a:lnTo>
                <a:lnTo>
                  <a:pt x="3503050" y="1538377"/>
                </a:lnTo>
                <a:lnTo>
                  <a:pt x="0" y="1538377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/>
            </a:stretch>
          </a:blipFill>
        </p:spPr>
      </p:sp>
      <p:graphicFrame>
        <p:nvGraphicFramePr>
          <p:cNvPr id="4" name="Object 4"/>
          <p:cNvGraphicFramePr/>
          <p:nvPr/>
        </p:nvGraphicFramePr>
        <p:xfrm>
          <a:off x="5036284" y="5556911"/>
          <a:ext cx="8443912" cy="25146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Worksheet" r:id="rId5" imgW="10134600" imgH="4191000" progId="Excel.Sheet.12">
                  <p:embed/>
                </p:oleObj>
              </mc:Choice>
              <mc:Fallback>
                <p:oleObj name="Worksheet" r:id="rId5" imgW="10134600" imgH="4191000" progId="Excel.Sheet.12">
                  <p:embed/>
                  <p:pic>
                    <p:nvPicPr>
                      <p:cNvPr id="0" name=""/>
                      <p:cNvPicPr/>
                      <p:nvPr/>
                    </p:nvPicPr>
                    <p:blipFill>
                      <a:blip r:embed="rId6"/>
                      <a:stretch>
                        <a:fillRect/>
                      </a:stretch>
                    </p:blipFill>
                    <p:spPr>
                      <a:xfrm>
                        <a:off x="5036284" y="5556911"/>
                        <a:ext cx="8443912" cy="251460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5" name="TextBox 5"/>
          <p:cNvSpPr txBox="1"/>
          <p:nvPr/>
        </p:nvSpPr>
        <p:spPr>
          <a:xfrm>
            <a:off x="5036284" y="917896"/>
            <a:ext cx="8215432" cy="84931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437"/>
              </a:lnSpc>
              <a:spcBef>
                <a:spcPct val="0"/>
              </a:spcBef>
            </a:pPr>
            <a:r>
              <a:rPr lang="en-US" sz="2625" b="1">
                <a:solidFill>
                  <a:srgbClr val="000000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TECNOLÓGICO NACIONAL DE MÉXICO</a:t>
            </a:r>
          </a:p>
          <a:p>
            <a:pPr algn="ctr">
              <a:lnSpc>
                <a:spcPts val="3437"/>
              </a:lnSpc>
              <a:spcBef>
                <a:spcPct val="0"/>
              </a:spcBef>
            </a:pPr>
            <a:r>
              <a:rPr lang="en-US" sz="2625" b="1">
                <a:solidFill>
                  <a:srgbClr val="000000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UNIDAD ACADÉMICA VENUSTIANO CARRANZA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4191000" y="2180208"/>
            <a:ext cx="9601200" cy="849400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3436"/>
              </a:lnSpc>
              <a:spcBef>
                <a:spcPct val="0"/>
              </a:spcBef>
            </a:pPr>
            <a:r>
              <a:rPr lang="en-US" sz="2625" b="1" dirty="0">
                <a:solidFill>
                  <a:srgbClr val="000000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“INGENIERÍA EN SISTEMAS COMPUTACIONALES”</a:t>
            </a:r>
          </a:p>
          <a:p>
            <a:pPr algn="ctr">
              <a:lnSpc>
                <a:spcPts val="3437"/>
              </a:lnSpc>
              <a:spcBef>
                <a:spcPct val="0"/>
              </a:spcBef>
            </a:pPr>
            <a:r>
              <a:rPr lang="en-US" sz="2625" b="1" dirty="0">
                <a:solidFill>
                  <a:srgbClr val="000000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LENGUAJES Y AUTOMATAS 1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4724400" y="3439183"/>
            <a:ext cx="8755796" cy="849314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3437"/>
              </a:lnSpc>
              <a:spcBef>
                <a:spcPct val="0"/>
              </a:spcBef>
            </a:pPr>
            <a:r>
              <a:rPr lang="en-US" sz="2625" b="1" dirty="0">
                <a:solidFill>
                  <a:srgbClr val="000000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ACTIVIDAD </a:t>
            </a:r>
          </a:p>
          <a:p>
            <a:pPr algn="ctr">
              <a:lnSpc>
                <a:spcPts val="3437"/>
              </a:lnSpc>
              <a:spcBef>
                <a:spcPct val="0"/>
              </a:spcBef>
            </a:pPr>
            <a:r>
              <a:rPr lang="en-US" sz="2625" b="1" dirty="0">
                <a:solidFill>
                  <a:srgbClr val="000000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ACTIVIDAD 4.2 </a:t>
            </a:r>
            <a:r>
              <a:rPr lang="en-US" sz="2625" b="1" dirty="0" err="1">
                <a:solidFill>
                  <a:srgbClr val="000000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Reporte</a:t>
            </a:r>
            <a:r>
              <a:rPr lang="en-US" sz="2625" b="1" dirty="0">
                <a:solidFill>
                  <a:srgbClr val="000000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 de </a:t>
            </a:r>
            <a:r>
              <a:rPr lang="en-US" sz="2625" b="1" dirty="0" err="1">
                <a:solidFill>
                  <a:srgbClr val="000000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práctica</a:t>
            </a:r>
            <a:endParaRPr lang="en-US" sz="2625" b="1" dirty="0">
              <a:solidFill>
                <a:srgbClr val="000000"/>
              </a:solidFill>
              <a:latin typeface="Montserrat Bold"/>
              <a:ea typeface="Montserrat Bold"/>
              <a:cs typeface="Montserrat Bold"/>
              <a:sym typeface="Montserrat Bold"/>
            </a:endParaRPr>
          </a:p>
        </p:txBody>
      </p:sp>
      <p:sp>
        <p:nvSpPr>
          <p:cNvPr id="8" name="TextBox 8"/>
          <p:cNvSpPr txBox="1"/>
          <p:nvPr/>
        </p:nvSpPr>
        <p:spPr>
          <a:xfrm>
            <a:off x="7620000" y="4698072"/>
            <a:ext cx="2463999" cy="410177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3437"/>
              </a:lnSpc>
              <a:spcBef>
                <a:spcPct val="0"/>
              </a:spcBef>
            </a:pPr>
            <a:r>
              <a:rPr lang="en-US" sz="2625" b="1" dirty="0">
                <a:solidFill>
                  <a:srgbClr val="000000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RPESENTA</a:t>
            </a:r>
          </a:p>
        </p:txBody>
      </p:sp>
      <p:sp>
        <p:nvSpPr>
          <p:cNvPr id="9" name="TextBox 9"/>
          <p:cNvSpPr txBox="1"/>
          <p:nvPr/>
        </p:nvSpPr>
        <p:spPr>
          <a:xfrm>
            <a:off x="4343401" y="7223786"/>
            <a:ext cx="9448800" cy="849314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3437"/>
              </a:lnSpc>
              <a:spcBef>
                <a:spcPct val="0"/>
              </a:spcBef>
            </a:pPr>
            <a:r>
              <a:rPr lang="en-US" sz="2625" b="1" dirty="0">
                <a:solidFill>
                  <a:srgbClr val="000000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DOCENTE</a:t>
            </a:r>
          </a:p>
          <a:p>
            <a:pPr algn="ctr">
              <a:lnSpc>
                <a:spcPts val="3437"/>
              </a:lnSpc>
              <a:spcBef>
                <a:spcPct val="0"/>
              </a:spcBef>
            </a:pPr>
            <a:r>
              <a:rPr lang="en-US" sz="2625" b="1" dirty="0">
                <a:solidFill>
                  <a:srgbClr val="000000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ING. FRANCISCO JAVIER MINGO VELAZQUEZ</a:t>
            </a:r>
          </a:p>
        </p:txBody>
      </p:sp>
      <p:sp>
        <p:nvSpPr>
          <p:cNvPr id="10" name="TextBox 10"/>
          <p:cNvSpPr txBox="1"/>
          <p:nvPr/>
        </p:nvSpPr>
        <p:spPr>
          <a:xfrm>
            <a:off x="3352801" y="9229725"/>
            <a:ext cx="11208306" cy="410177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3437"/>
              </a:lnSpc>
              <a:spcBef>
                <a:spcPct val="0"/>
              </a:spcBef>
            </a:pPr>
            <a:r>
              <a:rPr lang="en-US" sz="2625" b="1" dirty="0">
                <a:solidFill>
                  <a:srgbClr val="000000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09 DE MARZO DE 2026 VENUSTIANO CARRANZA, CHIAPAS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2"/>
          <p:cNvSpPr txBox="1"/>
          <p:nvPr/>
        </p:nvSpPr>
        <p:spPr>
          <a:xfrm>
            <a:off x="992238" y="2603002"/>
            <a:ext cx="3920966" cy="77311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6062"/>
              </a:lnSpc>
            </a:pPr>
            <a:r>
              <a:rPr lang="en-US" sz="4875" b="1">
                <a:solidFill>
                  <a:srgbClr val="505468"/>
                </a:solidFill>
                <a:latin typeface="Arimo Bold"/>
                <a:ea typeface="Arimo Bold"/>
                <a:cs typeface="Arimo Bold"/>
                <a:sym typeface="Arimo Bold"/>
              </a:rPr>
              <a:t>Introducción </a:t>
            </a:r>
          </a:p>
        </p:txBody>
      </p:sp>
      <p:sp>
        <p:nvSpPr>
          <p:cNvPr id="3" name="TextBox 3"/>
          <p:cNvSpPr txBox="1"/>
          <p:nvPr/>
        </p:nvSpPr>
        <p:spPr>
          <a:xfrm>
            <a:off x="992238" y="3816991"/>
            <a:ext cx="16303523" cy="128602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125"/>
              </a:lnSpc>
            </a:pPr>
            <a:r>
              <a:rPr lang="en-US" sz="1937">
                <a:solidFill>
                  <a:srgbClr val="5B5F71"/>
                </a:solidFill>
                <a:latin typeface="Arimo"/>
                <a:ea typeface="Arimo"/>
                <a:cs typeface="Arimo"/>
                <a:sym typeface="Arimo"/>
              </a:rPr>
              <a:t>En el desarrollo de compiladores existe una serie de etapas que permiten analizar y procesar un programa escrito en un lenguaje de programación. La primera de estas etapas es el </a:t>
            </a:r>
            <a:r>
              <a:rPr lang="en-US" sz="1937" b="1">
                <a:solidFill>
                  <a:srgbClr val="5B5F71"/>
                </a:solidFill>
                <a:latin typeface="Arimo Bold"/>
                <a:ea typeface="Arimo Bold"/>
                <a:cs typeface="Arimo Bold"/>
                <a:sym typeface="Arimo Bold"/>
              </a:rPr>
              <a:t>análisis léxico</a:t>
            </a:r>
            <a:r>
              <a:rPr lang="en-US" sz="1937">
                <a:solidFill>
                  <a:srgbClr val="5B5F71"/>
                </a:solidFill>
                <a:latin typeface="Arimo"/>
                <a:ea typeface="Arimo"/>
                <a:cs typeface="Arimo"/>
                <a:sym typeface="Arimo"/>
              </a:rPr>
              <a:t>, cuyo objetivo es leer el código fuente y dividirlo en elementos básicos llamados </a:t>
            </a:r>
            <a:r>
              <a:rPr lang="en-US" sz="1937" i="1">
                <a:solidFill>
                  <a:srgbClr val="5B5F71"/>
                </a:solidFill>
                <a:latin typeface="Arimo Italics"/>
                <a:ea typeface="Arimo Italics"/>
                <a:cs typeface="Arimo Italics"/>
                <a:sym typeface="Arimo Italics"/>
              </a:rPr>
              <a:t>tokens</a:t>
            </a:r>
            <a:r>
              <a:rPr lang="en-US" sz="1937">
                <a:solidFill>
                  <a:srgbClr val="5B5F71"/>
                </a:solidFill>
                <a:latin typeface="Arimo"/>
                <a:ea typeface="Arimo"/>
                <a:cs typeface="Arimo"/>
                <a:sym typeface="Arimo"/>
              </a:rPr>
              <a:t>.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992238" y="5286823"/>
            <a:ext cx="16303523" cy="128602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125"/>
              </a:lnSpc>
            </a:pPr>
            <a:r>
              <a:rPr lang="en-US" sz="1937">
                <a:solidFill>
                  <a:srgbClr val="5B5F71"/>
                </a:solidFill>
                <a:latin typeface="Arimo"/>
                <a:ea typeface="Arimo"/>
                <a:cs typeface="Arimo"/>
                <a:sym typeface="Arimo"/>
              </a:rPr>
              <a:t>El análisis léxico permite identificar las diferentes partes del código como palabras reservadas, identificadores, operadores, números o delimitadores. Esta fase es fundamental porque facilita que las siguientes etapas del compilador puedan interpretar correctamente la estructura del programa.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992238" y="6756644"/>
            <a:ext cx="16303523" cy="88910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125"/>
              </a:lnSpc>
            </a:pPr>
            <a:r>
              <a:rPr lang="en-US" sz="1937">
                <a:solidFill>
                  <a:srgbClr val="5B5F71"/>
                </a:solidFill>
                <a:latin typeface="Arimo"/>
                <a:ea typeface="Arimo"/>
                <a:cs typeface="Arimo"/>
                <a:sym typeface="Arimo"/>
              </a:rPr>
              <a:t>En esta práctica se desarrolló un pequeño programa utilizando </a:t>
            </a:r>
            <a:r>
              <a:rPr lang="en-US" sz="1937" b="1">
                <a:solidFill>
                  <a:srgbClr val="5B5F71"/>
                </a:solidFill>
                <a:latin typeface="Arimo Bold"/>
                <a:ea typeface="Arimo Bold"/>
                <a:cs typeface="Arimo Bold"/>
                <a:sym typeface="Arimo Bold"/>
              </a:rPr>
              <a:t>Java y JavaFX</a:t>
            </a:r>
            <a:r>
              <a:rPr lang="en-US" sz="1937">
                <a:solidFill>
                  <a:srgbClr val="5B5F71"/>
                </a:solidFill>
                <a:latin typeface="Arimo"/>
                <a:ea typeface="Arimo"/>
                <a:cs typeface="Arimo"/>
                <a:sym typeface="Arimo"/>
              </a:rPr>
              <a:t>, con el objetivo de simular el funcionamiento de un analizador léxico sencillo. El programa permite ingresar una línea de código y mostrar los tokens que la componen junto con su tipo.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2"/>
          <p:cNvSpPr txBox="1"/>
          <p:nvPr/>
        </p:nvSpPr>
        <p:spPr>
          <a:xfrm>
            <a:off x="992238" y="2438848"/>
            <a:ext cx="12190362" cy="728982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6062"/>
              </a:lnSpc>
            </a:pPr>
            <a:r>
              <a:rPr lang="en-US" sz="4875" b="1" dirty="0" err="1">
                <a:solidFill>
                  <a:srgbClr val="505468"/>
                </a:solidFill>
                <a:latin typeface="Arimo Bold"/>
                <a:ea typeface="Arimo Bold"/>
                <a:cs typeface="Arimo Bold"/>
                <a:sym typeface="Arimo Bold"/>
              </a:rPr>
              <a:t>Justificación</a:t>
            </a:r>
            <a:r>
              <a:rPr lang="en-US" sz="4875" b="1" dirty="0">
                <a:solidFill>
                  <a:srgbClr val="505468"/>
                </a:solidFill>
                <a:latin typeface="Arimo Bold"/>
                <a:ea typeface="Arimo Bold"/>
                <a:cs typeface="Arimo Bold"/>
                <a:sym typeface="Arimo Bold"/>
              </a:rPr>
              <a:t> y </a:t>
            </a:r>
            <a:r>
              <a:rPr lang="en-US" sz="4875" b="1" dirty="0" err="1">
                <a:solidFill>
                  <a:srgbClr val="505468"/>
                </a:solidFill>
                <a:latin typeface="Arimo Bold"/>
                <a:ea typeface="Arimo Bold"/>
                <a:cs typeface="Arimo Bold"/>
                <a:sym typeface="Arimo Bold"/>
              </a:rPr>
              <a:t>Objetivo</a:t>
            </a:r>
            <a:endParaRPr lang="en-US" sz="4875" b="1" dirty="0">
              <a:solidFill>
                <a:srgbClr val="505468"/>
              </a:solidFill>
              <a:latin typeface="Arimo Bold"/>
              <a:ea typeface="Arimo Bold"/>
              <a:cs typeface="Arimo Bold"/>
              <a:sym typeface="Arimo Bold"/>
            </a:endParaRPr>
          </a:p>
        </p:txBody>
      </p:sp>
      <p:sp>
        <p:nvSpPr>
          <p:cNvPr id="3" name="TextBox 3"/>
          <p:cNvSpPr txBox="1"/>
          <p:nvPr/>
        </p:nvSpPr>
        <p:spPr>
          <a:xfrm>
            <a:off x="992238" y="3843490"/>
            <a:ext cx="6780162" cy="430118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3625"/>
              </a:lnSpc>
            </a:pPr>
            <a:r>
              <a:rPr lang="en-US" sz="2874" b="1" dirty="0">
                <a:solidFill>
                  <a:srgbClr val="505468"/>
                </a:solidFill>
                <a:latin typeface="Arimo Bold"/>
                <a:ea typeface="Arimo Bold"/>
                <a:cs typeface="Arimo Bold"/>
                <a:sym typeface="Arimo Bold"/>
              </a:rPr>
              <a:t>¿Por </a:t>
            </a:r>
            <a:r>
              <a:rPr lang="en-US" sz="2874" b="1" dirty="0" err="1">
                <a:solidFill>
                  <a:srgbClr val="505468"/>
                </a:solidFill>
                <a:latin typeface="Arimo Bold"/>
                <a:ea typeface="Arimo Bold"/>
                <a:cs typeface="Arimo Bold"/>
                <a:sym typeface="Arimo Bold"/>
              </a:rPr>
              <a:t>qué</a:t>
            </a:r>
            <a:r>
              <a:rPr lang="en-US" sz="2874" b="1" dirty="0">
                <a:solidFill>
                  <a:srgbClr val="505468"/>
                </a:solidFill>
                <a:latin typeface="Arimo Bold"/>
                <a:ea typeface="Arimo Bold"/>
                <a:cs typeface="Arimo Bold"/>
                <a:sym typeface="Arimo Bold"/>
              </a:rPr>
              <a:t> es </a:t>
            </a:r>
            <a:r>
              <a:rPr lang="en-US" sz="2874" b="1" dirty="0" err="1">
                <a:solidFill>
                  <a:srgbClr val="505468"/>
                </a:solidFill>
                <a:latin typeface="Arimo Bold"/>
                <a:ea typeface="Arimo Bold"/>
                <a:cs typeface="Arimo Bold"/>
                <a:sym typeface="Arimo Bold"/>
              </a:rPr>
              <a:t>importante</a:t>
            </a:r>
            <a:r>
              <a:rPr lang="en-US" sz="2874" b="1" dirty="0">
                <a:solidFill>
                  <a:srgbClr val="505468"/>
                </a:solidFill>
                <a:latin typeface="Arimo Bold"/>
                <a:ea typeface="Arimo Bold"/>
                <a:cs typeface="Arimo Bold"/>
                <a:sym typeface="Arimo Bold"/>
              </a:rPr>
              <a:t>?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992238" y="4489847"/>
            <a:ext cx="7849191" cy="128602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125"/>
              </a:lnSpc>
            </a:pPr>
            <a:r>
              <a:rPr lang="en-US" sz="1937">
                <a:solidFill>
                  <a:srgbClr val="5B5F71"/>
                </a:solidFill>
                <a:latin typeface="Arimo"/>
                <a:ea typeface="Arimo"/>
                <a:cs typeface="Arimo"/>
                <a:sym typeface="Arimo"/>
              </a:rPr>
              <a:t>El estudio del análisis léxico es importante dentro de la materia de </a:t>
            </a:r>
            <a:r>
              <a:rPr lang="en-US" sz="1937" b="1">
                <a:solidFill>
                  <a:srgbClr val="5B5F71"/>
                </a:solidFill>
                <a:latin typeface="Arimo Bold"/>
                <a:ea typeface="Arimo Bold"/>
                <a:cs typeface="Arimo Bold"/>
                <a:sym typeface="Arimo Bold"/>
              </a:rPr>
              <a:t>Lenguajes y Autómatas</a:t>
            </a:r>
            <a:r>
              <a:rPr lang="en-US" sz="1937">
                <a:solidFill>
                  <a:srgbClr val="5B5F71"/>
                </a:solidFill>
                <a:latin typeface="Arimo"/>
                <a:ea typeface="Arimo"/>
                <a:cs typeface="Arimo"/>
                <a:sym typeface="Arimo"/>
              </a:rPr>
              <a:t>, ya que permite comprender cómo los compiladores interpretan el código que escriben los programadores.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992238" y="5903862"/>
            <a:ext cx="7849191" cy="168295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125"/>
              </a:lnSpc>
            </a:pPr>
            <a:r>
              <a:rPr lang="en-US" sz="1937">
                <a:solidFill>
                  <a:srgbClr val="5B5F71"/>
                </a:solidFill>
                <a:latin typeface="Arimo"/>
                <a:ea typeface="Arimo"/>
                <a:cs typeface="Arimo"/>
                <a:sym typeface="Arimo"/>
              </a:rPr>
              <a:t>Realizar una práctica mediante programación ayuda a entender de forma más clara este proceso, ya que permite observar directamente cómo un programa puede analizar un fragmento de código y separar cada uno de sus componentes.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9456096" y="3843490"/>
            <a:ext cx="6780162" cy="430118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3625"/>
              </a:lnSpc>
            </a:pPr>
            <a:r>
              <a:rPr lang="en-US" sz="2874" b="1" dirty="0" err="1">
                <a:solidFill>
                  <a:srgbClr val="505468"/>
                </a:solidFill>
                <a:latin typeface="Arimo Bold"/>
                <a:ea typeface="Arimo Bold"/>
                <a:cs typeface="Arimo Bold"/>
                <a:sym typeface="Arimo Bold"/>
              </a:rPr>
              <a:t>Objetivo</a:t>
            </a:r>
            <a:r>
              <a:rPr lang="en-US" sz="2874" b="1" dirty="0">
                <a:solidFill>
                  <a:srgbClr val="505468"/>
                </a:solidFill>
                <a:latin typeface="Arimo Bold"/>
                <a:ea typeface="Arimo Bold"/>
                <a:cs typeface="Arimo Bold"/>
                <a:sym typeface="Arimo Bold"/>
              </a:rPr>
              <a:t> de la </a:t>
            </a:r>
            <a:r>
              <a:rPr lang="en-US" sz="2874" b="1" dirty="0" err="1">
                <a:solidFill>
                  <a:srgbClr val="505468"/>
                </a:solidFill>
                <a:latin typeface="Arimo Bold"/>
                <a:ea typeface="Arimo Bold"/>
                <a:cs typeface="Arimo Bold"/>
                <a:sym typeface="Arimo Bold"/>
              </a:rPr>
              <a:t>práctica</a:t>
            </a:r>
            <a:endParaRPr lang="en-US" sz="2874" b="1" dirty="0">
              <a:solidFill>
                <a:srgbClr val="505468"/>
              </a:solidFill>
              <a:latin typeface="Arimo Bold"/>
              <a:ea typeface="Arimo Bold"/>
              <a:cs typeface="Arimo Bold"/>
              <a:sym typeface="Arimo Bold"/>
            </a:endParaRPr>
          </a:p>
        </p:txBody>
      </p:sp>
      <p:sp>
        <p:nvSpPr>
          <p:cNvPr id="7" name="TextBox 7"/>
          <p:cNvSpPr txBox="1"/>
          <p:nvPr/>
        </p:nvSpPr>
        <p:spPr>
          <a:xfrm>
            <a:off x="9456096" y="4489847"/>
            <a:ext cx="7849191" cy="168295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125"/>
              </a:lnSpc>
            </a:pPr>
            <a:r>
              <a:rPr lang="en-US" sz="1937">
                <a:solidFill>
                  <a:srgbClr val="5B5F71"/>
                </a:solidFill>
                <a:latin typeface="Arimo"/>
                <a:ea typeface="Arimo"/>
                <a:cs typeface="Arimo"/>
                <a:sym typeface="Arimo"/>
              </a:rPr>
              <a:t>Desarrollar un programa en Java que permita analizar un fragmento de código fuente e identificar los tokens que lo componen, con el fin de comprender el funcionamiento básico del análisis léxico dentro del proceso de compilación.</a:t>
            </a:r>
          </a:p>
        </p:txBody>
      </p:sp>
      <p:sp>
        <p:nvSpPr>
          <p:cNvPr id="8" name="TextBox 8"/>
          <p:cNvSpPr txBox="1"/>
          <p:nvPr/>
        </p:nvSpPr>
        <p:spPr>
          <a:xfrm>
            <a:off x="9456096" y="6300788"/>
            <a:ext cx="7849191" cy="128602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125"/>
              </a:lnSpc>
            </a:pPr>
            <a:r>
              <a:rPr lang="en-US" sz="1937">
                <a:solidFill>
                  <a:srgbClr val="5B5F71"/>
                </a:solidFill>
                <a:latin typeface="Arimo"/>
                <a:ea typeface="Arimo"/>
                <a:cs typeface="Arimo"/>
                <a:sym typeface="Arimo"/>
              </a:rPr>
              <a:t>El uso de herramientas como </a:t>
            </a:r>
            <a:r>
              <a:rPr lang="en-US" sz="1937" b="1">
                <a:solidFill>
                  <a:srgbClr val="5B5F71"/>
                </a:solidFill>
                <a:latin typeface="Arimo Bold"/>
                <a:ea typeface="Arimo Bold"/>
                <a:cs typeface="Arimo Bold"/>
                <a:sym typeface="Arimo Bold"/>
              </a:rPr>
              <a:t>Java y JavaFX</a:t>
            </a:r>
            <a:r>
              <a:rPr lang="en-US" sz="1937">
                <a:solidFill>
                  <a:srgbClr val="5B5F71"/>
                </a:solidFill>
                <a:latin typeface="Arimo"/>
                <a:ea typeface="Arimo"/>
                <a:cs typeface="Arimo"/>
                <a:sym typeface="Arimo"/>
              </a:rPr>
              <a:t> facilita la creación de interfaces simples que permiten visualizar los resultados del análisis léxico de manera más clara.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2"/>
          <p:cNvSpPr txBox="1"/>
          <p:nvPr/>
        </p:nvSpPr>
        <p:spPr>
          <a:xfrm>
            <a:off x="929430" y="717052"/>
            <a:ext cx="9176385" cy="72548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5687"/>
              </a:lnSpc>
            </a:pPr>
            <a:r>
              <a:rPr lang="en-US" sz="4562" b="1">
                <a:solidFill>
                  <a:srgbClr val="505468"/>
                </a:solidFill>
                <a:latin typeface="Arimo Bold"/>
                <a:ea typeface="Arimo Bold"/>
                <a:cs typeface="Arimo Bold"/>
                <a:sym typeface="Arimo Bold"/>
              </a:rPr>
              <a:t>Fundamentos del Análisis Léxico</a:t>
            </a:r>
          </a:p>
        </p:txBody>
      </p:sp>
      <p:sp>
        <p:nvSpPr>
          <p:cNvPr id="3" name="TextBox 3"/>
          <p:cNvSpPr txBox="1"/>
          <p:nvPr/>
        </p:nvSpPr>
        <p:spPr>
          <a:xfrm>
            <a:off x="929430" y="1831029"/>
            <a:ext cx="16429139" cy="80545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812"/>
              </a:lnSpc>
            </a:pPr>
            <a:r>
              <a:rPr lang="en-US" sz="1812">
                <a:solidFill>
                  <a:srgbClr val="5B5F71"/>
                </a:solidFill>
                <a:latin typeface="Arimo"/>
                <a:ea typeface="Arimo"/>
                <a:cs typeface="Arimo"/>
                <a:sym typeface="Arimo"/>
              </a:rPr>
              <a:t>El análisis léxico es la primera fase del proceso de compilación. En esta etapa, el compilador recibe el código fuente como una secuencia de caracteres y lo divide en unidades significativas llamadas </a:t>
            </a:r>
            <a:r>
              <a:rPr lang="en-US" sz="1812" b="1">
                <a:solidFill>
                  <a:srgbClr val="505468"/>
                </a:solidFill>
                <a:latin typeface="Arimo Bold"/>
                <a:ea typeface="Arimo Bold"/>
                <a:cs typeface="Arimo Bold"/>
                <a:sym typeface="Arimo Bold"/>
              </a:rPr>
              <a:t>tokens</a:t>
            </a:r>
            <a:r>
              <a:rPr lang="en-US" sz="1812">
                <a:solidFill>
                  <a:srgbClr val="5B5F71"/>
                </a:solidFill>
                <a:latin typeface="Arimo"/>
                <a:ea typeface="Arimo"/>
                <a:cs typeface="Arimo"/>
                <a:sym typeface="Arimo"/>
              </a:rPr>
              <a:t>.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929430" y="2795587"/>
            <a:ext cx="16429139" cy="44558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812"/>
              </a:lnSpc>
            </a:pPr>
            <a:r>
              <a:rPr lang="en-US" sz="1812">
                <a:solidFill>
                  <a:srgbClr val="5B5F71"/>
                </a:solidFill>
                <a:latin typeface="Arimo"/>
                <a:ea typeface="Arimo"/>
                <a:cs typeface="Arimo"/>
                <a:sym typeface="Arimo"/>
              </a:rPr>
              <a:t>Un </a:t>
            </a:r>
            <a:r>
              <a:rPr lang="en-US" sz="1812" b="1">
                <a:solidFill>
                  <a:srgbClr val="5B5F71"/>
                </a:solidFill>
                <a:latin typeface="Arimo Bold"/>
                <a:ea typeface="Arimo Bold"/>
                <a:cs typeface="Arimo Bold"/>
                <a:sym typeface="Arimo Bold"/>
              </a:rPr>
              <a:t>token</a:t>
            </a:r>
            <a:r>
              <a:rPr lang="en-US" sz="1812">
                <a:solidFill>
                  <a:srgbClr val="5B5F71"/>
                </a:solidFill>
                <a:latin typeface="Arimo"/>
                <a:ea typeface="Arimo"/>
                <a:cs typeface="Arimo"/>
                <a:sym typeface="Arimo"/>
              </a:rPr>
              <a:t> representa una categoría dentro del lenguaje de programación, y puede ser:</a:t>
            </a:r>
          </a:p>
        </p:txBody>
      </p:sp>
      <p:grpSp>
        <p:nvGrpSpPr>
          <p:cNvPr id="5" name="Group 5"/>
          <p:cNvGrpSpPr/>
          <p:nvPr/>
        </p:nvGrpSpPr>
        <p:grpSpPr>
          <a:xfrm>
            <a:off x="924668" y="3481235"/>
            <a:ext cx="5340848" cy="2621309"/>
            <a:chOff x="0" y="0"/>
            <a:chExt cx="7121131" cy="3495078"/>
          </a:xfrm>
        </p:grpSpPr>
        <p:sp>
          <p:nvSpPr>
            <p:cNvPr id="6" name="Freeform 6"/>
            <p:cNvSpPr/>
            <p:nvPr/>
          </p:nvSpPr>
          <p:spPr>
            <a:xfrm>
              <a:off x="6350" y="6350"/>
              <a:ext cx="7108444" cy="3482467"/>
            </a:xfrm>
            <a:custGeom>
              <a:avLst/>
              <a:gdLst/>
              <a:ahLst/>
              <a:cxnLst/>
              <a:rect l="l" t="t" r="r" b="b"/>
              <a:pathLst>
                <a:path w="7108444" h="3482467">
                  <a:moveTo>
                    <a:pt x="0" y="130175"/>
                  </a:moveTo>
                  <a:cubicBezTo>
                    <a:pt x="0" y="58293"/>
                    <a:pt x="58420" y="0"/>
                    <a:pt x="130429" y="0"/>
                  </a:cubicBezTo>
                  <a:lnTo>
                    <a:pt x="6978015" y="0"/>
                  </a:lnTo>
                  <a:cubicBezTo>
                    <a:pt x="7050024" y="0"/>
                    <a:pt x="7108444" y="58293"/>
                    <a:pt x="7108444" y="130175"/>
                  </a:cubicBezTo>
                  <a:lnTo>
                    <a:pt x="7108444" y="3352292"/>
                  </a:lnTo>
                  <a:cubicBezTo>
                    <a:pt x="7108444" y="3424174"/>
                    <a:pt x="7050024" y="3482467"/>
                    <a:pt x="6978015" y="3482467"/>
                  </a:cubicBezTo>
                  <a:lnTo>
                    <a:pt x="130429" y="3482467"/>
                  </a:lnTo>
                  <a:cubicBezTo>
                    <a:pt x="58420" y="3482340"/>
                    <a:pt x="0" y="3424174"/>
                    <a:pt x="0" y="3352292"/>
                  </a:cubicBezTo>
                  <a:close/>
                </a:path>
              </a:pathLst>
            </a:custGeom>
            <a:solidFill>
              <a:srgbClr val="E2E3E9"/>
            </a:solidFill>
          </p:spPr>
        </p:sp>
        <p:sp>
          <p:nvSpPr>
            <p:cNvPr id="7" name="Freeform 7"/>
            <p:cNvSpPr/>
            <p:nvPr/>
          </p:nvSpPr>
          <p:spPr>
            <a:xfrm>
              <a:off x="0" y="0"/>
              <a:ext cx="7121144" cy="3495167"/>
            </a:xfrm>
            <a:custGeom>
              <a:avLst/>
              <a:gdLst/>
              <a:ahLst/>
              <a:cxnLst/>
              <a:rect l="l" t="t" r="r" b="b"/>
              <a:pathLst>
                <a:path w="7121144" h="3495167">
                  <a:moveTo>
                    <a:pt x="0" y="136525"/>
                  </a:moveTo>
                  <a:cubicBezTo>
                    <a:pt x="0" y="61087"/>
                    <a:pt x="61214" y="0"/>
                    <a:pt x="136779" y="0"/>
                  </a:cubicBezTo>
                  <a:lnTo>
                    <a:pt x="6984365" y="0"/>
                  </a:lnTo>
                  <a:lnTo>
                    <a:pt x="6984365" y="6350"/>
                  </a:lnTo>
                  <a:lnTo>
                    <a:pt x="6984365" y="0"/>
                  </a:lnTo>
                  <a:cubicBezTo>
                    <a:pt x="7059930" y="0"/>
                    <a:pt x="7121144" y="61087"/>
                    <a:pt x="7121144" y="136525"/>
                  </a:cubicBezTo>
                  <a:lnTo>
                    <a:pt x="7114794" y="136525"/>
                  </a:lnTo>
                  <a:lnTo>
                    <a:pt x="7121144" y="136525"/>
                  </a:lnTo>
                  <a:lnTo>
                    <a:pt x="7121144" y="3358642"/>
                  </a:lnTo>
                  <a:lnTo>
                    <a:pt x="7114794" y="3358642"/>
                  </a:lnTo>
                  <a:lnTo>
                    <a:pt x="7121144" y="3358642"/>
                  </a:lnTo>
                  <a:cubicBezTo>
                    <a:pt x="7121144" y="3434080"/>
                    <a:pt x="7059930" y="3495167"/>
                    <a:pt x="6984365" y="3495167"/>
                  </a:cubicBezTo>
                  <a:lnTo>
                    <a:pt x="6984365" y="3488817"/>
                  </a:lnTo>
                  <a:lnTo>
                    <a:pt x="6984365" y="3495167"/>
                  </a:lnTo>
                  <a:lnTo>
                    <a:pt x="136779" y="3495167"/>
                  </a:lnTo>
                  <a:lnTo>
                    <a:pt x="136779" y="3488817"/>
                  </a:lnTo>
                  <a:lnTo>
                    <a:pt x="136779" y="3495167"/>
                  </a:lnTo>
                  <a:cubicBezTo>
                    <a:pt x="61214" y="3495040"/>
                    <a:pt x="0" y="3433953"/>
                    <a:pt x="0" y="3358642"/>
                  </a:cubicBezTo>
                  <a:lnTo>
                    <a:pt x="0" y="136525"/>
                  </a:lnTo>
                  <a:lnTo>
                    <a:pt x="6350" y="136525"/>
                  </a:lnTo>
                  <a:lnTo>
                    <a:pt x="0" y="136525"/>
                  </a:lnTo>
                  <a:moveTo>
                    <a:pt x="12700" y="136525"/>
                  </a:moveTo>
                  <a:lnTo>
                    <a:pt x="12700" y="3358642"/>
                  </a:lnTo>
                  <a:lnTo>
                    <a:pt x="6350" y="3358642"/>
                  </a:lnTo>
                  <a:lnTo>
                    <a:pt x="12700" y="3358642"/>
                  </a:lnTo>
                  <a:cubicBezTo>
                    <a:pt x="12700" y="3426968"/>
                    <a:pt x="68199" y="3482467"/>
                    <a:pt x="136779" y="3482467"/>
                  </a:cubicBezTo>
                  <a:lnTo>
                    <a:pt x="6984365" y="3482467"/>
                  </a:lnTo>
                  <a:cubicBezTo>
                    <a:pt x="7052818" y="3482467"/>
                    <a:pt x="7108444" y="3427095"/>
                    <a:pt x="7108444" y="3358642"/>
                  </a:cubicBezTo>
                  <a:lnTo>
                    <a:pt x="7108444" y="136525"/>
                  </a:lnTo>
                  <a:cubicBezTo>
                    <a:pt x="7108444" y="68199"/>
                    <a:pt x="7052945" y="12700"/>
                    <a:pt x="6984365" y="12700"/>
                  </a:cubicBezTo>
                  <a:lnTo>
                    <a:pt x="136779" y="12700"/>
                  </a:lnTo>
                  <a:lnTo>
                    <a:pt x="136779" y="6350"/>
                  </a:lnTo>
                  <a:lnTo>
                    <a:pt x="136779" y="12700"/>
                  </a:lnTo>
                  <a:cubicBezTo>
                    <a:pt x="68199" y="12700"/>
                    <a:pt x="12700" y="68072"/>
                    <a:pt x="12700" y="136525"/>
                  </a:cubicBezTo>
                  <a:close/>
                </a:path>
              </a:pathLst>
            </a:custGeom>
            <a:solidFill>
              <a:srgbClr val="C8C9CF"/>
            </a:solidFill>
          </p:spPr>
        </p:sp>
      </p:grpSp>
      <p:grpSp>
        <p:nvGrpSpPr>
          <p:cNvPr id="8" name="Group 8"/>
          <p:cNvGrpSpPr/>
          <p:nvPr/>
        </p:nvGrpSpPr>
        <p:grpSpPr>
          <a:xfrm>
            <a:off x="1171280" y="3727847"/>
            <a:ext cx="697116" cy="697116"/>
            <a:chOff x="0" y="0"/>
            <a:chExt cx="929488" cy="929488"/>
          </a:xfrm>
        </p:grpSpPr>
        <p:sp>
          <p:nvSpPr>
            <p:cNvPr id="9" name="Freeform 9" descr="preencoded.png"/>
            <p:cNvSpPr/>
            <p:nvPr/>
          </p:nvSpPr>
          <p:spPr>
            <a:xfrm>
              <a:off x="0" y="0"/>
              <a:ext cx="929513" cy="929513"/>
            </a:xfrm>
            <a:custGeom>
              <a:avLst/>
              <a:gdLst/>
              <a:ahLst/>
              <a:cxnLst/>
              <a:rect l="l" t="t" r="r" b="b"/>
              <a:pathLst>
                <a:path w="929513" h="929513">
                  <a:moveTo>
                    <a:pt x="0" y="0"/>
                  </a:moveTo>
                  <a:lnTo>
                    <a:pt x="929513" y="0"/>
                  </a:lnTo>
                  <a:lnTo>
                    <a:pt x="929513" y="929513"/>
                  </a:lnTo>
                  <a:lnTo>
                    <a:pt x="0" y="92951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 r="2" b="2"/>
              </a:stretch>
            </a:blipFill>
          </p:spPr>
        </p:sp>
      </p:grpSp>
      <p:sp>
        <p:nvSpPr>
          <p:cNvPr id="10" name="Freeform 10" descr="preencoded.png"/>
          <p:cNvSpPr/>
          <p:nvPr/>
        </p:nvSpPr>
        <p:spPr>
          <a:xfrm>
            <a:off x="1362970" y="3919538"/>
            <a:ext cx="313582" cy="313582"/>
          </a:xfrm>
          <a:custGeom>
            <a:avLst/>
            <a:gdLst/>
            <a:ahLst/>
            <a:cxnLst/>
            <a:rect l="l" t="t" r="r" b="b"/>
            <a:pathLst>
              <a:path w="313582" h="313582">
                <a:moveTo>
                  <a:pt x="0" y="0"/>
                </a:moveTo>
                <a:lnTo>
                  <a:pt x="313582" y="0"/>
                </a:lnTo>
                <a:lnTo>
                  <a:pt x="313582" y="313582"/>
                </a:lnTo>
                <a:lnTo>
                  <a:pt x="0" y="313582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 l="-51515" r="-51512"/>
            </a:stretch>
          </a:blipFill>
        </p:spPr>
      </p:sp>
      <p:sp>
        <p:nvSpPr>
          <p:cNvPr id="11" name="TextBox 11"/>
          <p:cNvSpPr txBox="1"/>
          <p:nvPr/>
        </p:nvSpPr>
        <p:spPr>
          <a:xfrm>
            <a:off x="1171280" y="4613967"/>
            <a:ext cx="2904677" cy="39171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812"/>
              </a:lnSpc>
            </a:pPr>
            <a:r>
              <a:rPr lang="en-US" sz="2249" b="1">
                <a:solidFill>
                  <a:srgbClr val="5B5F71"/>
                </a:solidFill>
                <a:latin typeface="Arimo Bold"/>
                <a:ea typeface="Arimo Bold"/>
                <a:cs typeface="Arimo Bold"/>
                <a:sym typeface="Arimo Bold"/>
              </a:rPr>
              <a:t>Palabras reservadas</a:t>
            </a:r>
          </a:p>
        </p:txBody>
      </p:sp>
      <p:sp>
        <p:nvSpPr>
          <p:cNvPr id="12" name="TextBox 12"/>
          <p:cNvSpPr txBox="1"/>
          <p:nvPr/>
        </p:nvSpPr>
        <p:spPr>
          <a:xfrm>
            <a:off x="1171280" y="5050479"/>
            <a:ext cx="4847634" cy="44558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812"/>
              </a:lnSpc>
            </a:pPr>
            <a:r>
              <a:rPr lang="en-US" sz="1812">
                <a:solidFill>
                  <a:srgbClr val="5B5F71"/>
                </a:solidFill>
                <a:latin typeface="Arimo"/>
                <a:ea typeface="Arimo"/>
                <a:cs typeface="Arimo"/>
                <a:sym typeface="Arimo"/>
              </a:rPr>
              <a:t>Palabras del lenguaje como int, float, if, while</a:t>
            </a:r>
          </a:p>
        </p:txBody>
      </p:sp>
      <p:grpSp>
        <p:nvGrpSpPr>
          <p:cNvPr id="13" name="Group 13"/>
          <p:cNvGrpSpPr/>
          <p:nvPr/>
        </p:nvGrpSpPr>
        <p:grpSpPr>
          <a:xfrm>
            <a:off x="6473581" y="3481235"/>
            <a:ext cx="5340848" cy="2621309"/>
            <a:chOff x="0" y="0"/>
            <a:chExt cx="7121131" cy="3495078"/>
          </a:xfrm>
        </p:grpSpPr>
        <p:sp>
          <p:nvSpPr>
            <p:cNvPr id="14" name="Freeform 14"/>
            <p:cNvSpPr/>
            <p:nvPr/>
          </p:nvSpPr>
          <p:spPr>
            <a:xfrm>
              <a:off x="6350" y="6350"/>
              <a:ext cx="7108444" cy="3482467"/>
            </a:xfrm>
            <a:custGeom>
              <a:avLst/>
              <a:gdLst/>
              <a:ahLst/>
              <a:cxnLst/>
              <a:rect l="l" t="t" r="r" b="b"/>
              <a:pathLst>
                <a:path w="7108444" h="3482467">
                  <a:moveTo>
                    <a:pt x="0" y="130175"/>
                  </a:moveTo>
                  <a:cubicBezTo>
                    <a:pt x="0" y="58293"/>
                    <a:pt x="58420" y="0"/>
                    <a:pt x="130429" y="0"/>
                  </a:cubicBezTo>
                  <a:lnTo>
                    <a:pt x="6978015" y="0"/>
                  </a:lnTo>
                  <a:cubicBezTo>
                    <a:pt x="7050024" y="0"/>
                    <a:pt x="7108444" y="58293"/>
                    <a:pt x="7108444" y="130175"/>
                  </a:cubicBezTo>
                  <a:lnTo>
                    <a:pt x="7108444" y="3352292"/>
                  </a:lnTo>
                  <a:cubicBezTo>
                    <a:pt x="7108444" y="3424174"/>
                    <a:pt x="7050024" y="3482467"/>
                    <a:pt x="6978015" y="3482467"/>
                  </a:cubicBezTo>
                  <a:lnTo>
                    <a:pt x="130429" y="3482467"/>
                  </a:lnTo>
                  <a:cubicBezTo>
                    <a:pt x="58420" y="3482340"/>
                    <a:pt x="0" y="3424174"/>
                    <a:pt x="0" y="3352292"/>
                  </a:cubicBezTo>
                  <a:close/>
                </a:path>
              </a:pathLst>
            </a:custGeom>
            <a:solidFill>
              <a:srgbClr val="E2E3E9"/>
            </a:solidFill>
          </p:spPr>
        </p:sp>
        <p:sp>
          <p:nvSpPr>
            <p:cNvPr id="15" name="Freeform 15"/>
            <p:cNvSpPr/>
            <p:nvPr/>
          </p:nvSpPr>
          <p:spPr>
            <a:xfrm>
              <a:off x="0" y="0"/>
              <a:ext cx="7121144" cy="3495167"/>
            </a:xfrm>
            <a:custGeom>
              <a:avLst/>
              <a:gdLst/>
              <a:ahLst/>
              <a:cxnLst/>
              <a:rect l="l" t="t" r="r" b="b"/>
              <a:pathLst>
                <a:path w="7121144" h="3495167">
                  <a:moveTo>
                    <a:pt x="0" y="136525"/>
                  </a:moveTo>
                  <a:cubicBezTo>
                    <a:pt x="0" y="61087"/>
                    <a:pt x="61214" y="0"/>
                    <a:pt x="136779" y="0"/>
                  </a:cubicBezTo>
                  <a:lnTo>
                    <a:pt x="6984365" y="0"/>
                  </a:lnTo>
                  <a:lnTo>
                    <a:pt x="6984365" y="6350"/>
                  </a:lnTo>
                  <a:lnTo>
                    <a:pt x="6984365" y="0"/>
                  </a:lnTo>
                  <a:cubicBezTo>
                    <a:pt x="7059930" y="0"/>
                    <a:pt x="7121144" y="61087"/>
                    <a:pt x="7121144" y="136525"/>
                  </a:cubicBezTo>
                  <a:lnTo>
                    <a:pt x="7114794" y="136525"/>
                  </a:lnTo>
                  <a:lnTo>
                    <a:pt x="7121144" y="136525"/>
                  </a:lnTo>
                  <a:lnTo>
                    <a:pt x="7121144" y="3358642"/>
                  </a:lnTo>
                  <a:lnTo>
                    <a:pt x="7114794" y="3358642"/>
                  </a:lnTo>
                  <a:lnTo>
                    <a:pt x="7121144" y="3358642"/>
                  </a:lnTo>
                  <a:cubicBezTo>
                    <a:pt x="7121144" y="3434080"/>
                    <a:pt x="7059930" y="3495167"/>
                    <a:pt x="6984365" y="3495167"/>
                  </a:cubicBezTo>
                  <a:lnTo>
                    <a:pt x="6984365" y="3488817"/>
                  </a:lnTo>
                  <a:lnTo>
                    <a:pt x="6984365" y="3495167"/>
                  </a:lnTo>
                  <a:lnTo>
                    <a:pt x="136779" y="3495167"/>
                  </a:lnTo>
                  <a:lnTo>
                    <a:pt x="136779" y="3488817"/>
                  </a:lnTo>
                  <a:lnTo>
                    <a:pt x="136779" y="3495167"/>
                  </a:lnTo>
                  <a:cubicBezTo>
                    <a:pt x="61214" y="3495040"/>
                    <a:pt x="0" y="3433953"/>
                    <a:pt x="0" y="3358642"/>
                  </a:cubicBezTo>
                  <a:lnTo>
                    <a:pt x="0" y="136525"/>
                  </a:lnTo>
                  <a:lnTo>
                    <a:pt x="6350" y="136525"/>
                  </a:lnTo>
                  <a:lnTo>
                    <a:pt x="0" y="136525"/>
                  </a:lnTo>
                  <a:moveTo>
                    <a:pt x="12700" y="136525"/>
                  </a:moveTo>
                  <a:lnTo>
                    <a:pt x="12700" y="3358642"/>
                  </a:lnTo>
                  <a:lnTo>
                    <a:pt x="6350" y="3358642"/>
                  </a:lnTo>
                  <a:lnTo>
                    <a:pt x="12700" y="3358642"/>
                  </a:lnTo>
                  <a:cubicBezTo>
                    <a:pt x="12700" y="3426968"/>
                    <a:pt x="68199" y="3482467"/>
                    <a:pt x="136779" y="3482467"/>
                  </a:cubicBezTo>
                  <a:lnTo>
                    <a:pt x="6984365" y="3482467"/>
                  </a:lnTo>
                  <a:cubicBezTo>
                    <a:pt x="7052818" y="3482467"/>
                    <a:pt x="7108444" y="3427095"/>
                    <a:pt x="7108444" y="3358642"/>
                  </a:cubicBezTo>
                  <a:lnTo>
                    <a:pt x="7108444" y="136525"/>
                  </a:lnTo>
                  <a:cubicBezTo>
                    <a:pt x="7108444" y="68199"/>
                    <a:pt x="7052945" y="12700"/>
                    <a:pt x="6984365" y="12700"/>
                  </a:cubicBezTo>
                  <a:lnTo>
                    <a:pt x="136779" y="12700"/>
                  </a:lnTo>
                  <a:lnTo>
                    <a:pt x="136779" y="6350"/>
                  </a:lnTo>
                  <a:lnTo>
                    <a:pt x="136779" y="12700"/>
                  </a:lnTo>
                  <a:cubicBezTo>
                    <a:pt x="68199" y="12700"/>
                    <a:pt x="12700" y="68072"/>
                    <a:pt x="12700" y="136525"/>
                  </a:cubicBezTo>
                  <a:close/>
                </a:path>
              </a:pathLst>
            </a:custGeom>
            <a:solidFill>
              <a:srgbClr val="C8C9CF"/>
            </a:solidFill>
          </p:spPr>
        </p:sp>
      </p:grpSp>
      <p:grpSp>
        <p:nvGrpSpPr>
          <p:cNvPr id="16" name="Group 16"/>
          <p:cNvGrpSpPr/>
          <p:nvPr/>
        </p:nvGrpSpPr>
        <p:grpSpPr>
          <a:xfrm>
            <a:off x="6720183" y="3727847"/>
            <a:ext cx="697116" cy="697116"/>
            <a:chOff x="0" y="0"/>
            <a:chExt cx="929488" cy="929488"/>
          </a:xfrm>
        </p:grpSpPr>
        <p:sp>
          <p:nvSpPr>
            <p:cNvPr id="17" name="Freeform 17" descr="preencoded.png"/>
            <p:cNvSpPr/>
            <p:nvPr/>
          </p:nvSpPr>
          <p:spPr>
            <a:xfrm>
              <a:off x="0" y="0"/>
              <a:ext cx="929513" cy="929513"/>
            </a:xfrm>
            <a:custGeom>
              <a:avLst/>
              <a:gdLst/>
              <a:ahLst/>
              <a:cxnLst/>
              <a:rect l="l" t="t" r="r" b="b"/>
              <a:pathLst>
                <a:path w="929513" h="929513">
                  <a:moveTo>
                    <a:pt x="0" y="0"/>
                  </a:moveTo>
                  <a:lnTo>
                    <a:pt x="929513" y="0"/>
                  </a:lnTo>
                  <a:lnTo>
                    <a:pt x="929513" y="929513"/>
                  </a:lnTo>
                  <a:lnTo>
                    <a:pt x="0" y="92951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6"/>
              <a:stretch>
                <a:fillRect r="2" b="2"/>
              </a:stretch>
            </a:blipFill>
          </p:spPr>
        </p:sp>
      </p:grpSp>
      <p:sp>
        <p:nvSpPr>
          <p:cNvPr id="18" name="Freeform 18" descr="preencoded.png"/>
          <p:cNvSpPr/>
          <p:nvPr/>
        </p:nvSpPr>
        <p:spPr>
          <a:xfrm>
            <a:off x="6911873" y="3919538"/>
            <a:ext cx="313582" cy="313582"/>
          </a:xfrm>
          <a:custGeom>
            <a:avLst/>
            <a:gdLst/>
            <a:ahLst/>
            <a:cxnLst/>
            <a:rect l="l" t="t" r="r" b="b"/>
            <a:pathLst>
              <a:path w="313582" h="313582">
                <a:moveTo>
                  <a:pt x="0" y="0"/>
                </a:moveTo>
                <a:lnTo>
                  <a:pt x="313582" y="0"/>
                </a:lnTo>
                <a:lnTo>
                  <a:pt x="313582" y="313582"/>
                </a:lnTo>
                <a:lnTo>
                  <a:pt x="0" y="313582"/>
                </a:lnTo>
                <a:lnTo>
                  <a:pt x="0" y="0"/>
                </a:lnTo>
                <a:close/>
              </a:path>
            </a:pathLst>
          </a:custGeom>
          <a:blipFill>
            <a:blip r:embed="rId7">
              <a:extLs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tretch>
              <a:fillRect t="-16666" b="-16666"/>
            </a:stretch>
          </a:blipFill>
        </p:spPr>
      </p:sp>
      <p:sp>
        <p:nvSpPr>
          <p:cNvPr id="19" name="TextBox 19"/>
          <p:cNvSpPr txBox="1"/>
          <p:nvPr/>
        </p:nvSpPr>
        <p:spPr>
          <a:xfrm>
            <a:off x="6720183" y="4613967"/>
            <a:ext cx="2904677" cy="39171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812"/>
              </a:lnSpc>
            </a:pPr>
            <a:r>
              <a:rPr lang="en-US" sz="2249" b="1">
                <a:solidFill>
                  <a:srgbClr val="5B5F71"/>
                </a:solidFill>
                <a:latin typeface="Arimo Bold"/>
                <a:ea typeface="Arimo Bold"/>
                <a:cs typeface="Arimo Bold"/>
                <a:sym typeface="Arimo Bold"/>
              </a:rPr>
              <a:t>Identificadores</a:t>
            </a:r>
          </a:p>
        </p:txBody>
      </p:sp>
      <p:sp>
        <p:nvSpPr>
          <p:cNvPr id="20" name="TextBox 20"/>
          <p:cNvSpPr txBox="1"/>
          <p:nvPr/>
        </p:nvSpPr>
        <p:spPr>
          <a:xfrm>
            <a:off x="6720183" y="5050479"/>
            <a:ext cx="4847634" cy="80545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812"/>
              </a:lnSpc>
            </a:pPr>
            <a:r>
              <a:rPr lang="en-US" sz="1812">
                <a:solidFill>
                  <a:srgbClr val="5B5F71"/>
                </a:solidFill>
                <a:latin typeface="Arimo"/>
                <a:ea typeface="Arimo"/>
                <a:cs typeface="Arimo"/>
                <a:sym typeface="Arimo"/>
              </a:rPr>
              <a:t>Nombres de variables, funciones y estructuras</a:t>
            </a:r>
          </a:p>
        </p:txBody>
      </p:sp>
      <p:grpSp>
        <p:nvGrpSpPr>
          <p:cNvPr id="21" name="Group 21"/>
          <p:cNvGrpSpPr/>
          <p:nvPr/>
        </p:nvGrpSpPr>
        <p:grpSpPr>
          <a:xfrm>
            <a:off x="12022484" y="3481235"/>
            <a:ext cx="5340848" cy="2621309"/>
            <a:chOff x="0" y="0"/>
            <a:chExt cx="7121131" cy="3495078"/>
          </a:xfrm>
        </p:grpSpPr>
        <p:sp>
          <p:nvSpPr>
            <p:cNvPr id="22" name="Freeform 22"/>
            <p:cNvSpPr/>
            <p:nvPr/>
          </p:nvSpPr>
          <p:spPr>
            <a:xfrm>
              <a:off x="6350" y="6350"/>
              <a:ext cx="7108444" cy="3482467"/>
            </a:xfrm>
            <a:custGeom>
              <a:avLst/>
              <a:gdLst/>
              <a:ahLst/>
              <a:cxnLst/>
              <a:rect l="l" t="t" r="r" b="b"/>
              <a:pathLst>
                <a:path w="7108444" h="3482467">
                  <a:moveTo>
                    <a:pt x="0" y="130175"/>
                  </a:moveTo>
                  <a:cubicBezTo>
                    <a:pt x="0" y="58293"/>
                    <a:pt x="58420" y="0"/>
                    <a:pt x="130429" y="0"/>
                  </a:cubicBezTo>
                  <a:lnTo>
                    <a:pt x="6978015" y="0"/>
                  </a:lnTo>
                  <a:cubicBezTo>
                    <a:pt x="7050024" y="0"/>
                    <a:pt x="7108444" y="58293"/>
                    <a:pt x="7108444" y="130175"/>
                  </a:cubicBezTo>
                  <a:lnTo>
                    <a:pt x="7108444" y="3352292"/>
                  </a:lnTo>
                  <a:cubicBezTo>
                    <a:pt x="7108444" y="3424174"/>
                    <a:pt x="7050024" y="3482467"/>
                    <a:pt x="6978015" y="3482467"/>
                  </a:cubicBezTo>
                  <a:lnTo>
                    <a:pt x="130429" y="3482467"/>
                  </a:lnTo>
                  <a:cubicBezTo>
                    <a:pt x="58420" y="3482340"/>
                    <a:pt x="0" y="3424174"/>
                    <a:pt x="0" y="3352292"/>
                  </a:cubicBezTo>
                  <a:close/>
                </a:path>
              </a:pathLst>
            </a:custGeom>
            <a:solidFill>
              <a:srgbClr val="E2E3E9"/>
            </a:solidFill>
          </p:spPr>
        </p:sp>
        <p:sp>
          <p:nvSpPr>
            <p:cNvPr id="23" name="Freeform 23"/>
            <p:cNvSpPr/>
            <p:nvPr/>
          </p:nvSpPr>
          <p:spPr>
            <a:xfrm>
              <a:off x="0" y="0"/>
              <a:ext cx="7121144" cy="3495167"/>
            </a:xfrm>
            <a:custGeom>
              <a:avLst/>
              <a:gdLst/>
              <a:ahLst/>
              <a:cxnLst/>
              <a:rect l="l" t="t" r="r" b="b"/>
              <a:pathLst>
                <a:path w="7121144" h="3495167">
                  <a:moveTo>
                    <a:pt x="0" y="136525"/>
                  </a:moveTo>
                  <a:cubicBezTo>
                    <a:pt x="0" y="61087"/>
                    <a:pt x="61214" y="0"/>
                    <a:pt x="136779" y="0"/>
                  </a:cubicBezTo>
                  <a:lnTo>
                    <a:pt x="6984365" y="0"/>
                  </a:lnTo>
                  <a:lnTo>
                    <a:pt x="6984365" y="6350"/>
                  </a:lnTo>
                  <a:lnTo>
                    <a:pt x="6984365" y="0"/>
                  </a:lnTo>
                  <a:cubicBezTo>
                    <a:pt x="7059930" y="0"/>
                    <a:pt x="7121144" y="61087"/>
                    <a:pt x="7121144" y="136525"/>
                  </a:cubicBezTo>
                  <a:lnTo>
                    <a:pt x="7114794" y="136525"/>
                  </a:lnTo>
                  <a:lnTo>
                    <a:pt x="7121144" y="136525"/>
                  </a:lnTo>
                  <a:lnTo>
                    <a:pt x="7121144" y="3358642"/>
                  </a:lnTo>
                  <a:lnTo>
                    <a:pt x="7114794" y="3358642"/>
                  </a:lnTo>
                  <a:lnTo>
                    <a:pt x="7121144" y="3358642"/>
                  </a:lnTo>
                  <a:cubicBezTo>
                    <a:pt x="7121144" y="3434080"/>
                    <a:pt x="7059930" y="3495167"/>
                    <a:pt x="6984365" y="3495167"/>
                  </a:cubicBezTo>
                  <a:lnTo>
                    <a:pt x="6984365" y="3488817"/>
                  </a:lnTo>
                  <a:lnTo>
                    <a:pt x="6984365" y="3495167"/>
                  </a:lnTo>
                  <a:lnTo>
                    <a:pt x="136779" y="3495167"/>
                  </a:lnTo>
                  <a:lnTo>
                    <a:pt x="136779" y="3488817"/>
                  </a:lnTo>
                  <a:lnTo>
                    <a:pt x="136779" y="3495167"/>
                  </a:lnTo>
                  <a:cubicBezTo>
                    <a:pt x="61214" y="3495040"/>
                    <a:pt x="0" y="3433953"/>
                    <a:pt x="0" y="3358642"/>
                  </a:cubicBezTo>
                  <a:lnTo>
                    <a:pt x="0" y="136525"/>
                  </a:lnTo>
                  <a:lnTo>
                    <a:pt x="6350" y="136525"/>
                  </a:lnTo>
                  <a:lnTo>
                    <a:pt x="0" y="136525"/>
                  </a:lnTo>
                  <a:moveTo>
                    <a:pt x="12700" y="136525"/>
                  </a:moveTo>
                  <a:lnTo>
                    <a:pt x="12700" y="3358642"/>
                  </a:lnTo>
                  <a:lnTo>
                    <a:pt x="6350" y="3358642"/>
                  </a:lnTo>
                  <a:lnTo>
                    <a:pt x="12700" y="3358642"/>
                  </a:lnTo>
                  <a:cubicBezTo>
                    <a:pt x="12700" y="3426968"/>
                    <a:pt x="68199" y="3482467"/>
                    <a:pt x="136779" y="3482467"/>
                  </a:cubicBezTo>
                  <a:lnTo>
                    <a:pt x="6984365" y="3482467"/>
                  </a:lnTo>
                  <a:cubicBezTo>
                    <a:pt x="7052818" y="3482467"/>
                    <a:pt x="7108444" y="3427095"/>
                    <a:pt x="7108444" y="3358642"/>
                  </a:cubicBezTo>
                  <a:lnTo>
                    <a:pt x="7108444" y="136525"/>
                  </a:lnTo>
                  <a:cubicBezTo>
                    <a:pt x="7108444" y="68199"/>
                    <a:pt x="7052945" y="12700"/>
                    <a:pt x="6984365" y="12700"/>
                  </a:cubicBezTo>
                  <a:lnTo>
                    <a:pt x="136779" y="12700"/>
                  </a:lnTo>
                  <a:lnTo>
                    <a:pt x="136779" y="6350"/>
                  </a:lnTo>
                  <a:lnTo>
                    <a:pt x="136779" y="12700"/>
                  </a:lnTo>
                  <a:cubicBezTo>
                    <a:pt x="68199" y="12700"/>
                    <a:pt x="12700" y="68072"/>
                    <a:pt x="12700" y="136525"/>
                  </a:cubicBezTo>
                  <a:close/>
                </a:path>
              </a:pathLst>
            </a:custGeom>
            <a:solidFill>
              <a:srgbClr val="C8C9CF"/>
            </a:solidFill>
          </p:spPr>
        </p:sp>
      </p:grpSp>
      <p:grpSp>
        <p:nvGrpSpPr>
          <p:cNvPr id="24" name="Group 24"/>
          <p:cNvGrpSpPr/>
          <p:nvPr/>
        </p:nvGrpSpPr>
        <p:grpSpPr>
          <a:xfrm>
            <a:off x="12269095" y="3727847"/>
            <a:ext cx="697116" cy="697116"/>
            <a:chOff x="0" y="0"/>
            <a:chExt cx="929488" cy="929488"/>
          </a:xfrm>
        </p:grpSpPr>
        <p:sp>
          <p:nvSpPr>
            <p:cNvPr id="25" name="Freeform 25" descr="preencoded.png"/>
            <p:cNvSpPr/>
            <p:nvPr/>
          </p:nvSpPr>
          <p:spPr>
            <a:xfrm>
              <a:off x="0" y="0"/>
              <a:ext cx="929513" cy="929513"/>
            </a:xfrm>
            <a:custGeom>
              <a:avLst/>
              <a:gdLst/>
              <a:ahLst/>
              <a:cxnLst/>
              <a:rect l="l" t="t" r="r" b="b"/>
              <a:pathLst>
                <a:path w="929513" h="929513">
                  <a:moveTo>
                    <a:pt x="0" y="0"/>
                  </a:moveTo>
                  <a:lnTo>
                    <a:pt x="929513" y="0"/>
                  </a:lnTo>
                  <a:lnTo>
                    <a:pt x="929513" y="929513"/>
                  </a:lnTo>
                  <a:lnTo>
                    <a:pt x="0" y="92951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9"/>
              <a:stretch>
                <a:fillRect r="2" b="2"/>
              </a:stretch>
            </a:blipFill>
          </p:spPr>
        </p:sp>
      </p:grpSp>
      <p:sp>
        <p:nvSpPr>
          <p:cNvPr id="26" name="Freeform 26" descr="preencoded.png"/>
          <p:cNvSpPr/>
          <p:nvPr/>
        </p:nvSpPr>
        <p:spPr>
          <a:xfrm>
            <a:off x="12460786" y="3919538"/>
            <a:ext cx="313582" cy="313582"/>
          </a:xfrm>
          <a:custGeom>
            <a:avLst/>
            <a:gdLst/>
            <a:ahLst/>
            <a:cxnLst/>
            <a:rect l="l" t="t" r="r" b="b"/>
            <a:pathLst>
              <a:path w="313582" h="313582">
                <a:moveTo>
                  <a:pt x="0" y="0"/>
                </a:moveTo>
                <a:lnTo>
                  <a:pt x="313582" y="0"/>
                </a:lnTo>
                <a:lnTo>
                  <a:pt x="313582" y="313582"/>
                </a:lnTo>
                <a:lnTo>
                  <a:pt x="0" y="313582"/>
                </a:lnTo>
                <a:lnTo>
                  <a:pt x="0" y="0"/>
                </a:lnTo>
                <a:close/>
              </a:path>
            </a:pathLst>
          </a:custGeom>
          <a:blipFill>
            <a:blip r:embed="rId10">
              <a:extLst>
                <a:ext uri="{96DAC541-7B7A-43D3-8B79-37D633B846F1}">
                  <asvg:svgBlip xmlns:asvg="http://schemas.microsoft.com/office/drawing/2016/SVG/main" r:embed="rId11"/>
                </a:ext>
              </a:extLst>
            </a:blip>
            <a:stretch>
              <a:fillRect l="-1515" r="-1515"/>
            </a:stretch>
          </a:blipFill>
        </p:spPr>
      </p:sp>
      <p:sp>
        <p:nvSpPr>
          <p:cNvPr id="27" name="TextBox 27"/>
          <p:cNvSpPr txBox="1"/>
          <p:nvPr/>
        </p:nvSpPr>
        <p:spPr>
          <a:xfrm>
            <a:off x="12269095" y="4613967"/>
            <a:ext cx="2904677" cy="39171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812"/>
              </a:lnSpc>
            </a:pPr>
            <a:r>
              <a:rPr lang="en-US" sz="2249" b="1">
                <a:solidFill>
                  <a:srgbClr val="5B5F71"/>
                </a:solidFill>
                <a:latin typeface="Arimo Bold"/>
                <a:ea typeface="Arimo Bold"/>
                <a:cs typeface="Arimo Bold"/>
                <a:sym typeface="Arimo Bold"/>
              </a:rPr>
              <a:t>Operadores</a:t>
            </a:r>
          </a:p>
        </p:txBody>
      </p:sp>
      <p:sp>
        <p:nvSpPr>
          <p:cNvPr id="28" name="TextBox 28"/>
          <p:cNvSpPr txBox="1"/>
          <p:nvPr/>
        </p:nvSpPr>
        <p:spPr>
          <a:xfrm>
            <a:off x="12269095" y="5050479"/>
            <a:ext cx="4847634" cy="44558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812"/>
              </a:lnSpc>
            </a:pPr>
            <a:r>
              <a:rPr lang="en-US" sz="1812">
                <a:solidFill>
                  <a:srgbClr val="5B5F71"/>
                </a:solidFill>
                <a:latin typeface="Arimo"/>
                <a:ea typeface="Arimo"/>
                <a:cs typeface="Arimo"/>
                <a:sym typeface="Arimo"/>
              </a:rPr>
              <a:t>Símbolos aritméticos y lógicos como +, -, *, /</a:t>
            </a:r>
          </a:p>
        </p:txBody>
      </p:sp>
      <p:grpSp>
        <p:nvGrpSpPr>
          <p:cNvPr id="29" name="Group 29"/>
          <p:cNvGrpSpPr/>
          <p:nvPr/>
        </p:nvGrpSpPr>
        <p:grpSpPr>
          <a:xfrm>
            <a:off x="924668" y="6310608"/>
            <a:ext cx="8115300" cy="2261445"/>
            <a:chOff x="0" y="0"/>
            <a:chExt cx="10820400" cy="3015259"/>
          </a:xfrm>
        </p:grpSpPr>
        <p:sp>
          <p:nvSpPr>
            <p:cNvPr id="30" name="Freeform 30"/>
            <p:cNvSpPr/>
            <p:nvPr/>
          </p:nvSpPr>
          <p:spPr>
            <a:xfrm>
              <a:off x="6350" y="6350"/>
              <a:ext cx="10807700" cy="3002661"/>
            </a:xfrm>
            <a:custGeom>
              <a:avLst/>
              <a:gdLst/>
              <a:ahLst/>
              <a:cxnLst/>
              <a:rect l="l" t="t" r="r" b="b"/>
              <a:pathLst>
                <a:path w="10807700" h="3002661">
                  <a:moveTo>
                    <a:pt x="0" y="130175"/>
                  </a:moveTo>
                  <a:cubicBezTo>
                    <a:pt x="0" y="58293"/>
                    <a:pt x="58420" y="0"/>
                    <a:pt x="130556" y="0"/>
                  </a:cubicBezTo>
                  <a:lnTo>
                    <a:pt x="10677144" y="0"/>
                  </a:lnTo>
                  <a:cubicBezTo>
                    <a:pt x="10749280" y="0"/>
                    <a:pt x="10807700" y="58293"/>
                    <a:pt x="10807700" y="130175"/>
                  </a:cubicBezTo>
                  <a:lnTo>
                    <a:pt x="10807700" y="2872486"/>
                  </a:lnTo>
                  <a:cubicBezTo>
                    <a:pt x="10807700" y="2944368"/>
                    <a:pt x="10749280" y="3002661"/>
                    <a:pt x="10677144" y="3002661"/>
                  </a:cubicBezTo>
                  <a:lnTo>
                    <a:pt x="130556" y="3002661"/>
                  </a:lnTo>
                  <a:cubicBezTo>
                    <a:pt x="58420" y="3002534"/>
                    <a:pt x="0" y="2944241"/>
                    <a:pt x="0" y="2872486"/>
                  </a:cubicBezTo>
                  <a:close/>
                </a:path>
              </a:pathLst>
            </a:custGeom>
            <a:solidFill>
              <a:srgbClr val="E2E3E9"/>
            </a:solidFill>
          </p:spPr>
        </p:sp>
        <p:sp>
          <p:nvSpPr>
            <p:cNvPr id="31" name="Freeform 31"/>
            <p:cNvSpPr/>
            <p:nvPr/>
          </p:nvSpPr>
          <p:spPr>
            <a:xfrm>
              <a:off x="0" y="0"/>
              <a:ext cx="10820400" cy="3015361"/>
            </a:xfrm>
            <a:custGeom>
              <a:avLst/>
              <a:gdLst/>
              <a:ahLst/>
              <a:cxnLst/>
              <a:rect l="l" t="t" r="r" b="b"/>
              <a:pathLst>
                <a:path w="10820400" h="3015361">
                  <a:moveTo>
                    <a:pt x="0" y="136525"/>
                  </a:moveTo>
                  <a:cubicBezTo>
                    <a:pt x="0" y="61087"/>
                    <a:pt x="61341" y="0"/>
                    <a:pt x="136906" y="0"/>
                  </a:cubicBezTo>
                  <a:lnTo>
                    <a:pt x="10683494" y="0"/>
                  </a:lnTo>
                  <a:lnTo>
                    <a:pt x="10683494" y="6350"/>
                  </a:lnTo>
                  <a:lnTo>
                    <a:pt x="10683494" y="0"/>
                  </a:lnTo>
                  <a:cubicBezTo>
                    <a:pt x="10759059" y="0"/>
                    <a:pt x="10820400" y="61087"/>
                    <a:pt x="10820400" y="136525"/>
                  </a:cubicBezTo>
                  <a:lnTo>
                    <a:pt x="10814050" y="136525"/>
                  </a:lnTo>
                  <a:lnTo>
                    <a:pt x="10820400" y="136525"/>
                  </a:lnTo>
                  <a:lnTo>
                    <a:pt x="10820400" y="2878836"/>
                  </a:lnTo>
                  <a:lnTo>
                    <a:pt x="10814050" y="2878836"/>
                  </a:lnTo>
                  <a:lnTo>
                    <a:pt x="10820400" y="2878836"/>
                  </a:lnTo>
                  <a:cubicBezTo>
                    <a:pt x="10820400" y="2954274"/>
                    <a:pt x="10759059" y="3015361"/>
                    <a:pt x="10683494" y="3015361"/>
                  </a:cubicBezTo>
                  <a:lnTo>
                    <a:pt x="10683494" y="3009011"/>
                  </a:lnTo>
                  <a:lnTo>
                    <a:pt x="10683494" y="3015361"/>
                  </a:lnTo>
                  <a:lnTo>
                    <a:pt x="136906" y="3015361"/>
                  </a:lnTo>
                  <a:lnTo>
                    <a:pt x="136906" y="3009011"/>
                  </a:lnTo>
                  <a:lnTo>
                    <a:pt x="136906" y="3015361"/>
                  </a:lnTo>
                  <a:cubicBezTo>
                    <a:pt x="61341" y="3015234"/>
                    <a:pt x="0" y="2954147"/>
                    <a:pt x="0" y="2878836"/>
                  </a:cubicBezTo>
                  <a:lnTo>
                    <a:pt x="0" y="136525"/>
                  </a:lnTo>
                  <a:lnTo>
                    <a:pt x="6350" y="136525"/>
                  </a:lnTo>
                  <a:lnTo>
                    <a:pt x="0" y="136525"/>
                  </a:lnTo>
                  <a:moveTo>
                    <a:pt x="12700" y="136525"/>
                  </a:moveTo>
                  <a:lnTo>
                    <a:pt x="12700" y="2878836"/>
                  </a:lnTo>
                  <a:lnTo>
                    <a:pt x="6350" y="2878836"/>
                  </a:lnTo>
                  <a:lnTo>
                    <a:pt x="12700" y="2878836"/>
                  </a:lnTo>
                  <a:cubicBezTo>
                    <a:pt x="12700" y="2947162"/>
                    <a:pt x="68326" y="3002661"/>
                    <a:pt x="136906" y="3002661"/>
                  </a:cubicBezTo>
                  <a:lnTo>
                    <a:pt x="10683494" y="3002661"/>
                  </a:lnTo>
                  <a:cubicBezTo>
                    <a:pt x="10752074" y="3002661"/>
                    <a:pt x="10807700" y="2947162"/>
                    <a:pt x="10807700" y="2878836"/>
                  </a:cubicBezTo>
                  <a:lnTo>
                    <a:pt x="10807700" y="136525"/>
                  </a:lnTo>
                  <a:cubicBezTo>
                    <a:pt x="10807700" y="68199"/>
                    <a:pt x="10752074" y="12700"/>
                    <a:pt x="10683494" y="12700"/>
                  </a:cubicBezTo>
                  <a:lnTo>
                    <a:pt x="136906" y="12700"/>
                  </a:lnTo>
                  <a:lnTo>
                    <a:pt x="136906" y="6350"/>
                  </a:lnTo>
                  <a:lnTo>
                    <a:pt x="136906" y="12700"/>
                  </a:lnTo>
                  <a:cubicBezTo>
                    <a:pt x="68326" y="12700"/>
                    <a:pt x="12700" y="68199"/>
                    <a:pt x="12700" y="136525"/>
                  </a:cubicBezTo>
                  <a:close/>
                </a:path>
              </a:pathLst>
            </a:custGeom>
            <a:solidFill>
              <a:srgbClr val="C8C9CF"/>
            </a:solidFill>
          </p:spPr>
        </p:sp>
      </p:grpSp>
      <p:grpSp>
        <p:nvGrpSpPr>
          <p:cNvPr id="32" name="Group 32"/>
          <p:cNvGrpSpPr/>
          <p:nvPr/>
        </p:nvGrpSpPr>
        <p:grpSpPr>
          <a:xfrm>
            <a:off x="1171280" y="6557220"/>
            <a:ext cx="697116" cy="697116"/>
            <a:chOff x="0" y="0"/>
            <a:chExt cx="929488" cy="929488"/>
          </a:xfrm>
        </p:grpSpPr>
        <p:sp>
          <p:nvSpPr>
            <p:cNvPr id="33" name="Freeform 33" descr="preencoded.png"/>
            <p:cNvSpPr/>
            <p:nvPr/>
          </p:nvSpPr>
          <p:spPr>
            <a:xfrm>
              <a:off x="0" y="0"/>
              <a:ext cx="929513" cy="929513"/>
            </a:xfrm>
            <a:custGeom>
              <a:avLst/>
              <a:gdLst/>
              <a:ahLst/>
              <a:cxnLst/>
              <a:rect l="l" t="t" r="r" b="b"/>
              <a:pathLst>
                <a:path w="929513" h="929513">
                  <a:moveTo>
                    <a:pt x="0" y="0"/>
                  </a:moveTo>
                  <a:lnTo>
                    <a:pt x="929513" y="0"/>
                  </a:lnTo>
                  <a:lnTo>
                    <a:pt x="929513" y="929513"/>
                  </a:lnTo>
                  <a:lnTo>
                    <a:pt x="0" y="92951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2"/>
              <a:stretch>
                <a:fillRect r="2" b="2"/>
              </a:stretch>
            </a:blipFill>
          </p:spPr>
        </p:sp>
      </p:grpSp>
      <p:sp>
        <p:nvSpPr>
          <p:cNvPr id="34" name="Freeform 34" descr="preencoded.png"/>
          <p:cNvSpPr/>
          <p:nvPr/>
        </p:nvSpPr>
        <p:spPr>
          <a:xfrm>
            <a:off x="1362970" y="6748910"/>
            <a:ext cx="313582" cy="313582"/>
          </a:xfrm>
          <a:custGeom>
            <a:avLst/>
            <a:gdLst/>
            <a:ahLst/>
            <a:cxnLst/>
            <a:rect l="l" t="t" r="r" b="b"/>
            <a:pathLst>
              <a:path w="313582" h="313582">
                <a:moveTo>
                  <a:pt x="0" y="0"/>
                </a:moveTo>
                <a:lnTo>
                  <a:pt x="313582" y="0"/>
                </a:lnTo>
                <a:lnTo>
                  <a:pt x="313582" y="313582"/>
                </a:lnTo>
                <a:lnTo>
                  <a:pt x="0" y="313582"/>
                </a:lnTo>
                <a:lnTo>
                  <a:pt x="0" y="0"/>
                </a:lnTo>
                <a:close/>
              </a:path>
            </a:pathLst>
          </a:custGeom>
          <a:blipFill>
            <a:blip r:embed="rId13">
              <a:extLst>
                <a:ext uri="{96DAC541-7B7A-43D3-8B79-37D633B846F1}">
                  <asvg:svgBlip xmlns:asvg="http://schemas.microsoft.com/office/drawing/2016/SVG/main" r:embed="rId14"/>
                </a:ext>
              </a:extLst>
            </a:blip>
            <a:stretch>
              <a:fillRect t="-62119" b="-62122"/>
            </a:stretch>
          </a:blipFill>
        </p:spPr>
      </p:sp>
      <p:sp>
        <p:nvSpPr>
          <p:cNvPr id="35" name="TextBox 35"/>
          <p:cNvSpPr txBox="1"/>
          <p:nvPr/>
        </p:nvSpPr>
        <p:spPr>
          <a:xfrm>
            <a:off x="1171280" y="7443340"/>
            <a:ext cx="2904677" cy="39171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812"/>
              </a:lnSpc>
            </a:pPr>
            <a:r>
              <a:rPr lang="en-US" sz="2249" b="1">
                <a:solidFill>
                  <a:srgbClr val="5B5F71"/>
                </a:solidFill>
                <a:latin typeface="Arimo Bold"/>
                <a:ea typeface="Arimo Bold"/>
                <a:cs typeface="Arimo Bold"/>
                <a:sym typeface="Arimo Bold"/>
              </a:rPr>
              <a:t>Números</a:t>
            </a:r>
          </a:p>
        </p:txBody>
      </p:sp>
      <p:sp>
        <p:nvSpPr>
          <p:cNvPr id="36" name="TextBox 36"/>
          <p:cNvSpPr txBox="1"/>
          <p:nvPr/>
        </p:nvSpPr>
        <p:spPr>
          <a:xfrm>
            <a:off x="1171280" y="7879852"/>
            <a:ext cx="7622086" cy="44558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812"/>
              </a:lnSpc>
            </a:pPr>
            <a:r>
              <a:rPr lang="en-US" sz="1812">
                <a:solidFill>
                  <a:srgbClr val="5B5F71"/>
                </a:solidFill>
                <a:latin typeface="Arimo"/>
                <a:ea typeface="Arimo"/>
                <a:cs typeface="Arimo"/>
                <a:sym typeface="Arimo"/>
              </a:rPr>
              <a:t>Constantes numéricas enteras o de punto flotante</a:t>
            </a:r>
          </a:p>
        </p:txBody>
      </p:sp>
      <p:grpSp>
        <p:nvGrpSpPr>
          <p:cNvPr id="37" name="Group 37"/>
          <p:cNvGrpSpPr/>
          <p:nvPr/>
        </p:nvGrpSpPr>
        <p:grpSpPr>
          <a:xfrm>
            <a:off x="9248032" y="6310608"/>
            <a:ext cx="8115300" cy="2261445"/>
            <a:chOff x="0" y="0"/>
            <a:chExt cx="10820400" cy="3015259"/>
          </a:xfrm>
        </p:grpSpPr>
        <p:sp>
          <p:nvSpPr>
            <p:cNvPr id="38" name="Freeform 38"/>
            <p:cNvSpPr/>
            <p:nvPr/>
          </p:nvSpPr>
          <p:spPr>
            <a:xfrm>
              <a:off x="6350" y="6350"/>
              <a:ext cx="10807700" cy="3002661"/>
            </a:xfrm>
            <a:custGeom>
              <a:avLst/>
              <a:gdLst/>
              <a:ahLst/>
              <a:cxnLst/>
              <a:rect l="l" t="t" r="r" b="b"/>
              <a:pathLst>
                <a:path w="10807700" h="3002661">
                  <a:moveTo>
                    <a:pt x="0" y="130175"/>
                  </a:moveTo>
                  <a:cubicBezTo>
                    <a:pt x="0" y="58293"/>
                    <a:pt x="58420" y="0"/>
                    <a:pt x="130556" y="0"/>
                  </a:cubicBezTo>
                  <a:lnTo>
                    <a:pt x="10677144" y="0"/>
                  </a:lnTo>
                  <a:cubicBezTo>
                    <a:pt x="10749280" y="0"/>
                    <a:pt x="10807700" y="58293"/>
                    <a:pt x="10807700" y="130175"/>
                  </a:cubicBezTo>
                  <a:lnTo>
                    <a:pt x="10807700" y="2872486"/>
                  </a:lnTo>
                  <a:cubicBezTo>
                    <a:pt x="10807700" y="2944368"/>
                    <a:pt x="10749280" y="3002661"/>
                    <a:pt x="10677144" y="3002661"/>
                  </a:cubicBezTo>
                  <a:lnTo>
                    <a:pt x="130556" y="3002661"/>
                  </a:lnTo>
                  <a:cubicBezTo>
                    <a:pt x="58420" y="3002534"/>
                    <a:pt x="0" y="2944241"/>
                    <a:pt x="0" y="2872486"/>
                  </a:cubicBezTo>
                  <a:close/>
                </a:path>
              </a:pathLst>
            </a:custGeom>
            <a:solidFill>
              <a:srgbClr val="E2E3E9"/>
            </a:solidFill>
          </p:spPr>
        </p:sp>
        <p:sp>
          <p:nvSpPr>
            <p:cNvPr id="39" name="Freeform 39"/>
            <p:cNvSpPr/>
            <p:nvPr/>
          </p:nvSpPr>
          <p:spPr>
            <a:xfrm>
              <a:off x="0" y="0"/>
              <a:ext cx="10820400" cy="3015361"/>
            </a:xfrm>
            <a:custGeom>
              <a:avLst/>
              <a:gdLst/>
              <a:ahLst/>
              <a:cxnLst/>
              <a:rect l="l" t="t" r="r" b="b"/>
              <a:pathLst>
                <a:path w="10820400" h="3015361">
                  <a:moveTo>
                    <a:pt x="0" y="136525"/>
                  </a:moveTo>
                  <a:cubicBezTo>
                    <a:pt x="0" y="61087"/>
                    <a:pt x="61341" y="0"/>
                    <a:pt x="136906" y="0"/>
                  </a:cubicBezTo>
                  <a:lnTo>
                    <a:pt x="10683494" y="0"/>
                  </a:lnTo>
                  <a:lnTo>
                    <a:pt x="10683494" y="6350"/>
                  </a:lnTo>
                  <a:lnTo>
                    <a:pt x="10683494" y="0"/>
                  </a:lnTo>
                  <a:cubicBezTo>
                    <a:pt x="10759059" y="0"/>
                    <a:pt x="10820400" y="61087"/>
                    <a:pt x="10820400" y="136525"/>
                  </a:cubicBezTo>
                  <a:lnTo>
                    <a:pt x="10814050" y="136525"/>
                  </a:lnTo>
                  <a:lnTo>
                    <a:pt x="10820400" y="136525"/>
                  </a:lnTo>
                  <a:lnTo>
                    <a:pt x="10820400" y="2878836"/>
                  </a:lnTo>
                  <a:lnTo>
                    <a:pt x="10814050" y="2878836"/>
                  </a:lnTo>
                  <a:lnTo>
                    <a:pt x="10820400" y="2878836"/>
                  </a:lnTo>
                  <a:cubicBezTo>
                    <a:pt x="10820400" y="2954274"/>
                    <a:pt x="10759059" y="3015361"/>
                    <a:pt x="10683494" y="3015361"/>
                  </a:cubicBezTo>
                  <a:lnTo>
                    <a:pt x="10683494" y="3009011"/>
                  </a:lnTo>
                  <a:lnTo>
                    <a:pt x="10683494" y="3015361"/>
                  </a:lnTo>
                  <a:lnTo>
                    <a:pt x="136906" y="3015361"/>
                  </a:lnTo>
                  <a:lnTo>
                    <a:pt x="136906" y="3009011"/>
                  </a:lnTo>
                  <a:lnTo>
                    <a:pt x="136906" y="3015361"/>
                  </a:lnTo>
                  <a:cubicBezTo>
                    <a:pt x="61341" y="3015234"/>
                    <a:pt x="0" y="2954147"/>
                    <a:pt x="0" y="2878836"/>
                  </a:cubicBezTo>
                  <a:lnTo>
                    <a:pt x="0" y="136525"/>
                  </a:lnTo>
                  <a:lnTo>
                    <a:pt x="6350" y="136525"/>
                  </a:lnTo>
                  <a:lnTo>
                    <a:pt x="0" y="136525"/>
                  </a:lnTo>
                  <a:moveTo>
                    <a:pt x="12700" y="136525"/>
                  </a:moveTo>
                  <a:lnTo>
                    <a:pt x="12700" y="2878836"/>
                  </a:lnTo>
                  <a:lnTo>
                    <a:pt x="6350" y="2878836"/>
                  </a:lnTo>
                  <a:lnTo>
                    <a:pt x="12700" y="2878836"/>
                  </a:lnTo>
                  <a:cubicBezTo>
                    <a:pt x="12700" y="2947162"/>
                    <a:pt x="68326" y="3002661"/>
                    <a:pt x="136906" y="3002661"/>
                  </a:cubicBezTo>
                  <a:lnTo>
                    <a:pt x="10683494" y="3002661"/>
                  </a:lnTo>
                  <a:cubicBezTo>
                    <a:pt x="10752074" y="3002661"/>
                    <a:pt x="10807700" y="2947162"/>
                    <a:pt x="10807700" y="2878836"/>
                  </a:cubicBezTo>
                  <a:lnTo>
                    <a:pt x="10807700" y="136525"/>
                  </a:lnTo>
                  <a:cubicBezTo>
                    <a:pt x="10807700" y="68199"/>
                    <a:pt x="10752074" y="12700"/>
                    <a:pt x="10683494" y="12700"/>
                  </a:cubicBezTo>
                  <a:lnTo>
                    <a:pt x="136906" y="12700"/>
                  </a:lnTo>
                  <a:lnTo>
                    <a:pt x="136906" y="6350"/>
                  </a:lnTo>
                  <a:lnTo>
                    <a:pt x="136906" y="12700"/>
                  </a:lnTo>
                  <a:cubicBezTo>
                    <a:pt x="68326" y="12700"/>
                    <a:pt x="12700" y="68199"/>
                    <a:pt x="12700" y="136525"/>
                  </a:cubicBezTo>
                  <a:close/>
                </a:path>
              </a:pathLst>
            </a:custGeom>
            <a:solidFill>
              <a:srgbClr val="C8C9CF"/>
            </a:solidFill>
          </p:spPr>
        </p:sp>
      </p:grpSp>
      <p:grpSp>
        <p:nvGrpSpPr>
          <p:cNvPr id="40" name="Group 40"/>
          <p:cNvGrpSpPr/>
          <p:nvPr/>
        </p:nvGrpSpPr>
        <p:grpSpPr>
          <a:xfrm>
            <a:off x="9494634" y="6557220"/>
            <a:ext cx="697116" cy="697116"/>
            <a:chOff x="0" y="0"/>
            <a:chExt cx="929488" cy="929488"/>
          </a:xfrm>
        </p:grpSpPr>
        <p:sp>
          <p:nvSpPr>
            <p:cNvPr id="41" name="Freeform 41" descr="preencoded.png"/>
            <p:cNvSpPr/>
            <p:nvPr/>
          </p:nvSpPr>
          <p:spPr>
            <a:xfrm>
              <a:off x="0" y="0"/>
              <a:ext cx="929513" cy="929513"/>
            </a:xfrm>
            <a:custGeom>
              <a:avLst/>
              <a:gdLst/>
              <a:ahLst/>
              <a:cxnLst/>
              <a:rect l="l" t="t" r="r" b="b"/>
              <a:pathLst>
                <a:path w="929513" h="929513">
                  <a:moveTo>
                    <a:pt x="0" y="0"/>
                  </a:moveTo>
                  <a:lnTo>
                    <a:pt x="929513" y="0"/>
                  </a:lnTo>
                  <a:lnTo>
                    <a:pt x="929513" y="929513"/>
                  </a:lnTo>
                  <a:lnTo>
                    <a:pt x="0" y="92951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5"/>
              <a:stretch>
                <a:fillRect r="2" b="2"/>
              </a:stretch>
            </a:blipFill>
          </p:spPr>
        </p:sp>
      </p:grpSp>
      <p:sp>
        <p:nvSpPr>
          <p:cNvPr id="42" name="Freeform 42" descr="preencoded.png"/>
          <p:cNvSpPr/>
          <p:nvPr/>
        </p:nvSpPr>
        <p:spPr>
          <a:xfrm>
            <a:off x="9686334" y="6748910"/>
            <a:ext cx="313582" cy="313582"/>
          </a:xfrm>
          <a:custGeom>
            <a:avLst/>
            <a:gdLst/>
            <a:ahLst/>
            <a:cxnLst/>
            <a:rect l="l" t="t" r="r" b="b"/>
            <a:pathLst>
              <a:path w="313582" h="313582">
                <a:moveTo>
                  <a:pt x="0" y="0"/>
                </a:moveTo>
                <a:lnTo>
                  <a:pt x="313582" y="0"/>
                </a:lnTo>
                <a:lnTo>
                  <a:pt x="313582" y="313582"/>
                </a:lnTo>
                <a:lnTo>
                  <a:pt x="0" y="313582"/>
                </a:lnTo>
                <a:lnTo>
                  <a:pt x="0" y="0"/>
                </a:lnTo>
                <a:close/>
              </a:path>
            </a:pathLst>
          </a:custGeom>
          <a:blipFill>
            <a:blip r:embed="rId16">
              <a:extLst>
                <a:ext uri="{96DAC541-7B7A-43D3-8B79-37D633B846F1}">
                  <asvg:svgBlip xmlns:asvg="http://schemas.microsoft.com/office/drawing/2016/SVG/main" r:embed="rId17"/>
                </a:ext>
              </a:extLst>
            </a:blip>
            <a:stretch>
              <a:fillRect t="-87877" b="-87880"/>
            </a:stretch>
          </a:blipFill>
        </p:spPr>
      </p:sp>
      <p:sp>
        <p:nvSpPr>
          <p:cNvPr id="43" name="TextBox 43"/>
          <p:cNvSpPr txBox="1"/>
          <p:nvPr/>
        </p:nvSpPr>
        <p:spPr>
          <a:xfrm>
            <a:off x="9494634" y="7443340"/>
            <a:ext cx="2904677" cy="39171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812"/>
              </a:lnSpc>
            </a:pPr>
            <a:r>
              <a:rPr lang="en-US" sz="2249" b="1">
                <a:solidFill>
                  <a:srgbClr val="5B5F71"/>
                </a:solidFill>
                <a:latin typeface="Arimo Bold"/>
                <a:ea typeface="Arimo Bold"/>
                <a:cs typeface="Arimo Bold"/>
                <a:sym typeface="Arimo Bold"/>
              </a:rPr>
              <a:t>Delimitadores</a:t>
            </a:r>
          </a:p>
        </p:txBody>
      </p:sp>
      <p:sp>
        <p:nvSpPr>
          <p:cNvPr id="44" name="TextBox 44"/>
          <p:cNvSpPr txBox="1"/>
          <p:nvPr/>
        </p:nvSpPr>
        <p:spPr>
          <a:xfrm>
            <a:off x="9494634" y="7879852"/>
            <a:ext cx="7622086" cy="44558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812"/>
              </a:lnSpc>
            </a:pPr>
            <a:r>
              <a:rPr lang="en-US" sz="1812">
                <a:solidFill>
                  <a:srgbClr val="5B5F71"/>
                </a:solidFill>
                <a:latin typeface="Arimo"/>
                <a:ea typeface="Arimo"/>
                <a:cs typeface="Arimo"/>
                <a:sym typeface="Arimo"/>
              </a:rPr>
              <a:t>Caracteres como ;, {, }, (, ) para estructura</a:t>
            </a:r>
          </a:p>
        </p:txBody>
      </p:sp>
      <p:sp>
        <p:nvSpPr>
          <p:cNvPr id="45" name="TextBox 45"/>
          <p:cNvSpPr txBox="1"/>
          <p:nvPr/>
        </p:nvSpPr>
        <p:spPr>
          <a:xfrm>
            <a:off x="929430" y="8726386"/>
            <a:ext cx="16429139" cy="80545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812"/>
              </a:lnSpc>
            </a:pPr>
            <a:r>
              <a:rPr lang="en-US" sz="1812">
                <a:solidFill>
                  <a:srgbClr val="5B5F71"/>
                </a:solidFill>
                <a:latin typeface="Arimo"/>
                <a:ea typeface="Arimo"/>
                <a:cs typeface="Arimo"/>
                <a:sym typeface="Arimo"/>
              </a:rPr>
              <a:t>El analizador léxico trabaja leyendo el código carácter por carácter y agrupando los símbolos que forman cada token. Posteriormente, estos tokens son enviados al analizador sintáctico, que se encarga de verificar la estructura del programa.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2"/>
          <p:cNvSpPr txBox="1"/>
          <p:nvPr/>
        </p:nvSpPr>
        <p:spPr>
          <a:xfrm>
            <a:off x="992238" y="1173661"/>
            <a:ext cx="9142362" cy="728982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6062"/>
              </a:lnSpc>
            </a:pPr>
            <a:r>
              <a:rPr lang="en-US" sz="4875" b="1" dirty="0">
                <a:solidFill>
                  <a:srgbClr val="505468"/>
                </a:solidFill>
                <a:latin typeface="Arimo Bold"/>
                <a:ea typeface="Arimo Bold"/>
                <a:cs typeface="Arimo Bold"/>
                <a:sym typeface="Arimo Bold"/>
              </a:rPr>
              <a:t>El </a:t>
            </a:r>
            <a:r>
              <a:rPr lang="en-US" sz="4875" b="1" dirty="0" err="1">
                <a:solidFill>
                  <a:srgbClr val="505468"/>
                </a:solidFill>
                <a:latin typeface="Arimo Bold"/>
                <a:ea typeface="Arimo Bold"/>
                <a:cs typeface="Arimo Bold"/>
                <a:sym typeface="Arimo Bold"/>
              </a:rPr>
              <a:t>Concepto</a:t>
            </a:r>
            <a:r>
              <a:rPr lang="en-US" sz="4875" b="1" dirty="0">
                <a:solidFill>
                  <a:srgbClr val="505468"/>
                </a:solidFill>
                <a:latin typeface="Arimo Bold"/>
                <a:ea typeface="Arimo Bold"/>
                <a:cs typeface="Arimo Bold"/>
                <a:sym typeface="Arimo Bold"/>
              </a:rPr>
              <a:t> de </a:t>
            </a:r>
            <a:r>
              <a:rPr lang="en-US" sz="4875" b="1" dirty="0" err="1">
                <a:solidFill>
                  <a:srgbClr val="505468"/>
                </a:solidFill>
                <a:latin typeface="Arimo Bold"/>
                <a:ea typeface="Arimo Bold"/>
                <a:cs typeface="Arimo Bold"/>
                <a:sym typeface="Arimo Bold"/>
              </a:rPr>
              <a:t>Lexema</a:t>
            </a:r>
            <a:endParaRPr lang="en-US" sz="4875" b="1" dirty="0">
              <a:solidFill>
                <a:srgbClr val="505468"/>
              </a:solidFill>
              <a:latin typeface="Arimo Bold"/>
              <a:ea typeface="Arimo Bold"/>
              <a:cs typeface="Arimo Bold"/>
              <a:sym typeface="Arimo Bold"/>
            </a:endParaRPr>
          </a:p>
        </p:txBody>
      </p:sp>
      <p:sp>
        <p:nvSpPr>
          <p:cNvPr id="3" name="TextBox 3"/>
          <p:cNvSpPr txBox="1"/>
          <p:nvPr/>
        </p:nvSpPr>
        <p:spPr>
          <a:xfrm>
            <a:off x="1000382" y="2439295"/>
            <a:ext cx="15828647" cy="211859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5184"/>
              </a:lnSpc>
            </a:pPr>
            <a:r>
              <a:rPr lang="en-US" sz="3214">
                <a:solidFill>
                  <a:srgbClr val="5B5F71"/>
                </a:solidFill>
                <a:latin typeface="Arimo"/>
                <a:ea typeface="Arimo"/>
                <a:cs typeface="Arimo"/>
                <a:sym typeface="Arimo"/>
              </a:rPr>
              <a:t>Los tokens generalmente están formados por </a:t>
            </a:r>
            <a:r>
              <a:rPr lang="en-US" sz="3214" b="1">
                <a:solidFill>
                  <a:srgbClr val="5B5F71"/>
                </a:solidFill>
                <a:latin typeface="Arimo Bold"/>
                <a:ea typeface="Arimo Bold"/>
                <a:cs typeface="Arimo Bold"/>
                <a:sym typeface="Arimo Bold"/>
              </a:rPr>
              <a:t>lexemas</a:t>
            </a:r>
            <a:r>
              <a:rPr lang="en-US" sz="3214">
                <a:solidFill>
                  <a:srgbClr val="5B5F71"/>
                </a:solidFill>
                <a:latin typeface="Arimo"/>
                <a:ea typeface="Arimo"/>
                <a:cs typeface="Arimo"/>
                <a:sym typeface="Arimo"/>
              </a:rPr>
              <a:t>, que son las secuencias reales de caracteres que aparecen en el código fuente. Por ejemplo, en la instrucción:</a:t>
            </a:r>
          </a:p>
        </p:txBody>
      </p:sp>
      <p:grpSp>
        <p:nvGrpSpPr>
          <p:cNvPr id="4" name="Group 4"/>
          <p:cNvGrpSpPr/>
          <p:nvPr/>
        </p:nvGrpSpPr>
        <p:grpSpPr>
          <a:xfrm>
            <a:off x="1000382" y="5020872"/>
            <a:ext cx="15828647" cy="1275897"/>
            <a:chOff x="0" y="0"/>
            <a:chExt cx="12720041" cy="1025322"/>
          </a:xfrm>
        </p:grpSpPr>
        <p:sp>
          <p:nvSpPr>
            <p:cNvPr id="5" name="Freeform 5"/>
            <p:cNvSpPr/>
            <p:nvPr/>
          </p:nvSpPr>
          <p:spPr>
            <a:xfrm>
              <a:off x="0" y="0"/>
              <a:ext cx="12720066" cy="1025271"/>
            </a:xfrm>
            <a:custGeom>
              <a:avLst/>
              <a:gdLst/>
              <a:ahLst/>
              <a:cxnLst/>
              <a:rect l="l" t="t" r="r" b="b"/>
              <a:pathLst>
                <a:path w="12720066" h="1025271">
                  <a:moveTo>
                    <a:pt x="0" y="138938"/>
                  </a:moveTo>
                  <a:cubicBezTo>
                    <a:pt x="0" y="62230"/>
                    <a:pt x="62230" y="0"/>
                    <a:pt x="138938" y="0"/>
                  </a:cubicBezTo>
                  <a:lnTo>
                    <a:pt x="12581128" y="0"/>
                  </a:lnTo>
                  <a:cubicBezTo>
                    <a:pt x="12657836" y="0"/>
                    <a:pt x="12720066" y="62230"/>
                    <a:pt x="12720066" y="138938"/>
                  </a:cubicBezTo>
                  <a:lnTo>
                    <a:pt x="12720066" y="886333"/>
                  </a:lnTo>
                  <a:cubicBezTo>
                    <a:pt x="12720066" y="963041"/>
                    <a:pt x="12657836" y="1025271"/>
                    <a:pt x="12581128" y="1025271"/>
                  </a:cubicBezTo>
                  <a:lnTo>
                    <a:pt x="138938" y="1025271"/>
                  </a:lnTo>
                  <a:cubicBezTo>
                    <a:pt x="62230" y="1025271"/>
                    <a:pt x="0" y="963168"/>
                    <a:pt x="0" y="886333"/>
                  </a:cubicBezTo>
                  <a:close/>
                </a:path>
              </a:pathLst>
            </a:custGeom>
            <a:solidFill>
              <a:srgbClr val="F2F2F2"/>
            </a:solidFill>
          </p:spPr>
        </p:sp>
      </p:grpSp>
      <p:grpSp>
        <p:nvGrpSpPr>
          <p:cNvPr id="6" name="Group 6"/>
          <p:cNvGrpSpPr/>
          <p:nvPr/>
        </p:nvGrpSpPr>
        <p:grpSpPr>
          <a:xfrm>
            <a:off x="979884" y="5020872"/>
            <a:ext cx="15869642" cy="1275897"/>
            <a:chOff x="0" y="0"/>
            <a:chExt cx="12752984" cy="1025322"/>
          </a:xfrm>
        </p:grpSpPr>
        <p:sp>
          <p:nvSpPr>
            <p:cNvPr id="7" name="Freeform 7"/>
            <p:cNvSpPr/>
            <p:nvPr/>
          </p:nvSpPr>
          <p:spPr>
            <a:xfrm>
              <a:off x="0" y="0"/>
              <a:ext cx="12753086" cy="1025398"/>
            </a:xfrm>
            <a:custGeom>
              <a:avLst/>
              <a:gdLst/>
              <a:ahLst/>
              <a:cxnLst/>
              <a:rect l="l" t="t" r="r" b="b"/>
              <a:pathLst>
                <a:path w="12753086" h="1025398">
                  <a:moveTo>
                    <a:pt x="0" y="49657"/>
                  </a:moveTo>
                  <a:cubicBezTo>
                    <a:pt x="0" y="22225"/>
                    <a:pt x="22225" y="0"/>
                    <a:pt x="49657" y="0"/>
                  </a:cubicBezTo>
                  <a:lnTo>
                    <a:pt x="12703429" y="0"/>
                  </a:lnTo>
                  <a:cubicBezTo>
                    <a:pt x="12730861" y="0"/>
                    <a:pt x="12753086" y="22225"/>
                    <a:pt x="12753086" y="49657"/>
                  </a:cubicBezTo>
                  <a:lnTo>
                    <a:pt x="12753086" y="975741"/>
                  </a:lnTo>
                  <a:cubicBezTo>
                    <a:pt x="12753086" y="1003173"/>
                    <a:pt x="12730861" y="1025398"/>
                    <a:pt x="12703429" y="1025398"/>
                  </a:cubicBezTo>
                  <a:lnTo>
                    <a:pt x="49657" y="1025398"/>
                  </a:lnTo>
                  <a:cubicBezTo>
                    <a:pt x="22225" y="1025271"/>
                    <a:pt x="0" y="1003173"/>
                    <a:pt x="0" y="975741"/>
                  </a:cubicBezTo>
                  <a:close/>
                </a:path>
              </a:pathLst>
            </a:custGeom>
            <a:solidFill>
              <a:srgbClr val="F2F2F2"/>
            </a:solidFill>
          </p:spPr>
        </p:sp>
      </p:grpSp>
      <p:sp>
        <p:nvSpPr>
          <p:cNvPr id="8" name="TextBox 8"/>
          <p:cNvSpPr txBox="1"/>
          <p:nvPr/>
        </p:nvSpPr>
        <p:spPr>
          <a:xfrm>
            <a:off x="1391271" y="5139050"/>
            <a:ext cx="15046854" cy="84907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5184"/>
              </a:lnSpc>
            </a:pPr>
            <a:r>
              <a:rPr lang="en-US" sz="3214">
                <a:solidFill>
                  <a:srgbClr val="5B5F71"/>
                </a:solidFill>
                <a:latin typeface="Consolas"/>
                <a:ea typeface="Consolas"/>
                <a:cs typeface="Consolas"/>
                <a:sym typeface="Consolas"/>
              </a:rPr>
              <a:t>int a = 10 + 5;</a:t>
            </a:r>
          </a:p>
        </p:txBody>
      </p:sp>
      <p:sp>
        <p:nvSpPr>
          <p:cNvPr id="9" name="TextBox 9"/>
          <p:cNvSpPr txBox="1"/>
          <p:nvPr/>
        </p:nvSpPr>
        <p:spPr>
          <a:xfrm>
            <a:off x="1000382" y="6616911"/>
            <a:ext cx="15828647" cy="149162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5184"/>
              </a:lnSpc>
            </a:pPr>
            <a:r>
              <a:rPr lang="en-US" sz="3214">
                <a:solidFill>
                  <a:srgbClr val="5B5F71"/>
                </a:solidFill>
                <a:latin typeface="Arimo"/>
                <a:ea typeface="Arimo"/>
                <a:cs typeface="Arimo"/>
                <a:sym typeface="Arimo"/>
              </a:rPr>
              <a:t>Los lexemas serían: int, a, =, 10, +, 5 y ;. Cada uno de estos elementos pertenece a una categoría específica del lenguaje.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2"/>
          <p:cNvSpPr txBox="1"/>
          <p:nvPr/>
        </p:nvSpPr>
        <p:spPr>
          <a:xfrm>
            <a:off x="992238" y="1572968"/>
            <a:ext cx="10361562" cy="728982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6062"/>
              </a:lnSpc>
            </a:pPr>
            <a:r>
              <a:rPr lang="en-US" sz="4875" b="1" dirty="0">
                <a:solidFill>
                  <a:srgbClr val="505468"/>
                </a:solidFill>
                <a:latin typeface="Arimo Bold"/>
                <a:ea typeface="Arimo Bold"/>
                <a:cs typeface="Arimo Bold"/>
                <a:sym typeface="Arimo Bold"/>
              </a:rPr>
              <a:t>Desarrollo de la </a:t>
            </a:r>
            <a:r>
              <a:rPr lang="en-US" sz="4875" b="1" dirty="0" err="1">
                <a:solidFill>
                  <a:srgbClr val="505468"/>
                </a:solidFill>
                <a:latin typeface="Arimo Bold"/>
                <a:ea typeface="Arimo Bold"/>
                <a:cs typeface="Arimo Bold"/>
                <a:sym typeface="Arimo Bold"/>
              </a:rPr>
              <a:t>Práctica</a:t>
            </a:r>
            <a:endParaRPr lang="en-US" sz="4875" b="1" dirty="0">
              <a:solidFill>
                <a:srgbClr val="505468"/>
              </a:solidFill>
              <a:latin typeface="Arimo Bold"/>
              <a:ea typeface="Arimo Bold"/>
              <a:cs typeface="Arimo Bold"/>
              <a:sym typeface="Arimo Bold"/>
            </a:endParaRPr>
          </a:p>
        </p:txBody>
      </p:sp>
      <p:sp>
        <p:nvSpPr>
          <p:cNvPr id="3" name="TextBox 3"/>
          <p:cNvSpPr txBox="1"/>
          <p:nvPr/>
        </p:nvSpPr>
        <p:spPr>
          <a:xfrm>
            <a:off x="992238" y="2653455"/>
            <a:ext cx="16267062" cy="90672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688"/>
              </a:lnSpc>
            </a:pPr>
            <a:r>
              <a:rPr lang="en-US" sz="2286">
                <a:solidFill>
                  <a:srgbClr val="5B5F71"/>
                </a:solidFill>
                <a:latin typeface="Arimo"/>
                <a:ea typeface="Arimo"/>
                <a:cs typeface="Arimo"/>
                <a:sym typeface="Arimo"/>
              </a:rPr>
              <a:t>Para realizar esta práctica se utilizó el lenguaje </a:t>
            </a:r>
            <a:r>
              <a:rPr lang="en-US" sz="2286" b="1">
                <a:solidFill>
                  <a:srgbClr val="5B5F71"/>
                </a:solidFill>
                <a:latin typeface="Arimo Bold"/>
                <a:ea typeface="Arimo Bold"/>
                <a:cs typeface="Arimo Bold"/>
                <a:sym typeface="Arimo Bold"/>
              </a:rPr>
              <a:t>Java</a:t>
            </a:r>
            <a:r>
              <a:rPr lang="en-US" sz="2286">
                <a:solidFill>
                  <a:srgbClr val="5B5F71"/>
                </a:solidFill>
                <a:latin typeface="Arimo"/>
                <a:ea typeface="Arimo"/>
                <a:cs typeface="Arimo"/>
                <a:sym typeface="Arimo"/>
              </a:rPr>
              <a:t> junto con la librería </a:t>
            </a:r>
            <a:r>
              <a:rPr lang="en-US" sz="2286" b="1">
                <a:solidFill>
                  <a:srgbClr val="5B5F71"/>
                </a:solidFill>
                <a:latin typeface="Arimo Bold"/>
                <a:ea typeface="Arimo Bold"/>
                <a:cs typeface="Arimo Bold"/>
                <a:sym typeface="Arimo Bold"/>
              </a:rPr>
              <a:t>JavaFX</a:t>
            </a:r>
            <a:r>
              <a:rPr lang="en-US" sz="2286">
                <a:solidFill>
                  <a:srgbClr val="5B5F71"/>
                </a:solidFill>
                <a:latin typeface="Arimo"/>
                <a:ea typeface="Arimo"/>
                <a:cs typeface="Arimo"/>
                <a:sym typeface="Arimo"/>
              </a:rPr>
              <a:t>, que permite crear interfaces gráficas de usuario.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1028700" y="4044685"/>
            <a:ext cx="247945" cy="35471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125"/>
              </a:lnSpc>
            </a:pPr>
            <a:r>
              <a:rPr lang="en-US" sz="1937" dirty="0">
                <a:solidFill>
                  <a:srgbClr val="5B5F71"/>
                </a:solidFill>
                <a:latin typeface="Arimo"/>
                <a:ea typeface="Arimo"/>
                <a:cs typeface="Arimo"/>
                <a:sym typeface="Arimo"/>
              </a:rPr>
              <a:t>1</a:t>
            </a:r>
          </a:p>
        </p:txBody>
      </p:sp>
      <p:grpSp>
        <p:nvGrpSpPr>
          <p:cNvPr id="5" name="Group 5"/>
          <p:cNvGrpSpPr/>
          <p:nvPr/>
        </p:nvGrpSpPr>
        <p:grpSpPr>
          <a:xfrm>
            <a:off x="992238" y="4488327"/>
            <a:ext cx="7920017" cy="33727"/>
            <a:chOff x="0" y="0"/>
            <a:chExt cx="8946905" cy="38100"/>
          </a:xfrm>
        </p:grpSpPr>
        <p:sp>
          <p:nvSpPr>
            <p:cNvPr id="6" name="Freeform 6" descr="preencoded.png"/>
            <p:cNvSpPr/>
            <p:nvPr/>
          </p:nvSpPr>
          <p:spPr>
            <a:xfrm>
              <a:off x="0" y="0"/>
              <a:ext cx="8946868" cy="38100"/>
            </a:xfrm>
            <a:custGeom>
              <a:avLst/>
              <a:gdLst/>
              <a:ahLst/>
              <a:cxnLst/>
              <a:rect l="l" t="t" r="r" b="b"/>
              <a:pathLst>
                <a:path w="8946868" h="38100">
                  <a:moveTo>
                    <a:pt x="0" y="0"/>
                  </a:moveTo>
                  <a:lnTo>
                    <a:pt x="8946868" y="0"/>
                  </a:lnTo>
                  <a:lnTo>
                    <a:pt x="8946868" y="38100"/>
                  </a:lnTo>
                  <a:lnTo>
                    <a:pt x="0" y="381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 t="-22927" b="-22927"/>
              </a:stretch>
            </a:blipFill>
          </p:spPr>
        </p:sp>
      </p:grpSp>
      <p:sp>
        <p:nvSpPr>
          <p:cNvPr id="7" name="TextBox 7"/>
          <p:cNvSpPr txBox="1"/>
          <p:nvPr/>
        </p:nvSpPr>
        <p:spPr>
          <a:xfrm>
            <a:off x="992238" y="4430895"/>
            <a:ext cx="7110598" cy="44625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540"/>
              </a:lnSpc>
            </a:pPr>
            <a:r>
              <a:rPr lang="en-US" sz="2876" b="1">
                <a:solidFill>
                  <a:srgbClr val="5B5F71"/>
                </a:solidFill>
                <a:latin typeface="Arimo Bold"/>
                <a:ea typeface="Arimo Bold"/>
                <a:cs typeface="Arimo Bold"/>
                <a:sym typeface="Arimo Bold"/>
              </a:rPr>
              <a:t>Descarga del SDK de JavaFX</a:t>
            </a:r>
          </a:p>
        </p:txBody>
      </p:sp>
      <p:sp>
        <p:nvSpPr>
          <p:cNvPr id="8" name="TextBox 8"/>
          <p:cNvSpPr txBox="1"/>
          <p:nvPr/>
        </p:nvSpPr>
        <p:spPr>
          <a:xfrm>
            <a:off x="992238" y="4978429"/>
            <a:ext cx="7920017" cy="90672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688"/>
              </a:lnSpc>
            </a:pPr>
            <a:r>
              <a:rPr lang="en-US" sz="2286">
                <a:solidFill>
                  <a:srgbClr val="5B5F71"/>
                </a:solidFill>
                <a:latin typeface="Arimo"/>
                <a:ea typeface="Arimo"/>
                <a:cs typeface="Arimo"/>
                <a:sym typeface="Arimo"/>
              </a:rPr>
              <a:t>Se descargó el SDK desde </a:t>
            </a:r>
            <a:r>
              <a:rPr lang="en-US" sz="2286" u="sng">
                <a:solidFill>
                  <a:srgbClr val="505468"/>
                </a:solidFill>
                <a:latin typeface="Arimo"/>
                <a:ea typeface="Arimo"/>
                <a:cs typeface="Arimo"/>
                <a:sym typeface="Arimo"/>
                <a:hlinkClick r:id="rId4" tooltip="https://gluonhq.com/products/javafx/"/>
              </a:rPr>
              <a:t>gluonhq.com/products/javafx/</a:t>
            </a:r>
            <a:r>
              <a:rPr lang="en-US" sz="2286">
                <a:solidFill>
                  <a:srgbClr val="5B5F71"/>
                </a:solidFill>
                <a:latin typeface="Arimo"/>
                <a:ea typeface="Arimo"/>
                <a:cs typeface="Arimo"/>
                <a:sym typeface="Arimo"/>
              </a:rPr>
              <a:t>, específicamente la versión JavaFX SDK 21</a:t>
            </a:r>
          </a:p>
        </p:txBody>
      </p:sp>
      <p:sp>
        <p:nvSpPr>
          <p:cNvPr id="9" name="TextBox 9"/>
          <p:cNvSpPr txBox="1"/>
          <p:nvPr/>
        </p:nvSpPr>
        <p:spPr>
          <a:xfrm>
            <a:off x="9339283" y="3919805"/>
            <a:ext cx="427011" cy="42261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688"/>
              </a:lnSpc>
            </a:pPr>
            <a:r>
              <a:rPr lang="en-US" sz="2286" dirty="0">
                <a:solidFill>
                  <a:srgbClr val="5B5F71"/>
                </a:solidFill>
                <a:latin typeface="Arimo"/>
                <a:ea typeface="Arimo"/>
                <a:cs typeface="Arimo"/>
                <a:sym typeface="Arimo"/>
              </a:rPr>
              <a:t>2</a:t>
            </a:r>
          </a:p>
        </p:txBody>
      </p:sp>
      <p:grpSp>
        <p:nvGrpSpPr>
          <p:cNvPr id="10" name="Group 10"/>
          <p:cNvGrpSpPr/>
          <p:nvPr/>
        </p:nvGrpSpPr>
        <p:grpSpPr>
          <a:xfrm>
            <a:off x="9339283" y="4517478"/>
            <a:ext cx="7920017" cy="33727"/>
            <a:chOff x="0" y="0"/>
            <a:chExt cx="8946905" cy="38100"/>
          </a:xfrm>
        </p:grpSpPr>
        <p:sp>
          <p:nvSpPr>
            <p:cNvPr id="11" name="Freeform 11" descr="preencoded.png"/>
            <p:cNvSpPr/>
            <p:nvPr/>
          </p:nvSpPr>
          <p:spPr>
            <a:xfrm>
              <a:off x="0" y="0"/>
              <a:ext cx="8946868" cy="38100"/>
            </a:xfrm>
            <a:custGeom>
              <a:avLst/>
              <a:gdLst/>
              <a:ahLst/>
              <a:cxnLst/>
              <a:rect l="l" t="t" r="r" b="b"/>
              <a:pathLst>
                <a:path w="8946868" h="38100">
                  <a:moveTo>
                    <a:pt x="0" y="0"/>
                  </a:moveTo>
                  <a:lnTo>
                    <a:pt x="8946868" y="0"/>
                  </a:lnTo>
                  <a:lnTo>
                    <a:pt x="8946868" y="38100"/>
                  </a:lnTo>
                  <a:lnTo>
                    <a:pt x="0" y="381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 t="-22927" b="-22927"/>
              </a:stretch>
            </a:blipFill>
          </p:spPr>
        </p:sp>
      </p:grpSp>
      <p:sp>
        <p:nvSpPr>
          <p:cNvPr id="12" name="TextBox 12"/>
          <p:cNvSpPr txBox="1"/>
          <p:nvPr/>
        </p:nvSpPr>
        <p:spPr>
          <a:xfrm>
            <a:off x="9339283" y="4346548"/>
            <a:ext cx="6685113" cy="44625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540"/>
              </a:lnSpc>
            </a:pPr>
            <a:r>
              <a:rPr lang="en-US" sz="2876" b="1">
                <a:solidFill>
                  <a:srgbClr val="5B5F71"/>
                </a:solidFill>
                <a:latin typeface="Arimo Bold"/>
                <a:ea typeface="Arimo Bold"/>
                <a:cs typeface="Arimo Bold"/>
                <a:sym typeface="Arimo Bold"/>
              </a:rPr>
              <a:t>Extracción y configuración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9339283" y="4894082"/>
            <a:ext cx="7920017" cy="90672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688"/>
              </a:lnSpc>
            </a:pPr>
            <a:r>
              <a:rPr lang="en-US" sz="2286">
                <a:solidFill>
                  <a:srgbClr val="5B5F71"/>
                </a:solidFill>
                <a:latin typeface="Arimo"/>
                <a:ea typeface="Arimo"/>
                <a:cs typeface="Arimo"/>
                <a:sym typeface="Arimo"/>
              </a:rPr>
              <a:t>Se extrajo el archivo descargado y se utilizó la carpeta lib para ejecutar aplicaciones JavaFX desde la terminal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28700" y="7061077"/>
            <a:ext cx="247945" cy="35471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125"/>
              </a:lnSpc>
            </a:pPr>
            <a:r>
              <a:rPr lang="en-US" sz="1937" dirty="0">
                <a:solidFill>
                  <a:srgbClr val="5B5F71"/>
                </a:solidFill>
                <a:latin typeface="Arimo"/>
                <a:ea typeface="Arimo"/>
                <a:cs typeface="Arimo"/>
                <a:sym typeface="Arimo"/>
              </a:rPr>
              <a:t>3</a:t>
            </a:r>
          </a:p>
        </p:txBody>
      </p:sp>
      <p:grpSp>
        <p:nvGrpSpPr>
          <p:cNvPr id="15" name="Group 15"/>
          <p:cNvGrpSpPr/>
          <p:nvPr/>
        </p:nvGrpSpPr>
        <p:grpSpPr>
          <a:xfrm>
            <a:off x="1028700" y="7223221"/>
            <a:ext cx="16267062" cy="33727"/>
            <a:chOff x="0" y="0"/>
            <a:chExt cx="18376204" cy="38100"/>
          </a:xfrm>
        </p:grpSpPr>
        <p:sp>
          <p:nvSpPr>
            <p:cNvPr id="16" name="Freeform 16" descr="preencoded.png"/>
            <p:cNvSpPr/>
            <p:nvPr/>
          </p:nvSpPr>
          <p:spPr>
            <a:xfrm>
              <a:off x="0" y="0"/>
              <a:ext cx="18376255" cy="38100"/>
            </a:xfrm>
            <a:custGeom>
              <a:avLst/>
              <a:gdLst/>
              <a:ahLst/>
              <a:cxnLst/>
              <a:rect l="l" t="t" r="r" b="b"/>
              <a:pathLst>
                <a:path w="18376255" h="38100">
                  <a:moveTo>
                    <a:pt x="0" y="0"/>
                  </a:moveTo>
                  <a:lnTo>
                    <a:pt x="18376255" y="0"/>
                  </a:lnTo>
                  <a:lnTo>
                    <a:pt x="18376255" y="38100"/>
                  </a:lnTo>
                  <a:lnTo>
                    <a:pt x="0" y="381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"/>
              <a:stretch>
                <a:fillRect t="-22931" b="-22931"/>
              </a:stretch>
            </a:blipFill>
          </p:spPr>
        </p:sp>
      </p:grpSp>
      <p:sp>
        <p:nvSpPr>
          <p:cNvPr id="17" name="TextBox 17"/>
          <p:cNvSpPr txBox="1"/>
          <p:nvPr/>
        </p:nvSpPr>
        <p:spPr>
          <a:xfrm>
            <a:off x="1028700" y="7447287"/>
            <a:ext cx="8201706" cy="44625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540"/>
              </a:lnSpc>
            </a:pPr>
            <a:r>
              <a:rPr lang="en-US" sz="2876" b="1">
                <a:solidFill>
                  <a:srgbClr val="5B5F71"/>
                </a:solidFill>
                <a:latin typeface="Arimo Bold"/>
                <a:ea typeface="Arimo Bold"/>
                <a:cs typeface="Arimo Bold"/>
                <a:sym typeface="Arimo Bold"/>
              </a:rPr>
              <a:t>Desarrollo en Visual Studio Code</a:t>
            </a:r>
          </a:p>
        </p:txBody>
      </p:sp>
      <p:sp>
        <p:nvSpPr>
          <p:cNvPr id="18" name="TextBox 18"/>
          <p:cNvSpPr txBox="1"/>
          <p:nvPr/>
        </p:nvSpPr>
        <p:spPr>
          <a:xfrm>
            <a:off x="1028700" y="7994821"/>
            <a:ext cx="16267062" cy="44579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688"/>
              </a:lnSpc>
            </a:pPr>
            <a:r>
              <a:rPr lang="en-US" sz="2286">
                <a:solidFill>
                  <a:srgbClr val="5B5F71"/>
                </a:solidFill>
                <a:latin typeface="Arimo"/>
                <a:ea typeface="Arimo"/>
                <a:cs typeface="Arimo"/>
                <a:sym typeface="Arimo"/>
              </a:rPr>
              <a:t>Se creó el archivo AnalizadorLexicoFX.java con el código del programa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992238" y="5078168"/>
            <a:ext cx="4420191" cy="1959769"/>
            <a:chOff x="0" y="0"/>
            <a:chExt cx="5893587" cy="2613025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5893562" cy="2613025"/>
            </a:xfrm>
            <a:custGeom>
              <a:avLst/>
              <a:gdLst/>
              <a:ahLst/>
              <a:cxnLst/>
              <a:rect l="l" t="t" r="r" b="b"/>
              <a:pathLst>
                <a:path w="5893562" h="2613025">
                  <a:moveTo>
                    <a:pt x="0" y="138938"/>
                  </a:moveTo>
                  <a:cubicBezTo>
                    <a:pt x="0" y="62230"/>
                    <a:pt x="62230" y="0"/>
                    <a:pt x="138938" y="0"/>
                  </a:cubicBezTo>
                  <a:lnTo>
                    <a:pt x="5754624" y="0"/>
                  </a:lnTo>
                  <a:cubicBezTo>
                    <a:pt x="5831332" y="0"/>
                    <a:pt x="5893562" y="62230"/>
                    <a:pt x="5893562" y="138938"/>
                  </a:cubicBezTo>
                  <a:lnTo>
                    <a:pt x="5893562" y="2474087"/>
                  </a:lnTo>
                  <a:cubicBezTo>
                    <a:pt x="5893562" y="2550795"/>
                    <a:pt x="5831332" y="2613025"/>
                    <a:pt x="5754624" y="2613025"/>
                  </a:cubicBezTo>
                  <a:lnTo>
                    <a:pt x="138938" y="2613025"/>
                  </a:lnTo>
                  <a:cubicBezTo>
                    <a:pt x="62230" y="2613025"/>
                    <a:pt x="0" y="2550795"/>
                    <a:pt x="0" y="2474087"/>
                  </a:cubicBezTo>
                  <a:close/>
                </a:path>
              </a:pathLst>
            </a:custGeom>
            <a:solidFill>
              <a:srgbClr val="F2F2F2"/>
            </a:solidFill>
          </p:spPr>
        </p:sp>
      </p:grpSp>
      <p:grpSp>
        <p:nvGrpSpPr>
          <p:cNvPr id="4" name="Group 4"/>
          <p:cNvGrpSpPr/>
          <p:nvPr/>
        </p:nvGrpSpPr>
        <p:grpSpPr>
          <a:xfrm>
            <a:off x="979884" y="5078168"/>
            <a:ext cx="4444898" cy="1959769"/>
            <a:chOff x="0" y="0"/>
            <a:chExt cx="5926531" cy="2613025"/>
          </a:xfrm>
        </p:grpSpPr>
        <p:sp>
          <p:nvSpPr>
            <p:cNvPr id="5" name="Freeform 5"/>
            <p:cNvSpPr/>
            <p:nvPr/>
          </p:nvSpPr>
          <p:spPr>
            <a:xfrm>
              <a:off x="0" y="0"/>
              <a:ext cx="5926582" cy="2613025"/>
            </a:xfrm>
            <a:custGeom>
              <a:avLst/>
              <a:gdLst/>
              <a:ahLst/>
              <a:cxnLst/>
              <a:rect l="l" t="t" r="r" b="b"/>
              <a:pathLst>
                <a:path w="5926582" h="2613025">
                  <a:moveTo>
                    <a:pt x="0" y="49657"/>
                  </a:moveTo>
                  <a:cubicBezTo>
                    <a:pt x="0" y="22225"/>
                    <a:pt x="22225" y="0"/>
                    <a:pt x="49657" y="0"/>
                  </a:cubicBezTo>
                  <a:lnTo>
                    <a:pt x="5876925" y="0"/>
                  </a:lnTo>
                  <a:cubicBezTo>
                    <a:pt x="5904357" y="0"/>
                    <a:pt x="5926582" y="22225"/>
                    <a:pt x="5926582" y="49657"/>
                  </a:cubicBezTo>
                  <a:lnTo>
                    <a:pt x="5926582" y="2563368"/>
                  </a:lnTo>
                  <a:cubicBezTo>
                    <a:pt x="5926582" y="2590800"/>
                    <a:pt x="5904357" y="2613025"/>
                    <a:pt x="5876925" y="2613025"/>
                  </a:cubicBezTo>
                  <a:lnTo>
                    <a:pt x="49657" y="2613025"/>
                  </a:lnTo>
                  <a:cubicBezTo>
                    <a:pt x="22225" y="2613025"/>
                    <a:pt x="0" y="2590800"/>
                    <a:pt x="0" y="2563368"/>
                  </a:cubicBezTo>
                  <a:close/>
                </a:path>
              </a:pathLst>
            </a:custGeom>
            <a:solidFill>
              <a:srgbClr val="F2F2F2"/>
            </a:solidFill>
          </p:spPr>
        </p:sp>
      </p:grpSp>
      <p:grpSp>
        <p:nvGrpSpPr>
          <p:cNvPr id="6" name="Group 6"/>
          <p:cNvGrpSpPr/>
          <p:nvPr/>
        </p:nvGrpSpPr>
        <p:grpSpPr>
          <a:xfrm>
            <a:off x="6027096" y="4681242"/>
            <a:ext cx="4420191" cy="1959769"/>
            <a:chOff x="0" y="0"/>
            <a:chExt cx="5893587" cy="2613025"/>
          </a:xfrm>
        </p:grpSpPr>
        <p:sp>
          <p:nvSpPr>
            <p:cNvPr id="7" name="Freeform 7"/>
            <p:cNvSpPr/>
            <p:nvPr/>
          </p:nvSpPr>
          <p:spPr>
            <a:xfrm>
              <a:off x="0" y="0"/>
              <a:ext cx="5893562" cy="2613025"/>
            </a:xfrm>
            <a:custGeom>
              <a:avLst/>
              <a:gdLst/>
              <a:ahLst/>
              <a:cxnLst/>
              <a:rect l="l" t="t" r="r" b="b"/>
              <a:pathLst>
                <a:path w="5893562" h="2613025">
                  <a:moveTo>
                    <a:pt x="0" y="138938"/>
                  </a:moveTo>
                  <a:cubicBezTo>
                    <a:pt x="0" y="62230"/>
                    <a:pt x="62230" y="0"/>
                    <a:pt x="138938" y="0"/>
                  </a:cubicBezTo>
                  <a:lnTo>
                    <a:pt x="5754624" y="0"/>
                  </a:lnTo>
                  <a:cubicBezTo>
                    <a:pt x="5831332" y="0"/>
                    <a:pt x="5893562" y="62230"/>
                    <a:pt x="5893562" y="138938"/>
                  </a:cubicBezTo>
                  <a:lnTo>
                    <a:pt x="5893562" y="2474087"/>
                  </a:lnTo>
                  <a:cubicBezTo>
                    <a:pt x="5893562" y="2550795"/>
                    <a:pt x="5831332" y="2613025"/>
                    <a:pt x="5754624" y="2613025"/>
                  </a:cubicBezTo>
                  <a:lnTo>
                    <a:pt x="138938" y="2613025"/>
                  </a:lnTo>
                  <a:cubicBezTo>
                    <a:pt x="62230" y="2613025"/>
                    <a:pt x="0" y="2550795"/>
                    <a:pt x="0" y="2474087"/>
                  </a:cubicBezTo>
                  <a:close/>
                </a:path>
              </a:pathLst>
            </a:custGeom>
            <a:solidFill>
              <a:srgbClr val="F2F2F2"/>
            </a:solidFill>
          </p:spPr>
        </p:sp>
      </p:grpSp>
      <p:grpSp>
        <p:nvGrpSpPr>
          <p:cNvPr id="8" name="Group 8"/>
          <p:cNvGrpSpPr/>
          <p:nvPr/>
        </p:nvGrpSpPr>
        <p:grpSpPr>
          <a:xfrm>
            <a:off x="6014742" y="4681242"/>
            <a:ext cx="4444898" cy="1959769"/>
            <a:chOff x="0" y="0"/>
            <a:chExt cx="5926531" cy="2613025"/>
          </a:xfrm>
        </p:grpSpPr>
        <p:sp>
          <p:nvSpPr>
            <p:cNvPr id="9" name="Freeform 9"/>
            <p:cNvSpPr/>
            <p:nvPr/>
          </p:nvSpPr>
          <p:spPr>
            <a:xfrm>
              <a:off x="0" y="0"/>
              <a:ext cx="5926582" cy="2613025"/>
            </a:xfrm>
            <a:custGeom>
              <a:avLst/>
              <a:gdLst/>
              <a:ahLst/>
              <a:cxnLst/>
              <a:rect l="l" t="t" r="r" b="b"/>
              <a:pathLst>
                <a:path w="5926582" h="2613025">
                  <a:moveTo>
                    <a:pt x="0" y="49657"/>
                  </a:moveTo>
                  <a:cubicBezTo>
                    <a:pt x="0" y="22225"/>
                    <a:pt x="22225" y="0"/>
                    <a:pt x="49657" y="0"/>
                  </a:cubicBezTo>
                  <a:lnTo>
                    <a:pt x="5876925" y="0"/>
                  </a:lnTo>
                  <a:cubicBezTo>
                    <a:pt x="5904357" y="0"/>
                    <a:pt x="5926582" y="22225"/>
                    <a:pt x="5926582" y="49657"/>
                  </a:cubicBezTo>
                  <a:lnTo>
                    <a:pt x="5926582" y="2563368"/>
                  </a:lnTo>
                  <a:cubicBezTo>
                    <a:pt x="5926582" y="2590800"/>
                    <a:pt x="5904357" y="2613025"/>
                    <a:pt x="5876925" y="2613025"/>
                  </a:cubicBezTo>
                  <a:lnTo>
                    <a:pt x="49657" y="2613025"/>
                  </a:lnTo>
                  <a:cubicBezTo>
                    <a:pt x="22225" y="2613025"/>
                    <a:pt x="0" y="2590800"/>
                    <a:pt x="0" y="2563368"/>
                  </a:cubicBezTo>
                  <a:close/>
                </a:path>
              </a:pathLst>
            </a:custGeom>
            <a:solidFill>
              <a:srgbClr val="F2F2F2"/>
            </a:solidFill>
          </p:spPr>
        </p:sp>
      </p:grpSp>
      <p:sp>
        <p:nvSpPr>
          <p:cNvPr id="10" name="Freeform 10"/>
          <p:cNvSpPr/>
          <p:nvPr/>
        </p:nvSpPr>
        <p:spPr>
          <a:xfrm>
            <a:off x="11580395" y="3771540"/>
            <a:ext cx="5620297" cy="3323000"/>
          </a:xfrm>
          <a:custGeom>
            <a:avLst/>
            <a:gdLst/>
            <a:ahLst/>
            <a:cxnLst/>
            <a:rect l="l" t="t" r="r" b="b"/>
            <a:pathLst>
              <a:path w="5620297" h="3323000">
                <a:moveTo>
                  <a:pt x="0" y="0"/>
                </a:moveTo>
                <a:lnTo>
                  <a:pt x="5620297" y="0"/>
                </a:lnTo>
                <a:lnTo>
                  <a:pt x="5620297" y="3323000"/>
                </a:lnTo>
                <a:lnTo>
                  <a:pt x="0" y="3323000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</p:sp>
      <p:sp>
        <p:nvSpPr>
          <p:cNvPr id="11" name="TextBox 11"/>
          <p:cNvSpPr txBox="1"/>
          <p:nvPr/>
        </p:nvSpPr>
        <p:spPr>
          <a:xfrm>
            <a:off x="992238" y="1462088"/>
            <a:ext cx="10361562" cy="728982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6062"/>
              </a:lnSpc>
            </a:pPr>
            <a:r>
              <a:rPr lang="en-US" sz="4875" b="1" dirty="0" err="1">
                <a:solidFill>
                  <a:srgbClr val="505468"/>
                </a:solidFill>
                <a:latin typeface="Arimo Bold"/>
                <a:ea typeface="Arimo Bold"/>
                <a:cs typeface="Arimo Bold"/>
                <a:sym typeface="Arimo Bold"/>
              </a:rPr>
              <a:t>Compilación</a:t>
            </a:r>
            <a:r>
              <a:rPr lang="en-US" sz="4875" b="1" dirty="0">
                <a:solidFill>
                  <a:srgbClr val="505468"/>
                </a:solidFill>
                <a:latin typeface="Arimo Bold"/>
                <a:ea typeface="Arimo Bold"/>
                <a:cs typeface="Arimo Bold"/>
                <a:sym typeface="Arimo Bold"/>
              </a:rPr>
              <a:t> y </a:t>
            </a:r>
            <a:r>
              <a:rPr lang="en-US" sz="4875" b="1" dirty="0" err="1">
                <a:solidFill>
                  <a:srgbClr val="505468"/>
                </a:solidFill>
                <a:latin typeface="Arimo Bold"/>
                <a:ea typeface="Arimo Bold"/>
                <a:cs typeface="Arimo Bold"/>
                <a:sym typeface="Arimo Bold"/>
              </a:rPr>
              <a:t>Ejecución</a:t>
            </a:r>
            <a:endParaRPr lang="en-US" sz="4875" b="1" dirty="0">
              <a:solidFill>
                <a:srgbClr val="505468"/>
              </a:solidFill>
              <a:latin typeface="Arimo Bold"/>
              <a:ea typeface="Arimo Bold"/>
              <a:cs typeface="Arimo Bold"/>
              <a:sym typeface="Arimo Bold"/>
            </a:endParaRPr>
          </a:p>
        </p:txBody>
      </p:sp>
      <p:sp>
        <p:nvSpPr>
          <p:cNvPr id="12" name="TextBox 12"/>
          <p:cNvSpPr txBox="1"/>
          <p:nvPr/>
        </p:nvSpPr>
        <p:spPr>
          <a:xfrm>
            <a:off x="992238" y="2866730"/>
            <a:ext cx="3805533" cy="49366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625"/>
              </a:lnSpc>
            </a:pPr>
            <a:r>
              <a:rPr lang="en-US" sz="2874" b="1">
                <a:solidFill>
                  <a:srgbClr val="505468"/>
                </a:solidFill>
                <a:latin typeface="Arimo Bold"/>
                <a:ea typeface="Arimo Bold"/>
                <a:cs typeface="Arimo Bold"/>
                <a:sym typeface="Arimo Bold"/>
              </a:rPr>
              <a:t>Compilar el programa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992238" y="3513087"/>
            <a:ext cx="4420191" cy="128602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125"/>
              </a:lnSpc>
            </a:pPr>
            <a:r>
              <a:rPr lang="en-US" sz="1937">
                <a:solidFill>
                  <a:srgbClr val="5B5F71"/>
                </a:solidFill>
                <a:latin typeface="Arimo"/>
                <a:ea typeface="Arimo"/>
                <a:cs typeface="Arimo"/>
                <a:sym typeface="Arimo"/>
              </a:rPr>
              <a:t>Para compilar el programa se utilizó la terminal de VS Code con el siguiente comando: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227830" y="5140376"/>
            <a:ext cx="3949008" cy="171152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125"/>
              </a:lnSpc>
            </a:pPr>
            <a:r>
              <a:rPr lang="en-US" sz="1937">
                <a:solidFill>
                  <a:srgbClr val="5B5F71"/>
                </a:solidFill>
                <a:latin typeface="Consolas"/>
                <a:ea typeface="Consolas"/>
                <a:cs typeface="Consolas"/>
                <a:sym typeface="Consolas"/>
              </a:rPr>
              <a:t>javac --module-path "C:\javafx-sdk-21.0.10\lib" </a:t>
            </a:r>
          </a:p>
          <a:p>
            <a:pPr algn="l">
              <a:lnSpc>
                <a:spcPts val="3125"/>
              </a:lnSpc>
            </a:pPr>
            <a:r>
              <a:rPr lang="en-US" sz="1937">
                <a:solidFill>
                  <a:srgbClr val="5B5F71"/>
                </a:solidFill>
                <a:latin typeface="Consolas"/>
                <a:ea typeface="Consolas"/>
                <a:cs typeface="Consolas"/>
                <a:sym typeface="Consolas"/>
              </a:rPr>
              <a:t>       --add-modules javafx.controls </a:t>
            </a:r>
          </a:p>
          <a:p>
            <a:pPr algn="l">
              <a:lnSpc>
                <a:spcPts val="3125"/>
              </a:lnSpc>
            </a:pPr>
            <a:r>
              <a:rPr lang="en-US" sz="1937">
                <a:solidFill>
                  <a:srgbClr val="5B5F71"/>
                </a:solidFill>
                <a:latin typeface="Consolas"/>
                <a:ea typeface="Consolas"/>
                <a:cs typeface="Consolas"/>
                <a:sym typeface="Consolas"/>
              </a:rPr>
              <a:t>       AnalizadorLexicoFX.java</a:t>
            </a:r>
          </a:p>
        </p:txBody>
      </p:sp>
      <p:sp>
        <p:nvSpPr>
          <p:cNvPr id="15" name="TextBox 15"/>
          <p:cNvSpPr txBox="1"/>
          <p:nvPr/>
        </p:nvSpPr>
        <p:spPr>
          <a:xfrm>
            <a:off x="6027096" y="2866730"/>
            <a:ext cx="5479104" cy="430118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3625"/>
              </a:lnSpc>
            </a:pPr>
            <a:r>
              <a:rPr lang="en-US" sz="2874" b="1" dirty="0" err="1">
                <a:solidFill>
                  <a:srgbClr val="505468"/>
                </a:solidFill>
                <a:latin typeface="Arimo Bold"/>
                <a:ea typeface="Arimo Bold"/>
                <a:cs typeface="Arimo Bold"/>
                <a:sym typeface="Arimo Bold"/>
              </a:rPr>
              <a:t>Ejecutar</a:t>
            </a:r>
            <a:r>
              <a:rPr lang="en-US" sz="2874" b="1" dirty="0">
                <a:solidFill>
                  <a:srgbClr val="505468"/>
                </a:solidFill>
                <a:latin typeface="Arimo Bold"/>
                <a:ea typeface="Arimo Bold"/>
                <a:cs typeface="Arimo Bold"/>
                <a:sym typeface="Arimo Bold"/>
              </a:rPr>
              <a:t> la </a:t>
            </a:r>
            <a:r>
              <a:rPr lang="en-US" sz="2874" b="1" dirty="0" err="1">
                <a:solidFill>
                  <a:srgbClr val="505468"/>
                </a:solidFill>
                <a:latin typeface="Arimo Bold"/>
                <a:ea typeface="Arimo Bold"/>
                <a:cs typeface="Arimo Bold"/>
                <a:sym typeface="Arimo Bold"/>
              </a:rPr>
              <a:t>aplicación</a:t>
            </a:r>
            <a:endParaRPr lang="en-US" sz="2874" b="1" dirty="0">
              <a:solidFill>
                <a:srgbClr val="505468"/>
              </a:solidFill>
              <a:latin typeface="Arimo Bold"/>
              <a:ea typeface="Arimo Bold"/>
              <a:cs typeface="Arimo Bold"/>
              <a:sym typeface="Arimo Bold"/>
            </a:endParaRPr>
          </a:p>
        </p:txBody>
      </p:sp>
      <p:sp>
        <p:nvSpPr>
          <p:cNvPr id="16" name="TextBox 16"/>
          <p:cNvSpPr txBox="1"/>
          <p:nvPr/>
        </p:nvSpPr>
        <p:spPr>
          <a:xfrm>
            <a:off x="6027096" y="3513087"/>
            <a:ext cx="4420191" cy="88910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125"/>
              </a:lnSpc>
            </a:pPr>
            <a:r>
              <a:rPr lang="en-US" sz="1937" dirty="0" err="1">
                <a:solidFill>
                  <a:srgbClr val="5B5F71"/>
                </a:solidFill>
                <a:latin typeface="Arimo"/>
                <a:ea typeface="Arimo"/>
                <a:cs typeface="Arimo"/>
                <a:sym typeface="Arimo"/>
              </a:rPr>
              <a:t>Después</a:t>
            </a:r>
            <a:r>
              <a:rPr lang="en-US" sz="1937" dirty="0">
                <a:solidFill>
                  <a:srgbClr val="5B5F71"/>
                </a:solidFill>
                <a:latin typeface="Arimo"/>
                <a:ea typeface="Arimo"/>
                <a:cs typeface="Arimo"/>
                <a:sym typeface="Arimo"/>
              </a:rPr>
              <a:t> se </a:t>
            </a:r>
            <a:r>
              <a:rPr lang="en-US" sz="1937" dirty="0" err="1">
                <a:solidFill>
                  <a:srgbClr val="5B5F71"/>
                </a:solidFill>
                <a:latin typeface="Arimo"/>
                <a:ea typeface="Arimo"/>
                <a:cs typeface="Arimo"/>
                <a:sym typeface="Arimo"/>
              </a:rPr>
              <a:t>ejecutó</a:t>
            </a:r>
            <a:r>
              <a:rPr lang="en-US" sz="1937" dirty="0">
                <a:solidFill>
                  <a:srgbClr val="5B5F71"/>
                </a:solidFill>
                <a:latin typeface="Arimo"/>
                <a:ea typeface="Arimo"/>
                <a:cs typeface="Arimo"/>
                <a:sym typeface="Arimo"/>
              </a:rPr>
              <a:t> </a:t>
            </a:r>
            <a:r>
              <a:rPr lang="en-US" sz="1937" dirty="0" err="1">
                <a:solidFill>
                  <a:srgbClr val="5B5F71"/>
                </a:solidFill>
                <a:latin typeface="Arimo"/>
                <a:ea typeface="Arimo"/>
                <a:cs typeface="Arimo"/>
                <a:sym typeface="Arimo"/>
              </a:rPr>
              <a:t>el</a:t>
            </a:r>
            <a:r>
              <a:rPr lang="en-US" sz="1937" dirty="0">
                <a:solidFill>
                  <a:srgbClr val="5B5F71"/>
                </a:solidFill>
                <a:latin typeface="Arimo"/>
                <a:ea typeface="Arimo"/>
                <a:cs typeface="Arimo"/>
                <a:sym typeface="Arimo"/>
              </a:rPr>
              <a:t> </a:t>
            </a:r>
            <a:r>
              <a:rPr lang="en-US" sz="1937" dirty="0" err="1">
                <a:solidFill>
                  <a:srgbClr val="5B5F71"/>
                </a:solidFill>
                <a:latin typeface="Arimo"/>
                <a:ea typeface="Arimo"/>
                <a:cs typeface="Arimo"/>
                <a:sym typeface="Arimo"/>
              </a:rPr>
              <a:t>programa</a:t>
            </a:r>
            <a:r>
              <a:rPr lang="en-US" sz="1937" dirty="0">
                <a:solidFill>
                  <a:srgbClr val="5B5F71"/>
                </a:solidFill>
                <a:latin typeface="Arimo"/>
                <a:ea typeface="Arimo"/>
                <a:cs typeface="Arimo"/>
                <a:sym typeface="Arimo"/>
              </a:rPr>
              <a:t> con </a:t>
            </a:r>
            <a:r>
              <a:rPr lang="en-US" sz="1937" dirty="0" err="1">
                <a:solidFill>
                  <a:srgbClr val="5B5F71"/>
                </a:solidFill>
                <a:latin typeface="Arimo"/>
                <a:ea typeface="Arimo"/>
                <a:cs typeface="Arimo"/>
                <a:sym typeface="Arimo"/>
              </a:rPr>
              <a:t>el</a:t>
            </a:r>
            <a:r>
              <a:rPr lang="en-US" sz="1937" dirty="0">
                <a:solidFill>
                  <a:srgbClr val="5B5F71"/>
                </a:solidFill>
                <a:latin typeface="Arimo"/>
                <a:ea typeface="Arimo"/>
                <a:cs typeface="Arimo"/>
                <a:sym typeface="Arimo"/>
              </a:rPr>
              <a:t> </a:t>
            </a:r>
            <a:r>
              <a:rPr lang="en-US" sz="1937" dirty="0" err="1">
                <a:solidFill>
                  <a:srgbClr val="5B5F71"/>
                </a:solidFill>
                <a:latin typeface="Arimo"/>
                <a:ea typeface="Arimo"/>
                <a:cs typeface="Arimo"/>
                <a:sym typeface="Arimo"/>
              </a:rPr>
              <a:t>siguiente</a:t>
            </a:r>
            <a:r>
              <a:rPr lang="en-US" sz="1937" dirty="0">
                <a:solidFill>
                  <a:srgbClr val="5B5F71"/>
                </a:solidFill>
                <a:latin typeface="Arimo"/>
                <a:ea typeface="Arimo"/>
                <a:cs typeface="Arimo"/>
                <a:sym typeface="Arimo"/>
              </a:rPr>
              <a:t> </a:t>
            </a:r>
            <a:r>
              <a:rPr lang="en-US" sz="1937" dirty="0" err="1">
                <a:solidFill>
                  <a:srgbClr val="5B5F71"/>
                </a:solidFill>
                <a:latin typeface="Arimo"/>
                <a:ea typeface="Arimo"/>
                <a:cs typeface="Arimo"/>
                <a:sym typeface="Arimo"/>
              </a:rPr>
              <a:t>comando</a:t>
            </a:r>
            <a:r>
              <a:rPr lang="en-US" sz="1937" dirty="0">
                <a:solidFill>
                  <a:srgbClr val="5B5F71"/>
                </a:solidFill>
                <a:latin typeface="Arimo"/>
                <a:ea typeface="Arimo"/>
                <a:cs typeface="Arimo"/>
                <a:sym typeface="Arimo"/>
              </a:rPr>
              <a:t>:</a:t>
            </a:r>
          </a:p>
        </p:txBody>
      </p:sp>
      <p:sp>
        <p:nvSpPr>
          <p:cNvPr id="17" name="TextBox 17"/>
          <p:cNvSpPr txBox="1"/>
          <p:nvPr/>
        </p:nvSpPr>
        <p:spPr>
          <a:xfrm>
            <a:off x="6262687" y="4743450"/>
            <a:ext cx="3719513" cy="1947713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3125"/>
              </a:lnSpc>
            </a:pPr>
            <a:r>
              <a:rPr lang="en-US" sz="1600" dirty="0">
                <a:solidFill>
                  <a:srgbClr val="5B5F71"/>
                </a:solidFill>
                <a:latin typeface="Consolas"/>
                <a:ea typeface="Consolas"/>
                <a:cs typeface="Consolas"/>
                <a:sym typeface="Consolas"/>
              </a:rPr>
              <a:t>java --module-path "C:\javafx-sdk-21.0.10\lib" </a:t>
            </a:r>
          </a:p>
          <a:p>
            <a:pPr algn="l">
              <a:lnSpc>
                <a:spcPts val="3125"/>
              </a:lnSpc>
            </a:pPr>
            <a:r>
              <a:rPr lang="en-US" sz="1600" dirty="0">
                <a:solidFill>
                  <a:srgbClr val="5B5F71"/>
                </a:solidFill>
                <a:latin typeface="Consolas"/>
                <a:ea typeface="Consolas"/>
                <a:cs typeface="Consolas"/>
                <a:sym typeface="Consolas"/>
              </a:rPr>
              <a:t>     --add-modules </a:t>
            </a:r>
            <a:r>
              <a:rPr lang="en-US" sz="1600" dirty="0" err="1">
                <a:solidFill>
                  <a:srgbClr val="5B5F71"/>
                </a:solidFill>
                <a:latin typeface="Consolas"/>
                <a:ea typeface="Consolas"/>
                <a:cs typeface="Consolas"/>
                <a:sym typeface="Consolas"/>
              </a:rPr>
              <a:t>javafx.controls</a:t>
            </a:r>
            <a:r>
              <a:rPr lang="en-US" sz="1600" dirty="0">
                <a:solidFill>
                  <a:srgbClr val="5B5F71"/>
                </a:solidFill>
                <a:latin typeface="Consolas"/>
                <a:ea typeface="Consolas"/>
                <a:cs typeface="Consolas"/>
                <a:sym typeface="Consolas"/>
              </a:rPr>
              <a:t> </a:t>
            </a:r>
          </a:p>
          <a:p>
            <a:pPr algn="l">
              <a:lnSpc>
                <a:spcPts val="3125"/>
              </a:lnSpc>
            </a:pPr>
            <a:r>
              <a:rPr lang="en-US" sz="1600" dirty="0">
                <a:solidFill>
                  <a:srgbClr val="5B5F71"/>
                </a:solidFill>
                <a:latin typeface="Consolas"/>
                <a:ea typeface="Consolas"/>
                <a:cs typeface="Consolas"/>
                <a:sym typeface="Consolas"/>
              </a:rPr>
              <a:t>     </a:t>
            </a:r>
            <a:r>
              <a:rPr lang="en-US" sz="1600" dirty="0" err="1">
                <a:solidFill>
                  <a:srgbClr val="5B5F71"/>
                </a:solidFill>
                <a:latin typeface="Consolas"/>
                <a:ea typeface="Consolas"/>
                <a:cs typeface="Consolas"/>
                <a:sym typeface="Consolas"/>
              </a:rPr>
              <a:t>AnalizadorLexicoFX</a:t>
            </a:r>
            <a:endParaRPr lang="en-US" sz="1600" dirty="0">
              <a:solidFill>
                <a:srgbClr val="5B5F71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8" name="TextBox 18"/>
          <p:cNvSpPr txBox="1"/>
          <p:nvPr/>
        </p:nvSpPr>
        <p:spPr>
          <a:xfrm>
            <a:off x="992238" y="7500785"/>
            <a:ext cx="9445523" cy="128602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125"/>
              </a:lnSpc>
            </a:pPr>
            <a:r>
              <a:rPr lang="en-US" sz="1937">
                <a:solidFill>
                  <a:srgbClr val="5B5F71"/>
                </a:solidFill>
                <a:latin typeface="Arimo"/>
                <a:ea typeface="Arimo"/>
                <a:cs typeface="Arimo"/>
                <a:sym typeface="Arimo"/>
              </a:rPr>
              <a:t>Al ejecutar el programa se abre una ventana con una interfaz gráfica donde se puede escribir código fuente y presionar el botón </a:t>
            </a:r>
            <a:r>
              <a:rPr lang="en-US" sz="1937" b="1">
                <a:solidFill>
                  <a:srgbClr val="505468"/>
                </a:solidFill>
                <a:latin typeface="Arimo Bold"/>
                <a:ea typeface="Arimo Bold"/>
                <a:cs typeface="Arimo Bold"/>
                <a:sym typeface="Arimo Bold"/>
              </a:rPr>
              <a:t>Analizar</a:t>
            </a:r>
            <a:r>
              <a:rPr lang="en-US" sz="1937">
                <a:solidFill>
                  <a:srgbClr val="5B5F71"/>
                </a:solidFill>
                <a:latin typeface="Arimo"/>
                <a:ea typeface="Arimo"/>
                <a:cs typeface="Arimo"/>
                <a:sym typeface="Arimo"/>
              </a:rPr>
              <a:t> para identificar los tokens.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2"/>
          <p:cNvSpPr txBox="1"/>
          <p:nvPr/>
        </p:nvSpPr>
        <p:spPr>
          <a:xfrm>
            <a:off x="1124918" y="304144"/>
            <a:ext cx="6799882" cy="359714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2999"/>
              </a:lnSpc>
            </a:pPr>
            <a:r>
              <a:rPr lang="en-US" sz="2437" b="1">
                <a:solidFill>
                  <a:srgbClr val="505468"/>
                </a:solidFill>
                <a:latin typeface="Arimo Bold"/>
                <a:ea typeface="Arimo Bold"/>
                <a:cs typeface="Arimo Bold"/>
                <a:sym typeface="Arimo Bold"/>
              </a:rPr>
              <a:t>Código del Analizador Léxico</a:t>
            </a:r>
          </a:p>
        </p:txBody>
      </p:sp>
      <p:sp>
        <p:nvSpPr>
          <p:cNvPr id="3" name="TextBox 3"/>
          <p:cNvSpPr txBox="1"/>
          <p:nvPr/>
        </p:nvSpPr>
        <p:spPr>
          <a:xfrm>
            <a:off x="1124918" y="806293"/>
            <a:ext cx="16257693" cy="47625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844"/>
              </a:lnSpc>
            </a:pPr>
            <a:r>
              <a:rPr lang="en-US" sz="1537">
                <a:solidFill>
                  <a:srgbClr val="5B5F71"/>
                </a:solidFill>
                <a:latin typeface="Arimo"/>
                <a:ea typeface="Arimo"/>
                <a:cs typeface="Arimo"/>
                <a:sym typeface="Arimo"/>
              </a:rPr>
              <a:t>El programa fue desarrollado utilizando JavaFX para crear una interfaz gráfica que permite ingresar código y analizar los tokens. El código utiliza expresiones regulares para identificar los diferentes tipos de tokens.</a:t>
            </a:r>
          </a:p>
        </p:txBody>
      </p:sp>
      <p:grpSp>
        <p:nvGrpSpPr>
          <p:cNvPr id="4" name="Group 4"/>
          <p:cNvGrpSpPr/>
          <p:nvPr/>
        </p:nvGrpSpPr>
        <p:grpSpPr>
          <a:xfrm>
            <a:off x="4253065" y="1219791"/>
            <a:ext cx="9781880" cy="9255471"/>
            <a:chOff x="0" y="0"/>
            <a:chExt cx="13042506" cy="12340628"/>
          </a:xfrm>
        </p:grpSpPr>
        <p:sp>
          <p:nvSpPr>
            <p:cNvPr id="5" name="Freeform 5"/>
            <p:cNvSpPr/>
            <p:nvPr/>
          </p:nvSpPr>
          <p:spPr>
            <a:xfrm>
              <a:off x="0" y="0"/>
              <a:ext cx="13042519" cy="12340589"/>
            </a:xfrm>
            <a:custGeom>
              <a:avLst/>
              <a:gdLst/>
              <a:ahLst/>
              <a:cxnLst/>
              <a:rect l="l" t="t" r="r" b="b"/>
              <a:pathLst>
                <a:path w="13042519" h="12340589">
                  <a:moveTo>
                    <a:pt x="0" y="69469"/>
                  </a:moveTo>
                  <a:cubicBezTo>
                    <a:pt x="0" y="31115"/>
                    <a:pt x="31115" y="0"/>
                    <a:pt x="69469" y="0"/>
                  </a:cubicBezTo>
                  <a:lnTo>
                    <a:pt x="12973050" y="0"/>
                  </a:lnTo>
                  <a:cubicBezTo>
                    <a:pt x="13011404" y="0"/>
                    <a:pt x="13042519" y="31115"/>
                    <a:pt x="13042519" y="69469"/>
                  </a:cubicBezTo>
                  <a:lnTo>
                    <a:pt x="13042519" y="12271121"/>
                  </a:lnTo>
                  <a:cubicBezTo>
                    <a:pt x="13042519" y="12309475"/>
                    <a:pt x="13011404" y="12340589"/>
                    <a:pt x="12973050" y="12340589"/>
                  </a:cubicBezTo>
                  <a:lnTo>
                    <a:pt x="69469" y="12340589"/>
                  </a:lnTo>
                  <a:cubicBezTo>
                    <a:pt x="31115" y="12340589"/>
                    <a:pt x="0" y="12309475"/>
                    <a:pt x="0" y="12271121"/>
                  </a:cubicBezTo>
                  <a:close/>
                </a:path>
              </a:pathLst>
            </a:custGeom>
            <a:solidFill>
              <a:srgbClr val="F2F2F2"/>
            </a:solidFill>
          </p:spPr>
        </p:sp>
      </p:grpSp>
      <p:grpSp>
        <p:nvGrpSpPr>
          <p:cNvPr id="6" name="Group 6"/>
          <p:cNvGrpSpPr/>
          <p:nvPr/>
        </p:nvGrpSpPr>
        <p:grpSpPr>
          <a:xfrm>
            <a:off x="4246959" y="1219791"/>
            <a:ext cx="9794081" cy="9255471"/>
            <a:chOff x="0" y="0"/>
            <a:chExt cx="13058775" cy="12340628"/>
          </a:xfrm>
        </p:grpSpPr>
        <p:sp>
          <p:nvSpPr>
            <p:cNvPr id="7" name="Freeform 7"/>
            <p:cNvSpPr/>
            <p:nvPr/>
          </p:nvSpPr>
          <p:spPr>
            <a:xfrm>
              <a:off x="0" y="0"/>
              <a:ext cx="13058775" cy="12340590"/>
            </a:xfrm>
            <a:custGeom>
              <a:avLst/>
              <a:gdLst/>
              <a:ahLst/>
              <a:cxnLst/>
              <a:rect l="l" t="t" r="r" b="b"/>
              <a:pathLst>
                <a:path w="13058775" h="12340590">
                  <a:moveTo>
                    <a:pt x="0" y="24765"/>
                  </a:moveTo>
                  <a:cubicBezTo>
                    <a:pt x="0" y="11049"/>
                    <a:pt x="11049" y="0"/>
                    <a:pt x="24765" y="0"/>
                  </a:cubicBezTo>
                  <a:lnTo>
                    <a:pt x="13034011" y="0"/>
                  </a:lnTo>
                  <a:cubicBezTo>
                    <a:pt x="13047726" y="0"/>
                    <a:pt x="13058775" y="11049"/>
                    <a:pt x="13058775" y="24765"/>
                  </a:cubicBezTo>
                  <a:lnTo>
                    <a:pt x="13058775" y="12315825"/>
                  </a:lnTo>
                  <a:cubicBezTo>
                    <a:pt x="13058775" y="12329541"/>
                    <a:pt x="13047726" y="12340590"/>
                    <a:pt x="13034011" y="12340590"/>
                  </a:cubicBezTo>
                  <a:lnTo>
                    <a:pt x="24765" y="12340590"/>
                  </a:lnTo>
                  <a:cubicBezTo>
                    <a:pt x="11049" y="12340590"/>
                    <a:pt x="0" y="12329541"/>
                    <a:pt x="0" y="12315825"/>
                  </a:cubicBezTo>
                  <a:close/>
                </a:path>
              </a:pathLst>
            </a:custGeom>
            <a:solidFill>
              <a:srgbClr val="F2F2F2"/>
            </a:solidFill>
          </p:spPr>
        </p:sp>
      </p:grpSp>
      <p:sp>
        <p:nvSpPr>
          <p:cNvPr id="8" name="TextBox 8"/>
          <p:cNvSpPr txBox="1"/>
          <p:nvPr/>
        </p:nvSpPr>
        <p:spPr>
          <a:xfrm>
            <a:off x="4370937" y="1293762"/>
            <a:ext cx="9546136" cy="907763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005"/>
              </a:lnSpc>
            </a:pPr>
            <a:r>
              <a:rPr lang="en-US" sz="837" dirty="0">
                <a:solidFill>
                  <a:srgbClr val="5B5F71"/>
                </a:solidFill>
                <a:latin typeface="Consolas"/>
                <a:ea typeface="Consolas"/>
                <a:cs typeface="Consolas"/>
                <a:sym typeface="Consolas"/>
              </a:rPr>
              <a:t>import </a:t>
            </a:r>
            <a:r>
              <a:rPr lang="en-US" sz="837" dirty="0" err="1">
                <a:solidFill>
                  <a:srgbClr val="5B5F71"/>
                </a:solidFill>
                <a:latin typeface="Consolas"/>
                <a:ea typeface="Consolas"/>
                <a:cs typeface="Consolas"/>
                <a:sym typeface="Consolas"/>
              </a:rPr>
              <a:t>javafx.application.Application</a:t>
            </a:r>
            <a:r>
              <a:rPr lang="en-US" sz="837" dirty="0">
                <a:solidFill>
                  <a:srgbClr val="5B5F71"/>
                </a:solidFill>
                <a:latin typeface="Consolas"/>
                <a:ea typeface="Consolas"/>
                <a:cs typeface="Consolas"/>
                <a:sym typeface="Consolas"/>
              </a:rPr>
              <a:t>;</a:t>
            </a:r>
          </a:p>
          <a:p>
            <a:pPr algn="l">
              <a:lnSpc>
                <a:spcPts val="1005"/>
              </a:lnSpc>
            </a:pPr>
            <a:r>
              <a:rPr lang="en-US" sz="837" dirty="0">
                <a:solidFill>
                  <a:srgbClr val="5B5F71"/>
                </a:solidFill>
                <a:latin typeface="Consolas"/>
                <a:ea typeface="Consolas"/>
                <a:cs typeface="Consolas"/>
                <a:sym typeface="Consolas"/>
              </a:rPr>
              <a:t>import </a:t>
            </a:r>
            <a:r>
              <a:rPr lang="en-US" sz="837" dirty="0" err="1">
                <a:solidFill>
                  <a:srgbClr val="5B5F71"/>
                </a:solidFill>
                <a:latin typeface="Consolas"/>
                <a:ea typeface="Consolas"/>
                <a:cs typeface="Consolas"/>
                <a:sym typeface="Consolas"/>
              </a:rPr>
              <a:t>javafx.scene.Scene</a:t>
            </a:r>
            <a:r>
              <a:rPr lang="en-US" sz="837" dirty="0">
                <a:solidFill>
                  <a:srgbClr val="5B5F71"/>
                </a:solidFill>
                <a:latin typeface="Consolas"/>
                <a:ea typeface="Consolas"/>
                <a:cs typeface="Consolas"/>
                <a:sym typeface="Consolas"/>
              </a:rPr>
              <a:t>;</a:t>
            </a:r>
          </a:p>
          <a:p>
            <a:pPr algn="l">
              <a:lnSpc>
                <a:spcPts val="1005"/>
              </a:lnSpc>
            </a:pPr>
            <a:r>
              <a:rPr lang="en-US" sz="837" dirty="0">
                <a:solidFill>
                  <a:srgbClr val="5B5F71"/>
                </a:solidFill>
                <a:latin typeface="Consolas"/>
                <a:ea typeface="Consolas"/>
                <a:cs typeface="Consolas"/>
                <a:sym typeface="Consolas"/>
              </a:rPr>
              <a:t>import </a:t>
            </a:r>
            <a:r>
              <a:rPr lang="en-US" sz="837" dirty="0" err="1">
                <a:solidFill>
                  <a:srgbClr val="5B5F71"/>
                </a:solidFill>
                <a:latin typeface="Consolas"/>
                <a:ea typeface="Consolas"/>
                <a:cs typeface="Consolas"/>
                <a:sym typeface="Consolas"/>
              </a:rPr>
              <a:t>javafx.scene.control</a:t>
            </a:r>
            <a:r>
              <a:rPr lang="en-US" sz="837" dirty="0">
                <a:solidFill>
                  <a:srgbClr val="5B5F71"/>
                </a:solidFill>
                <a:latin typeface="Consolas"/>
                <a:ea typeface="Consolas"/>
                <a:cs typeface="Consolas"/>
                <a:sym typeface="Consolas"/>
              </a:rPr>
              <a:t>.*;</a:t>
            </a:r>
          </a:p>
          <a:p>
            <a:pPr algn="l">
              <a:lnSpc>
                <a:spcPts val="1005"/>
              </a:lnSpc>
            </a:pPr>
            <a:r>
              <a:rPr lang="en-US" sz="837" dirty="0">
                <a:solidFill>
                  <a:srgbClr val="5B5F71"/>
                </a:solidFill>
                <a:latin typeface="Consolas"/>
                <a:ea typeface="Consolas"/>
                <a:cs typeface="Consolas"/>
                <a:sym typeface="Consolas"/>
              </a:rPr>
              <a:t>import </a:t>
            </a:r>
            <a:r>
              <a:rPr lang="en-US" sz="837" dirty="0" err="1">
                <a:solidFill>
                  <a:srgbClr val="5B5F71"/>
                </a:solidFill>
                <a:latin typeface="Consolas"/>
                <a:ea typeface="Consolas"/>
                <a:cs typeface="Consolas"/>
                <a:sym typeface="Consolas"/>
              </a:rPr>
              <a:t>javafx.scene.layout.VBox</a:t>
            </a:r>
            <a:r>
              <a:rPr lang="en-US" sz="837" dirty="0">
                <a:solidFill>
                  <a:srgbClr val="5B5F71"/>
                </a:solidFill>
                <a:latin typeface="Consolas"/>
                <a:ea typeface="Consolas"/>
                <a:cs typeface="Consolas"/>
                <a:sym typeface="Consolas"/>
              </a:rPr>
              <a:t>;</a:t>
            </a:r>
          </a:p>
          <a:p>
            <a:pPr algn="l">
              <a:lnSpc>
                <a:spcPts val="1005"/>
              </a:lnSpc>
            </a:pPr>
            <a:r>
              <a:rPr lang="en-US" sz="837" dirty="0">
                <a:solidFill>
                  <a:srgbClr val="5B5F71"/>
                </a:solidFill>
                <a:latin typeface="Consolas"/>
                <a:ea typeface="Consolas"/>
                <a:cs typeface="Consolas"/>
                <a:sym typeface="Consolas"/>
              </a:rPr>
              <a:t>import </a:t>
            </a:r>
            <a:r>
              <a:rPr lang="en-US" sz="837" dirty="0" err="1">
                <a:solidFill>
                  <a:srgbClr val="5B5F71"/>
                </a:solidFill>
                <a:latin typeface="Consolas"/>
                <a:ea typeface="Consolas"/>
                <a:cs typeface="Consolas"/>
                <a:sym typeface="Consolas"/>
              </a:rPr>
              <a:t>javafx.stage.Stage</a:t>
            </a:r>
            <a:r>
              <a:rPr lang="en-US" sz="837" dirty="0">
                <a:solidFill>
                  <a:srgbClr val="5B5F71"/>
                </a:solidFill>
                <a:latin typeface="Consolas"/>
                <a:ea typeface="Consolas"/>
                <a:cs typeface="Consolas"/>
                <a:sym typeface="Consolas"/>
              </a:rPr>
              <a:t>;</a:t>
            </a:r>
          </a:p>
          <a:p>
            <a:pPr algn="l">
              <a:lnSpc>
                <a:spcPts val="1005"/>
              </a:lnSpc>
            </a:pPr>
            <a:endParaRPr lang="en-US" sz="837" dirty="0">
              <a:solidFill>
                <a:srgbClr val="5B5F71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algn="l">
              <a:lnSpc>
                <a:spcPts val="1005"/>
              </a:lnSpc>
            </a:pPr>
            <a:r>
              <a:rPr lang="en-US" sz="837" dirty="0">
                <a:solidFill>
                  <a:srgbClr val="5B5F71"/>
                </a:solidFill>
                <a:latin typeface="Consolas"/>
                <a:ea typeface="Consolas"/>
                <a:cs typeface="Consolas"/>
                <a:sym typeface="Consolas"/>
              </a:rPr>
              <a:t>public class </a:t>
            </a:r>
            <a:r>
              <a:rPr lang="en-US" sz="837" dirty="0" err="1">
                <a:solidFill>
                  <a:srgbClr val="5B5F71"/>
                </a:solidFill>
                <a:latin typeface="Consolas"/>
                <a:ea typeface="Consolas"/>
                <a:cs typeface="Consolas"/>
                <a:sym typeface="Consolas"/>
              </a:rPr>
              <a:t>AnalizadorLexicoFX</a:t>
            </a:r>
            <a:r>
              <a:rPr lang="en-US" sz="837" dirty="0">
                <a:solidFill>
                  <a:srgbClr val="5B5F71"/>
                </a:solidFill>
                <a:latin typeface="Consolas"/>
                <a:ea typeface="Consolas"/>
                <a:cs typeface="Consolas"/>
                <a:sym typeface="Consolas"/>
              </a:rPr>
              <a:t> extends Application {</a:t>
            </a:r>
          </a:p>
          <a:p>
            <a:pPr algn="l">
              <a:lnSpc>
                <a:spcPts val="1005"/>
              </a:lnSpc>
            </a:pPr>
            <a:endParaRPr lang="en-US" sz="837" dirty="0">
              <a:solidFill>
                <a:srgbClr val="5B5F71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algn="l">
              <a:lnSpc>
                <a:spcPts val="1005"/>
              </a:lnSpc>
            </a:pPr>
            <a:r>
              <a:rPr lang="en-US" sz="837" dirty="0">
                <a:solidFill>
                  <a:srgbClr val="5B5F71"/>
                </a:solidFill>
                <a:latin typeface="Consolas"/>
                <a:ea typeface="Consolas"/>
                <a:cs typeface="Consolas"/>
                <a:sym typeface="Consolas"/>
              </a:rPr>
              <a:t>  @Override</a:t>
            </a:r>
          </a:p>
          <a:p>
            <a:pPr algn="l">
              <a:lnSpc>
                <a:spcPts val="1005"/>
              </a:lnSpc>
            </a:pPr>
            <a:r>
              <a:rPr lang="en-US" sz="837" dirty="0">
                <a:solidFill>
                  <a:srgbClr val="5B5F71"/>
                </a:solidFill>
                <a:latin typeface="Consolas"/>
                <a:ea typeface="Consolas"/>
                <a:cs typeface="Consolas"/>
                <a:sym typeface="Consolas"/>
              </a:rPr>
              <a:t>  public void start(Stage stage) {</a:t>
            </a:r>
          </a:p>
          <a:p>
            <a:pPr algn="l">
              <a:lnSpc>
                <a:spcPts val="1005"/>
              </a:lnSpc>
            </a:pPr>
            <a:endParaRPr lang="en-US" sz="837" dirty="0">
              <a:solidFill>
                <a:srgbClr val="5B5F71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algn="l">
              <a:lnSpc>
                <a:spcPts val="1005"/>
              </a:lnSpc>
            </a:pPr>
            <a:r>
              <a:rPr lang="en-US" sz="837" dirty="0">
                <a:solidFill>
                  <a:srgbClr val="5B5F71"/>
                </a:solidFill>
                <a:latin typeface="Consolas"/>
                <a:ea typeface="Consolas"/>
                <a:cs typeface="Consolas"/>
                <a:sym typeface="Consolas"/>
              </a:rPr>
              <a:t>    // Area </a:t>
            </a:r>
            <a:r>
              <a:rPr lang="en-US" sz="837" dirty="0" err="1">
                <a:solidFill>
                  <a:srgbClr val="5B5F71"/>
                </a:solidFill>
                <a:latin typeface="Consolas"/>
                <a:ea typeface="Consolas"/>
                <a:cs typeface="Consolas"/>
                <a:sym typeface="Consolas"/>
              </a:rPr>
              <a:t>donde</a:t>
            </a:r>
            <a:r>
              <a:rPr lang="en-US" sz="837" dirty="0">
                <a:solidFill>
                  <a:srgbClr val="5B5F71"/>
                </a:solidFill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-US" sz="837" dirty="0" err="1">
                <a:solidFill>
                  <a:srgbClr val="5B5F71"/>
                </a:solidFill>
                <a:latin typeface="Consolas"/>
                <a:ea typeface="Consolas"/>
                <a:cs typeface="Consolas"/>
                <a:sym typeface="Consolas"/>
              </a:rPr>
              <a:t>el</a:t>
            </a:r>
            <a:r>
              <a:rPr lang="en-US" sz="837" dirty="0">
                <a:solidFill>
                  <a:srgbClr val="5B5F71"/>
                </a:solidFill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-US" sz="837" dirty="0" err="1">
                <a:solidFill>
                  <a:srgbClr val="5B5F71"/>
                </a:solidFill>
                <a:latin typeface="Consolas"/>
                <a:ea typeface="Consolas"/>
                <a:cs typeface="Consolas"/>
                <a:sym typeface="Consolas"/>
              </a:rPr>
              <a:t>usuario</a:t>
            </a:r>
            <a:r>
              <a:rPr lang="en-US" sz="837" dirty="0">
                <a:solidFill>
                  <a:srgbClr val="5B5F71"/>
                </a:solidFill>
                <a:latin typeface="Consolas"/>
                <a:ea typeface="Consolas"/>
                <a:cs typeface="Consolas"/>
                <a:sym typeface="Consolas"/>
              </a:rPr>
              <a:t> escribe </a:t>
            </a:r>
            <a:r>
              <a:rPr lang="en-US" sz="837" dirty="0" err="1">
                <a:solidFill>
                  <a:srgbClr val="5B5F71"/>
                </a:solidFill>
                <a:latin typeface="Consolas"/>
                <a:ea typeface="Consolas"/>
                <a:cs typeface="Consolas"/>
                <a:sym typeface="Consolas"/>
              </a:rPr>
              <a:t>el</a:t>
            </a:r>
            <a:r>
              <a:rPr lang="en-US" sz="837" dirty="0">
                <a:solidFill>
                  <a:srgbClr val="5B5F71"/>
                </a:solidFill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-US" sz="837" dirty="0" err="1">
                <a:solidFill>
                  <a:srgbClr val="5B5F71"/>
                </a:solidFill>
                <a:latin typeface="Consolas"/>
                <a:ea typeface="Consolas"/>
                <a:cs typeface="Consolas"/>
                <a:sym typeface="Consolas"/>
              </a:rPr>
              <a:t>codigo</a:t>
            </a:r>
            <a:endParaRPr lang="en-US" sz="837" dirty="0">
              <a:solidFill>
                <a:srgbClr val="5B5F71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algn="l">
              <a:lnSpc>
                <a:spcPts val="1005"/>
              </a:lnSpc>
            </a:pPr>
            <a:r>
              <a:rPr lang="en-US" sz="837" dirty="0">
                <a:solidFill>
                  <a:srgbClr val="5B5F71"/>
                </a:solidFill>
                <a:latin typeface="Consolas"/>
                <a:ea typeface="Consolas"/>
                <a:cs typeface="Consolas"/>
                <a:sym typeface="Consolas"/>
              </a:rPr>
              <a:t>    </a:t>
            </a:r>
            <a:r>
              <a:rPr lang="en-US" sz="837" dirty="0" err="1">
                <a:solidFill>
                  <a:srgbClr val="5B5F71"/>
                </a:solidFill>
                <a:latin typeface="Consolas"/>
                <a:ea typeface="Consolas"/>
                <a:cs typeface="Consolas"/>
                <a:sym typeface="Consolas"/>
              </a:rPr>
              <a:t>TextArea</a:t>
            </a:r>
            <a:r>
              <a:rPr lang="en-US" sz="837" dirty="0">
                <a:solidFill>
                  <a:srgbClr val="5B5F71"/>
                </a:solidFill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-US" sz="837" dirty="0" err="1">
                <a:solidFill>
                  <a:srgbClr val="5B5F71"/>
                </a:solidFill>
                <a:latin typeface="Consolas"/>
                <a:ea typeface="Consolas"/>
                <a:cs typeface="Consolas"/>
                <a:sym typeface="Consolas"/>
              </a:rPr>
              <a:t>codigo</a:t>
            </a:r>
            <a:r>
              <a:rPr lang="en-US" sz="837" dirty="0">
                <a:solidFill>
                  <a:srgbClr val="5B5F71"/>
                </a:solidFill>
                <a:latin typeface="Consolas"/>
                <a:ea typeface="Consolas"/>
                <a:cs typeface="Consolas"/>
                <a:sym typeface="Consolas"/>
              </a:rPr>
              <a:t> = new </a:t>
            </a:r>
            <a:r>
              <a:rPr lang="en-US" sz="837" dirty="0" err="1">
                <a:solidFill>
                  <a:srgbClr val="5B5F71"/>
                </a:solidFill>
                <a:latin typeface="Consolas"/>
                <a:ea typeface="Consolas"/>
                <a:cs typeface="Consolas"/>
                <a:sym typeface="Consolas"/>
              </a:rPr>
              <a:t>TextArea</a:t>
            </a:r>
            <a:r>
              <a:rPr lang="en-US" sz="837" dirty="0">
                <a:solidFill>
                  <a:srgbClr val="5B5F71"/>
                </a:solidFill>
                <a:latin typeface="Consolas"/>
                <a:ea typeface="Consolas"/>
                <a:cs typeface="Consolas"/>
                <a:sym typeface="Consolas"/>
              </a:rPr>
              <a:t>();</a:t>
            </a:r>
          </a:p>
          <a:p>
            <a:pPr algn="l">
              <a:lnSpc>
                <a:spcPts val="1005"/>
              </a:lnSpc>
            </a:pPr>
            <a:r>
              <a:rPr lang="en-US" sz="837" dirty="0">
                <a:solidFill>
                  <a:srgbClr val="5B5F71"/>
                </a:solidFill>
                <a:latin typeface="Consolas"/>
                <a:ea typeface="Consolas"/>
                <a:cs typeface="Consolas"/>
                <a:sym typeface="Consolas"/>
              </a:rPr>
              <a:t>    </a:t>
            </a:r>
            <a:r>
              <a:rPr lang="en-US" sz="837" dirty="0" err="1">
                <a:solidFill>
                  <a:srgbClr val="5B5F71"/>
                </a:solidFill>
                <a:latin typeface="Consolas"/>
                <a:ea typeface="Consolas"/>
                <a:cs typeface="Consolas"/>
                <a:sym typeface="Consolas"/>
              </a:rPr>
              <a:t>codigo.setPromptText</a:t>
            </a:r>
            <a:r>
              <a:rPr lang="en-US" sz="837" dirty="0">
                <a:solidFill>
                  <a:srgbClr val="5B5F71"/>
                </a:solidFill>
                <a:latin typeface="Consolas"/>
                <a:ea typeface="Consolas"/>
                <a:cs typeface="Consolas"/>
                <a:sym typeface="Consolas"/>
              </a:rPr>
              <a:t>("Escribe </a:t>
            </a:r>
            <a:r>
              <a:rPr lang="en-US" sz="837" dirty="0" err="1">
                <a:solidFill>
                  <a:srgbClr val="5B5F71"/>
                </a:solidFill>
                <a:latin typeface="Consolas"/>
                <a:ea typeface="Consolas"/>
                <a:cs typeface="Consolas"/>
                <a:sym typeface="Consolas"/>
              </a:rPr>
              <a:t>el</a:t>
            </a:r>
            <a:r>
              <a:rPr lang="en-US" sz="837" dirty="0">
                <a:solidFill>
                  <a:srgbClr val="5B5F71"/>
                </a:solidFill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-US" sz="837" dirty="0" err="1">
                <a:solidFill>
                  <a:srgbClr val="5B5F71"/>
                </a:solidFill>
                <a:latin typeface="Consolas"/>
                <a:ea typeface="Consolas"/>
                <a:cs typeface="Consolas"/>
                <a:sym typeface="Consolas"/>
              </a:rPr>
              <a:t>codigo</a:t>
            </a:r>
            <a:r>
              <a:rPr lang="en-US" sz="837" dirty="0">
                <a:solidFill>
                  <a:srgbClr val="5B5F71"/>
                </a:solidFill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-US" sz="837" dirty="0" err="1">
                <a:solidFill>
                  <a:srgbClr val="5B5F71"/>
                </a:solidFill>
                <a:latin typeface="Consolas"/>
                <a:ea typeface="Consolas"/>
                <a:cs typeface="Consolas"/>
                <a:sym typeface="Consolas"/>
              </a:rPr>
              <a:t>aqui</a:t>
            </a:r>
            <a:r>
              <a:rPr lang="en-US" sz="837" dirty="0">
                <a:solidFill>
                  <a:srgbClr val="5B5F71"/>
                </a:solidFill>
                <a:latin typeface="Consolas"/>
                <a:ea typeface="Consolas"/>
                <a:cs typeface="Consolas"/>
                <a:sym typeface="Consolas"/>
              </a:rPr>
              <a:t>...");</a:t>
            </a:r>
          </a:p>
          <a:p>
            <a:pPr algn="l">
              <a:lnSpc>
                <a:spcPts val="1005"/>
              </a:lnSpc>
            </a:pPr>
            <a:endParaRPr lang="en-US" sz="837" dirty="0">
              <a:solidFill>
                <a:srgbClr val="5B5F71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algn="l">
              <a:lnSpc>
                <a:spcPts val="1005"/>
              </a:lnSpc>
            </a:pPr>
            <a:r>
              <a:rPr lang="en-US" sz="837" dirty="0">
                <a:solidFill>
                  <a:srgbClr val="5B5F71"/>
                </a:solidFill>
                <a:latin typeface="Consolas"/>
                <a:ea typeface="Consolas"/>
                <a:cs typeface="Consolas"/>
                <a:sym typeface="Consolas"/>
              </a:rPr>
              <a:t>    // </a:t>
            </a:r>
            <a:r>
              <a:rPr lang="en-US" sz="837" dirty="0" err="1">
                <a:solidFill>
                  <a:srgbClr val="5B5F71"/>
                </a:solidFill>
                <a:latin typeface="Consolas"/>
                <a:ea typeface="Consolas"/>
                <a:cs typeface="Consolas"/>
                <a:sym typeface="Consolas"/>
              </a:rPr>
              <a:t>Boton</a:t>
            </a:r>
            <a:r>
              <a:rPr lang="en-US" sz="837" dirty="0">
                <a:solidFill>
                  <a:srgbClr val="5B5F71"/>
                </a:solidFill>
                <a:latin typeface="Consolas"/>
                <a:ea typeface="Consolas"/>
                <a:cs typeface="Consolas"/>
                <a:sym typeface="Consolas"/>
              </a:rPr>
              <a:t> para </a:t>
            </a:r>
            <a:r>
              <a:rPr lang="en-US" sz="837" dirty="0" err="1">
                <a:solidFill>
                  <a:srgbClr val="5B5F71"/>
                </a:solidFill>
                <a:latin typeface="Consolas"/>
                <a:ea typeface="Consolas"/>
                <a:cs typeface="Consolas"/>
                <a:sym typeface="Consolas"/>
              </a:rPr>
              <a:t>analizar</a:t>
            </a:r>
            <a:endParaRPr lang="en-US" sz="837" dirty="0">
              <a:solidFill>
                <a:srgbClr val="5B5F71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algn="l">
              <a:lnSpc>
                <a:spcPts val="1005"/>
              </a:lnSpc>
            </a:pPr>
            <a:r>
              <a:rPr lang="en-US" sz="837" dirty="0">
                <a:solidFill>
                  <a:srgbClr val="5B5F71"/>
                </a:solidFill>
                <a:latin typeface="Consolas"/>
                <a:ea typeface="Consolas"/>
                <a:cs typeface="Consolas"/>
                <a:sym typeface="Consolas"/>
              </a:rPr>
              <a:t>    Button </a:t>
            </a:r>
            <a:r>
              <a:rPr lang="en-US" sz="837" dirty="0" err="1">
                <a:solidFill>
                  <a:srgbClr val="5B5F71"/>
                </a:solidFill>
                <a:latin typeface="Consolas"/>
                <a:ea typeface="Consolas"/>
                <a:cs typeface="Consolas"/>
                <a:sym typeface="Consolas"/>
              </a:rPr>
              <a:t>analizar</a:t>
            </a:r>
            <a:r>
              <a:rPr lang="en-US" sz="837" dirty="0">
                <a:solidFill>
                  <a:srgbClr val="5B5F71"/>
                </a:solidFill>
                <a:latin typeface="Consolas"/>
                <a:ea typeface="Consolas"/>
                <a:cs typeface="Consolas"/>
                <a:sym typeface="Consolas"/>
              </a:rPr>
              <a:t> = new Button("</a:t>
            </a:r>
            <a:r>
              <a:rPr lang="en-US" sz="837" dirty="0" err="1">
                <a:solidFill>
                  <a:srgbClr val="5B5F71"/>
                </a:solidFill>
                <a:latin typeface="Consolas"/>
                <a:ea typeface="Consolas"/>
                <a:cs typeface="Consolas"/>
                <a:sym typeface="Consolas"/>
              </a:rPr>
              <a:t>Analizar</a:t>
            </a:r>
            <a:r>
              <a:rPr lang="en-US" sz="837" dirty="0">
                <a:solidFill>
                  <a:srgbClr val="5B5F71"/>
                </a:solidFill>
                <a:latin typeface="Consolas"/>
                <a:ea typeface="Consolas"/>
                <a:cs typeface="Consolas"/>
                <a:sym typeface="Consolas"/>
              </a:rPr>
              <a:t>");</a:t>
            </a:r>
          </a:p>
          <a:p>
            <a:pPr algn="l">
              <a:lnSpc>
                <a:spcPts val="1005"/>
              </a:lnSpc>
            </a:pPr>
            <a:endParaRPr lang="en-US" sz="837" dirty="0">
              <a:solidFill>
                <a:srgbClr val="5B5F71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algn="l">
              <a:lnSpc>
                <a:spcPts val="1005"/>
              </a:lnSpc>
            </a:pPr>
            <a:r>
              <a:rPr lang="en-US" sz="837" dirty="0">
                <a:solidFill>
                  <a:srgbClr val="5B5F71"/>
                </a:solidFill>
                <a:latin typeface="Consolas"/>
                <a:ea typeface="Consolas"/>
                <a:cs typeface="Consolas"/>
                <a:sym typeface="Consolas"/>
              </a:rPr>
              <a:t>    // Area </a:t>
            </a:r>
            <a:r>
              <a:rPr lang="en-US" sz="837" dirty="0" err="1">
                <a:solidFill>
                  <a:srgbClr val="5B5F71"/>
                </a:solidFill>
                <a:latin typeface="Consolas"/>
                <a:ea typeface="Consolas"/>
                <a:cs typeface="Consolas"/>
                <a:sym typeface="Consolas"/>
              </a:rPr>
              <a:t>donde</a:t>
            </a:r>
            <a:r>
              <a:rPr lang="en-US" sz="837" dirty="0">
                <a:solidFill>
                  <a:srgbClr val="5B5F71"/>
                </a:solidFill>
                <a:latin typeface="Consolas"/>
                <a:ea typeface="Consolas"/>
                <a:cs typeface="Consolas"/>
                <a:sym typeface="Consolas"/>
              </a:rPr>
              <a:t> se </a:t>
            </a:r>
            <a:r>
              <a:rPr lang="en-US" sz="837" dirty="0" err="1">
                <a:solidFill>
                  <a:srgbClr val="5B5F71"/>
                </a:solidFill>
                <a:latin typeface="Consolas"/>
                <a:ea typeface="Consolas"/>
                <a:cs typeface="Consolas"/>
                <a:sym typeface="Consolas"/>
              </a:rPr>
              <a:t>mostraran</a:t>
            </a:r>
            <a:r>
              <a:rPr lang="en-US" sz="837" dirty="0">
                <a:solidFill>
                  <a:srgbClr val="5B5F71"/>
                </a:solidFill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-US" sz="837" dirty="0" err="1">
                <a:solidFill>
                  <a:srgbClr val="5B5F71"/>
                </a:solidFill>
                <a:latin typeface="Consolas"/>
                <a:ea typeface="Consolas"/>
                <a:cs typeface="Consolas"/>
                <a:sym typeface="Consolas"/>
              </a:rPr>
              <a:t>los</a:t>
            </a:r>
            <a:r>
              <a:rPr lang="en-US" sz="837" dirty="0">
                <a:solidFill>
                  <a:srgbClr val="5B5F71"/>
                </a:solidFill>
                <a:latin typeface="Consolas"/>
                <a:ea typeface="Consolas"/>
                <a:cs typeface="Consolas"/>
                <a:sym typeface="Consolas"/>
              </a:rPr>
              <a:t> tokens</a:t>
            </a:r>
          </a:p>
          <a:p>
            <a:pPr algn="l">
              <a:lnSpc>
                <a:spcPts val="1005"/>
              </a:lnSpc>
            </a:pPr>
            <a:r>
              <a:rPr lang="en-US" sz="837" dirty="0">
                <a:solidFill>
                  <a:srgbClr val="5B5F71"/>
                </a:solidFill>
                <a:latin typeface="Consolas"/>
                <a:ea typeface="Consolas"/>
                <a:cs typeface="Consolas"/>
                <a:sym typeface="Consolas"/>
              </a:rPr>
              <a:t>    </a:t>
            </a:r>
            <a:r>
              <a:rPr lang="en-US" sz="837" dirty="0" err="1">
                <a:solidFill>
                  <a:srgbClr val="5B5F71"/>
                </a:solidFill>
                <a:latin typeface="Consolas"/>
                <a:ea typeface="Consolas"/>
                <a:cs typeface="Consolas"/>
                <a:sym typeface="Consolas"/>
              </a:rPr>
              <a:t>TextArea</a:t>
            </a:r>
            <a:r>
              <a:rPr lang="en-US" sz="837" dirty="0">
                <a:solidFill>
                  <a:srgbClr val="5B5F71"/>
                </a:solidFill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-US" sz="837" dirty="0" err="1">
                <a:solidFill>
                  <a:srgbClr val="5B5F71"/>
                </a:solidFill>
                <a:latin typeface="Consolas"/>
                <a:ea typeface="Consolas"/>
                <a:cs typeface="Consolas"/>
                <a:sym typeface="Consolas"/>
              </a:rPr>
              <a:t>resultado</a:t>
            </a:r>
            <a:r>
              <a:rPr lang="en-US" sz="837" dirty="0">
                <a:solidFill>
                  <a:srgbClr val="5B5F71"/>
                </a:solidFill>
                <a:latin typeface="Consolas"/>
                <a:ea typeface="Consolas"/>
                <a:cs typeface="Consolas"/>
                <a:sym typeface="Consolas"/>
              </a:rPr>
              <a:t> = new </a:t>
            </a:r>
            <a:r>
              <a:rPr lang="en-US" sz="837" dirty="0" err="1">
                <a:solidFill>
                  <a:srgbClr val="5B5F71"/>
                </a:solidFill>
                <a:latin typeface="Consolas"/>
                <a:ea typeface="Consolas"/>
                <a:cs typeface="Consolas"/>
                <a:sym typeface="Consolas"/>
              </a:rPr>
              <a:t>TextArea</a:t>
            </a:r>
            <a:r>
              <a:rPr lang="en-US" sz="837" dirty="0">
                <a:solidFill>
                  <a:srgbClr val="5B5F71"/>
                </a:solidFill>
                <a:latin typeface="Consolas"/>
                <a:ea typeface="Consolas"/>
                <a:cs typeface="Consolas"/>
                <a:sym typeface="Consolas"/>
              </a:rPr>
              <a:t>();</a:t>
            </a:r>
          </a:p>
          <a:p>
            <a:pPr algn="l">
              <a:lnSpc>
                <a:spcPts val="1005"/>
              </a:lnSpc>
            </a:pPr>
            <a:r>
              <a:rPr lang="en-US" sz="837" dirty="0">
                <a:solidFill>
                  <a:srgbClr val="5B5F71"/>
                </a:solidFill>
                <a:latin typeface="Consolas"/>
                <a:ea typeface="Consolas"/>
                <a:cs typeface="Consolas"/>
                <a:sym typeface="Consolas"/>
              </a:rPr>
              <a:t>    </a:t>
            </a:r>
            <a:r>
              <a:rPr lang="en-US" sz="837" dirty="0" err="1">
                <a:solidFill>
                  <a:srgbClr val="5B5F71"/>
                </a:solidFill>
                <a:latin typeface="Consolas"/>
                <a:ea typeface="Consolas"/>
                <a:cs typeface="Consolas"/>
                <a:sym typeface="Consolas"/>
              </a:rPr>
              <a:t>resultado.setEditable</a:t>
            </a:r>
            <a:r>
              <a:rPr lang="en-US" sz="837" dirty="0">
                <a:solidFill>
                  <a:srgbClr val="5B5F71"/>
                </a:solidFill>
                <a:latin typeface="Consolas"/>
                <a:ea typeface="Consolas"/>
                <a:cs typeface="Consolas"/>
                <a:sym typeface="Consolas"/>
              </a:rPr>
              <a:t>(false);</a:t>
            </a:r>
          </a:p>
          <a:p>
            <a:pPr algn="l">
              <a:lnSpc>
                <a:spcPts val="1005"/>
              </a:lnSpc>
            </a:pPr>
            <a:endParaRPr lang="en-US" sz="837" dirty="0">
              <a:solidFill>
                <a:srgbClr val="5B5F71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algn="l">
              <a:lnSpc>
                <a:spcPts val="1005"/>
              </a:lnSpc>
            </a:pPr>
            <a:r>
              <a:rPr lang="en-US" sz="837" dirty="0">
                <a:solidFill>
                  <a:srgbClr val="5B5F71"/>
                </a:solidFill>
                <a:latin typeface="Consolas"/>
                <a:ea typeface="Consolas"/>
                <a:cs typeface="Consolas"/>
                <a:sym typeface="Consolas"/>
              </a:rPr>
              <a:t>    </a:t>
            </a:r>
            <a:r>
              <a:rPr lang="en-US" sz="837" dirty="0" err="1">
                <a:solidFill>
                  <a:srgbClr val="5B5F71"/>
                </a:solidFill>
                <a:latin typeface="Consolas"/>
                <a:ea typeface="Consolas"/>
                <a:cs typeface="Consolas"/>
                <a:sym typeface="Consolas"/>
              </a:rPr>
              <a:t>analizar.setOnAction</a:t>
            </a:r>
            <a:r>
              <a:rPr lang="en-US" sz="837" dirty="0">
                <a:solidFill>
                  <a:srgbClr val="5B5F71"/>
                </a:solidFill>
                <a:latin typeface="Consolas"/>
                <a:ea typeface="Consolas"/>
                <a:cs typeface="Consolas"/>
                <a:sym typeface="Consolas"/>
              </a:rPr>
              <a:t>(e -&gt; {</a:t>
            </a:r>
          </a:p>
          <a:p>
            <a:pPr algn="l">
              <a:lnSpc>
                <a:spcPts val="1005"/>
              </a:lnSpc>
            </a:pPr>
            <a:endParaRPr lang="en-US" sz="837" dirty="0">
              <a:solidFill>
                <a:srgbClr val="5B5F71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algn="l">
              <a:lnSpc>
                <a:spcPts val="1005"/>
              </a:lnSpc>
            </a:pPr>
            <a:r>
              <a:rPr lang="en-US" sz="837" dirty="0">
                <a:solidFill>
                  <a:srgbClr val="5B5F71"/>
                </a:solidFill>
                <a:latin typeface="Consolas"/>
                <a:ea typeface="Consolas"/>
                <a:cs typeface="Consolas"/>
                <a:sym typeface="Consolas"/>
              </a:rPr>
              <a:t>      String </a:t>
            </a:r>
            <a:r>
              <a:rPr lang="en-US" sz="837" dirty="0" err="1">
                <a:solidFill>
                  <a:srgbClr val="5B5F71"/>
                </a:solidFill>
                <a:latin typeface="Consolas"/>
                <a:ea typeface="Consolas"/>
                <a:cs typeface="Consolas"/>
                <a:sym typeface="Consolas"/>
              </a:rPr>
              <a:t>texto</a:t>
            </a:r>
            <a:r>
              <a:rPr lang="en-US" sz="837" dirty="0">
                <a:solidFill>
                  <a:srgbClr val="5B5F71"/>
                </a:solidFill>
                <a:latin typeface="Consolas"/>
                <a:ea typeface="Consolas"/>
                <a:cs typeface="Consolas"/>
                <a:sym typeface="Consolas"/>
              </a:rPr>
              <a:t> = </a:t>
            </a:r>
            <a:r>
              <a:rPr lang="en-US" sz="837" dirty="0" err="1">
                <a:solidFill>
                  <a:srgbClr val="5B5F71"/>
                </a:solidFill>
                <a:latin typeface="Consolas"/>
                <a:ea typeface="Consolas"/>
                <a:cs typeface="Consolas"/>
                <a:sym typeface="Consolas"/>
              </a:rPr>
              <a:t>codigo.getText</a:t>
            </a:r>
            <a:r>
              <a:rPr lang="en-US" sz="837" dirty="0">
                <a:solidFill>
                  <a:srgbClr val="5B5F71"/>
                </a:solidFill>
                <a:latin typeface="Consolas"/>
                <a:ea typeface="Consolas"/>
                <a:cs typeface="Consolas"/>
                <a:sym typeface="Consolas"/>
              </a:rPr>
              <a:t>();</a:t>
            </a:r>
          </a:p>
          <a:p>
            <a:pPr algn="l">
              <a:lnSpc>
                <a:spcPts val="1005"/>
              </a:lnSpc>
            </a:pPr>
            <a:r>
              <a:rPr lang="en-US" sz="837" dirty="0">
                <a:solidFill>
                  <a:srgbClr val="5B5F71"/>
                </a:solidFill>
                <a:latin typeface="Consolas"/>
                <a:ea typeface="Consolas"/>
                <a:cs typeface="Consolas"/>
                <a:sym typeface="Consolas"/>
              </a:rPr>
              <a:t>      String[] tokens = </a:t>
            </a:r>
            <a:r>
              <a:rPr lang="en-US" sz="837" dirty="0" err="1">
                <a:solidFill>
                  <a:srgbClr val="5B5F71"/>
                </a:solidFill>
                <a:latin typeface="Consolas"/>
                <a:ea typeface="Consolas"/>
                <a:cs typeface="Consolas"/>
                <a:sym typeface="Consolas"/>
              </a:rPr>
              <a:t>texto.split</a:t>
            </a:r>
            <a:r>
              <a:rPr lang="en-US" sz="837" dirty="0">
                <a:solidFill>
                  <a:srgbClr val="5B5F71"/>
                </a:solidFill>
                <a:latin typeface="Consolas"/>
                <a:ea typeface="Consolas"/>
                <a:cs typeface="Consolas"/>
                <a:sym typeface="Consolas"/>
              </a:rPr>
              <a:t>(" ");</a:t>
            </a:r>
          </a:p>
          <a:p>
            <a:pPr algn="l">
              <a:lnSpc>
                <a:spcPts val="1005"/>
              </a:lnSpc>
            </a:pPr>
            <a:endParaRPr lang="en-US" sz="837" dirty="0">
              <a:solidFill>
                <a:srgbClr val="5B5F71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algn="l">
              <a:lnSpc>
                <a:spcPts val="1005"/>
              </a:lnSpc>
            </a:pPr>
            <a:r>
              <a:rPr lang="en-US" sz="837" dirty="0">
                <a:solidFill>
                  <a:srgbClr val="5B5F71"/>
                </a:solidFill>
                <a:latin typeface="Consolas"/>
                <a:ea typeface="Consolas"/>
                <a:cs typeface="Consolas"/>
                <a:sym typeface="Consolas"/>
              </a:rPr>
              <a:t>      String </a:t>
            </a:r>
            <a:r>
              <a:rPr lang="en-US" sz="837" dirty="0" err="1">
                <a:solidFill>
                  <a:srgbClr val="5B5F71"/>
                </a:solidFill>
                <a:latin typeface="Consolas"/>
                <a:ea typeface="Consolas"/>
                <a:cs typeface="Consolas"/>
                <a:sym typeface="Consolas"/>
              </a:rPr>
              <a:t>salida</a:t>
            </a:r>
            <a:r>
              <a:rPr lang="en-US" sz="837" dirty="0">
                <a:solidFill>
                  <a:srgbClr val="5B5F71"/>
                </a:solidFill>
                <a:latin typeface="Consolas"/>
                <a:ea typeface="Consolas"/>
                <a:cs typeface="Consolas"/>
                <a:sym typeface="Consolas"/>
              </a:rPr>
              <a:t> = "Token\t\</a:t>
            </a:r>
            <a:r>
              <a:rPr lang="en-US" sz="837" dirty="0" err="1">
                <a:solidFill>
                  <a:srgbClr val="5B5F71"/>
                </a:solidFill>
                <a:latin typeface="Consolas"/>
                <a:ea typeface="Consolas"/>
                <a:cs typeface="Consolas"/>
                <a:sym typeface="Consolas"/>
              </a:rPr>
              <a:t>tTipo</a:t>
            </a:r>
            <a:r>
              <a:rPr lang="en-US" sz="837" dirty="0">
                <a:solidFill>
                  <a:srgbClr val="5B5F71"/>
                </a:solidFill>
                <a:latin typeface="Consolas"/>
                <a:ea typeface="Consolas"/>
                <a:cs typeface="Consolas"/>
                <a:sym typeface="Consolas"/>
              </a:rPr>
              <a:t>\n";</a:t>
            </a:r>
          </a:p>
          <a:p>
            <a:pPr algn="l">
              <a:lnSpc>
                <a:spcPts val="1005"/>
              </a:lnSpc>
            </a:pPr>
            <a:endParaRPr lang="en-US" sz="837" dirty="0">
              <a:solidFill>
                <a:srgbClr val="5B5F71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algn="l">
              <a:lnSpc>
                <a:spcPts val="1005"/>
              </a:lnSpc>
            </a:pPr>
            <a:r>
              <a:rPr lang="en-US" sz="837" dirty="0">
                <a:solidFill>
                  <a:srgbClr val="5B5F71"/>
                </a:solidFill>
                <a:latin typeface="Consolas"/>
                <a:ea typeface="Consolas"/>
                <a:cs typeface="Consolas"/>
                <a:sym typeface="Consolas"/>
              </a:rPr>
              <a:t>      for (String token : tokens) {</a:t>
            </a:r>
          </a:p>
          <a:p>
            <a:pPr algn="l">
              <a:lnSpc>
                <a:spcPts val="1005"/>
              </a:lnSpc>
            </a:pPr>
            <a:endParaRPr lang="en-US" sz="837" dirty="0">
              <a:solidFill>
                <a:srgbClr val="5B5F71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algn="l">
              <a:lnSpc>
                <a:spcPts val="1005"/>
              </a:lnSpc>
            </a:pPr>
            <a:r>
              <a:rPr lang="en-US" sz="837" dirty="0">
                <a:solidFill>
                  <a:srgbClr val="5B5F71"/>
                </a:solidFill>
                <a:latin typeface="Consolas"/>
                <a:ea typeface="Consolas"/>
                <a:cs typeface="Consolas"/>
                <a:sym typeface="Consolas"/>
              </a:rPr>
              <a:t>        if (</a:t>
            </a:r>
            <a:r>
              <a:rPr lang="en-US" sz="837" dirty="0" err="1">
                <a:solidFill>
                  <a:srgbClr val="5B5F71"/>
                </a:solidFill>
                <a:latin typeface="Consolas"/>
                <a:ea typeface="Consolas"/>
                <a:cs typeface="Consolas"/>
                <a:sym typeface="Consolas"/>
              </a:rPr>
              <a:t>token.equals</a:t>
            </a:r>
            <a:r>
              <a:rPr lang="en-US" sz="837" dirty="0">
                <a:solidFill>
                  <a:srgbClr val="5B5F71"/>
                </a:solidFill>
                <a:latin typeface="Consolas"/>
                <a:ea typeface="Consolas"/>
                <a:cs typeface="Consolas"/>
                <a:sym typeface="Consolas"/>
              </a:rPr>
              <a:t>("int")) {</a:t>
            </a:r>
          </a:p>
          <a:p>
            <a:pPr algn="l">
              <a:lnSpc>
                <a:spcPts val="1005"/>
              </a:lnSpc>
            </a:pPr>
            <a:r>
              <a:rPr lang="en-US" sz="837" dirty="0">
                <a:solidFill>
                  <a:srgbClr val="5B5F71"/>
                </a:solidFill>
                <a:latin typeface="Consolas"/>
                <a:ea typeface="Consolas"/>
                <a:cs typeface="Consolas"/>
                <a:sym typeface="Consolas"/>
              </a:rPr>
              <a:t>          </a:t>
            </a:r>
            <a:r>
              <a:rPr lang="en-US" sz="837" dirty="0" err="1">
                <a:solidFill>
                  <a:srgbClr val="5B5F71"/>
                </a:solidFill>
                <a:latin typeface="Consolas"/>
                <a:ea typeface="Consolas"/>
                <a:cs typeface="Consolas"/>
                <a:sym typeface="Consolas"/>
              </a:rPr>
              <a:t>salida</a:t>
            </a:r>
            <a:r>
              <a:rPr lang="en-US" sz="837" dirty="0">
                <a:solidFill>
                  <a:srgbClr val="5B5F71"/>
                </a:solidFill>
                <a:latin typeface="Consolas"/>
                <a:ea typeface="Consolas"/>
                <a:cs typeface="Consolas"/>
                <a:sym typeface="Consolas"/>
              </a:rPr>
              <a:t> += token + "\t\</a:t>
            </a:r>
            <a:r>
              <a:rPr lang="en-US" sz="837" dirty="0" err="1">
                <a:solidFill>
                  <a:srgbClr val="5B5F71"/>
                </a:solidFill>
                <a:latin typeface="Consolas"/>
                <a:ea typeface="Consolas"/>
                <a:cs typeface="Consolas"/>
                <a:sym typeface="Consolas"/>
              </a:rPr>
              <a:t>tPalabra</a:t>
            </a:r>
            <a:r>
              <a:rPr lang="en-US" sz="837" dirty="0">
                <a:solidFill>
                  <a:srgbClr val="5B5F71"/>
                </a:solidFill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-US" sz="837" dirty="0" err="1">
                <a:solidFill>
                  <a:srgbClr val="5B5F71"/>
                </a:solidFill>
                <a:latin typeface="Consolas"/>
                <a:ea typeface="Consolas"/>
                <a:cs typeface="Consolas"/>
                <a:sym typeface="Consolas"/>
              </a:rPr>
              <a:t>reservada</a:t>
            </a:r>
            <a:r>
              <a:rPr lang="en-US" sz="837" dirty="0">
                <a:solidFill>
                  <a:srgbClr val="5B5F71"/>
                </a:solidFill>
                <a:latin typeface="Consolas"/>
                <a:ea typeface="Consolas"/>
                <a:cs typeface="Consolas"/>
                <a:sym typeface="Consolas"/>
              </a:rPr>
              <a:t>\n";</a:t>
            </a:r>
          </a:p>
          <a:p>
            <a:pPr algn="l">
              <a:lnSpc>
                <a:spcPts val="1005"/>
              </a:lnSpc>
            </a:pPr>
            <a:r>
              <a:rPr lang="en-US" sz="837" dirty="0">
                <a:solidFill>
                  <a:srgbClr val="5B5F71"/>
                </a:solidFill>
                <a:latin typeface="Consolas"/>
                <a:ea typeface="Consolas"/>
                <a:cs typeface="Consolas"/>
                <a:sym typeface="Consolas"/>
              </a:rPr>
              <a:t>        }</a:t>
            </a:r>
          </a:p>
          <a:p>
            <a:pPr algn="l">
              <a:lnSpc>
                <a:spcPts val="1005"/>
              </a:lnSpc>
            </a:pPr>
            <a:r>
              <a:rPr lang="en-US" sz="837" dirty="0">
                <a:solidFill>
                  <a:srgbClr val="5B5F71"/>
                </a:solidFill>
                <a:latin typeface="Consolas"/>
                <a:ea typeface="Consolas"/>
                <a:cs typeface="Consolas"/>
                <a:sym typeface="Consolas"/>
              </a:rPr>
              <a:t>        else if (</a:t>
            </a:r>
            <a:r>
              <a:rPr lang="en-US" sz="837" dirty="0" err="1">
                <a:solidFill>
                  <a:srgbClr val="5B5F71"/>
                </a:solidFill>
                <a:latin typeface="Consolas"/>
                <a:ea typeface="Consolas"/>
                <a:cs typeface="Consolas"/>
                <a:sym typeface="Consolas"/>
              </a:rPr>
              <a:t>token.matches</a:t>
            </a:r>
            <a:r>
              <a:rPr lang="en-US" sz="837" dirty="0">
                <a:solidFill>
                  <a:srgbClr val="5B5F71"/>
                </a:solidFill>
                <a:latin typeface="Consolas"/>
                <a:ea typeface="Consolas"/>
                <a:cs typeface="Consolas"/>
                <a:sym typeface="Consolas"/>
              </a:rPr>
              <a:t>("[a-</a:t>
            </a:r>
            <a:r>
              <a:rPr lang="en-US" sz="837" dirty="0" err="1">
                <a:solidFill>
                  <a:srgbClr val="5B5F71"/>
                </a:solidFill>
                <a:latin typeface="Consolas"/>
                <a:ea typeface="Consolas"/>
                <a:cs typeface="Consolas"/>
                <a:sym typeface="Consolas"/>
              </a:rPr>
              <a:t>zA</a:t>
            </a:r>
            <a:r>
              <a:rPr lang="en-US" sz="837" dirty="0">
                <a:solidFill>
                  <a:srgbClr val="5B5F71"/>
                </a:solidFill>
                <a:latin typeface="Consolas"/>
                <a:ea typeface="Consolas"/>
                <a:cs typeface="Consolas"/>
                <a:sym typeface="Consolas"/>
              </a:rPr>
              <a:t>-Z]+")) {</a:t>
            </a:r>
          </a:p>
          <a:p>
            <a:pPr algn="l">
              <a:lnSpc>
                <a:spcPts val="1005"/>
              </a:lnSpc>
            </a:pPr>
            <a:r>
              <a:rPr lang="en-US" sz="837" dirty="0">
                <a:solidFill>
                  <a:srgbClr val="5B5F71"/>
                </a:solidFill>
                <a:latin typeface="Consolas"/>
                <a:ea typeface="Consolas"/>
                <a:cs typeface="Consolas"/>
                <a:sym typeface="Consolas"/>
              </a:rPr>
              <a:t>          </a:t>
            </a:r>
            <a:r>
              <a:rPr lang="en-US" sz="837" dirty="0" err="1">
                <a:solidFill>
                  <a:srgbClr val="5B5F71"/>
                </a:solidFill>
                <a:latin typeface="Consolas"/>
                <a:ea typeface="Consolas"/>
                <a:cs typeface="Consolas"/>
                <a:sym typeface="Consolas"/>
              </a:rPr>
              <a:t>salida</a:t>
            </a:r>
            <a:r>
              <a:rPr lang="en-US" sz="837" dirty="0">
                <a:solidFill>
                  <a:srgbClr val="5B5F71"/>
                </a:solidFill>
                <a:latin typeface="Consolas"/>
                <a:ea typeface="Consolas"/>
                <a:cs typeface="Consolas"/>
                <a:sym typeface="Consolas"/>
              </a:rPr>
              <a:t> += token + "\t\</a:t>
            </a:r>
            <a:r>
              <a:rPr lang="en-US" sz="837" dirty="0" err="1">
                <a:solidFill>
                  <a:srgbClr val="5B5F71"/>
                </a:solidFill>
                <a:latin typeface="Consolas"/>
                <a:ea typeface="Consolas"/>
                <a:cs typeface="Consolas"/>
                <a:sym typeface="Consolas"/>
              </a:rPr>
              <a:t>tIdentificador</a:t>
            </a:r>
            <a:r>
              <a:rPr lang="en-US" sz="837" dirty="0">
                <a:solidFill>
                  <a:srgbClr val="5B5F71"/>
                </a:solidFill>
                <a:latin typeface="Consolas"/>
                <a:ea typeface="Consolas"/>
                <a:cs typeface="Consolas"/>
                <a:sym typeface="Consolas"/>
              </a:rPr>
              <a:t>\n";</a:t>
            </a:r>
          </a:p>
          <a:p>
            <a:pPr algn="l">
              <a:lnSpc>
                <a:spcPts val="1005"/>
              </a:lnSpc>
            </a:pPr>
            <a:r>
              <a:rPr lang="en-US" sz="837" dirty="0">
                <a:solidFill>
                  <a:srgbClr val="5B5F71"/>
                </a:solidFill>
                <a:latin typeface="Consolas"/>
                <a:ea typeface="Consolas"/>
                <a:cs typeface="Consolas"/>
                <a:sym typeface="Consolas"/>
              </a:rPr>
              <a:t>        }</a:t>
            </a:r>
          </a:p>
          <a:p>
            <a:pPr algn="l">
              <a:lnSpc>
                <a:spcPts val="1005"/>
              </a:lnSpc>
            </a:pPr>
            <a:r>
              <a:rPr lang="en-US" sz="837" dirty="0">
                <a:solidFill>
                  <a:srgbClr val="5B5F71"/>
                </a:solidFill>
                <a:latin typeface="Consolas"/>
                <a:ea typeface="Consolas"/>
                <a:cs typeface="Consolas"/>
                <a:sym typeface="Consolas"/>
              </a:rPr>
              <a:t>        else if (</a:t>
            </a:r>
            <a:r>
              <a:rPr lang="en-US" sz="837" dirty="0" err="1">
                <a:solidFill>
                  <a:srgbClr val="5B5F71"/>
                </a:solidFill>
                <a:latin typeface="Consolas"/>
                <a:ea typeface="Consolas"/>
                <a:cs typeface="Consolas"/>
                <a:sym typeface="Consolas"/>
              </a:rPr>
              <a:t>token.matches</a:t>
            </a:r>
            <a:r>
              <a:rPr lang="en-US" sz="837" dirty="0">
                <a:solidFill>
                  <a:srgbClr val="5B5F71"/>
                </a:solidFill>
                <a:latin typeface="Consolas"/>
                <a:ea typeface="Consolas"/>
                <a:cs typeface="Consolas"/>
                <a:sym typeface="Consolas"/>
              </a:rPr>
              <a:t>("[0-9]+")) {</a:t>
            </a:r>
          </a:p>
          <a:p>
            <a:pPr algn="l">
              <a:lnSpc>
                <a:spcPts val="1005"/>
              </a:lnSpc>
            </a:pPr>
            <a:r>
              <a:rPr lang="en-US" sz="837" dirty="0">
                <a:solidFill>
                  <a:srgbClr val="5B5F71"/>
                </a:solidFill>
                <a:latin typeface="Consolas"/>
                <a:ea typeface="Consolas"/>
                <a:cs typeface="Consolas"/>
                <a:sym typeface="Consolas"/>
              </a:rPr>
              <a:t>          </a:t>
            </a:r>
            <a:r>
              <a:rPr lang="en-US" sz="837" dirty="0" err="1">
                <a:solidFill>
                  <a:srgbClr val="5B5F71"/>
                </a:solidFill>
                <a:latin typeface="Consolas"/>
                <a:ea typeface="Consolas"/>
                <a:cs typeface="Consolas"/>
                <a:sym typeface="Consolas"/>
              </a:rPr>
              <a:t>salida</a:t>
            </a:r>
            <a:r>
              <a:rPr lang="en-US" sz="837" dirty="0">
                <a:solidFill>
                  <a:srgbClr val="5B5F71"/>
                </a:solidFill>
                <a:latin typeface="Consolas"/>
                <a:ea typeface="Consolas"/>
                <a:cs typeface="Consolas"/>
                <a:sym typeface="Consolas"/>
              </a:rPr>
              <a:t> += token + "\t\</a:t>
            </a:r>
            <a:r>
              <a:rPr lang="en-US" sz="837" dirty="0" err="1">
                <a:solidFill>
                  <a:srgbClr val="5B5F71"/>
                </a:solidFill>
                <a:latin typeface="Consolas"/>
                <a:ea typeface="Consolas"/>
                <a:cs typeface="Consolas"/>
                <a:sym typeface="Consolas"/>
              </a:rPr>
              <a:t>tNumero</a:t>
            </a:r>
            <a:r>
              <a:rPr lang="en-US" sz="837" dirty="0">
                <a:solidFill>
                  <a:srgbClr val="5B5F71"/>
                </a:solidFill>
                <a:latin typeface="Consolas"/>
                <a:ea typeface="Consolas"/>
                <a:cs typeface="Consolas"/>
                <a:sym typeface="Consolas"/>
              </a:rPr>
              <a:t>\n";</a:t>
            </a:r>
          </a:p>
          <a:p>
            <a:pPr algn="l">
              <a:lnSpc>
                <a:spcPts val="1005"/>
              </a:lnSpc>
            </a:pPr>
            <a:r>
              <a:rPr lang="en-US" sz="837" dirty="0">
                <a:solidFill>
                  <a:srgbClr val="5B5F71"/>
                </a:solidFill>
                <a:latin typeface="Consolas"/>
                <a:ea typeface="Consolas"/>
                <a:cs typeface="Consolas"/>
                <a:sym typeface="Consolas"/>
              </a:rPr>
              <a:t>        }</a:t>
            </a:r>
          </a:p>
          <a:p>
            <a:pPr algn="l">
              <a:lnSpc>
                <a:spcPts val="1005"/>
              </a:lnSpc>
            </a:pPr>
            <a:r>
              <a:rPr lang="en-US" sz="837" dirty="0">
                <a:solidFill>
                  <a:srgbClr val="5B5F71"/>
                </a:solidFill>
                <a:latin typeface="Consolas"/>
                <a:ea typeface="Consolas"/>
                <a:cs typeface="Consolas"/>
                <a:sym typeface="Consolas"/>
              </a:rPr>
              <a:t>        else if (</a:t>
            </a:r>
            <a:r>
              <a:rPr lang="en-US" sz="837" dirty="0" err="1">
                <a:solidFill>
                  <a:srgbClr val="5B5F71"/>
                </a:solidFill>
                <a:latin typeface="Consolas"/>
                <a:ea typeface="Consolas"/>
                <a:cs typeface="Consolas"/>
                <a:sym typeface="Consolas"/>
              </a:rPr>
              <a:t>token.equals</a:t>
            </a:r>
            <a:r>
              <a:rPr lang="en-US" sz="837" dirty="0">
                <a:solidFill>
                  <a:srgbClr val="5B5F71"/>
                </a:solidFill>
                <a:latin typeface="Consolas"/>
                <a:ea typeface="Consolas"/>
                <a:cs typeface="Consolas"/>
                <a:sym typeface="Consolas"/>
              </a:rPr>
              <a:t>("=") || </a:t>
            </a:r>
            <a:r>
              <a:rPr lang="en-US" sz="837" dirty="0" err="1">
                <a:solidFill>
                  <a:srgbClr val="5B5F71"/>
                </a:solidFill>
                <a:latin typeface="Consolas"/>
                <a:ea typeface="Consolas"/>
                <a:cs typeface="Consolas"/>
                <a:sym typeface="Consolas"/>
              </a:rPr>
              <a:t>token.equals</a:t>
            </a:r>
            <a:r>
              <a:rPr lang="en-US" sz="837" dirty="0">
                <a:solidFill>
                  <a:srgbClr val="5B5F71"/>
                </a:solidFill>
                <a:latin typeface="Consolas"/>
                <a:ea typeface="Consolas"/>
                <a:cs typeface="Consolas"/>
                <a:sym typeface="Consolas"/>
              </a:rPr>
              <a:t>("+")) {</a:t>
            </a:r>
          </a:p>
          <a:p>
            <a:pPr algn="l">
              <a:lnSpc>
                <a:spcPts val="1005"/>
              </a:lnSpc>
            </a:pPr>
            <a:r>
              <a:rPr lang="en-US" sz="837" dirty="0">
                <a:solidFill>
                  <a:srgbClr val="5B5F71"/>
                </a:solidFill>
                <a:latin typeface="Consolas"/>
                <a:ea typeface="Consolas"/>
                <a:cs typeface="Consolas"/>
                <a:sym typeface="Consolas"/>
              </a:rPr>
              <a:t>          </a:t>
            </a:r>
            <a:r>
              <a:rPr lang="en-US" sz="837" dirty="0" err="1">
                <a:solidFill>
                  <a:srgbClr val="5B5F71"/>
                </a:solidFill>
                <a:latin typeface="Consolas"/>
                <a:ea typeface="Consolas"/>
                <a:cs typeface="Consolas"/>
                <a:sym typeface="Consolas"/>
              </a:rPr>
              <a:t>salida</a:t>
            </a:r>
            <a:r>
              <a:rPr lang="en-US" sz="837" dirty="0">
                <a:solidFill>
                  <a:srgbClr val="5B5F71"/>
                </a:solidFill>
                <a:latin typeface="Consolas"/>
                <a:ea typeface="Consolas"/>
                <a:cs typeface="Consolas"/>
                <a:sym typeface="Consolas"/>
              </a:rPr>
              <a:t> += token + "\t\</a:t>
            </a:r>
            <a:r>
              <a:rPr lang="en-US" sz="837" dirty="0" err="1">
                <a:solidFill>
                  <a:srgbClr val="5B5F71"/>
                </a:solidFill>
                <a:latin typeface="Consolas"/>
                <a:ea typeface="Consolas"/>
                <a:cs typeface="Consolas"/>
                <a:sym typeface="Consolas"/>
              </a:rPr>
              <a:t>tOperador</a:t>
            </a:r>
            <a:r>
              <a:rPr lang="en-US" sz="837" dirty="0">
                <a:solidFill>
                  <a:srgbClr val="5B5F71"/>
                </a:solidFill>
                <a:latin typeface="Consolas"/>
                <a:ea typeface="Consolas"/>
                <a:cs typeface="Consolas"/>
                <a:sym typeface="Consolas"/>
              </a:rPr>
              <a:t>\n";</a:t>
            </a:r>
          </a:p>
          <a:p>
            <a:pPr algn="l">
              <a:lnSpc>
                <a:spcPts val="1005"/>
              </a:lnSpc>
            </a:pPr>
            <a:r>
              <a:rPr lang="en-US" sz="837" dirty="0">
                <a:solidFill>
                  <a:srgbClr val="5B5F71"/>
                </a:solidFill>
                <a:latin typeface="Consolas"/>
                <a:ea typeface="Consolas"/>
                <a:cs typeface="Consolas"/>
                <a:sym typeface="Consolas"/>
              </a:rPr>
              <a:t>        }</a:t>
            </a:r>
          </a:p>
          <a:p>
            <a:pPr algn="l">
              <a:lnSpc>
                <a:spcPts val="1005"/>
              </a:lnSpc>
            </a:pPr>
            <a:r>
              <a:rPr lang="en-US" sz="837" dirty="0">
                <a:solidFill>
                  <a:srgbClr val="5B5F71"/>
                </a:solidFill>
                <a:latin typeface="Consolas"/>
                <a:ea typeface="Consolas"/>
                <a:cs typeface="Consolas"/>
                <a:sym typeface="Consolas"/>
              </a:rPr>
              <a:t>        else if (</a:t>
            </a:r>
            <a:r>
              <a:rPr lang="en-US" sz="837" dirty="0" err="1">
                <a:solidFill>
                  <a:srgbClr val="5B5F71"/>
                </a:solidFill>
                <a:latin typeface="Consolas"/>
                <a:ea typeface="Consolas"/>
                <a:cs typeface="Consolas"/>
                <a:sym typeface="Consolas"/>
              </a:rPr>
              <a:t>token.contains</a:t>
            </a:r>
            <a:r>
              <a:rPr lang="en-US" sz="837" dirty="0">
                <a:solidFill>
                  <a:srgbClr val="5B5F71"/>
                </a:solidFill>
                <a:latin typeface="Consolas"/>
                <a:ea typeface="Consolas"/>
                <a:cs typeface="Consolas"/>
                <a:sym typeface="Consolas"/>
              </a:rPr>
              <a:t>(";")) {</a:t>
            </a:r>
          </a:p>
          <a:p>
            <a:pPr algn="l">
              <a:lnSpc>
                <a:spcPts val="1005"/>
              </a:lnSpc>
            </a:pPr>
            <a:r>
              <a:rPr lang="en-US" sz="837" dirty="0">
                <a:solidFill>
                  <a:srgbClr val="5B5F71"/>
                </a:solidFill>
                <a:latin typeface="Consolas"/>
                <a:ea typeface="Consolas"/>
                <a:cs typeface="Consolas"/>
                <a:sym typeface="Consolas"/>
              </a:rPr>
              <a:t>          </a:t>
            </a:r>
            <a:r>
              <a:rPr lang="en-US" sz="837" dirty="0" err="1">
                <a:solidFill>
                  <a:srgbClr val="5B5F71"/>
                </a:solidFill>
                <a:latin typeface="Consolas"/>
                <a:ea typeface="Consolas"/>
                <a:cs typeface="Consolas"/>
                <a:sym typeface="Consolas"/>
              </a:rPr>
              <a:t>salida</a:t>
            </a:r>
            <a:r>
              <a:rPr lang="en-US" sz="837" dirty="0">
                <a:solidFill>
                  <a:srgbClr val="5B5F71"/>
                </a:solidFill>
                <a:latin typeface="Consolas"/>
                <a:ea typeface="Consolas"/>
                <a:cs typeface="Consolas"/>
                <a:sym typeface="Consolas"/>
              </a:rPr>
              <a:t> += token + "\t\</a:t>
            </a:r>
            <a:r>
              <a:rPr lang="en-US" sz="837" dirty="0" err="1">
                <a:solidFill>
                  <a:srgbClr val="5B5F71"/>
                </a:solidFill>
                <a:latin typeface="Consolas"/>
                <a:ea typeface="Consolas"/>
                <a:cs typeface="Consolas"/>
                <a:sym typeface="Consolas"/>
              </a:rPr>
              <a:t>tDelimitador</a:t>
            </a:r>
            <a:r>
              <a:rPr lang="en-US" sz="837" dirty="0">
                <a:solidFill>
                  <a:srgbClr val="5B5F71"/>
                </a:solidFill>
                <a:latin typeface="Consolas"/>
                <a:ea typeface="Consolas"/>
                <a:cs typeface="Consolas"/>
                <a:sym typeface="Consolas"/>
              </a:rPr>
              <a:t>\n";</a:t>
            </a:r>
          </a:p>
          <a:p>
            <a:pPr algn="l">
              <a:lnSpc>
                <a:spcPts val="1005"/>
              </a:lnSpc>
            </a:pPr>
            <a:r>
              <a:rPr lang="en-US" sz="837" dirty="0">
                <a:solidFill>
                  <a:srgbClr val="5B5F71"/>
                </a:solidFill>
                <a:latin typeface="Consolas"/>
                <a:ea typeface="Consolas"/>
                <a:cs typeface="Consolas"/>
                <a:sym typeface="Consolas"/>
              </a:rPr>
              <a:t>        }</a:t>
            </a:r>
          </a:p>
          <a:p>
            <a:pPr algn="l">
              <a:lnSpc>
                <a:spcPts val="1005"/>
              </a:lnSpc>
            </a:pPr>
            <a:r>
              <a:rPr lang="en-US" sz="837" dirty="0">
                <a:solidFill>
                  <a:srgbClr val="5B5F71"/>
                </a:solidFill>
                <a:latin typeface="Consolas"/>
                <a:ea typeface="Consolas"/>
                <a:cs typeface="Consolas"/>
                <a:sym typeface="Consolas"/>
              </a:rPr>
              <a:t>      }</a:t>
            </a:r>
          </a:p>
          <a:p>
            <a:pPr algn="l">
              <a:lnSpc>
                <a:spcPts val="1005"/>
              </a:lnSpc>
            </a:pPr>
            <a:endParaRPr lang="en-US" sz="837" dirty="0">
              <a:solidFill>
                <a:srgbClr val="5B5F71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algn="l">
              <a:lnSpc>
                <a:spcPts val="1005"/>
              </a:lnSpc>
            </a:pPr>
            <a:r>
              <a:rPr lang="en-US" sz="837" dirty="0">
                <a:solidFill>
                  <a:srgbClr val="5B5F71"/>
                </a:solidFill>
                <a:latin typeface="Consolas"/>
                <a:ea typeface="Consolas"/>
                <a:cs typeface="Consolas"/>
                <a:sym typeface="Consolas"/>
              </a:rPr>
              <a:t>      </a:t>
            </a:r>
            <a:r>
              <a:rPr lang="en-US" sz="837" dirty="0" err="1">
                <a:solidFill>
                  <a:srgbClr val="5B5F71"/>
                </a:solidFill>
                <a:latin typeface="Consolas"/>
                <a:ea typeface="Consolas"/>
                <a:cs typeface="Consolas"/>
                <a:sym typeface="Consolas"/>
              </a:rPr>
              <a:t>resultado.setText</a:t>
            </a:r>
            <a:r>
              <a:rPr lang="en-US" sz="837" dirty="0">
                <a:solidFill>
                  <a:srgbClr val="5B5F71"/>
                </a:solidFill>
                <a:latin typeface="Consolas"/>
                <a:ea typeface="Consolas"/>
                <a:cs typeface="Consolas"/>
                <a:sym typeface="Consolas"/>
              </a:rPr>
              <a:t>(</a:t>
            </a:r>
            <a:r>
              <a:rPr lang="en-US" sz="837" dirty="0" err="1">
                <a:solidFill>
                  <a:srgbClr val="5B5F71"/>
                </a:solidFill>
                <a:latin typeface="Consolas"/>
                <a:ea typeface="Consolas"/>
                <a:cs typeface="Consolas"/>
                <a:sym typeface="Consolas"/>
              </a:rPr>
              <a:t>salida</a:t>
            </a:r>
            <a:r>
              <a:rPr lang="en-US" sz="837" dirty="0">
                <a:solidFill>
                  <a:srgbClr val="5B5F71"/>
                </a:solidFill>
                <a:latin typeface="Consolas"/>
                <a:ea typeface="Consolas"/>
                <a:cs typeface="Consolas"/>
                <a:sym typeface="Consolas"/>
              </a:rPr>
              <a:t>);</a:t>
            </a:r>
          </a:p>
          <a:p>
            <a:pPr algn="l">
              <a:lnSpc>
                <a:spcPts val="1005"/>
              </a:lnSpc>
            </a:pPr>
            <a:r>
              <a:rPr lang="en-US" sz="837" dirty="0">
                <a:solidFill>
                  <a:srgbClr val="5B5F71"/>
                </a:solidFill>
                <a:latin typeface="Consolas"/>
                <a:ea typeface="Consolas"/>
                <a:cs typeface="Consolas"/>
                <a:sym typeface="Consolas"/>
              </a:rPr>
              <a:t>    });</a:t>
            </a:r>
          </a:p>
          <a:p>
            <a:pPr algn="l">
              <a:lnSpc>
                <a:spcPts val="1005"/>
              </a:lnSpc>
            </a:pPr>
            <a:endParaRPr lang="en-US" sz="837" dirty="0">
              <a:solidFill>
                <a:srgbClr val="5B5F71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algn="l">
              <a:lnSpc>
                <a:spcPts val="1005"/>
              </a:lnSpc>
            </a:pPr>
            <a:r>
              <a:rPr lang="en-US" sz="837" dirty="0">
                <a:solidFill>
                  <a:srgbClr val="5B5F71"/>
                </a:solidFill>
                <a:latin typeface="Consolas"/>
                <a:ea typeface="Consolas"/>
                <a:cs typeface="Consolas"/>
                <a:sym typeface="Consolas"/>
              </a:rPr>
              <a:t>    </a:t>
            </a:r>
            <a:r>
              <a:rPr lang="en-US" sz="837" dirty="0" err="1">
                <a:solidFill>
                  <a:srgbClr val="5B5F71"/>
                </a:solidFill>
                <a:latin typeface="Consolas"/>
                <a:ea typeface="Consolas"/>
                <a:cs typeface="Consolas"/>
                <a:sym typeface="Consolas"/>
              </a:rPr>
              <a:t>VBox</a:t>
            </a:r>
            <a:r>
              <a:rPr lang="en-US" sz="837" dirty="0">
                <a:solidFill>
                  <a:srgbClr val="5B5F71"/>
                </a:solidFill>
                <a:latin typeface="Consolas"/>
                <a:ea typeface="Consolas"/>
                <a:cs typeface="Consolas"/>
                <a:sym typeface="Consolas"/>
              </a:rPr>
              <a:t> layout = new </a:t>
            </a:r>
            <a:r>
              <a:rPr lang="en-US" sz="837" dirty="0" err="1">
                <a:solidFill>
                  <a:srgbClr val="5B5F71"/>
                </a:solidFill>
                <a:latin typeface="Consolas"/>
                <a:ea typeface="Consolas"/>
                <a:cs typeface="Consolas"/>
                <a:sym typeface="Consolas"/>
              </a:rPr>
              <a:t>VBox</a:t>
            </a:r>
            <a:r>
              <a:rPr lang="en-US" sz="837" dirty="0">
                <a:solidFill>
                  <a:srgbClr val="5B5F71"/>
                </a:solidFill>
                <a:latin typeface="Consolas"/>
                <a:ea typeface="Consolas"/>
                <a:cs typeface="Consolas"/>
                <a:sym typeface="Consolas"/>
              </a:rPr>
              <a:t>(10);</a:t>
            </a:r>
          </a:p>
          <a:p>
            <a:pPr algn="l">
              <a:lnSpc>
                <a:spcPts val="1005"/>
              </a:lnSpc>
            </a:pPr>
            <a:endParaRPr lang="en-US" sz="837" dirty="0">
              <a:solidFill>
                <a:srgbClr val="5B5F71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algn="l">
              <a:lnSpc>
                <a:spcPts val="1005"/>
              </a:lnSpc>
            </a:pPr>
            <a:r>
              <a:rPr lang="en-US" sz="837" dirty="0">
                <a:solidFill>
                  <a:srgbClr val="5B5F71"/>
                </a:solidFill>
                <a:latin typeface="Consolas"/>
                <a:ea typeface="Consolas"/>
                <a:cs typeface="Consolas"/>
                <a:sym typeface="Consolas"/>
              </a:rPr>
              <a:t>    </a:t>
            </a:r>
            <a:r>
              <a:rPr lang="en-US" sz="837" dirty="0" err="1">
                <a:solidFill>
                  <a:srgbClr val="5B5F71"/>
                </a:solidFill>
                <a:latin typeface="Consolas"/>
                <a:ea typeface="Consolas"/>
                <a:cs typeface="Consolas"/>
                <a:sym typeface="Consolas"/>
              </a:rPr>
              <a:t>layout.getChildren</a:t>
            </a:r>
            <a:r>
              <a:rPr lang="en-US" sz="837" dirty="0">
                <a:solidFill>
                  <a:srgbClr val="5B5F71"/>
                </a:solidFill>
                <a:latin typeface="Consolas"/>
                <a:ea typeface="Consolas"/>
                <a:cs typeface="Consolas"/>
                <a:sym typeface="Consolas"/>
              </a:rPr>
              <a:t>().</a:t>
            </a:r>
            <a:r>
              <a:rPr lang="en-US" sz="837" dirty="0" err="1">
                <a:solidFill>
                  <a:srgbClr val="5B5F71"/>
                </a:solidFill>
                <a:latin typeface="Consolas"/>
                <a:ea typeface="Consolas"/>
                <a:cs typeface="Consolas"/>
                <a:sym typeface="Consolas"/>
              </a:rPr>
              <a:t>addAll</a:t>
            </a:r>
            <a:r>
              <a:rPr lang="en-US" sz="837" dirty="0">
                <a:solidFill>
                  <a:srgbClr val="5B5F71"/>
                </a:solidFill>
                <a:latin typeface="Consolas"/>
                <a:ea typeface="Consolas"/>
                <a:cs typeface="Consolas"/>
                <a:sym typeface="Consolas"/>
              </a:rPr>
              <a:t>(</a:t>
            </a:r>
          </a:p>
          <a:p>
            <a:pPr algn="l">
              <a:lnSpc>
                <a:spcPts val="1005"/>
              </a:lnSpc>
            </a:pPr>
            <a:r>
              <a:rPr lang="en-US" sz="837" dirty="0">
                <a:solidFill>
                  <a:srgbClr val="5B5F71"/>
                </a:solidFill>
                <a:latin typeface="Consolas"/>
                <a:ea typeface="Consolas"/>
                <a:cs typeface="Consolas"/>
                <a:sym typeface="Consolas"/>
              </a:rPr>
              <a:t>        new Label("</a:t>
            </a:r>
            <a:r>
              <a:rPr lang="en-US" sz="837" dirty="0" err="1">
                <a:solidFill>
                  <a:srgbClr val="5B5F71"/>
                </a:solidFill>
                <a:latin typeface="Consolas"/>
                <a:ea typeface="Consolas"/>
                <a:cs typeface="Consolas"/>
                <a:sym typeface="Consolas"/>
              </a:rPr>
              <a:t>Codigo</a:t>
            </a:r>
            <a:r>
              <a:rPr lang="en-US" sz="837" dirty="0">
                <a:solidFill>
                  <a:srgbClr val="5B5F71"/>
                </a:solidFill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-US" sz="837" dirty="0" err="1">
                <a:solidFill>
                  <a:srgbClr val="5B5F71"/>
                </a:solidFill>
                <a:latin typeface="Consolas"/>
                <a:ea typeface="Consolas"/>
                <a:cs typeface="Consolas"/>
                <a:sym typeface="Consolas"/>
              </a:rPr>
              <a:t>fuente</a:t>
            </a:r>
            <a:r>
              <a:rPr lang="en-US" sz="837" dirty="0">
                <a:solidFill>
                  <a:srgbClr val="5B5F71"/>
                </a:solidFill>
                <a:latin typeface="Consolas"/>
                <a:ea typeface="Consolas"/>
                <a:cs typeface="Consolas"/>
                <a:sym typeface="Consolas"/>
              </a:rPr>
              <a:t>"),</a:t>
            </a:r>
          </a:p>
          <a:p>
            <a:pPr algn="l">
              <a:lnSpc>
                <a:spcPts val="1005"/>
              </a:lnSpc>
            </a:pPr>
            <a:r>
              <a:rPr lang="en-US" sz="837" dirty="0">
                <a:solidFill>
                  <a:srgbClr val="5B5F71"/>
                </a:solidFill>
                <a:latin typeface="Consolas"/>
                <a:ea typeface="Consolas"/>
                <a:cs typeface="Consolas"/>
                <a:sym typeface="Consolas"/>
              </a:rPr>
              <a:t>        </a:t>
            </a:r>
            <a:r>
              <a:rPr lang="en-US" sz="837" dirty="0" err="1">
                <a:solidFill>
                  <a:srgbClr val="5B5F71"/>
                </a:solidFill>
                <a:latin typeface="Consolas"/>
                <a:ea typeface="Consolas"/>
                <a:cs typeface="Consolas"/>
                <a:sym typeface="Consolas"/>
              </a:rPr>
              <a:t>codigo</a:t>
            </a:r>
            <a:r>
              <a:rPr lang="en-US" sz="837" dirty="0">
                <a:solidFill>
                  <a:srgbClr val="5B5F71"/>
                </a:solidFill>
                <a:latin typeface="Consolas"/>
                <a:ea typeface="Consolas"/>
                <a:cs typeface="Consolas"/>
                <a:sym typeface="Consolas"/>
              </a:rPr>
              <a:t>,</a:t>
            </a:r>
          </a:p>
          <a:p>
            <a:pPr algn="l">
              <a:lnSpc>
                <a:spcPts val="1005"/>
              </a:lnSpc>
            </a:pPr>
            <a:r>
              <a:rPr lang="en-US" sz="837" dirty="0">
                <a:solidFill>
                  <a:srgbClr val="5B5F71"/>
                </a:solidFill>
                <a:latin typeface="Consolas"/>
                <a:ea typeface="Consolas"/>
                <a:cs typeface="Consolas"/>
                <a:sym typeface="Consolas"/>
              </a:rPr>
              <a:t>        </a:t>
            </a:r>
            <a:r>
              <a:rPr lang="en-US" sz="837" dirty="0" err="1">
                <a:solidFill>
                  <a:srgbClr val="5B5F71"/>
                </a:solidFill>
                <a:latin typeface="Consolas"/>
                <a:ea typeface="Consolas"/>
                <a:cs typeface="Consolas"/>
                <a:sym typeface="Consolas"/>
              </a:rPr>
              <a:t>analizar</a:t>
            </a:r>
            <a:r>
              <a:rPr lang="en-US" sz="837" dirty="0">
                <a:solidFill>
                  <a:srgbClr val="5B5F71"/>
                </a:solidFill>
                <a:latin typeface="Consolas"/>
                <a:ea typeface="Consolas"/>
                <a:cs typeface="Consolas"/>
                <a:sym typeface="Consolas"/>
              </a:rPr>
              <a:t>,</a:t>
            </a:r>
          </a:p>
          <a:p>
            <a:pPr algn="l">
              <a:lnSpc>
                <a:spcPts val="1005"/>
              </a:lnSpc>
            </a:pPr>
            <a:r>
              <a:rPr lang="en-US" sz="837" dirty="0">
                <a:solidFill>
                  <a:srgbClr val="5B5F71"/>
                </a:solidFill>
                <a:latin typeface="Consolas"/>
                <a:ea typeface="Consolas"/>
                <a:cs typeface="Consolas"/>
                <a:sym typeface="Consolas"/>
              </a:rPr>
              <a:t>        new Label("</a:t>
            </a:r>
            <a:r>
              <a:rPr lang="en-US" sz="837" dirty="0" err="1">
                <a:solidFill>
                  <a:srgbClr val="5B5F71"/>
                </a:solidFill>
                <a:latin typeface="Consolas"/>
                <a:ea typeface="Consolas"/>
                <a:cs typeface="Consolas"/>
                <a:sym typeface="Consolas"/>
              </a:rPr>
              <a:t>Resultado</a:t>
            </a:r>
            <a:r>
              <a:rPr lang="en-US" sz="837" dirty="0">
                <a:solidFill>
                  <a:srgbClr val="5B5F71"/>
                </a:solidFill>
                <a:latin typeface="Consolas"/>
                <a:ea typeface="Consolas"/>
                <a:cs typeface="Consolas"/>
                <a:sym typeface="Consolas"/>
              </a:rPr>
              <a:t>"),</a:t>
            </a:r>
          </a:p>
          <a:p>
            <a:pPr algn="l">
              <a:lnSpc>
                <a:spcPts val="1005"/>
              </a:lnSpc>
            </a:pPr>
            <a:r>
              <a:rPr lang="en-US" sz="837" dirty="0">
                <a:solidFill>
                  <a:srgbClr val="5B5F71"/>
                </a:solidFill>
                <a:latin typeface="Consolas"/>
                <a:ea typeface="Consolas"/>
                <a:cs typeface="Consolas"/>
                <a:sym typeface="Consolas"/>
              </a:rPr>
              <a:t>        </a:t>
            </a:r>
            <a:r>
              <a:rPr lang="en-US" sz="837" dirty="0" err="1">
                <a:solidFill>
                  <a:srgbClr val="5B5F71"/>
                </a:solidFill>
                <a:latin typeface="Consolas"/>
                <a:ea typeface="Consolas"/>
                <a:cs typeface="Consolas"/>
                <a:sym typeface="Consolas"/>
              </a:rPr>
              <a:t>resultado</a:t>
            </a:r>
            <a:endParaRPr lang="en-US" sz="837" dirty="0">
              <a:solidFill>
                <a:srgbClr val="5B5F71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algn="l">
              <a:lnSpc>
                <a:spcPts val="1005"/>
              </a:lnSpc>
            </a:pPr>
            <a:r>
              <a:rPr lang="en-US" sz="837" dirty="0">
                <a:solidFill>
                  <a:srgbClr val="5B5F71"/>
                </a:solidFill>
                <a:latin typeface="Consolas"/>
                <a:ea typeface="Consolas"/>
                <a:cs typeface="Consolas"/>
                <a:sym typeface="Consolas"/>
              </a:rPr>
              <a:t>    );</a:t>
            </a:r>
          </a:p>
          <a:p>
            <a:pPr algn="l">
              <a:lnSpc>
                <a:spcPts val="1005"/>
              </a:lnSpc>
            </a:pPr>
            <a:endParaRPr lang="en-US" sz="837" dirty="0">
              <a:solidFill>
                <a:srgbClr val="5B5F71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algn="l">
              <a:lnSpc>
                <a:spcPts val="1005"/>
              </a:lnSpc>
            </a:pPr>
            <a:r>
              <a:rPr lang="en-US" sz="837" dirty="0">
                <a:solidFill>
                  <a:srgbClr val="5B5F71"/>
                </a:solidFill>
                <a:latin typeface="Consolas"/>
                <a:ea typeface="Consolas"/>
                <a:cs typeface="Consolas"/>
                <a:sym typeface="Consolas"/>
              </a:rPr>
              <a:t>    Scene </a:t>
            </a:r>
            <a:r>
              <a:rPr lang="en-US" sz="837" dirty="0" err="1">
                <a:solidFill>
                  <a:srgbClr val="5B5F71"/>
                </a:solidFill>
                <a:latin typeface="Consolas"/>
                <a:ea typeface="Consolas"/>
                <a:cs typeface="Consolas"/>
                <a:sym typeface="Consolas"/>
              </a:rPr>
              <a:t>escena</a:t>
            </a:r>
            <a:r>
              <a:rPr lang="en-US" sz="837" dirty="0">
                <a:solidFill>
                  <a:srgbClr val="5B5F71"/>
                </a:solidFill>
                <a:latin typeface="Consolas"/>
                <a:ea typeface="Consolas"/>
                <a:cs typeface="Consolas"/>
                <a:sym typeface="Consolas"/>
              </a:rPr>
              <a:t> = new Scene(layout, 500, 400);</a:t>
            </a:r>
          </a:p>
          <a:p>
            <a:pPr algn="l">
              <a:lnSpc>
                <a:spcPts val="1005"/>
              </a:lnSpc>
            </a:pPr>
            <a:endParaRPr lang="en-US" sz="837" dirty="0">
              <a:solidFill>
                <a:srgbClr val="5B5F71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algn="l">
              <a:lnSpc>
                <a:spcPts val="1005"/>
              </a:lnSpc>
            </a:pPr>
            <a:r>
              <a:rPr lang="en-US" sz="837" dirty="0">
                <a:solidFill>
                  <a:srgbClr val="5B5F71"/>
                </a:solidFill>
                <a:latin typeface="Consolas"/>
                <a:ea typeface="Consolas"/>
                <a:cs typeface="Consolas"/>
                <a:sym typeface="Consolas"/>
              </a:rPr>
              <a:t>    </a:t>
            </a:r>
            <a:r>
              <a:rPr lang="en-US" sz="837" dirty="0" err="1">
                <a:solidFill>
                  <a:srgbClr val="5B5F71"/>
                </a:solidFill>
                <a:latin typeface="Consolas"/>
                <a:ea typeface="Consolas"/>
                <a:cs typeface="Consolas"/>
                <a:sym typeface="Consolas"/>
              </a:rPr>
              <a:t>stage.setTitle</a:t>
            </a:r>
            <a:r>
              <a:rPr lang="en-US" sz="837" dirty="0">
                <a:solidFill>
                  <a:srgbClr val="5B5F71"/>
                </a:solidFill>
                <a:latin typeface="Consolas"/>
                <a:ea typeface="Consolas"/>
                <a:cs typeface="Consolas"/>
                <a:sym typeface="Consolas"/>
              </a:rPr>
              <a:t>("</a:t>
            </a:r>
            <a:r>
              <a:rPr lang="en-US" sz="837" dirty="0" err="1">
                <a:solidFill>
                  <a:srgbClr val="5B5F71"/>
                </a:solidFill>
                <a:latin typeface="Consolas"/>
                <a:ea typeface="Consolas"/>
                <a:cs typeface="Consolas"/>
                <a:sym typeface="Consolas"/>
              </a:rPr>
              <a:t>Analizador</a:t>
            </a:r>
            <a:r>
              <a:rPr lang="en-US" sz="837" dirty="0">
                <a:solidFill>
                  <a:srgbClr val="5B5F71"/>
                </a:solidFill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-US" sz="837" dirty="0" err="1">
                <a:solidFill>
                  <a:srgbClr val="5B5F71"/>
                </a:solidFill>
                <a:latin typeface="Consolas"/>
                <a:ea typeface="Consolas"/>
                <a:cs typeface="Consolas"/>
                <a:sym typeface="Consolas"/>
              </a:rPr>
              <a:t>Lexico</a:t>
            </a:r>
            <a:r>
              <a:rPr lang="en-US" sz="837" dirty="0">
                <a:solidFill>
                  <a:srgbClr val="5B5F71"/>
                </a:solidFill>
                <a:latin typeface="Consolas"/>
                <a:ea typeface="Consolas"/>
                <a:cs typeface="Consolas"/>
                <a:sym typeface="Consolas"/>
              </a:rPr>
              <a:t>");</a:t>
            </a:r>
          </a:p>
          <a:p>
            <a:pPr algn="l">
              <a:lnSpc>
                <a:spcPts val="1005"/>
              </a:lnSpc>
            </a:pPr>
            <a:r>
              <a:rPr lang="en-US" sz="837" dirty="0">
                <a:solidFill>
                  <a:srgbClr val="5B5F71"/>
                </a:solidFill>
                <a:latin typeface="Consolas"/>
                <a:ea typeface="Consolas"/>
                <a:cs typeface="Consolas"/>
                <a:sym typeface="Consolas"/>
              </a:rPr>
              <a:t>    </a:t>
            </a:r>
            <a:r>
              <a:rPr lang="en-US" sz="837" dirty="0" err="1">
                <a:solidFill>
                  <a:srgbClr val="5B5F71"/>
                </a:solidFill>
                <a:latin typeface="Consolas"/>
                <a:ea typeface="Consolas"/>
                <a:cs typeface="Consolas"/>
                <a:sym typeface="Consolas"/>
              </a:rPr>
              <a:t>stage.setScene</a:t>
            </a:r>
            <a:r>
              <a:rPr lang="en-US" sz="837" dirty="0">
                <a:solidFill>
                  <a:srgbClr val="5B5F71"/>
                </a:solidFill>
                <a:latin typeface="Consolas"/>
                <a:ea typeface="Consolas"/>
                <a:cs typeface="Consolas"/>
                <a:sym typeface="Consolas"/>
              </a:rPr>
              <a:t>(</a:t>
            </a:r>
            <a:r>
              <a:rPr lang="en-US" sz="837" dirty="0" err="1">
                <a:solidFill>
                  <a:srgbClr val="5B5F71"/>
                </a:solidFill>
                <a:latin typeface="Consolas"/>
                <a:ea typeface="Consolas"/>
                <a:cs typeface="Consolas"/>
                <a:sym typeface="Consolas"/>
              </a:rPr>
              <a:t>escena</a:t>
            </a:r>
            <a:r>
              <a:rPr lang="en-US" sz="837" dirty="0">
                <a:solidFill>
                  <a:srgbClr val="5B5F71"/>
                </a:solidFill>
                <a:latin typeface="Consolas"/>
                <a:ea typeface="Consolas"/>
                <a:cs typeface="Consolas"/>
                <a:sym typeface="Consolas"/>
              </a:rPr>
              <a:t>);</a:t>
            </a:r>
          </a:p>
          <a:p>
            <a:pPr algn="l">
              <a:lnSpc>
                <a:spcPts val="1005"/>
              </a:lnSpc>
            </a:pPr>
            <a:r>
              <a:rPr lang="en-US" sz="837" dirty="0">
                <a:solidFill>
                  <a:srgbClr val="5B5F71"/>
                </a:solidFill>
                <a:latin typeface="Consolas"/>
                <a:ea typeface="Consolas"/>
                <a:cs typeface="Consolas"/>
                <a:sym typeface="Consolas"/>
              </a:rPr>
              <a:t>    </a:t>
            </a:r>
            <a:r>
              <a:rPr lang="en-US" sz="837" dirty="0" err="1">
                <a:solidFill>
                  <a:srgbClr val="5B5F71"/>
                </a:solidFill>
                <a:latin typeface="Consolas"/>
                <a:ea typeface="Consolas"/>
                <a:cs typeface="Consolas"/>
                <a:sym typeface="Consolas"/>
              </a:rPr>
              <a:t>stage.show</a:t>
            </a:r>
            <a:r>
              <a:rPr lang="en-US" sz="837" dirty="0">
                <a:solidFill>
                  <a:srgbClr val="5B5F71"/>
                </a:solidFill>
                <a:latin typeface="Consolas"/>
                <a:ea typeface="Consolas"/>
                <a:cs typeface="Consolas"/>
                <a:sym typeface="Consolas"/>
              </a:rPr>
              <a:t>();</a:t>
            </a:r>
          </a:p>
          <a:p>
            <a:pPr algn="l">
              <a:lnSpc>
                <a:spcPts val="1005"/>
              </a:lnSpc>
            </a:pPr>
            <a:r>
              <a:rPr lang="en-US" sz="837" dirty="0">
                <a:solidFill>
                  <a:srgbClr val="5B5F71"/>
                </a:solidFill>
                <a:latin typeface="Consolas"/>
                <a:ea typeface="Consolas"/>
                <a:cs typeface="Consolas"/>
                <a:sym typeface="Consolas"/>
              </a:rPr>
              <a:t>  }</a:t>
            </a:r>
          </a:p>
          <a:p>
            <a:pPr algn="l">
              <a:lnSpc>
                <a:spcPts val="1005"/>
              </a:lnSpc>
            </a:pPr>
            <a:endParaRPr lang="en-US" sz="837" dirty="0">
              <a:solidFill>
                <a:srgbClr val="5B5F71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algn="l">
              <a:lnSpc>
                <a:spcPts val="1005"/>
              </a:lnSpc>
            </a:pPr>
            <a:r>
              <a:rPr lang="en-US" sz="837" dirty="0">
                <a:solidFill>
                  <a:srgbClr val="5B5F71"/>
                </a:solidFill>
                <a:latin typeface="Consolas"/>
                <a:ea typeface="Consolas"/>
                <a:cs typeface="Consolas"/>
                <a:sym typeface="Consolas"/>
              </a:rPr>
              <a:t>  public static void main(String[] </a:t>
            </a:r>
            <a:r>
              <a:rPr lang="en-US" sz="837" dirty="0" err="1">
                <a:solidFill>
                  <a:srgbClr val="5B5F71"/>
                </a:solidFill>
                <a:latin typeface="Consolas"/>
                <a:ea typeface="Consolas"/>
                <a:cs typeface="Consolas"/>
                <a:sym typeface="Consolas"/>
              </a:rPr>
              <a:t>args</a:t>
            </a:r>
            <a:r>
              <a:rPr lang="en-US" sz="837" dirty="0">
                <a:solidFill>
                  <a:srgbClr val="5B5F71"/>
                </a:solidFill>
                <a:latin typeface="Consolas"/>
                <a:ea typeface="Consolas"/>
                <a:cs typeface="Consolas"/>
                <a:sym typeface="Consolas"/>
              </a:rPr>
              <a:t>) {</a:t>
            </a:r>
          </a:p>
          <a:p>
            <a:pPr algn="l">
              <a:lnSpc>
                <a:spcPts val="1005"/>
              </a:lnSpc>
            </a:pPr>
            <a:r>
              <a:rPr lang="en-US" sz="837" dirty="0">
                <a:solidFill>
                  <a:srgbClr val="5B5F71"/>
                </a:solidFill>
                <a:latin typeface="Consolas"/>
                <a:ea typeface="Consolas"/>
                <a:cs typeface="Consolas"/>
                <a:sym typeface="Consolas"/>
              </a:rPr>
              <a:t>    launch();</a:t>
            </a:r>
          </a:p>
          <a:p>
            <a:pPr algn="l">
              <a:lnSpc>
                <a:spcPts val="1005"/>
              </a:lnSpc>
            </a:pPr>
            <a:r>
              <a:rPr lang="en-US" sz="837" dirty="0">
                <a:solidFill>
                  <a:srgbClr val="5B5F71"/>
                </a:solidFill>
                <a:latin typeface="Consolas"/>
                <a:ea typeface="Consolas"/>
                <a:cs typeface="Consolas"/>
                <a:sym typeface="Consolas"/>
              </a:rPr>
              <a:t>  }</a:t>
            </a:r>
          </a:p>
          <a:p>
            <a:pPr algn="l">
              <a:lnSpc>
                <a:spcPts val="1005"/>
              </a:lnSpc>
            </a:pPr>
            <a:r>
              <a:rPr lang="en-US" sz="837" dirty="0">
                <a:solidFill>
                  <a:srgbClr val="5B5F71"/>
                </a:solidFill>
                <a:latin typeface="Consolas"/>
                <a:ea typeface="Consolas"/>
                <a:cs typeface="Consolas"/>
                <a:sym typeface="Consolas"/>
              </a:rPr>
              <a:t>}</a:t>
            </a:r>
          </a:p>
          <a:p>
            <a:pPr algn="l">
              <a:lnSpc>
                <a:spcPts val="1005"/>
              </a:lnSpc>
            </a:pPr>
            <a:endParaRPr lang="en-US" sz="837" dirty="0">
              <a:solidFill>
                <a:srgbClr val="5B5F71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2"/>
          <p:cNvSpPr txBox="1"/>
          <p:nvPr/>
        </p:nvSpPr>
        <p:spPr>
          <a:xfrm>
            <a:off x="892378" y="856507"/>
            <a:ext cx="8937422" cy="647100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5437"/>
              </a:lnSpc>
            </a:pPr>
            <a:r>
              <a:rPr lang="en-US" sz="4375" b="1" dirty="0" err="1">
                <a:solidFill>
                  <a:srgbClr val="505468"/>
                </a:solidFill>
                <a:latin typeface="Arimo Bold"/>
                <a:ea typeface="Arimo Bold"/>
                <a:cs typeface="Arimo Bold"/>
                <a:sym typeface="Arimo Bold"/>
              </a:rPr>
              <a:t>Resultados</a:t>
            </a:r>
            <a:r>
              <a:rPr lang="en-US" sz="4375" b="1" dirty="0">
                <a:solidFill>
                  <a:srgbClr val="505468"/>
                </a:solidFill>
                <a:latin typeface="Arimo Bold"/>
                <a:ea typeface="Arimo Bold"/>
                <a:cs typeface="Arimo Bold"/>
                <a:sym typeface="Arimo Bold"/>
              </a:rPr>
              <a:t> </a:t>
            </a:r>
            <a:r>
              <a:rPr lang="en-US" sz="4375" b="1" dirty="0" err="1">
                <a:solidFill>
                  <a:srgbClr val="505468"/>
                </a:solidFill>
                <a:latin typeface="Arimo Bold"/>
                <a:ea typeface="Arimo Bold"/>
                <a:cs typeface="Arimo Bold"/>
                <a:sym typeface="Arimo Bold"/>
              </a:rPr>
              <a:t>Obtenidos</a:t>
            </a:r>
            <a:endParaRPr lang="en-US" sz="4375" b="1" dirty="0">
              <a:solidFill>
                <a:srgbClr val="505468"/>
              </a:solidFill>
              <a:latin typeface="Arimo Bold"/>
              <a:ea typeface="Arimo Bold"/>
              <a:cs typeface="Arimo Bold"/>
              <a:sym typeface="Arimo Bold"/>
            </a:endParaRPr>
          </a:p>
        </p:txBody>
      </p:sp>
      <p:sp>
        <p:nvSpPr>
          <p:cNvPr id="3" name="TextBox 3"/>
          <p:cNvSpPr txBox="1"/>
          <p:nvPr/>
        </p:nvSpPr>
        <p:spPr>
          <a:xfrm>
            <a:off x="892378" y="1916906"/>
            <a:ext cx="16503253" cy="41508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625"/>
              </a:lnSpc>
            </a:pPr>
            <a:r>
              <a:rPr lang="en-US" sz="1750">
                <a:solidFill>
                  <a:srgbClr val="5B5F71"/>
                </a:solidFill>
                <a:latin typeface="Arimo"/>
                <a:ea typeface="Arimo"/>
                <a:cs typeface="Arimo"/>
                <a:sym typeface="Arimo"/>
              </a:rPr>
              <a:t>Para probar el funcionamiento del programa se utilizó el siguiente fragmento de código:</a:t>
            </a:r>
          </a:p>
        </p:txBody>
      </p:sp>
      <p:grpSp>
        <p:nvGrpSpPr>
          <p:cNvPr id="4" name="Group 4"/>
          <p:cNvGrpSpPr/>
          <p:nvPr/>
        </p:nvGrpSpPr>
        <p:grpSpPr>
          <a:xfrm>
            <a:off x="892378" y="2557615"/>
            <a:ext cx="16503253" cy="673446"/>
            <a:chOff x="0" y="0"/>
            <a:chExt cx="22004338" cy="897928"/>
          </a:xfrm>
        </p:grpSpPr>
        <p:sp>
          <p:nvSpPr>
            <p:cNvPr id="5" name="Freeform 5"/>
            <p:cNvSpPr/>
            <p:nvPr/>
          </p:nvSpPr>
          <p:spPr>
            <a:xfrm>
              <a:off x="0" y="0"/>
              <a:ext cx="22004401" cy="898017"/>
            </a:xfrm>
            <a:custGeom>
              <a:avLst/>
              <a:gdLst/>
              <a:ahLst/>
              <a:cxnLst/>
              <a:rect l="l" t="t" r="r" b="b"/>
              <a:pathLst>
                <a:path w="22004401" h="898017">
                  <a:moveTo>
                    <a:pt x="0" y="124968"/>
                  </a:moveTo>
                  <a:cubicBezTo>
                    <a:pt x="0" y="55880"/>
                    <a:pt x="55880" y="0"/>
                    <a:pt x="124968" y="0"/>
                  </a:cubicBezTo>
                  <a:lnTo>
                    <a:pt x="21879433" y="0"/>
                  </a:lnTo>
                  <a:cubicBezTo>
                    <a:pt x="21948395" y="0"/>
                    <a:pt x="22004401" y="55880"/>
                    <a:pt x="22004401" y="124968"/>
                  </a:cubicBezTo>
                  <a:lnTo>
                    <a:pt x="22004401" y="773049"/>
                  </a:lnTo>
                  <a:cubicBezTo>
                    <a:pt x="22004401" y="842010"/>
                    <a:pt x="21948521" y="898017"/>
                    <a:pt x="21879433" y="898017"/>
                  </a:cubicBezTo>
                  <a:lnTo>
                    <a:pt x="124968" y="898017"/>
                  </a:lnTo>
                  <a:cubicBezTo>
                    <a:pt x="55880" y="897890"/>
                    <a:pt x="0" y="842010"/>
                    <a:pt x="0" y="773049"/>
                  </a:cubicBezTo>
                  <a:close/>
                </a:path>
              </a:pathLst>
            </a:custGeom>
            <a:solidFill>
              <a:srgbClr val="F2F2F2"/>
            </a:solidFill>
          </p:spPr>
        </p:sp>
      </p:grpSp>
      <p:grpSp>
        <p:nvGrpSpPr>
          <p:cNvPr id="6" name="Group 6"/>
          <p:cNvGrpSpPr/>
          <p:nvPr/>
        </p:nvGrpSpPr>
        <p:grpSpPr>
          <a:xfrm>
            <a:off x="881358" y="2557615"/>
            <a:ext cx="16525284" cy="673446"/>
            <a:chOff x="0" y="0"/>
            <a:chExt cx="22033713" cy="897928"/>
          </a:xfrm>
        </p:grpSpPr>
        <p:sp>
          <p:nvSpPr>
            <p:cNvPr id="7" name="Freeform 7"/>
            <p:cNvSpPr/>
            <p:nvPr/>
          </p:nvSpPr>
          <p:spPr>
            <a:xfrm>
              <a:off x="0" y="0"/>
              <a:ext cx="22033612" cy="897890"/>
            </a:xfrm>
            <a:custGeom>
              <a:avLst/>
              <a:gdLst/>
              <a:ahLst/>
              <a:cxnLst/>
              <a:rect l="l" t="t" r="r" b="b"/>
              <a:pathLst>
                <a:path w="22033612" h="897890">
                  <a:moveTo>
                    <a:pt x="0" y="44577"/>
                  </a:moveTo>
                  <a:cubicBezTo>
                    <a:pt x="0" y="19939"/>
                    <a:pt x="19939" y="0"/>
                    <a:pt x="44577" y="0"/>
                  </a:cubicBezTo>
                  <a:lnTo>
                    <a:pt x="21989035" y="0"/>
                  </a:lnTo>
                  <a:cubicBezTo>
                    <a:pt x="22013673" y="0"/>
                    <a:pt x="22033612" y="19939"/>
                    <a:pt x="22033612" y="44577"/>
                  </a:cubicBezTo>
                  <a:lnTo>
                    <a:pt x="22033612" y="853313"/>
                  </a:lnTo>
                  <a:cubicBezTo>
                    <a:pt x="22033612" y="877951"/>
                    <a:pt x="22013673" y="897890"/>
                    <a:pt x="21989035" y="897890"/>
                  </a:cubicBezTo>
                  <a:lnTo>
                    <a:pt x="44577" y="897890"/>
                  </a:lnTo>
                  <a:cubicBezTo>
                    <a:pt x="19939" y="897890"/>
                    <a:pt x="0" y="877951"/>
                    <a:pt x="0" y="853313"/>
                  </a:cubicBezTo>
                  <a:close/>
                </a:path>
              </a:pathLst>
            </a:custGeom>
            <a:solidFill>
              <a:srgbClr val="F2F2F2"/>
            </a:solidFill>
          </p:spPr>
        </p:sp>
      </p:grpSp>
      <p:sp>
        <p:nvSpPr>
          <p:cNvPr id="8" name="TextBox 8"/>
          <p:cNvSpPr txBox="1"/>
          <p:nvPr/>
        </p:nvSpPr>
        <p:spPr>
          <a:xfrm>
            <a:off x="1104452" y="2629643"/>
            <a:ext cx="16079095" cy="36195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625"/>
              </a:lnSpc>
            </a:pPr>
            <a:r>
              <a:rPr lang="en-US" sz="1750">
                <a:solidFill>
                  <a:srgbClr val="5B5F71"/>
                </a:solidFill>
                <a:latin typeface="Consolas"/>
                <a:ea typeface="Consolas"/>
                <a:cs typeface="Consolas"/>
                <a:sym typeface="Consolas"/>
              </a:rPr>
              <a:t>int a = 10 + 5;</a:t>
            </a:r>
          </a:p>
        </p:txBody>
      </p:sp>
      <p:sp>
        <p:nvSpPr>
          <p:cNvPr id="9" name="TextBox 9"/>
          <p:cNvSpPr txBox="1"/>
          <p:nvPr/>
        </p:nvSpPr>
        <p:spPr>
          <a:xfrm>
            <a:off x="892378" y="3380480"/>
            <a:ext cx="16503253" cy="41508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625"/>
              </a:lnSpc>
            </a:pPr>
            <a:r>
              <a:rPr lang="en-US" sz="1750">
                <a:solidFill>
                  <a:srgbClr val="5B5F71"/>
                </a:solidFill>
                <a:latin typeface="Arimo"/>
                <a:ea typeface="Arimo"/>
                <a:cs typeface="Arimo"/>
                <a:sym typeface="Arimo"/>
              </a:rPr>
              <a:t>El analizador léxico identificó los siguientes tokens:</a:t>
            </a:r>
          </a:p>
        </p:txBody>
      </p:sp>
      <p:grpSp>
        <p:nvGrpSpPr>
          <p:cNvPr id="10" name="Group 10"/>
          <p:cNvGrpSpPr/>
          <p:nvPr/>
        </p:nvGrpSpPr>
        <p:grpSpPr>
          <a:xfrm>
            <a:off x="887616" y="4016426"/>
            <a:ext cx="16512778" cy="4816078"/>
            <a:chOff x="0" y="0"/>
            <a:chExt cx="22017038" cy="6421438"/>
          </a:xfrm>
        </p:grpSpPr>
        <p:sp>
          <p:nvSpPr>
            <p:cNvPr id="11" name="Freeform 11"/>
            <p:cNvSpPr/>
            <p:nvPr/>
          </p:nvSpPr>
          <p:spPr>
            <a:xfrm>
              <a:off x="0" y="0"/>
              <a:ext cx="22017101" cy="6421501"/>
            </a:xfrm>
            <a:custGeom>
              <a:avLst/>
              <a:gdLst/>
              <a:ahLst/>
              <a:cxnLst/>
              <a:rect l="l" t="t" r="r" b="b"/>
              <a:pathLst>
                <a:path w="22017101" h="6421501">
                  <a:moveTo>
                    <a:pt x="0" y="131318"/>
                  </a:moveTo>
                  <a:cubicBezTo>
                    <a:pt x="0" y="58801"/>
                    <a:pt x="58801" y="0"/>
                    <a:pt x="131445" y="0"/>
                  </a:cubicBezTo>
                  <a:lnTo>
                    <a:pt x="21885656" y="0"/>
                  </a:lnTo>
                  <a:lnTo>
                    <a:pt x="21885656" y="6350"/>
                  </a:lnTo>
                  <a:lnTo>
                    <a:pt x="21885656" y="0"/>
                  </a:lnTo>
                  <a:cubicBezTo>
                    <a:pt x="21958173" y="0"/>
                    <a:pt x="22017101" y="58801"/>
                    <a:pt x="22017101" y="131318"/>
                  </a:cubicBezTo>
                  <a:lnTo>
                    <a:pt x="22010751" y="131318"/>
                  </a:lnTo>
                  <a:lnTo>
                    <a:pt x="22017101" y="131318"/>
                  </a:lnTo>
                  <a:lnTo>
                    <a:pt x="22017101" y="6290183"/>
                  </a:lnTo>
                  <a:lnTo>
                    <a:pt x="22010751" y="6290183"/>
                  </a:lnTo>
                  <a:lnTo>
                    <a:pt x="22017101" y="6290183"/>
                  </a:lnTo>
                  <a:cubicBezTo>
                    <a:pt x="22017101" y="6362700"/>
                    <a:pt x="21958300" y="6421501"/>
                    <a:pt x="21885656" y="6421501"/>
                  </a:cubicBezTo>
                  <a:lnTo>
                    <a:pt x="21885656" y="6415151"/>
                  </a:lnTo>
                  <a:lnTo>
                    <a:pt x="21885656" y="6421501"/>
                  </a:lnTo>
                  <a:lnTo>
                    <a:pt x="131445" y="6421501"/>
                  </a:lnTo>
                  <a:lnTo>
                    <a:pt x="131445" y="6415151"/>
                  </a:lnTo>
                  <a:lnTo>
                    <a:pt x="131445" y="6421501"/>
                  </a:lnTo>
                  <a:cubicBezTo>
                    <a:pt x="58801" y="6421501"/>
                    <a:pt x="0" y="6362700"/>
                    <a:pt x="0" y="6290183"/>
                  </a:cubicBezTo>
                  <a:lnTo>
                    <a:pt x="0" y="131318"/>
                  </a:lnTo>
                  <a:lnTo>
                    <a:pt x="6350" y="131318"/>
                  </a:lnTo>
                  <a:lnTo>
                    <a:pt x="0" y="131318"/>
                  </a:lnTo>
                  <a:moveTo>
                    <a:pt x="12700" y="131318"/>
                  </a:moveTo>
                  <a:lnTo>
                    <a:pt x="12700" y="6290183"/>
                  </a:lnTo>
                  <a:lnTo>
                    <a:pt x="6350" y="6290183"/>
                  </a:lnTo>
                  <a:lnTo>
                    <a:pt x="12700" y="6290183"/>
                  </a:lnTo>
                  <a:cubicBezTo>
                    <a:pt x="12700" y="6355588"/>
                    <a:pt x="65913" y="6408801"/>
                    <a:pt x="131445" y="6408801"/>
                  </a:cubicBezTo>
                  <a:lnTo>
                    <a:pt x="21885656" y="6408801"/>
                  </a:lnTo>
                  <a:cubicBezTo>
                    <a:pt x="21951189" y="6408801"/>
                    <a:pt x="22004401" y="6355715"/>
                    <a:pt x="22004401" y="6290183"/>
                  </a:cubicBezTo>
                  <a:lnTo>
                    <a:pt x="22004401" y="131318"/>
                  </a:lnTo>
                  <a:cubicBezTo>
                    <a:pt x="22004401" y="65913"/>
                    <a:pt x="21951189" y="12700"/>
                    <a:pt x="21885656" y="12700"/>
                  </a:cubicBezTo>
                  <a:lnTo>
                    <a:pt x="131445" y="12700"/>
                  </a:lnTo>
                  <a:lnTo>
                    <a:pt x="131445" y="6350"/>
                  </a:lnTo>
                  <a:lnTo>
                    <a:pt x="131445" y="12700"/>
                  </a:lnTo>
                  <a:cubicBezTo>
                    <a:pt x="65913" y="12700"/>
                    <a:pt x="12700" y="65786"/>
                    <a:pt x="12700" y="131318"/>
                  </a:cubicBezTo>
                  <a:close/>
                </a:path>
              </a:pathLst>
            </a:custGeom>
            <a:solidFill>
              <a:srgbClr val="000000">
                <a:alpha val="392"/>
              </a:srgbClr>
            </a:solidFill>
          </p:spPr>
        </p:sp>
      </p:grpSp>
      <p:grpSp>
        <p:nvGrpSpPr>
          <p:cNvPr id="12" name="Group 12"/>
          <p:cNvGrpSpPr/>
          <p:nvPr/>
        </p:nvGrpSpPr>
        <p:grpSpPr>
          <a:xfrm>
            <a:off x="901903" y="4030713"/>
            <a:ext cx="16484203" cy="598437"/>
            <a:chOff x="0" y="0"/>
            <a:chExt cx="21978938" cy="797916"/>
          </a:xfrm>
        </p:grpSpPr>
        <p:sp>
          <p:nvSpPr>
            <p:cNvPr id="13" name="Freeform 13"/>
            <p:cNvSpPr/>
            <p:nvPr/>
          </p:nvSpPr>
          <p:spPr>
            <a:xfrm>
              <a:off x="0" y="0"/>
              <a:ext cx="21979001" cy="797941"/>
            </a:xfrm>
            <a:custGeom>
              <a:avLst/>
              <a:gdLst/>
              <a:ahLst/>
              <a:cxnLst/>
              <a:rect l="l" t="t" r="r" b="b"/>
              <a:pathLst>
                <a:path w="21979001" h="797941">
                  <a:moveTo>
                    <a:pt x="0" y="0"/>
                  </a:moveTo>
                  <a:lnTo>
                    <a:pt x="21979001" y="0"/>
                  </a:lnTo>
                  <a:lnTo>
                    <a:pt x="21979001" y="797941"/>
                  </a:lnTo>
                  <a:lnTo>
                    <a:pt x="0" y="797941"/>
                  </a:lnTo>
                  <a:close/>
                </a:path>
              </a:pathLst>
            </a:custGeom>
            <a:solidFill>
              <a:srgbClr val="FFFFFF">
                <a:alpha val="0"/>
              </a:srgbClr>
            </a:solidFill>
          </p:spPr>
        </p:sp>
      </p:grpSp>
      <p:sp>
        <p:nvSpPr>
          <p:cNvPr id="14" name="TextBox 14"/>
          <p:cNvSpPr txBox="1"/>
          <p:nvPr/>
        </p:nvSpPr>
        <p:spPr>
          <a:xfrm>
            <a:off x="1124988" y="4084291"/>
            <a:ext cx="6142730" cy="41508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625"/>
              </a:lnSpc>
            </a:pPr>
            <a:r>
              <a:rPr lang="en-US" sz="1750" b="1">
                <a:solidFill>
                  <a:srgbClr val="5B5F71"/>
                </a:solidFill>
                <a:latin typeface="Arimo Bold"/>
                <a:ea typeface="Arimo Bold"/>
                <a:cs typeface="Arimo Bold"/>
                <a:sym typeface="Arimo Bold"/>
              </a:rPr>
              <a:t>Token</a:t>
            </a:r>
          </a:p>
        </p:txBody>
      </p:sp>
      <p:sp>
        <p:nvSpPr>
          <p:cNvPr id="15" name="TextBox 15"/>
          <p:cNvSpPr txBox="1"/>
          <p:nvPr/>
        </p:nvSpPr>
        <p:spPr>
          <a:xfrm>
            <a:off x="7723432" y="4084291"/>
            <a:ext cx="9439570" cy="41508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625"/>
              </a:lnSpc>
            </a:pPr>
            <a:r>
              <a:rPr lang="en-US" sz="1750" b="1">
                <a:solidFill>
                  <a:srgbClr val="5B5F71"/>
                </a:solidFill>
                <a:latin typeface="Arimo Bold"/>
                <a:ea typeface="Arimo Bold"/>
                <a:cs typeface="Arimo Bold"/>
                <a:sym typeface="Arimo Bold"/>
              </a:rPr>
              <a:t>Tipo</a:t>
            </a:r>
          </a:p>
        </p:txBody>
      </p:sp>
      <p:grpSp>
        <p:nvGrpSpPr>
          <p:cNvPr id="16" name="Group 16"/>
          <p:cNvGrpSpPr/>
          <p:nvPr/>
        </p:nvGrpSpPr>
        <p:grpSpPr>
          <a:xfrm>
            <a:off x="901903" y="4629150"/>
            <a:ext cx="16484203" cy="598437"/>
            <a:chOff x="0" y="0"/>
            <a:chExt cx="21978938" cy="797916"/>
          </a:xfrm>
        </p:grpSpPr>
        <p:sp>
          <p:nvSpPr>
            <p:cNvPr id="17" name="Freeform 17"/>
            <p:cNvSpPr/>
            <p:nvPr/>
          </p:nvSpPr>
          <p:spPr>
            <a:xfrm>
              <a:off x="0" y="0"/>
              <a:ext cx="21979001" cy="797941"/>
            </a:xfrm>
            <a:custGeom>
              <a:avLst/>
              <a:gdLst/>
              <a:ahLst/>
              <a:cxnLst/>
              <a:rect l="l" t="t" r="r" b="b"/>
              <a:pathLst>
                <a:path w="21979001" h="797941">
                  <a:moveTo>
                    <a:pt x="0" y="0"/>
                  </a:moveTo>
                  <a:lnTo>
                    <a:pt x="21979001" y="0"/>
                  </a:lnTo>
                  <a:lnTo>
                    <a:pt x="21979001" y="797941"/>
                  </a:lnTo>
                  <a:lnTo>
                    <a:pt x="0" y="797941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</p:spPr>
        </p:sp>
      </p:grpSp>
      <p:sp>
        <p:nvSpPr>
          <p:cNvPr id="18" name="TextBox 18"/>
          <p:cNvSpPr txBox="1"/>
          <p:nvPr/>
        </p:nvSpPr>
        <p:spPr>
          <a:xfrm>
            <a:off x="1124988" y="4682728"/>
            <a:ext cx="6142730" cy="41508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625"/>
              </a:lnSpc>
            </a:pPr>
            <a:r>
              <a:rPr lang="en-US" sz="1750">
                <a:solidFill>
                  <a:srgbClr val="5B5F71"/>
                </a:solidFill>
                <a:latin typeface="Arimo"/>
                <a:ea typeface="Arimo"/>
                <a:cs typeface="Arimo"/>
                <a:sym typeface="Arimo"/>
              </a:rPr>
              <a:t>int</a:t>
            </a:r>
          </a:p>
        </p:txBody>
      </p:sp>
      <p:sp>
        <p:nvSpPr>
          <p:cNvPr id="19" name="TextBox 19"/>
          <p:cNvSpPr txBox="1"/>
          <p:nvPr/>
        </p:nvSpPr>
        <p:spPr>
          <a:xfrm>
            <a:off x="7723432" y="4682728"/>
            <a:ext cx="9439570" cy="41508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625"/>
              </a:lnSpc>
            </a:pPr>
            <a:r>
              <a:rPr lang="en-US" sz="1750">
                <a:solidFill>
                  <a:srgbClr val="5B5F71"/>
                </a:solidFill>
                <a:latin typeface="Arimo"/>
                <a:ea typeface="Arimo"/>
                <a:cs typeface="Arimo"/>
                <a:sym typeface="Arimo"/>
              </a:rPr>
              <a:t>Palabra reservada</a:t>
            </a:r>
          </a:p>
        </p:txBody>
      </p:sp>
      <p:grpSp>
        <p:nvGrpSpPr>
          <p:cNvPr id="20" name="Group 20"/>
          <p:cNvGrpSpPr/>
          <p:nvPr/>
        </p:nvGrpSpPr>
        <p:grpSpPr>
          <a:xfrm>
            <a:off x="901903" y="5227587"/>
            <a:ext cx="16484203" cy="598437"/>
            <a:chOff x="0" y="0"/>
            <a:chExt cx="21978938" cy="797916"/>
          </a:xfrm>
        </p:grpSpPr>
        <p:sp>
          <p:nvSpPr>
            <p:cNvPr id="21" name="Freeform 21"/>
            <p:cNvSpPr/>
            <p:nvPr/>
          </p:nvSpPr>
          <p:spPr>
            <a:xfrm>
              <a:off x="0" y="0"/>
              <a:ext cx="21979001" cy="797941"/>
            </a:xfrm>
            <a:custGeom>
              <a:avLst/>
              <a:gdLst/>
              <a:ahLst/>
              <a:cxnLst/>
              <a:rect l="l" t="t" r="r" b="b"/>
              <a:pathLst>
                <a:path w="21979001" h="797941">
                  <a:moveTo>
                    <a:pt x="0" y="0"/>
                  </a:moveTo>
                  <a:lnTo>
                    <a:pt x="21979001" y="0"/>
                  </a:lnTo>
                  <a:lnTo>
                    <a:pt x="21979001" y="797941"/>
                  </a:lnTo>
                  <a:lnTo>
                    <a:pt x="0" y="797941"/>
                  </a:lnTo>
                  <a:close/>
                </a:path>
              </a:pathLst>
            </a:custGeom>
            <a:solidFill>
              <a:srgbClr val="FFFFFF">
                <a:alpha val="0"/>
              </a:srgbClr>
            </a:solidFill>
          </p:spPr>
        </p:sp>
      </p:grpSp>
      <p:sp>
        <p:nvSpPr>
          <p:cNvPr id="22" name="TextBox 22"/>
          <p:cNvSpPr txBox="1"/>
          <p:nvPr/>
        </p:nvSpPr>
        <p:spPr>
          <a:xfrm>
            <a:off x="1124988" y="5281165"/>
            <a:ext cx="6142730" cy="41508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625"/>
              </a:lnSpc>
            </a:pPr>
            <a:r>
              <a:rPr lang="en-US" sz="1750">
                <a:solidFill>
                  <a:srgbClr val="5B5F71"/>
                </a:solidFill>
                <a:latin typeface="Arimo"/>
                <a:ea typeface="Arimo"/>
                <a:cs typeface="Arimo"/>
                <a:sym typeface="Arimo"/>
              </a:rPr>
              <a:t>a</a:t>
            </a:r>
          </a:p>
        </p:txBody>
      </p:sp>
      <p:sp>
        <p:nvSpPr>
          <p:cNvPr id="23" name="TextBox 23"/>
          <p:cNvSpPr txBox="1"/>
          <p:nvPr/>
        </p:nvSpPr>
        <p:spPr>
          <a:xfrm>
            <a:off x="7723432" y="5281165"/>
            <a:ext cx="9439570" cy="41508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625"/>
              </a:lnSpc>
            </a:pPr>
            <a:r>
              <a:rPr lang="en-US" sz="1750">
                <a:solidFill>
                  <a:srgbClr val="5B5F71"/>
                </a:solidFill>
                <a:latin typeface="Arimo"/>
                <a:ea typeface="Arimo"/>
                <a:cs typeface="Arimo"/>
                <a:sym typeface="Arimo"/>
              </a:rPr>
              <a:t>Identificador</a:t>
            </a:r>
          </a:p>
        </p:txBody>
      </p:sp>
      <p:grpSp>
        <p:nvGrpSpPr>
          <p:cNvPr id="24" name="Group 24"/>
          <p:cNvGrpSpPr/>
          <p:nvPr/>
        </p:nvGrpSpPr>
        <p:grpSpPr>
          <a:xfrm>
            <a:off x="901903" y="5826023"/>
            <a:ext cx="16484203" cy="598437"/>
            <a:chOff x="0" y="0"/>
            <a:chExt cx="21978938" cy="797916"/>
          </a:xfrm>
        </p:grpSpPr>
        <p:sp>
          <p:nvSpPr>
            <p:cNvPr id="25" name="Freeform 25"/>
            <p:cNvSpPr/>
            <p:nvPr/>
          </p:nvSpPr>
          <p:spPr>
            <a:xfrm>
              <a:off x="0" y="0"/>
              <a:ext cx="21979001" cy="797941"/>
            </a:xfrm>
            <a:custGeom>
              <a:avLst/>
              <a:gdLst/>
              <a:ahLst/>
              <a:cxnLst/>
              <a:rect l="l" t="t" r="r" b="b"/>
              <a:pathLst>
                <a:path w="21979001" h="797941">
                  <a:moveTo>
                    <a:pt x="0" y="0"/>
                  </a:moveTo>
                  <a:lnTo>
                    <a:pt x="21979001" y="0"/>
                  </a:lnTo>
                  <a:lnTo>
                    <a:pt x="21979001" y="797941"/>
                  </a:lnTo>
                  <a:lnTo>
                    <a:pt x="0" y="797941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</p:spPr>
        </p:sp>
      </p:grpSp>
      <p:sp>
        <p:nvSpPr>
          <p:cNvPr id="26" name="TextBox 26"/>
          <p:cNvSpPr txBox="1"/>
          <p:nvPr/>
        </p:nvSpPr>
        <p:spPr>
          <a:xfrm>
            <a:off x="1124988" y="5879602"/>
            <a:ext cx="6142730" cy="41508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625"/>
              </a:lnSpc>
            </a:pPr>
            <a:r>
              <a:rPr lang="en-US" sz="1750">
                <a:solidFill>
                  <a:srgbClr val="5B5F71"/>
                </a:solidFill>
                <a:latin typeface="Arimo"/>
                <a:ea typeface="Arimo"/>
                <a:cs typeface="Arimo"/>
                <a:sym typeface="Arimo"/>
              </a:rPr>
              <a:t>=</a:t>
            </a:r>
          </a:p>
        </p:txBody>
      </p:sp>
      <p:sp>
        <p:nvSpPr>
          <p:cNvPr id="27" name="TextBox 27"/>
          <p:cNvSpPr txBox="1"/>
          <p:nvPr/>
        </p:nvSpPr>
        <p:spPr>
          <a:xfrm>
            <a:off x="7723432" y="5879602"/>
            <a:ext cx="9439570" cy="41508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625"/>
              </a:lnSpc>
            </a:pPr>
            <a:r>
              <a:rPr lang="en-US" sz="1750">
                <a:solidFill>
                  <a:srgbClr val="5B5F71"/>
                </a:solidFill>
                <a:latin typeface="Arimo"/>
                <a:ea typeface="Arimo"/>
                <a:cs typeface="Arimo"/>
                <a:sym typeface="Arimo"/>
              </a:rPr>
              <a:t>Operador</a:t>
            </a:r>
          </a:p>
        </p:txBody>
      </p:sp>
      <p:grpSp>
        <p:nvGrpSpPr>
          <p:cNvPr id="28" name="Group 28"/>
          <p:cNvGrpSpPr/>
          <p:nvPr/>
        </p:nvGrpSpPr>
        <p:grpSpPr>
          <a:xfrm>
            <a:off x="901903" y="6424460"/>
            <a:ext cx="16484203" cy="598437"/>
            <a:chOff x="0" y="0"/>
            <a:chExt cx="21978938" cy="797916"/>
          </a:xfrm>
        </p:grpSpPr>
        <p:sp>
          <p:nvSpPr>
            <p:cNvPr id="29" name="Freeform 29"/>
            <p:cNvSpPr/>
            <p:nvPr/>
          </p:nvSpPr>
          <p:spPr>
            <a:xfrm>
              <a:off x="0" y="0"/>
              <a:ext cx="21979001" cy="797941"/>
            </a:xfrm>
            <a:custGeom>
              <a:avLst/>
              <a:gdLst/>
              <a:ahLst/>
              <a:cxnLst/>
              <a:rect l="l" t="t" r="r" b="b"/>
              <a:pathLst>
                <a:path w="21979001" h="797941">
                  <a:moveTo>
                    <a:pt x="0" y="0"/>
                  </a:moveTo>
                  <a:lnTo>
                    <a:pt x="21979001" y="0"/>
                  </a:lnTo>
                  <a:lnTo>
                    <a:pt x="21979001" y="797941"/>
                  </a:lnTo>
                  <a:lnTo>
                    <a:pt x="0" y="797941"/>
                  </a:lnTo>
                  <a:close/>
                </a:path>
              </a:pathLst>
            </a:custGeom>
            <a:solidFill>
              <a:srgbClr val="FFFFFF">
                <a:alpha val="0"/>
              </a:srgbClr>
            </a:solidFill>
          </p:spPr>
        </p:sp>
      </p:grpSp>
      <p:sp>
        <p:nvSpPr>
          <p:cNvPr id="30" name="TextBox 30"/>
          <p:cNvSpPr txBox="1"/>
          <p:nvPr/>
        </p:nvSpPr>
        <p:spPr>
          <a:xfrm>
            <a:off x="1124988" y="6478038"/>
            <a:ext cx="6142730" cy="41508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625"/>
              </a:lnSpc>
            </a:pPr>
            <a:r>
              <a:rPr lang="en-US" sz="1750">
                <a:solidFill>
                  <a:srgbClr val="5B5F71"/>
                </a:solidFill>
                <a:latin typeface="Arimo"/>
                <a:ea typeface="Arimo"/>
                <a:cs typeface="Arimo"/>
                <a:sym typeface="Arimo"/>
              </a:rPr>
              <a:t>10</a:t>
            </a:r>
          </a:p>
        </p:txBody>
      </p:sp>
      <p:sp>
        <p:nvSpPr>
          <p:cNvPr id="31" name="TextBox 31"/>
          <p:cNvSpPr txBox="1"/>
          <p:nvPr/>
        </p:nvSpPr>
        <p:spPr>
          <a:xfrm>
            <a:off x="7723432" y="6478038"/>
            <a:ext cx="9439570" cy="41508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625"/>
              </a:lnSpc>
            </a:pPr>
            <a:r>
              <a:rPr lang="en-US" sz="1750">
                <a:solidFill>
                  <a:srgbClr val="5B5F71"/>
                </a:solidFill>
                <a:latin typeface="Arimo"/>
                <a:ea typeface="Arimo"/>
                <a:cs typeface="Arimo"/>
                <a:sym typeface="Arimo"/>
              </a:rPr>
              <a:t>Número</a:t>
            </a:r>
          </a:p>
        </p:txBody>
      </p:sp>
      <p:grpSp>
        <p:nvGrpSpPr>
          <p:cNvPr id="32" name="Group 32"/>
          <p:cNvGrpSpPr/>
          <p:nvPr/>
        </p:nvGrpSpPr>
        <p:grpSpPr>
          <a:xfrm>
            <a:off x="901903" y="7022897"/>
            <a:ext cx="16484203" cy="598437"/>
            <a:chOff x="0" y="0"/>
            <a:chExt cx="21978938" cy="797916"/>
          </a:xfrm>
        </p:grpSpPr>
        <p:sp>
          <p:nvSpPr>
            <p:cNvPr id="33" name="Freeform 33"/>
            <p:cNvSpPr/>
            <p:nvPr/>
          </p:nvSpPr>
          <p:spPr>
            <a:xfrm>
              <a:off x="0" y="0"/>
              <a:ext cx="21979001" cy="797941"/>
            </a:xfrm>
            <a:custGeom>
              <a:avLst/>
              <a:gdLst/>
              <a:ahLst/>
              <a:cxnLst/>
              <a:rect l="l" t="t" r="r" b="b"/>
              <a:pathLst>
                <a:path w="21979001" h="797941">
                  <a:moveTo>
                    <a:pt x="0" y="0"/>
                  </a:moveTo>
                  <a:lnTo>
                    <a:pt x="21979001" y="0"/>
                  </a:lnTo>
                  <a:lnTo>
                    <a:pt x="21979001" y="797941"/>
                  </a:lnTo>
                  <a:lnTo>
                    <a:pt x="0" y="797941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</p:spPr>
        </p:sp>
      </p:grpSp>
      <p:sp>
        <p:nvSpPr>
          <p:cNvPr id="34" name="TextBox 34"/>
          <p:cNvSpPr txBox="1"/>
          <p:nvPr/>
        </p:nvSpPr>
        <p:spPr>
          <a:xfrm>
            <a:off x="1124988" y="7076484"/>
            <a:ext cx="6142730" cy="41508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625"/>
              </a:lnSpc>
            </a:pPr>
            <a:r>
              <a:rPr lang="en-US" sz="1750">
                <a:solidFill>
                  <a:srgbClr val="5B5F71"/>
                </a:solidFill>
                <a:latin typeface="Arimo"/>
                <a:ea typeface="Arimo"/>
                <a:cs typeface="Arimo"/>
                <a:sym typeface="Arimo"/>
              </a:rPr>
              <a:t>+</a:t>
            </a:r>
          </a:p>
        </p:txBody>
      </p:sp>
      <p:sp>
        <p:nvSpPr>
          <p:cNvPr id="35" name="TextBox 35"/>
          <p:cNvSpPr txBox="1"/>
          <p:nvPr/>
        </p:nvSpPr>
        <p:spPr>
          <a:xfrm>
            <a:off x="7723432" y="7076484"/>
            <a:ext cx="9439570" cy="41508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625"/>
              </a:lnSpc>
            </a:pPr>
            <a:r>
              <a:rPr lang="en-US" sz="1750">
                <a:solidFill>
                  <a:srgbClr val="5B5F71"/>
                </a:solidFill>
                <a:latin typeface="Arimo"/>
                <a:ea typeface="Arimo"/>
                <a:cs typeface="Arimo"/>
                <a:sym typeface="Arimo"/>
              </a:rPr>
              <a:t>Operador</a:t>
            </a:r>
          </a:p>
        </p:txBody>
      </p:sp>
      <p:grpSp>
        <p:nvGrpSpPr>
          <p:cNvPr id="36" name="Group 36"/>
          <p:cNvGrpSpPr/>
          <p:nvPr/>
        </p:nvGrpSpPr>
        <p:grpSpPr>
          <a:xfrm>
            <a:off x="901903" y="7621343"/>
            <a:ext cx="16484203" cy="598437"/>
            <a:chOff x="0" y="0"/>
            <a:chExt cx="21978938" cy="797916"/>
          </a:xfrm>
        </p:grpSpPr>
        <p:sp>
          <p:nvSpPr>
            <p:cNvPr id="37" name="Freeform 37"/>
            <p:cNvSpPr/>
            <p:nvPr/>
          </p:nvSpPr>
          <p:spPr>
            <a:xfrm>
              <a:off x="0" y="0"/>
              <a:ext cx="21979001" cy="797941"/>
            </a:xfrm>
            <a:custGeom>
              <a:avLst/>
              <a:gdLst/>
              <a:ahLst/>
              <a:cxnLst/>
              <a:rect l="l" t="t" r="r" b="b"/>
              <a:pathLst>
                <a:path w="21979001" h="797941">
                  <a:moveTo>
                    <a:pt x="0" y="0"/>
                  </a:moveTo>
                  <a:lnTo>
                    <a:pt x="21979001" y="0"/>
                  </a:lnTo>
                  <a:lnTo>
                    <a:pt x="21979001" y="797941"/>
                  </a:lnTo>
                  <a:lnTo>
                    <a:pt x="0" y="797941"/>
                  </a:lnTo>
                  <a:close/>
                </a:path>
              </a:pathLst>
            </a:custGeom>
            <a:solidFill>
              <a:srgbClr val="FFFFFF">
                <a:alpha val="0"/>
              </a:srgbClr>
            </a:solidFill>
          </p:spPr>
        </p:sp>
      </p:grpSp>
      <p:sp>
        <p:nvSpPr>
          <p:cNvPr id="38" name="TextBox 38"/>
          <p:cNvSpPr txBox="1"/>
          <p:nvPr/>
        </p:nvSpPr>
        <p:spPr>
          <a:xfrm>
            <a:off x="1124988" y="7674921"/>
            <a:ext cx="6142730" cy="41508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625"/>
              </a:lnSpc>
            </a:pPr>
            <a:r>
              <a:rPr lang="en-US" sz="1750">
                <a:solidFill>
                  <a:srgbClr val="5B5F71"/>
                </a:solidFill>
                <a:latin typeface="Arimo"/>
                <a:ea typeface="Arimo"/>
                <a:cs typeface="Arimo"/>
                <a:sym typeface="Arimo"/>
              </a:rPr>
              <a:t>5</a:t>
            </a:r>
          </a:p>
        </p:txBody>
      </p:sp>
      <p:sp>
        <p:nvSpPr>
          <p:cNvPr id="39" name="TextBox 39"/>
          <p:cNvSpPr txBox="1"/>
          <p:nvPr/>
        </p:nvSpPr>
        <p:spPr>
          <a:xfrm>
            <a:off x="7723432" y="7674921"/>
            <a:ext cx="9439570" cy="41508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625"/>
              </a:lnSpc>
            </a:pPr>
            <a:r>
              <a:rPr lang="en-US" sz="1750">
                <a:solidFill>
                  <a:srgbClr val="5B5F71"/>
                </a:solidFill>
                <a:latin typeface="Arimo"/>
                <a:ea typeface="Arimo"/>
                <a:cs typeface="Arimo"/>
                <a:sym typeface="Arimo"/>
              </a:rPr>
              <a:t>Número</a:t>
            </a:r>
          </a:p>
        </p:txBody>
      </p:sp>
      <p:grpSp>
        <p:nvGrpSpPr>
          <p:cNvPr id="40" name="Group 40"/>
          <p:cNvGrpSpPr/>
          <p:nvPr/>
        </p:nvGrpSpPr>
        <p:grpSpPr>
          <a:xfrm>
            <a:off x="901903" y="8219780"/>
            <a:ext cx="16484203" cy="598437"/>
            <a:chOff x="0" y="0"/>
            <a:chExt cx="21978938" cy="797916"/>
          </a:xfrm>
        </p:grpSpPr>
        <p:sp>
          <p:nvSpPr>
            <p:cNvPr id="41" name="Freeform 41"/>
            <p:cNvSpPr/>
            <p:nvPr/>
          </p:nvSpPr>
          <p:spPr>
            <a:xfrm>
              <a:off x="0" y="0"/>
              <a:ext cx="21979001" cy="797941"/>
            </a:xfrm>
            <a:custGeom>
              <a:avLst/>
              <a:gdLst/>
              <a:ahLst/>
              <a:cxnLst/>
              <a:rect l="l" t="t" r="r" b="b"/>
              <a:pathLst>
                <a:path w="21979001" h="797941">
                  <a:moveTo>
                    <a:pt x="0" y="0"/>
                  </a:moveTo>
                  <a:lnTo>
                    <a:pt x="21979001" y="0"/>
                  </a:lnTo>
                  <a:lnTo>
                    <a:pt x="21979001" y="797941"/>
                  </a:lnTo>
                  <a:lnTo>
                    <a:pt x="0" y="797941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</p:spPr>
        </p:sp>
      </p:grpSp>
      <p:sp>
        <p:nvSpPr>
          <p:cNvPr id="42" name="TextBox 42"/>
          <p:cNvSpPr txBox="1"/>
          <p:nvPr/>
        </p:nvSpPr>
        <p:spPr>
          <a:xfrm>
            <a:off x="1124988" y="8273358"/>
            <a:ext cx="6142730" cy="41508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625"/>
              </a:lnSpc>
            </a:pPr>
            <a:r>
              <a:rPr lang="en-US" sz="1750">
                <a:solidFill>
                  <a:srgbClr val="5B5F71"/>
                </a:solidFill>
                <a:latin typeface="Arimo"/>
                <a:ea typeface="Arimo"/>
                <a:cs typeface="Arimo"/>
                <a:sym typeface="Arimo"/>
              </a:rPr>
              <a:t>;</a:t>
            </a:r>
          </a:p>
        </p:txBody>
      </p:sp>
      <p:sp>
        <p:nvSpPr>
          <p:cNvPr id="43" name="TextBox 43"/>
          <p:cNvSpPr txBox="1"/>
          <p:nvPr/>
        </p:nvSpPr>
        <p:spPr>
          <a:xfrm>
            <a:off x="7723432" y="8273358"/>
            <a:ext cx="9439570" cy="41508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625"/>
              </a:lnSpc>
            </a:pPr>
            <a:r>
              <a:rPr lang="en-US" sz="1750">
                <a:solidFill>
                  <a:srgbClr val="5B5F71"/>
                </a:solidFill>
                <a:latin typeface="Arimo"/>
                <a:ea typeface="Arimo"/>
                <a:cs typeface="Arimo"/>
                <a:sym typeface="Arimo"/>
              </a:rPr>
              <a:t>Delimitador</a:t>
            </a:r>
          </a:p>
        </p:txBody>
      </p:sp>
      <p:sp>
        <p:nvSpPr>
          <p:cNvPr id="44" name="TextBox 44"/>
          <p:cNvSpPr txBox="1"/>
          <p:nvPr/>
        </p:nvSpPr>
        <p:spPr>
          <a:xfrm>
            <a:off x="892378" y="8977160"/>
            <a:ext cx="16503253" cy="41508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625"/>
              </a:lnSpc>
            </a:pPr>
            <a:r>
              <a:rPr lang="en-US" sz="1750">
                <a:solidFill>
                  <a:srgbClr val="5B5F71"/>
                </a:solidFill>
                <a:latin typeface="Arimo"/>
                <a:ea typeface="Arimo"/>
                <a:cs typeface="Arimo"/>
                <a:sym typeface="Arimo"/>
              </a:rPr>
              <a:t>Esto demuestra cómo el analizador léxico separa los elementos del programa y los clasifica según su tipo.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2045544" y="1666263"/>
            <a:ext cx="14379262" cy="8088335"/>
          </a:xfrm>
          <a:custGeom>
            <a:avLst/>
            <a:gdLst/>
            <a:ahLst/>
            <a:cxnLst/>
            <a:rect l="l" t="t" r="r" b="b"/>
            <a:pathLst>
              <a:path w="14379262" h="8088335">
                <a:moveTo>
                  <a:pt x="0" y="0"/>
                </a:moveTo>
                <a:lnTo>
                  <a:pt x="14379262" y="0"/>
                </a:lnTo>
                <a:lnTo>
                  <a:pt x="14379262" y="8088335"/>
                </a:lnTo>
                <a:lnTo>
                  <a:pt x="0" y="8088335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</p:sp>
      <p:sp>
        <p:nvSpPr>
          <p:cNvPr id="3" name="TextBox 3"/>
          <p:cNvSpPr txBox="1"/>
          <p:nvPr/>
        </p:nvSpPr>
        <p:spPr>
          <a:xfrm>
            <a:off x="892378" y="856507"/>
            <a:ext cx="8632622" cy="647100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5437"/>
              </a:lnSpc>
            </a:pPr>
            <a:r>
              <a:rPr lang="en-US" sz="4375" b="1" dirty="0" err="1">
                <a:solidFill>
                  <a:srgbClr val="505468"/>
                </a:solidFill>
                <a:latin typeface="Arimo Bold"/>
                <a:ea typeface="Arimo Bold"/>
                <a:cs typeface="Arimo Bold"/>
                <a:sym typeface="Arimo Bold"/>
              </a:rPr>
              <a:t>Resultados</a:t>
            </a:r>
            <a:r>
              <a:rPr lang="en-US" sz="4375" b="1" dirty="0">
                <a:solidFill>
                  <a:srgbClr val="505468"/>
                </a:solidFill>
                <a:latin typeface="Arimo Bold"/>
                <a:ea typeface="Arimo Bold"/>
                <a:cs typeface="Arimo Bold"/>
                <a:sym typeface="Arimo Bold"/>
              </a:rPr>
              <a:t> </a:t>
            </a:r>
            <a:r>
              <a:rPr lang="en-US" sz="4375" b="1" dirty="0" err="1">
                <a:solidFill>
                  <a:srgbClr val="505468"/>
                </a:solidFill>
                <a:latin typeface="Arimo Bold"/>
                <a:ea typeface="Arimo Bold"/>
                <a:cs typeface="Arimo Bold"/>
                <a:sym typeface="Arimo Bold"/>
              </a:rPr>
              <a:t>Obtenidos</a:t>
            </a:r>
            <a:endParaRPr lang="en-US" sz="4375" b="1" dirty="0">
              <a:solidFill>
                <a:srgbClr val="505468"/>
              </a:solidFill>
              <a:latin typeface="Arimo Bold"/>
              <a:ea typeface="Arimo Bold"/>
              <a:cs typeface="Arimo Bold"/>
              <a:sym typeface="Arimo Bold"/>
            </a:endParaRP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TextBox 33"/>
          <p:cNvSpPr txBox="1"/>
          <p:nvPr/>
        </p:nvSpPr>
        <p:spPr>
          <a:xfrm>
            <a:off x="619705" y="300628"/>
            <a:ext cx="8337976" cy="500650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4187"/>
              </a:lnSpc>
            </a:pPr>
            <a:r>
              <a:rPr lang="en-US" sz="3312" b="1" dirty="0">
                <a:solidFill>
                  <a:srgbClr val="505468"/>
                </a:solidFill>
                <a:latin typeface="Arimo Bold"/>
                <a:ea typeface="Arimo Bold"/>
                <a:cs typeface="Arimo Bold"/>
                <a:sym typeface="Arimo Bold"/>
              </a:rPr>
              <a:t>Link de </a:t>
            </a:r>
            <a:r>
              <a:rPr lang="en-US" sz="3312" b="1" dirty="0" err="1">
                <a:solidFill>
                  <a:srgbClr val="505468"/>
                </a:solidFill>
                <a:latin typeface="Arimo Bold"/>
                <a:ea typeface="Arimo Bold"/>
                <a:cs typeface="Arimo Bold"/>
                <a:sym typeface="Arimo Bold"/>
              </a:rPr>
              <a:t>Repositorio</a:t>
            </a:r>
            <a:r>
              <a:rPr lang="en-US" sz="3312" b="1" dirty="0">
                <a:solidFill>
                  <a:srgbClr val="505468"/>
                </a:solidFill>
                <a:latin typeface="Arimo Bold"/>
                <a:ea typeface="Arimo Bold"/>
                <a:cs typeface="Arimo Bold"/>
                <a:sym typeface="Arimo Bold"/>
              </a:rPr>
              <a:t> </a:t>
            </a:r>
          </a:p>
        </p:txBody>
      </p:sp>
      <p:sp>
        <p:nvSpPr>
          <p:cNvPr id="65" name="CuadroTexto 64">
            <a:extLst>
              <a:ext uri="{FF2B5EF4-FFF2-40B4-BE49-F238E27FC236}">
                <a16:creationId xmlns:a16="http://schemas.microsoft.com/office/drawing/2014/main" id="{4B9366A9-73F0-5EDD-2C82-C952BF0D867D}"/>
              </a:ext>
            </a:extLst>
          </p:cNvPr>
          <p:cNvSpPr txBox="1"/>
          <p:nvPr/>
        </p:nvSpPr>
        <p:spPr>
          <a:xfrm>
            <a:off x="619704" y="1181100"/>
            <a:ext cx="17439696" cy="9541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s-MX" sz="2800" dirty="0">
                <a:hlinkClick r:id="rId3"/>
              </a:rPr>
              <a:t>https://github.com/amaurycolochos-cpu/LENGUAJES-Y-AUTOMATAS-1/tree/main/UNIDAD%204/AnalizadorLexicoFX</a:t>
            </a:r>
            <a:endParaRPr lang="es-MX" sz="2800" dirty="0"/>
          </a:p>
          <a:p>
            <a:endParaRPr lang="es-MX" sz="2800" dirty="0"/>
          </a:p>
        </p:txBody>
      </p:sp>
    </p:spTree>
    <p:extLst>
      <p:ext uri="{BB962C8B-B14F-4D97-AF65-F5344CB8AC3E}">
        <p14:creationId xmlns:p14="http://schemas.microsoft.com/office/powerpoint/2010/main" val="2189507563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2"/>
          <p:cNvSpPr txBox="1"/>
          <p:nvPr/>
        </p:nvSpPr>
        <p:spPr>
          <a:xfrm>
            <a:off x="992238" y="718690"/>
            <a:ext cx="6202261" cy="81319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6062"/>
              </a:lnSpc>
            </a:pPr>
            <a:r>
              <a:rPr lang="en-US" sz="4875" b="1">
                <a:solidFill>
                  <a:srgbClr val="505468"/>
                </a:solidFill>
                <a:latin typeface="Arimo Bold"/>
                <a:ea typeface="Arimo Bold"/>
                <a:cs typeface="Arimo Bold"/>
                <a:sym typeface="Arimo Bold"/>
              </a:rPr>
              <a:t>Conclusión</a:t>
            </a:r>
          </a:p>
        </p:txBody>
      </p:sp>
      <p:sp>
        <p:nvSpPr>
          <p:cNvPr id="3" name="TextBox 3"/>
          <p:cNvSpPr txBox="1"/>
          <p:nvPr/>
        </p:nvSpPr>
        <p:spPr>
          <a:xfrm>
            <a:off x="992238" y="1932680"/>
            <a:ext cx="16303523" cy="128602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125"/>
              </a:lnSpc>
            </a:pPr>
            <a:r>
              <a:rPr lang="en-US" sz="1937">
                <a:solidFill>
                  <a:srgbClr val="5B5F71"/>
                </a:solidFill>
                <a:latin typeface="Arimo"/>
                <a:ea typeface="Arimo"/>
                <a:cs typeface="Arimo"/>
                <a:sym typeface="Arimo"/>
              </a:rPr>
              <a:t>La realización de esta práctica permitió comprender de forma más clara cómo funciona el proceso de análisis léxico dentro de un compilador. A través del desarrollo de un programa sencillo en Java fue posible observar cómo un fragmento de código puede dividirse en diferentes tokens y clasificarse según su función dentro del lenguaje de programación.</a:t>
            </a:r>
          </a:p>
        </p:txBody>
      </p:sp>
      <p:grpSp>
        <p:nvGrpSpPr>
          <p:cNvPr id="4" name="Group 4"/>
          <p:cNvGrpSpPr/>
          <p:nvPr/>
        </p:nvGrpSpPr>
        <p:grpSpPr>
          <a:xfrm>
            <a:off x="977951" y="3483473"/>
            <a:ext cx="5297691" cy="3102769"/>
            <a:chOff x="0" y="0"/>
            <a:chExt cx="7063588" cy="4137025"/>
          </a:xfrm>
        </p:grpSpPr>
        <p:sp>
          <p:nvSpPr>
            <p:cNvPr id="5" name="Freeform 5"/>
            <p:cNvSpPr/>
            <p:nvPr/>
          </p:nvSpPr>
          <p:spPr>
            <a:xfrm>
              <a:off x="19050" y="19050"/>
              <a:ext cx="7025513" cy="4098925"/>
            </a:xfrm>
            <a:custGeom>
              <a:avLst/>
              <a:gdLst/>
              <a:ahLst/>
              <a:cxnLst/>
              <a:rect l="l" t="t" r="r" b="b"/>
              <a:pathLst>
                <a:path w="7025513" h="4098925">
                  <a:moveTo>
                    <a:pt x="0" y="138938"/>
                  </a:moveTo>
                  <a:cubicBezTo>
                    <a:pt x="0" y="62230"/>
                    <a:pt x="62484" y="0"/>
                    <a:pt x="139446" y="0"/>
                  </a:cubicBezTo>
                  <a:lnTo>
                    <a:pt x="6886067" y="0"/>
                  </a:lnTo>
                  <a:cubicBezTo>
                    <a:pt x="6963029" y="0"/>
                    <a:pt x="7025513" y="62230"/>
                    <a:pt x="7025513" y="138938"/>
                  </a:cubicBezTo>
                  <a:lnTo>
                    <a:pt x="7025513" y="3959987"/>
                  </a:lnTo>
                  <a:cubicBezTo>
                    <a:pt x="7025513" y="4036695"/>
                    <a:pt x="6963029" y="4098925"/>
                    <a:pt x="6886067" y="4098925"/>
                  </a:cubicBezTo>
                  <a:lnTo>
                    <a:pt x="139446" y="4098925"/>
                  </a:lnTo>
                  <a:cubicBezTo>
                    <a:pt x="62484" y="4098925"/>
                    <a:pt x="0" y="4036695"/>
                    <a:pt x="0" y="3959987"/>
                  </a:cubicBezTo>
                  <a:close/>
                </a:path>
              </a:pathLst>
            </a:custGeom>
            <a:solidFill>
              <a:srgbClr val="FFFFFF">
                <a:alpha val="90196"/>
              </a:srgbClr>
            </a:solidFill>
          </p:spPr>
        </p:sp>
        <p:sp>
          <p:nvSpPr>
            <p:cNvPr id="6" name="Freeform 6"/>
            <p:cNvSpPr/>
            <p:nvPr/>
          </p:nvSpPr>
          <p:spPr>
            <a:xfrm>
              <a:off x="0" y="0"/>
              <a:ext cx="7063613" cy="4137025"/>
            </a:xfrm>
            <a:custGeom>
              <a:avLst/>
              <a:gdLst/>
              <a:ahLst/>
              <a:cxnLst/>
              <a:rect l="l" t="t" r="r" b="b"/>
              <a:pathLst>
                <a:path w="7063613" h="4137025">
                  <a:moveTo>
                    <a:pt x="0" y="157988"/>
                  </a:moveTo>
                  <a:cubicBezTo>
                    <a:pt x="0" y="70612"/>
                    <a:pt x="70993" y="0"/>
                    <a:pt x="158496" y="0"/>
                  </a:cubicBezTo>
                  <a:lnTo>
                    <a:pt x="6905117" y="0"/>
                  </a:lnTo>
                  <a:lnTo>
                    <a:pt x="6905117" y="19050"/>
                  </a:lnTo>
                  <a:lnTo>
                    <a:pt x="6905117" y="0"/>
                  </a:lnTo>
                  <a:cubicBezTo>
                    <a:pt x="6992620" y="0"/>
                    <a:pt x="7063613" y="70612"/>
                    <a:pt x="7063613" y="157988"/>
                  </a:cubicBezTo>
                  <a:lnTo>
                    <a:pt x="7044563" y="157988"/>
                  </a:lnTo>
                  <a:lnTo>
                    <a:pt x="7063613" y="157988"/>
                  </a:lnTo>
                  <a:lnTo>
                    <a:pt x="7063613" y="3979037"/>
                  </a:lnTo>
                  <a:lnTo>
                    <a:pt x="7044563" y="3979037"/>
                  </a:lnTo>
                  <a:lnTo>
                    <a:pt x="7063613" y="3979037"/>
                  </a:lnTo>
                  <a:cubicBezTo>
                    <a:pt x="7063613" y="4066286"/>
                    <a:pt x="6992620" y="4137025"/>
                    <a:pt x="6905117" y="4137025"/>
                  </a:cubicBezTo>
                  <a:lnTo>
                    <a:pt x="6905117" y="4117975"/>
                  </a:lnTo>
                  <a:lnTo>
                    <a:pt x="6905117" y="4137025"/>
                  </a:lnTo>
                  <a:lnTo>
                    <a:pt x="158496" y="4137025"/>
                  </a:lnTo>
                  <a:lnTo>
                    <a:pt x="158496" y="4117975"/>
                  </a:lnTo>
                  <a:lnTo>
                    <a:pt x="158496" y="4137025"/>
                  </a:lnTo>
                  <a:cubicBezTo>
                    <a:pt x="70993" y="4137025"/>
                    <a:pt x="0" y="4066413"/>
                    <a:pt x="0" y="3979037"/>
                  </a:cubicBezTo>
                  <a:lnTo>
                    <a:pt x="0" y="157988"/>
                  </a:lnTo>
                  <a:lnTo>
                    <a:pt x="19050" y="157988"/>
                  </a:lnTo>
                  <a:lnTo>
                    <a:pt x="0" y="157988"/>
                  </a:lnTo>
                  <a:moveTo>
                    <a:pt x="38100" y="157988"/>
                  </a:moveTo>
                  <a:lnTo>
                    <a:pt x="38100" y="3979037"/>
                  </a:lnTo>
                  <a:lnTo>
                    <a:pt x="19050" y="3979037"/>
                  </a:lnTo>
                  <a:lnTo>
                    <a:pt x="38100" y="3979037"/>
                  </a:lnTo>
                  <a:cubicBezTo>
                    <a:pt x="38100" y="4045204"/>
                    <a:pt x="91948" y="4098925"/>
                    <a:pt x="158496" y="4098925"/>
                  </a:cubicBezTo>
                  <a:lnTo>
                    <a:pt x="6905117" y="4098925"/>
                  </a:lnTo>
                  <a:cubicBezTo>
                    <a:pt x="6971665" y="4098925"/>
                    <a:pt x="7025513" y="4045204"/>
                    <a:pt x="7025513" y="3979037"/>
                  </a:cubicBezTo>
                  <a:lnTo>
                    <a:pt x="7025513" y="157988"/>
                  </a:lnTo>
                  <a:cubicBezTo>
                    <a:pt x="7025513" y="91821"/>
                    <a:pt x="6971665" y="38100"/>
                    <a:pt x="6905117" y="38100"/>
                  </a:cubicBezTo>
                  <a:lnTo>
                    <a:pt x="158496" y="38100"/>
                  </a:lnTo>
                  <a:lnTo>
                    <a:pt x="158496" y="19050"/>
                  </a:lnTo>
                  <a:lnTo>
                    <a:pt x="158496" y="38100"/>
                  </a:lnTo>
                  <a:cubicBezTo>
                    <a:pt x="91948" y="38100"/>
                    <a:pt x="38100" y="91821"/>
                    <a:pt x="38100" y="157988"/>
                  </a:cubicBezTo>
                  <a:close/>
                </a:path>
              </a:pathLst>
            </a:custGeom>
            <a:solidFill>
              <a:srgbClr val="C8C9CF"/>
            </a:solidFill>
          </p:spPr>
        </p:sp>
      </p:grpSp>
      <p:sp>
        <p:nvSpPr>
          <p:cNvPr id="7" name="TextBox 7"/>
          <p:cNvSpPr txBox="1"/>
          <p:nvPr/>
        </p:nvSpPr>
        <p:spPr>
          <a:xfrm>
            <a:off x="1268759" y="3764756"/>
            <a:ext cx="4716066" cy="78491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999"/>
              </a:lnSpc>
            </a:pPr>
            <a:r>
              <a:rPr lang="en-US" sz="2437" b="1">
                <a:solidFill>
                  <a:srgbClr val="5B5F71"/>
                </a:solidFill>
                <a:latin typeface="Arimo Bold"/>
                <a:ea typeface="Arimo Bold"/>
                <a:cs typeface="Arimo Bold"/>
                <a:sym typeface="Arimo Bold"/>
              </a:rPr>
              <a:t>Aplicación práctica de conceptos</a:t>
            </a:r>
          </a:p>
        </p:txBody>
      </p:sp>
      <p:sp>
        <p:nvSpPr>
          <p:cNvPr id="8" name="TextBox 8"/>
          <p:cNvSpPr txBox="1"/>
          <p:nvPr/>
        </p:nvSpPr>
        <p:spPr>
          <a:xfrm>
            <a:off x="1268759" y="4603252"/>
            <a:ext cx="4716066" cy="128602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125"/>
              </a:lnSpc>
            </a:pPr>
            <a:r>
              <a:rPr lang="en-US" sz="1937">
                <a:solidFill>
                  <a:srgbClr val="5B5F71"/>
                </a:solidFill>
                <a:latin typeface="Arimo"/>
                <a:ea typeface="Arimo"/>
                <a:cs typeface="Arimo"/>
                <a:sym typeface="Arimo"/>
              </a:rPr>
              <a:t>El uso de JavaFX permitió crear una interfaz gráfica que facilita visualizar el proceso de análisis del código fuente</a:t>
            </a:r>
          </a:p>
        </p:txBody>
      </p:sp>
      <p:grpSp>
        <p:nvGrpSpPr>
          <p:cNvPr id="9" name="Group 9"/>
          <p:cNvGrpSpPr/>
          <p:nvPr/>
        </p:nvGrpSpPr>
        <p:grpSpPr>
          <a:xfrm>
            <a:off x="6495012" y="3483473"/>
            <a:ext cx="5297834" cy="3102769"/>
            <a:chOff x="0" y="0"/>
            <a:chExt cx="7063778" cy="4137025"/>
          </a:xfrm>
        </p:grpSpPr>
        <p:sp>
          <p:nvSpPr>
            <p:cNvPr id="10" name="Freeform 10"/>
            <p:cNvSpPr/>
            <p:nvPr/>
          </p:nvSpPr>
          <p:spPr>
            <a:xfrm>
              <a:off x="19050" y="19050"/>
              <a:ext cx="7025639" cy="4098925"/>
            </a:xfrm>
            <a:custGeom>
              <a:avLst/>
              <a:gdLst/>
              <a:ahLst/>
              <a:cxnLst/>
              <a:rect l="l" t="t" r="r" b="b"/>
              <a:pathLst>
                <a:path w="7025639" h="4098925">
                  <a:moveTo>
                    <a:pt x="0" y="138938"/>
                  </a:moveTo>
                  <a:cubicBezTo>
                    <a:pt x="0" y="62230"/>
                    <a:pt x="62484" y="0"/>
                    <a:pt x="139446" y="0"/>
                  </a:cubicBezTo>
                  <a:lnTo>
                    <a:pt x="6886194" y="0"/>
                  </a:lnTo>
                  <a:cubicBezTo>
                    <a:pt x="6963156" y="0"/>
                    <a:pt x="7025639" y="62230"/>
                    <a:pt x="7025639" y="138938"/>
                  </a:cubicBezTo>
                  <a:lnTo>
                    <a:pt x="7025639" y="3959987"/>
                  </a:lnTo>
                  <a:cubicBezTo>
                    <a:pt x="7025639" y="4036695"/>
                    <a:pt x="6963156" y="4098925"/>
                    <a:pt x="6886194" y="4098925"/>
                  </a:cubicBezTo>
                  <a:lnTo>
                    <a:pt x="139446" y="4098925"/>
                  </a:lnTo>
                  <a:cubicBezTo>
                    <a:pt x="62484" y="4098925"/>
                    <a:pt x="0" y="4036695"/>
                    <a:pt x="0" y="3959987"/>
                  </a:cubicBezTo>
                  <a:close/>
                </a:path>
              </a:pathLst>
            </a:custGeom>
            <a:solidFill>
              <a:srgbClr val="FFFFFF">
                <a:alpha val="90196"/>
              </a:srgbClr>
            </a:solidFill>
          </p:spPr>
        </p:sp>
        <p:sp>
          <p:nvSpPr>
            <p:cNvPr id="11" name="Freeform 11"/>
            <p:cNvSpPr/>
            <p:nvPr/>
          </p:nvSpPr>
          <p:spPr>
            <a:xfrm>
              <a:off x="0" y="0"/>
              <a:ext cx="7063739" cy="4137025"/>
            </a:xfrm>
            <a:custGeom>
              <a:avLst/>
              <a:gdLst/>
              <a:ahLst/>
              <a:cxnLst/>
              <a:rect l="l" t="t" r="r" b="b"/>
              <a:pathLst>
                <a:path w="7063739" h="4137025">
                  <a:moveTo>
                    <a:pt x="0" y="157988"/>
                  </a:moveTo>
                  <a:cubicBezTo>
                    <a:pt x="0" y="70612"/>
                    <a:pt x="70993" y="0"/>
                    <a:pt x="158496" y="0"/>
                  </a:cubicBezTo>
                  <a:lnTo>
                    <a:pt x="6905244" y="0"/>
                  </a:lnTo>
                  <a:lnTo>
                    <a:pt x="6905244" y="19050"/>
                  </a:lnTo>
                  <a:lnTo>
                    <a:pt x="6905244" y="0"/>
                  </a:lnTo>
                  <a:cubicBezTo>
                    <a:pt x="6992747" y="0"/>
                    <a:pt x="7063739" y="70612"/>
                    <a:pt x="7063739" y="157988"/>
                  </a:cubicBezTo>
                  <a:lnTo>
                    <a:pt x="7044689" y="157988"/>
                  </a:lnTo>
                  <a:lnTo>
                    <a:pt x="7063739" y="157988"/>
                  </a:lnTo>
                  <a:lnTo>
                    <a:pt x="7063739" y="3979037"/>
                  </a:lnTo>
                  <a:lnTo>
                    <a:pt x="7044689" y="3979037"/>
                  </a:lnTo>
                  <a:lnTo>
                    <a:pt x="7063739" y="3979037"/>
                  </a:lnTo>
                  <a:cubicBezTo>
                    <a:pt x="7063739" y="4066286"/>
                    <a:pt x="6992747" y="4137025"/>
                    <a:pt x="6905244" y="4137025"/>
                  </a:cubicBezTo>
                  <a:lnTo>
                    <a:pt x="6905244" y="4117975"/>
                  </a:lnTo>
                  <a:lnTo>
                    <a:pt x="6905244" y="4137025"/>
                  </a:lnTo>
                  <a:lnTo>
                    <a:pt x="158496" y="4137025"/>
                  </a:lnTo>
                  <a:lnTo>
                    <a:pt x="158496" y="4117975"/>
                  </a:lnTo>
                  <a:lnTo>
                    <a:pt x="158496" y="4137025"/>
                  </a:lnTo>
                  <a:cubicBezTo>
                    <a:pt x="70993" y="4137025"/>
                    <a:pt x="0" y="4066413"/>
                    <a:pt x="0" y="3979037"/>
                  </a:cubicBezTo>
                  <a:lnTo>
                    <a:pt x="0" y="157988"/>
                  </a:lnTo>
                  <a:lnTo>
                    <a:pt x="19050" y="157988"/>
                  </a:lnTo>
                  <a:lnTo>
                    <a:pt x="0" y="157988"/>
                  </a:lnTo>
                  <a:moveTo>
                    <a:pt x="38100" y="157988"/>
                  </a:moveTo>
                  <a:lnTo>
                    <a:pt x="38100" y="3979037"/>
                  </a:lnTo>
                  <a:lnTo>
                    <a:pt x="19050" y="3979037"/>
                  </a:lnTo>
                  <a:lnTo>
                    <a:pt x="38100" y="3979037"/>
                  </a:lnTo>
                  <a:cubicBezTo>
                    <a:pt x="38100" y="4045204"/>
                    <a:pt x="91948" y="4098925"/>
                    <a:pt x="158496" y="4098925"/>
                  </a:cubicBezTo>
                  <a:lnTo>
                    <a:pt x="6905244" y="4098925"/>
                  </a:lnTo>
                  <a:cubicBezTo>
                    <a:pt x="6971792" y="4098925"/>
                    <a:pt x="7025639" y="4045204"/>
                    <a:pt x="7025639" y="3979037"/>
                  </a:cubicBezTo>
                  <a:lnTo>
                    <a:pt x="7025639" y="157988"/>
                  </a:lnTo>
                  <a:cubicBezTo>
                    <a:pt x="7025639" y="91821"/>
                    <a:pt x="6971792" y="38100"/>
                    <a:pt x="6905244" y="38100"/>
                  </a:cubicBezTo>
                  <a:lnTo>
                    <a:pt x="158496" y="38100"/>
                  </a:lnTo>
                  <a:lnTo>
                    <a:pt x="158496" y="19050"/>
                  </a:lnTo>
                  <a:lnTo>
                    <a:pt x="158496" y="38100"/>
                  </a:lnTo>
                  <a:cubicBezTo>
                    <a:pt x="91948" y="38100"/>
                    <a:pt x="38100" y="91821"/>
                    <a:pt x="38100" y="157988"/>
                  </a:cubicBezTo>
                  <a:close/>
                </a:path>
              </a:pathLst>
            </a:custGeom>
            <a:solidFill>
              <a:srgbClr val="C8C9CF"/>
            </a:solidFill>
          </p:spPr>
        </p:sp>
      </p:grpSp>
      <p:sp>
        <p:nvSpPr>
          <p:cNvPr id="12" name="TextBox 12"/>
          <p:cNvSpPr txBox="1"/>
          <p:nvPr/>
        </p:nvSpPr>
        <p:spPr>
          <a:xfrm>
            <a:off x="6785820" y="3764756"/>
            <a:ext cx="3101130" cy="39722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999"/>
              </a:lnSpc>
            </a:pPr>
            <a:r>
              <a:rPr lang="en-US" sz="2437" b="1">
                <a:solidFill>
                  <a:srgbClr val="5B5F71"/>
                </a:solidFill>
                <a:latin typeface="Arimo Bold"/>
                <a:ea typeface="Arimo Bold"/>
                <a:cs typeface="Arimo Bold"/>
                <a:sym typeface="Arimo Bold"/>
              </a:rPr>
              <a:t>Refuerzo de teoría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6785820" y="4215555"/>
            <a:ext cx="4716218" cy="207986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125"/>
              </a:lnSpc>
            </a:pPr>
            <a:r>
              <a:rPr lang="en-US" sz="1937">
                <a:solidFill>
                  <a:srgbClr val="5B5F71"/>
                </a:solidFill>
                <a:latin typeface="Arimo"/>
                <a:ea typeface="Arimo"/>
                <a:cs typeface="Arimo"/>
                <a:sym typeface="Arimo"/>
              </a:rPr>
              <a:t>Este tipo de ejercicios ayuda a reforzar los conceptos teóricos vistos en clase y a entender mejor cómo los compiladores procesan los programas escritos por los programadores</a:t>
            </a:r>
          </a:p>
        </p:txBody>
      </p:sp>
      <p:grpSp>
        <p:nvGrpSpPr>
          <p:cNvPr id="14" name="Group 14"/>
          <p:cNvGrpSpPr/>
          <p:nvPr/>
        </p:nvGrpSpPr>
        <p:grpSpPr>
          <a:xfrm>
            <a:off x="12012216" y="3483473"/>
            <a:ext cx="5297691" cy="3102769"/>
            <a:chOff x="0" y="0"/>
            <a:chExt cx="7063588" cy="4137025"/>
          </a:xfrm>
        </p:grpSpPr>
        <p:sp>
          <p:nvSpPr>
            <p:cNvPr id="15" name="Freeform 15"/>
            <p:cNvSpPr/>
            <p:nvPr/>
          </p:nvSpPr>
          <p:spPr>
            <a:xfrm>
              <a:off x="19050" y="19050"/>
              <a:ext cx="7025513" cy="4098925"/>
            </a:xfrm>
            <a:custGeom>
              <a:avLst/>
              <a:gdLst/>
              <a:ahLst/>
              <a:cxnLst/>
              <a:rect l="l" t="t" r="r" b="b"/>
              <a:pathLst>
                <a:path w="7025513" h="4098925">
                  <a:moveTo>
                    <a:pt x="0" y="138938"/>
                  </a:moveTo>
                  <a:cubicBezTo>
                    <a:pt x="0" y="62230"/>
                    <a:pt x="62484" y="0"/>
                    <a:pt x="139446" y="0"/>
                  </a:cubicBezTo>
                  <a:lnTo>
                    <a:pt x="6886067" y="0"/>
                  </a:lnTo>
                  <a:cubicBezTo>
                    <a:pt x="6963029" y="0"/>
                    <a:pt x="7025513" y="62230"/>
                    <a:pt x="7025513" y="138938"/>
                  </a:cubicBezTo>
                  <a:lnTo>
                    <a:pt x="7025513" y="3959987"/>
                  </a:lnTo>
                  <a:cubicBezTo>
                    <a:pt x="7025513" y="4036695"/>
                    <a:pt x="6963029" y="4098925"/>
                    <a:pt x="6886067" y="4098925"/>
                  </a:cubicBezTo>
                  <a:lnTo>
                    <a:pt x="139446" y="4098925"/>
                  </a:lnTo>
                  <a:cubicBezTo>
                    <a:pt x="62484" y="4098925"/>
                    <a:pt x="0" y="4036695"/>
                    <a:pt x="0" y="3959987"/>
                  </a:cubicBezTo>
                  <a:close/>
                </a:path>
              </a:pathLst>
            </a:custGeom>
            <a:solidFill>
              <a:srgbClr val="FFFFFF">
                <a:alpha val="90196"/>
              </a:srgbClr>
            </a:solidFill>
          </p:spPr>
        </p:sp>
        <p:sp>
          <p:nvSpPr>
            <p:cNvPr id="16" name="Freeform 16"/>
            <p:cNvSpPr/>
            <p:nvPr/>
          </p:nvSpPr>
          <p:spPr>
            <a:xfrm>
              <a:off x="0" y="0"/>
              <a:ext cx="7063613" cy="4137025"/>
            </a:xfrm>
            <a:custGeom>
              <a:avLst/>
              <a:gdLst/>
              <a:ahLst/>
              <a:cxnLst/>
              <a:rect l="l" t="t" r="r" b="b"/>
              <a:pathLst>
                <a:path w="7063613" h="4137025">
                  <a:moveTo>
                    <a:pt x="0" y="157988"/>
                  </a:moveTo>
                  <a:cubicBezTo>
                    <a:pt x="0" y="70612"/>
                    <a:pt x="70993" y="0"/>
                    <a:pt x="158496" y="0"/>
                  </a:cubicBezTo>
                  <a:lnTo>
                    <a:pt x="6905117" y="0"/>
                  </a:lnTo>
                  <a:lnTo>
                    <a:pt x="6905117" y="19050"/>
                  </a:lnTo>
                  <a:lnTo>
                    <a:pt x="6905117" y="0"/>
                  </a:lnTo>
                  <a:cubicBezTo>
                    <a:pt x="6992620" y="0"/>
                    <a:pt x="7063613" y="70612"/>
                    <a:pt x="7063613" y="157988"/>
                  </a:cubicBezTo>
                  <a:lnTo>
                    <a:pt x="7044563" y="157988"/>
                  </a:lnTo>
                  <a:lnTo>
                    <a:pt x="7063613" y="157988"/>
                  </a:lnTo>
                  <a:lnTo>
                    <a:pt x="7063613" y="3979037"/>
                  </a:lnTo>
                  <a:lnTo>
                    <a:pt x="7044563" y="3979037"/>
                  </a:lnTo>
                  <a:lnTo>
                    <a:pt x="7063613" y="3979037"/>
                  </a:lnTo>
                  <a:cubicBezTo>
                    <a:pt x="7063613" y="4066286"/>
                    <a:pt x="6992620" y="4137025"/>
                    <a:pt x="6905117" y="4137025"/>
                  </a:cubicBezTo>
                  <a:lnTo>
                    <a:pt x="6905117" y="4117975"/>
                  </a:lnTo>
                  <a:lnTo>
                    <a:pt x="6905117" y="4137025"/>
                  </a:lnTo>
                  <a:lnTo>
                    <a:pt x="158496" y="4137025"/>
                  </a:lnTo>
                  <a:lnTo>
                    <a:pt x="158496" y="4117975"/>
                  </a:lnTo>
                  <a:lnTo>
                    <a:pt x="158496" y="4137025"/>
                  </a:lnTo>
                  <a:cubicBezTo>
                    <a:pt x="70993" y="4137025"/>
                    <a:pt x="0" y="4066413"/>
                    <a:pt x="0" y="3979037"/>
                  </a:cubicBezTo>
                  <a:lnTo>
                    <a:pt x="0" y="157988"/>
                  </a:lnTo>
                  <a:lnTo>
                    <a:pt x="19050" y="157988"/>
                  </a:lnTo>
                  <a:lnTo>
                    <a:pt x="0" y="157988"/>
                  </a:lnTo>
                  <a:moveTo>
                    <a:pt x="38100" y="157988"/>
                  </a:moveTo>
                  <a:lnTo>
                    <a:pt x="38100" y="3979037"/>
                  </a:lnTo>
                  <a:lnTo>
                    <a:pt x="19050" y="3979037"/>
                  </a:lnTo>
                  <a:lnTo>
                    <a:pt x="38100" y="3979037"/>
                  </a:lnTo>
                  <a:cubicBezTo>
                    <a:pt x="38100" y="4045204"/>
                    <a:pt x="91948" y="4098925"/>
                    <a:pt x="158496" y="4098925"/>
                  </a:cubicBezTo>
                  <a:lnTo>
                    <a:pt x="6905117" y="4098925"/>
                  </a:lnTo>
                  <a:cubicBezTo>
                    <a:pt x="6971665" y="4098925"/>
                    <a:pt x="7025513" y="4045204"/>
                    <a:pt x="7025513" y="3979037"/>
                  </a:cubicBezTo>
                  <a:lnTo>
                    <a:pt x="7025513" y="157988"/>
                  </a:lnTo>
                  <a:cubicBezTo>
                    <a:pt x="7025513" y="91821"/>
                    <a:pt x="6971665" y="38100"/>
                    <a:pt x="6905117" y="38100"/>
                  </a:cubicBezTo>
                  <a:lnTo>
                    <a:pt x="158496" y="38100"/>
                  </a:lnTo>
                  <a:lnTo>
                    <a:pt x="158496" y="19050"/>
                  </a:lnTo>
                  <a:lnTo>
                    <a:pt x="158496" y="38100"/>
                  </a:lnTo>
                  <a:cubicBezTo>
                    <a:pt x="91948" y="38100"/>
                    <a:pt x="38100" y="91821"/>
                    <a:pt x="38100" y="157988"/>
                  </a:cubicBezTo>
                  <a:close/>
                </a:path>
              </a:pathLst>
            </a:custGeom>
            <a:solidFill>
              <a:srgbClr val="C8C9CF"/>
            </a:solidFill>
          </p:spPr>
        </p:sp>
      </p:grpSp>
      <p:sp>
        <p:nvSpPr>
          <p:cNvPr id="17" name="TextBox 17"/>
          <p:cNvSpPr txBox="1"/>
          <p:nvPr/>
        </p:nvSpPr>
        <p:spPr>
          <a:xfrm>
            <a:off x="12303023" y="3764756"/>
            <a:ext cx="4345781" cy="39722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999"/>
              </a:lnSpc>
            </a:pPr>
            <a:r>
              <a:rPr lang="en-US" sz="2437" b="1">
                <a:solidFill>
                  <a:srgbClr val="5B5F71"/>
                </a:solidFill>
                <a:latin typeface="Arimo Bold"/>
                <a:ea typeface="Arimo Bold"/>
                <a:cs typeface="Arimo Bold"/>
                <a:sym typeface="Arimo Bold"/>
              </a:rPr>
              <a:t>Importancia del análisis léxico</a:t>
            </a:r>
          </a:p>
        </p:txBody>
      </p:sp>
      <p:sp>
        <p:nvSpPr>
          <p:cNvPr id="18" name="TextBox 18"/>
          <p:cNvSpPr txBox="1"/>
          <p:nvPr/>
        </p:nvSpPr>
        <p:spPr>
          <a:xfrm>
            <a:off x="12303023" y="4215555"/>
            <a:ext cx="4716066" cy="168295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125"/>
              </a:lnSpc>
            </a:pPr>
            <a:r>
              <a:rPr lang="en-US" sz="1937">
                <a:solidFill>
                  <a:srgbClr val="5B5F71"/>
                </a:solidFill>
                <a:latin typeface="Arimo"/>
                <a:ea typeface="Arimo"/>
                <a:cs typeface="Arimo"/>
                <a:sym typeface="Arimo"/>
              </a:rPr>
              <a:t>La práctica permitió comprender la importancia del análisis léxico dentro del funcionamiento de los lenguajes de programación</a:t>
            </a:r>
          </a:p>
        </p:txBody>
      </p:sp>
      <p:sp>
        <p:nvSpPr>
          <p:cNvPr id="19" name="TextBox 19"/>
          <p:cNvSpPr txBox="1"/>
          <p:nvPr/>
        </p:nvSpPr>
        <p:spPr>
          <a:xfrm>
            <a:off x="992238" y="6915445"/>
            <a:ext cx="3721303" cy="49366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625"/>
              </a:lnSpc>
            </a:pPr>
            <a:r>
              <a:rPr lang="en-US" sz="2874" b="1">
                <a:solidFill>
                  <a:srgbClr val="505468"/>
                </a:solidFill>
                <a:latin typeface="Arimo Bold"/>
                <a:ea typeface="Arimo Bold"/>
                <a:cs typeface="Arimo Bold"/>
                <a:sym typeface="Arimo Bold"/>
              </a:rPr>
              <a:t>Referencias</a:t>
            </a:r>
          </a:p>
        </p:txBody>
      </p:sp>
      <p:sp>
        <p:nvSpPr>
          <p:cNvPr id="20" name="TextBox 20"/>
          <p:cNvSpPr txBox="1"/>
          <p:nvPr/>
        </p:nvSpPr>
        <p:spPr>
          <a:xfrm>
            <a:off x="992238" y="7685932"/>
            <a:ext cx="16303523" cy="49217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125"/>
              </a:lnSpc>
            </a:pPr>
            <a:r>
              <a:rPr lang="en-US" sz="1937">
                <a:solidFill>
                  <a:srgbClr val="5B5F71"/>
                </a:solidFill>
                <a:latin typeface="Arimo"/>
                <a:ea typeface="Arimo"/>
                <a:cs typeface="Arimo"/>
                <a:sym typeface="Arimo"/>
              </a:rPr>
              <a:t>Aho, A. V., Lam, M. S., Sethi, R., &amp; Ullman, J. D. (2008). </a:t>
            </a:r>
            <a:r>
              <a:rPr lang="en-US" sz="1937" i="1">
                <a:solidFill>
                  <a:srgbClr val="5B5F71"/>
                </a:solidFill>
                <a:latin typeface="Arimo Italics"/>
                <a:ea typeface="Arimo Italics"/>
                <a:cs typeface="Arimo Italics"/>
                <a:sym typeface="Arimo Italics"/>
              </a:rPr>
              <a:t>Compiladores: principios, técnicas y herramientas</a:t>
            </a:r>
            <a:r>
              <a:rPr lang="en-US" sz="1937">
                <a:solidFill>
                  <a:srgbClr val="5B5F71"/>
                </a:solidFill>
                <a:latin typeface="Arimo"/>
                <a:ea typeface="Arimo"/>
                <a:cs typeface="Arimo"/>
                <a:sym typeface="Arimo"/>
              </a:rPr>
              <a:t>. Pearson.</a:t>
            </a:r>
          </a:p>
        </p:txBody>
      </p:sp>
      <p:sp>
        <p:nvSpPr>
          <p:cNvPr id="21" name="TextBox 21"/>
          <p:cNvSpPr txBox="1"/>
          <p:nvPr/>
        </p:nvSpPr>
        <p:spPr>
          <a:xfrm>
            <a:off x="992238" y="8361912"/>
            <a:ext cx="16303523" cy="49217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125"/>
              </a:lnSpc>
            </a:pPr>
            <a:r>
              <a:rPr lang="en-US" sz="1937">
                <a:solidFill>
                  <a:srgbClr val="5B5F71"/>
                </a:solidFill>
                <a:latin typeface="Arimo"/>
                <a:ea typeface="Arimo"/>
                <a:cs typeface="Arimo"/>
                <a:sym typeface="Arimo"/>
              </a:rPr>
              <a:t>Hopcroft, J., Motwani, R., &amp; Ullman, J. (2007). </a:t>
            </a:r>
            <a:r>
              <a:rPr lang="en-US" sz="1937" i="1">
                <a:solidFill>
                  <a:srgbClr val="5B5F71"/>
                </a:solidFill>
                <a:latin typeface="Arimo Italics"/>
                <a:ea typeface="Arimo Italics"/>
                <a:cs typeface="Arimo Italics"/>
                <a:sym typeface="Arimo Italics"/>
              </a:rPr>
              <a:t>Introducción a la teoría de autómatas, lenguajes y computación</a:t>
            </a:r>
            <a:r>
              <a:rPr lang="en-US" sz="1937">
                <a:solidFill>
                  <a:srgbClr val="5B5F71"/>
                </a:solidFill>
                <a:latin typeface="Arimo"/>
                <a:ea typeface="Arimo"/>
                <a:cs typeface="Arimo"/>
                <a:sym typeface="Arimo"/>
              </a:rPr>
              <a:t>. Pearson.</a:t>
            </a:r>
          </a:p>
        </p:txBody>
      </p:sp>
      <p:sp>
        <p:nvSpPr>
          <p:cNvPr id="22" name="TextBox 22"/>
          <p:cNvSpPr txBox="1"/>
          <p:nvPr/>
        </p:nvSpPr>
        <p:spPr>
          <a:xfrm>
            <a:off x="992238" y="9037882"/>
            <a:ext cx="16303523" cy="49217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125"/>
              </a:lnSpc>
            </a:pPr>
            <a:r>
              <a:rPr lang="en-US" sz="1937">
                <a:solidFill>
                  <a:srgbClr val="5B5F71"/>
                </a:solidFill>
                <a:latin typeface="Arimo"/>
                <a:ea typeface="Arimo"/>
                <a:cs typeface="Arimo"/>
                <a:sym typeface="Arimo"/>
              </a:rPr>
              <a:t>Gluon. (2024). JavaFX SDK. </a:t>
            </a:r>
            <a:r>
              <a:rPr lang="en-US" sz="1937" u="sng">
                <a:solidFill>
                  <a:srgbClr val="505468"/>
                </a:solidFill>
                <a:latin typeface="Arimo"/>
                <a:ea typeface="Arimo"/>
                <a:cs typeface="Arimo"/>
                <a:sym typeface="Arimo"/>
                <a:hlinkClick r:id="rId3" tooltip="https://gluonhq.com/products/javafx/"/>
              </a:rPr>
              <a:t>https://gluonhq.com/products/javafx/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1501</Words>
  <Application>Microsoft Office PowerPoint</Application>
  <PresentationFormat>Personalizado</PresentationFormat>
  <Paragraphs>208</Paragraphs>
  <Slides>12</Slides>
  <Notes>12</Notes>
  <HiddenSlides>0</HiddenSlides>
  <MMClips>0</MMClips>
  <ScaleCrop>false</ScaleCrop>
  <HeadingPairs>
    <vt:vector size="8" baseType="variant">
      <vt:variant>
        <vt:lpstr>Fuentes usadas</vt:lpstr>
      </vt:variant>
      <vt:variant>
        <vt:i4>7</vt:i4>
      </vt:variant>
      <vt:variant>
        <vt:lpstr>Tema</vt:lpstr>
      </vt:variant>
      <vt:variant>
        <vt:i4>1</vt:i4>
      </vt:variant>
      <vt:variant>
        <vt:lpstr>Servidores OLE incrustados</vt:lpstr>
      </vt:variant>
      <vt:variant>
        <vt:i4>1</vt:i4>
      </vt:variant>
      <vt:variant>
        <vt:lpstr>Títulos de diapositiva</vt:lpstr>
      </vt:variant>
      <vt:variant>
        <vt:i4>12</vt:i4>
      </vt:variant>
    </vt:vector>
  </HeadingPairs>
  <TitlesOfParts>
    <vt:vector size="21" baseType="lpstr">
      <vt:lpstr>Consolas</vt:lpstr>
      <vt:lpstr>Arial</vt:lpstr>
      <vt:lpstr>Arimo Bold</vt:lpstr>
      <vt:lpstr>Calibri</vt:lpstr>
      <vt:lpstr>Arimo Italics</vt:lpstr>
      <vt:lpstr>Arimo</vt:lpstr>
      <vt:lpstr>Montserrat Bold</vt:lpstr>
      <vt:lpstr>Office Theme</vt:lpstr>
      <vt:lpstr>Worksheet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ACTIVIDAD 4.2 Reporte de práctica</dc:title>
  <cp:lastModifiedBy>Amaury</cp:lastModifiedBy>
  <cp:revision>4</cp:revision>
  <dcterms:created xsi:type="dcterms:W3CDTF">2006-08-16T00:00:00Z</dcterms:created>
  <dcterms:modified xsi:type="dcterms:W3CDTF">2026-03-18T17:37:20Z</dcterms:modified>
  <dc:identifier>DAHECJXR2oo</dc:identifier>
</cp:coreProperties>
</file>