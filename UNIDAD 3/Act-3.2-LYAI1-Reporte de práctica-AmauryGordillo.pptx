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Arimo" panose="020B0604020202020204" charset="0"/>
      <p:regular r:id="rId12"/>
    </p:embeddedFont>
    <p:embeddedFont>
      <p:font typeface="Arimo Bold" panose="020B0604020202020204" charset="0"/>
      <p:regular r:id="rId13"/>
    </p:embeddedFont>
    <p:embeddedFont>
      <p:font typeface="Arimo Italics" panose="020B0604020202020204" charset="0"/>
      <p:regular r:id="rId14"/>
    </p:embeddedFont>
    <p:embeddedFont>
      <p:font typeface="Consolas" panose="020B0609020204030204" pitchFamily="49" charset="0"/>
      <p:regular r:id="rId15"/>
      <p:bold r:id="rId16"/>
      <p:italic r:id="rId17"/>
      <p:boldItalic r:id="rId18"/>
    </p:embeddedFont>
    <p:embeddedFont>
      <p:font typeface="Montserrat Bold" panose="00000800000000000000" pitchFamily="2" charset="0"/>
      <p:regular r:id="rId19"/>
      <p:bold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15.03.2026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‹Nº›</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oleObject" Target="../embeddings/oleObject1.bin"/><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sv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8763" y="241581"/>
            <a:ext cx="2193321" cy="1574239"/>
          </a:xfrm>
          <a:custGeom>
            <a:avLst/>
            <a:gdLst/>
            <a:ahLst/>
            <a:cxnLst/>
            <a:rect l="l" t="t" r="r" b="b"/>
            <a:pathLst>
              <a:path w="2193321" h="1574239">
                <a:moveTo>
                  <a:pt x="0" y="0"/>
                </a:moveTo>
                <a:lnTo>
                  <a:pt x="2193321" y="0"/>
                </a:lnTo>
                <a:lnTo>
                  <a:pt x="2193321" y="1574238"/>
                </a:lnTo>
                <a:lnTo>
                  <a:pt x="0" y="1574238"/>
                </a:lnTo>
                <a:lnTo>
                  <a:pt x="0" y="0"/>
                </a:lnTo>
                <a:close/>
              </a:path>
            </a:pathLst>
          </a:custGeom>
          <a:blipFill>
            <a:blip r:embed="rId3"/>
            <a:stretch>
              <a:fillRect/>
            </a:stretch>
          </a:blipFill>
        </p:spPr>
      </p:sp>
      <p:sp>
        <p:nvSpPr>
          <p:cNvPr id="3" name="Freeform 3"/>
          <p:cNvSpPr/>
          <p:nvPr/>
        </p:nvSpPr>
        <p:spPr>
          <a:xfrm>
            <a:off x="14576879" y="177283"/>
            <a:ext cx="3503050" cy="1538377"/>
          </a:xfrm>
          <a:custGeom>
            <a:avLst/>
            <a:gdLst/>
            <a:ahLst/>
            <a:cxnLst/>
            <a:rect l="l" t="t" r="r" b="b"/>
            <a:pathLst>
              <a:path w="3503050" h="1538377">
                <a:moveTo>
                  <a:pt x="0" y="0"/>
                </a:moveTo>
                <a:lnTo>
                  <a:pt x="3503050" y="0"/>
                </a:lnTo>
                <a:lnTo>
                  <a:pt x="3503050" y="1538377"/>
                </a:lnTo>
                <a:lnTo>
                  <a:pt x="0" y="1538377"/>
                </a:lnTo>
                <a:lnTo>
                  <a:pt x="0" y="0"/>
                </a:lnTo>
                <a:close/>
              </a:path>
            </a:pathLst>
          </a:custGeom>
          <a:blipFill>
            <a:blip r:embed="rId4"/>
            <a:stretch>
              <a:fillRect/>
            </a:stretch>
          </a:blipFill>
        </p:spPr>
      </p:sp>
      <p:graphicFrame>
        <p:nvGraphicFramePr>
          <p:cNvPr id="4" name="Object 4"/>
          <p:cNvGraphicFramePr/>
          <p:nvPr>
            <p:extLst>
              <p:ext uri="{D42A27DB-BD31-4B8C-83A1-F6EECF244321}">
                <p14:modId xmlns:p14="http://schemas.microsoft.com/office/powerpoint/2010/main" val="1927254019"/>
              </p:ext>
            </p:extLst>
          </p:nvPr>
        </p:nvGraphicFramePr>
        <p:xfrm>
          <a:off x="5036284" y="4536613"/>
          <a:ext cx="8443912" cy="4114800"/>
        </p:xfrm>
        <a:graphic>
          <a:graphicData uri="http://schemas.openxmlformats.org/presentationml/2006/ole">
            <mc:AlternateContent xmlns:mc="http://schemas.openxmlformats.org/markup-compatibility/2006">
              <mc:Choice xmlns:v="urn:schemas-microsoft-com:vml" Requires="v">
                <p:oleObj name="Worksheet" r:id="rId5" imgW="10134600" imgH="4191000" progId="Excel.Sheet.12">
                  <p:embed/>
                </p:oleObj>
              </mc:Choice>
              <mc:Fallback>
                <p:oleObj name="Worksheet" r:id="rId5" imgW="10134600" imgH="4191000" progId="Excel.Sheet.12">
                  <p:embed/>
                  <p:pic>
                    <p:nvPicPr>
                      <p:cNvPr id="0" name=""/>
                      <p:cNvPicPr/>
                      <p:nvPr/>
                    </p:nvPicPr>
                    <p:blipFill>
                      <a:blip r:embed="rId6"/>
                      <a:stretch>
                        <a:fillRect/>
                      </a:stretch>
                    </p:blipFill>
                    <p:spPr>
                      <a:xfrm>
                        <a:off x="5036284" y="4536613"/>
                        <a:ext cx="8443912" cy="4114800"/>
                      </a:xfrm>
                      <a:prstGeom prst="rect">
                        <a:avLst/>
                      </a:prstGeom>
                    </p:spPr>
                  </p:pic>
                </p:oleObj>
              </mc:Fallback>
            </mc:AlternateContent>
          </a:graphicData>
        </a:graphic>
      </p:graphicFrame>
      <p:sp>
        <p:nvSpPr>
          <p:cNvPr id="5" name="TextBox 5"/>
          <p:cNvSpPr txBox="1"/>
          <p:nvPr/>
        </p:nvSpPr>
        <p:spPr>
          <a:xfrm>
            <a:off x="3048000" y="917896"/>
            <a:ext cx="11811000" cy="849314"/>
          </a:xfrm>
          <a:prstGeom prst="rect">
            <a:avLst/>
          </a:prstGeom>
        </p:spPr>
        <p:txBody>
          <a:bodyPr wrap="square" lIns="0" tIns="0" rIns="0" bIns="0" rtlCol="0" anchor="t">
            <a:spAutoFit/>
          </a:bodyPr>
          <a:lstStyle/>
          <a:p>
            <a:pPr algn="ctr">
              <a:lnSpc>
                <a:spcPts val="3437"/>
              </a:lnSpc>
              <a:spcBef>
                <a:spcPct val="0"/>
              </a:spcBef>
            </a:pPr>
            <a:r>
              <a:rPr lang="en-US" sz="2625" b="1" dirty="0">
                <a:solidFill>
                  <a:srgbClr val="000000"/>
                </a:solidFill>
                <a:latin typeface="Montserrat Bold"/>
                <a:ea typeface="Montserrat Bold"/>
                <a:cs typeface="Montserrat Bold"/>
                <a:sym typeface="Montserrat Bold"/>
              </a:rPr>
              <a:t>TECNOLÓGICO NACIONAL DE MÉXICO</a:t>
            </a:r>
          </a:p>
          <a:p>
            <a:pPr algn="ctr">
              <a:lnSpc>
                <a:spcPts val="3437"/>
              </a:lnSpc>
              <a:spcBef>
                <a:spcPct val="0"/>
              </a:spcBef>
            </a:pPr>
            <a:r>
              <a:rPr lang="en-US" sz="2625" b="1" dirty="0">
                <a:solidFill>
                  <a:srgbClr val="000000"/>
                </a:solidFill>
                <a:latin typeface="Montserrat Bold"/>
                <a:ea typeface="Montserrat Bold"/>
                <a:cs typeface="Montserrat Bold"/>
                <a:sym typeface="Montserrat Bold"/>
              </a:rPr>
              <a:t>UNIDAD ACADÉMICA VENUSTIANO CARRANZA</a:t>
            </a:r>
          </a:p>
        </p:txBody>
      </p:sp>
      <p:sp>
        <p:nvSpPr>
          <p:cNvPr id="6" name="TextBox 6"/>
          <p:cNvSpPr txBox="1"/>
          <p:nvPr/>
        </p:nvSpPr>
        <p:spPr>
          <a:xfrm>
            <a:off x="2352084" y="2180208"/>
            <a:ext cx="12659316" cy="849400"/>
          </a:xfrm>
          <a:prstGeom prst="rect">
            <a:avLst/>
          </a:prstGeom>
        </p:spPr>
        <p:txBody>
          <a:bodyPr wrap="square" lIns="0" tIns="0" rIns="0" bIns="0" rtlCol="0" anchor="t">
            <a:spAutoFit/>
          </a:bodyPr>
          <a:lstStyle/>
          <a:p>
            <a:pPr algn="ctr">
              <a:lnSpc>
                <a:spcPts val="3436"/>
              </a:lnSpc>
              <a:spcBef>
                <a:spcPct val="0"/>
              </a:spcBef>
            </a:pPr>
            <a:r>
              <a:rPr lang="en-US" sz="2625" b="1" dirty="0">
                <a:solidFill>
                  <a:srgbClr val="000000"/>
                </a:solidFill>
                <a:latin typeface="Montserrat Bold"/>
                <a:ea typeface="Montserrat Bold"/>
                <a:cs typeface="Montserrat Bold"/>
                <a:sym typeface="Montserrat Bold"/>
              </a:rPr>
              <a:t>“INGENIERÍA EN SISTEMAS COMPUTACIONALES”</a:t>
            </a:r>
          </a:p>
          <a:p>
            <a:pPr algn="ctr">
              <a:lnSpc>
                <a:spcPts val="3437"/>
              </a:lnSpc>
              <a:spcBef>
                <a:spcPct val="0"/>
              </a:spcBef>
            </a:pPr>
            <a:r>
              <a:rPr lang="en-US" sz="2625" b="1" dirty="0">
                <a:solidFill>
                  <a:srgbClr val="000000"/>
                </a:solidFill>
                <a:latin typeface="Montserrat Bold"/>
                <a:ea typeface="Montserrat Bold"/>
                <a:cs typeface="Montserrat Bold"/>
                <a:sym typeface="Montserrat Bold"/>
              </a:rPr>
              <a:t>LENGUAJES Y AUTOMATAS 1</a:t>
            </a:r>
          </a:p>
        </p:txBody>
      </p:sp>
      <p:sp>
        <p:nvSpPr>
          <p:cNvPr id="7" name="TextBox 7"/>
          <p:cNvSpPr txBox="1"/>
          <p:nvPr/>
        </p:nvSpPr>
        <p:spPr>
          <a:xfrm>
            <a:off x="3748148" y="3439183"/>
            <a:ext cx="10605730" cy="849314"/>
          </a:xfrm>
          <a:prstGeom prst="rect">
            <a:avLst/>
          </a:prstGeom>
        </p:spPr>
        <p:txBody>
          <a:bodyPr wrap="square" lIns="0" tIns="0" rIns="0" bIns="0" rtlCol="0" anchor="t">
            <a:spAutoFit/>
          </a:bodyPr>
          <a:lstStyle/>
          <a:p>
            <a:pPr algn="ctr">
              <a:lnSpc>
                <a:spcPts val="3437"/>
              </a:lnSpc>
              <a:spcBef>
                <a:spcPct val="0"/>
              </a:spcBef>
            </a:pPr>
            <a:r>
              <a:rPr lang="en-US" sz="2625" b="1" dirty="0">
                <a:solidFill>
                  <a:srgbClr val="000000"/>
                </a:solidFill>
                <a:latin typeface="Montserrat Bold"/>
                <a:ea typeface="Montserrat Bold"/>
                <a:cs typeface="Montserrat Bold"/>
                <a:sym typeface="Montserrat Bold"/>
              </a:rPr>
              <a:t>ACTIVIDAD </a:t>
            </a:r>
          </a:p>
          <a:p>
            <a:pPr algn="ctr">
              <a:lnSpc>
                <a:spcPts val="3437"/>
              </a:lnSpc>
              <a:spcBef>
                <a:spcPct val="0"/>
              </a:spcBef>
            </a:pPr>
            <a:r>
              <a:rPr lang="en-US" sz="2625" b="1" dirty="0">
                <a:solidFill>
                  <a:srgbClr val="000000"/>
                </a:solidFill>
                <a:latin typeface="Montserrat Bold"/>
                <a:ea typeface="Montserrat Bold"/>
                <a:cs typeface="Montserrat Bold"/>
                <a:sym typeface="Montserrat Bold"/>
              </a:rPr>
              <a:t>ACTIVIDAD 3.2 </a:t>
            </a:r>
            <a:r>
              <a:rPr lang="en-US" sz="2625" b="1" dirty="0" err="1">
                <a:solidFill>
                  <a:srgbClr val="000000"/>
                </a:solidFill>
                <a:latin typeface="Montserrat Bold"/>
                <a:ea typeface="Montserrat Bold"/>
                <a:cs typeface="Montserrat Bold"/>
                <a:sym typeface="Montserrat Bold"/>
              </a:rPr>
              <a:t>Reporte</a:t>
            </a:r>
            <a:r>
              <a:rPr lang="en-US" sz="2625" b="1" dirty="0">
                <a:solidFill>
                  <a:srgbClr val="000000"/>
                </a:solidFill>
                <a:latin typeface="Montserrat Bold"/>
                <a:ea typeface="Montserrat Bold"/>
                <a:cs typeface="Montserrat Bold"/>
                <a:sym typeface="Montserrat Bold"/>
              </a:rPr>
              <a:t> de </a:t>
            </a:r>
            <a:r>
              <a:rPr lang="en-US" sz="2625" b="1" dirty="0" err="1">
                <a:solidFill>
                  <a:srgbClr val="000000"/>
                </a:solidFill>
                <a:latin typeface="Montserrat Bold"/>
                <a:ea typeface="Montserrat Bold"/>
                <a:cs typeface="Montserrat Bold"/>
                <a:sym typeface="Montserrat Bold"/>
              </a:rPr>
              <a:t>práctica</a:t>
            </a:r>
            <a:endParaRPr lang="en-US" sz="2625" b="1" dirty="0">
              <a:solidFill>
                <a:srgbClr val="000000"/>
              </a:solidFill>
              <a:latin typeface="Montserrat Bold"/>
              <a:ea typeface="Montserrat Bold"/>
              <a:cs typeface="Montserrat Bold"/>
              <a:sym typeface="Montserrat Bold"/>
            </a:endParaRPr>
          </a:p>
        </p:txBody>
      </p:sp>
      <p:sp>
        <p:nvSpPr>
          <p:cNvPr id="8" name="TextBox 8"/>
          <p:cNvSpPr txBox="1"/>
          <p:nvPr/>
        </p:nvSpPr>
        <p:spPr>
          <a:xfrm>
            <a:off x="7607201" y="4733323"/>
            <a:ext cx="3073598" cy="410177"/>
          </a:xfrm>
          <a:prstGeom prst="rect">
            <a:avLst/>
          </a:prstGeom>
        </p:spPr>
        <p:txBody>
          <a:bodyPr wrap="square" lIns="0" tIns="0" rIns="0" bIns="0" rtlCol="0" anchor="t">
            <a:spAutoFit/>
          </a:bodyPr>
          <a:lstStyle/>
          <a:p>
            <a:pPr algn="ctr">
              <a:lnSpc>
                <a:spcPts val="3437"/>
              </a:lnSpc>
              <a:spcBef>
                <a:spcPct val="0"/>
              </a:spcBef>
            </a:pPr>
            <a:r>
              <a:rPr lang="en-US" sz="2625" b="1" dirty="0">
                <a:solidFill>
                  <a:srgbClr val="000000"/>
                </a:solidFill>
                <a:latin typeface="Montserrat Bold"/>
                <a:ea typeface="Montserrat Bold"/>
                <a:cs typeface="Montserrat Bold"/>
                <a:sym typeface="Montserrat Bold"/>
              </a:rPr>
              <a:t>RPESENTA</a:t>
            </a:r>
          </a:p>
        </p:txBody>
      </p:sp>
      <p:sp>
        <p:nvSpPr>
          <p:cNvPr id="9" name="TextBox 9"/>
          <p:cNvSpPr txBox="1"/>
          <p:nvPr/>
        </p:nvSpPr>
        <p:spPr>
          <a:xfrm>
            <a:off x="4637653" y="7118013"/>
            <a:ext cx="8846999" cy="849314"/>
          </a:xfrm>
          <a:prstGeom prst="rect">
            <a:avLst/>
          </a:prstGeom>
        </p:spPr>
        <p:txBody>
          <a:bodyPr wrap="square" lIns="0" tIns="0" rIns="0" bIns="0" rtlCol="0" anchor="t">
            <a:spAutoFit/>
          </a:bodyPr>
          <a:lstStyle/>
          <a:p>
            <a:pPr algn="ctr">
              <a:lnSpc>
                <a:spcPts val="3437"/>
              </a:lnSpc>
              <a:spcBef>
                <a:spcPct val="0"/>
              </a:spcBef>
            </a:pPr>
            <a:r>
              <a:rPr lang="en-US" sz="2625" b="1" dirty="0">
                <a:solidFill>
                  <a:srgbClr val="000000"/>
                </a:solidFill>
                <a:latin typeface="Montserrat Bold"/>
                <a:ea typeface="Montserrat Bold"/>
                <a:cs typeface="Montserrat Bold"/>
                <a:sym typeface="Montserrat Bold"/>
              </a:rPr>
              <a:t>DOCENTE</a:t>
            </a:r>
          </a:p>
          <a:p>
            <a:pPr algn="ctr">
              <a:lnSpc>
                <a:spcPts val="3437"/>
              </a:lnSpc>
              <a:spcBef>
                <a:spcPct val="0"/>
              </a:spcBef>
            </a:pPr>
            <a:r>
              <a:rPr lang="en-US" sz="2625" b="1" dirty="0">
                <a:solidFill>
                  <a:srgbClr val="000000"/>
                </a:solidFill>
                <a:latin typeface="Montserrat Bold"/>
                <a:ea typeface="Montserrat Bold"/>
                <a:cs typeface="Montserrat Bold"/>
                <a:sym typeface="Montserrat Bold"/>
              </a:rPr>
              <a:t>ING. FRANCISCO JAVIER MINGO VELAZQUEZ</a:t>
            </a:r>
          </a:p>
        </p:txBody>
      </p:sp>
      <p:sp>
        <p:nvSpPr>
          <p:cNvPr id="10" name="TextBox 10"/>
          <p:cNvSpPr txBox="1"/>
          <p:nvPr/>
        </p:nvSpPr>
        <p:spPr>
          <a:xfrm>
            <a:off x="2814342" y="9164015"/>
            <a:ext cx="12659316" cy="410177"/>
          </a:xfrm>
          <a:prstGeom prst="rect">
            <a:avLst/>
          </a:prstGeom>
        </p:spPr>
        <p:txBody>
          <a:bodyPr wrap="square" lIns="0" tIns="0" rIns="0" bIns="0" rtlCol="0" anchor="t">
            <a:spAutoFit/>
          </a:bodyPr>
          <a:lstStyle/>
          <a:p>
            <a:pPr algn="ctr">
              <a:lnSpc>
                <a:spcPts val="3437"/>
              </a:lnSpc>
              <a:spcBef>
                <a:spcPct val="0"/>
              </a:spcBef>
            </a:pPr>
            <a:r>
              <a:rPr lang="en-US" sz="2625" b="1" dirty="0">
                <a:solidFill>
                  <a:srgbClr val="000000"/>
                </a:solidFill>
                <a:latin typeface="Montserrat Bold"/>
                <a:ea typeface="Montserrat Bold"/>
                <a:cs typeface="Montserrat Bold"/>
                <a:sym typeface="Montserrat Bold"/>
              </a:rPr>
              <a:t>25 DE FEBRERO DE 2026 VENUSTIANO CARRANZA, CHIAPAS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sp>
        <p:nvSpPr>
          <p:cNvPr id="6" name="TextBox 6"/>
          <p:cNvSpPr txBox="1"/>
          <p:nvPr/>
        </p:nvSpPr>
        <p:spPr>
          <a:xfrm>
            <a:off x="988666" y="640852"/>
            <a:ext cx="6179344" cy="820045"/>
          </a:xfrm>
          <a:prstGeom prst="rect">
            <a:avLst/>
          </a:prstGeom>
        </p:spPr>
        <p:txBody>
          <a:bodyPr lIns="0" tIns="0" rIns="0" bIns="0" rtlCol="0" anchor="t">
            <a:spAutoFit/>
          </a:bodyPr>
          <a:lstStyle/>
          <a:p>
            <a:pPr algn="l">
              <a:lnSpc>
                <a:spcPts val="6062"/>
              </a:lnSpc>
            </a:pPr>
            <a:r>
              <a:rPr lang="en-US" sz="4812" b="1">
                <a:solidFill>
                  <a:srgbClr val="505468"/>
                </a:solidFill>
                <a:latin typeface="Arimo Bold"/>
                <a:ea typeface="Arimo Bold"/>
                <a:cs typeface="Arimo Bold"/>
                <a:sym typeface="Arimo Bold"/>
              </a:rPr>
              <a:t>Introducción</a:t>
            </a:r>
          </a:p>
        </p:txBody>
      </p:sp>
      <p:sp>
        <p:nvSpPr>
          <p:cNvPr id="7" name="TextBox 7"/>
          <p:cNvSpPr txBox="1"/>
          <p:nvPr/>
        </p:nvSpPr>
        <p:spPr>
          <a:xfrm>
            <a:off x="988666" y="1966170"/>
            <a:ext cx="7853810" cy="2848566"/>
          </a:xfrm>
          <a:prstGeom prst="rect">
            <a:avLst/>
          </a:prstGeom>
        </p:spPr>
        <p:txBody>
          <a:bodyPr lIns="0" tIns="0" rIns="0" bIns="0" rtlCol="0" anchor="t">
            <a:spAutoFit/>
          </a:bodyPr>
          <a:lstStyle/>
          <a:p>
            <a:pPr algn="l">
              <a:lnSpc>
                <a:spcPts val="3062"/>
              </a:lnSpc>
            </a:pPr>
            <a:r>
              <a:rPr lang="en-US" sz="1937">
                <a:solidFill>
                  <a:srgbClr val="5B5F71"/>
                </a:solidFill>
                <a:latin typeface="Arimo"/>
                <a:ea typeface="Arimo"/>
                <a:cs typeface="Arimo"/>
                <a:sym typeface="Arimo"/>
              </a:rPr>
              <a:t>La teoría de autómatas es una rama fundamental de la teoría de la computación que estudia modelos matemáticos capaces de reconocer y procesar cadenas de símbolos pertenecientes a un lenguaje formal. Estos modelos permiten comprender cómo funcionan muchos sistemas informáticos que analizan información estructurada, como los compiladores, los analizadores de texto y diversos sistemas de reconocimiento de patrones.</a:t>
            </a:r>
          </a:p>
        </p:txBody>
      </p:sp>
      <p:sp>
        <p:nvSpPr>
          <p:cNvPr id="8" name="TextBox 8"/>
          <p:cNvSpPr txBox="1"/>
          <p:nvPr/>
        </p:nvSpPr>
        <p:spPr>
          <a:xfrm>
            <a:off x="9455048" y="1966170"/>
            <a:ext cx="7853810" cy="2059191"/>
          </a:xfrm>
          <a:prstGeom prst="rect">
            <a:avLst/>
          </a:prstGeom>
        </p:spPr>
        <p:txBody>
          <a:bodyPr lIns="0" tIns="0" rIns="0" bIns="0" rtlCol="0" anchor="t">
            <a:spAutoFit/>
          </a:bodyPr>
          <a:lstStyle/>
          <a:p>
            <a:pPr algn="l">
              <a:lnSpc>
                <a:spcPts val="3062"/>
              </a:lnSpc>
            </a:pPr>
            <a:r>
              <a:rPr lang="en-US" sz="1937">
                <a:solidFill>
                  <a:srgbClr val="5B5F71"/>
                </a:solidFill>
                <a:latin typeface="Arimo"/>
                <a:ea typeface="Arimo"/>
                <a:cs typeface="Arimo"/>
                <a:sym typeface="Arimo"/>
              </a:rPr>
              <a:t>Uno de los modelos más importantes dentro de esta teoría son los </a:t>
            </a:r>
            <a:r>
              <a:rPr lang="en-US" sz="1937" b="1">
                <a:solidFill>
                  <a:srgbClr val="5B5F71"/>
                </a:solidFill>
                <a:latin typeface="Arimo Bold"/>
                <a:ea typeface="Arimo Bold"/>
                <a:cs typeface="Arimo Bold"/>
                <a:sym typeface="Arimo Bold"/>
              </a:rPr>
              <a:t>autómatas finitos</a:t>
            </a:r>
            <a:r>
              <a:rPr lang="en-US" sz="1937">
                <a:solidFill>
                  <a:srgbClr val="5B5F71"/>
                </a:solidFill>
                <a:latin typeface="Arimo"/>
                <a:ea typeface="Arimo"/>
                <a:cs typeface="Arimo"/>
                <a:sym typeface="Arimo"/>
              </a:rPr>
              <a:t>, los cuales se utilizan para representar procesos que pasan por una serie de estados al recibir símbolos de entrada. Dependiendo de cómo se definan sus transiciones, los autómatas pueden ser deterministas o no deterministas.</a:t>
            </a:r>
          </a:p>
        </p:txBody>
      </p:sp>
      <p:grpSp>
        <p:nvGrpSpPr>
          <p:cNvPr id="9" name="Group 9"/>
          <p:cNvGrpSpPr/>
          <p:nvPr/>
        </p:nvGrpSpPr>
        <p:grpSpPr>
          <a:xfrm>
            <a:off x="983904" y="5308549"/>
            <a:ext cx="5282203" cy="2833535"/>
            <a:chOff x="0" y="0"/>
            <a:chExt cx="7042937" cy="3778047"/>
          </a:xfrm>
        </p:grpSpPr>
        <p:sp>
          <p:nvSpPr>
            <p:cNvPr id="10" name="Freeform 10"/>
            <p:cNvSpPr/>
            <p:nvPr/>
          </p:nvSpPr>
          <p:spPr>
            <a:xfrm>
              <a:off x="6350" y="6350"/>
              <a:ext cx="7030339" cy="3765423"/>
            </a:xfrm>
            <a:custGeom>
              <a:avLst/>
              <a:gdLst/>
              <a:ahLst/>
              <a:cxnLst/>
              <a:rect l="l" t="t" r="r" b="b"/>
              <a:pathLst>
                <a:path w="7030339" h="3765423">
                  <a:moveTo>
                    <a:pt x="0" y="138430"/>
                  </a:moveTo>
                  <a:cubicBezTo>
                    <a:pt x="0" y="61976"/>
                    <a:pt x="62103" y="0"/>
                    <a:pt x="138684" y="0"/>
                  </a:cubicBezTo>
                  <a:lnTo>
                    <a:pt x="6891655" y="0"/>
                  </a:lnTo>
                  <a:cubicBezTo>
                    <a:pt x="6968237" y="0"/>
                    <a:pt x="7030339" y="61976"/>
                    <a:pt x="7030339" y="138430"/>
                  </a:cubicBezTo>
                  <a:lnTo>
                    <a:pt x="7030339" y="3626993"/>
                  </a:lnTo>
                  <a:cubicBezTo>
                    <a:pt x="7030339" y="3703447"/>
                    <a:pt x="6968237" y="3765423"/>
                    <a:pt x="6891655" y="3765423"/>
                  </a:cubicBezTo>
                  <a:lnTo>
                    <a:pt x="138684" y="3765423"/>
                  </a:lnTo>
                  <a:cubicBezTo>
                    <a:pt x="62103" y="3765296"/>
                    <a:pt x="0" y="3703320"/>
                    <a:pt x="0" y="3626993"/>
                  </a:cubicBezTo>
                  <a:close/>
                </a:path>
              </a:pathLst>
            </a:custGeom>
            <a:solidFill>
              <a:srgbClr val="E2E3E9"/>
            </a:solidFill>
          </p:spPr>
        </p:sp>
        <p:sp>
          <p:nvSpPr>
            <p:cNvPr id="11" name="Freeform 11"/>
            <p:cNvSpPr/>
            <p:nvPr/>
          </p:nvSpPr>
          <p:spPr>
            <a:xfrm>
              <a:off x="0" y="0"/>
              <a:ext cx="7043039" cy="3778123"/>
            </a:xfrm>
            <a:custGeom>
              <a:avLst/>
              <a:gdLst/>
              <a:ahLst/>
              <a:cxnLst/>
              <a:rect l="l" t="t" r="r" b="b"/>
              <a:pathLst>
                <a:path w="7043039" h="3778123">
                  <a:moveTo>
                    <a:pt x="0" y="144780"/>
                  </a:moveTo>
                  <a:cubicBezTo>
                    <a:pt x="0" y="64770"/>
                    <a:pt x="64897" y="0"/>
                    <a:pt x="145034" y="0"/>
                  </a:cubicBezTo>
                  <a:lnTo>
                    <a:pt x="6898005" y="0"/>
                  </a:lnTo>
                  <a:lnTo>
                    <a:pt x="6898005" y="6350"/>
                  </a:lnTo>
                  <a:lnTo>
                    <a:pt x="6898005" y="0"/>
                  </a:lnTo>
                  <a:cubicBezTo>
                    <a:pt x="6978015" y="0"/>
                    <a:pt x="7043039" y="64770"/>
                    <a:pt x="7043039" y="144780"/>
                  </a:cubicBezTo>
                  <a:lnTo>
                    <a:pt x="7036689" y="144780"/>
                  </a:lnTo>
                  <a:lnTo>
                    <a:pt x="7043039" y="144780"/>
                  </a:lnTo>
                  <a:lnTo>
                    <a:pt x="7043039" y="3633343"/>
                  </a:lnTo>
                  <a:lnTo>
                    <a:pt x="7036689" y="3633343"/>
                  </a:lnTo>
                  <a:lnTo>
                    <a:pt x="7043039" y="3633343"/>
                  </a:lnTo>
                  <a:cubicBezTo>
                    <a:pt x="7043039" y="3713353"/>
                    <a:pt x="6978142" y="3778123"/>
                    <a:pt x="6898005" y="3778123"/>
                  </a:cubicBezTo>
                  <a:lnTo>
                    <a:pt x="6898005" y="3771773"/>
                  </a:lnTo>
                  <a:lnTo>
                    <a:pt x="6898005" y="3778123"/>
                  </a:lnTo>
                  <a:lnTo>
                    <a:pt x="145034" y="3778123"/>
                  </a:lnTo>
                  <a:lnTo>
                    <a:pt x="145034" y="3771773"/>
                  </a:lnTo>
                  <a:lnTo>
                    <a:pt x="145034" y="3778123"/>
                  </a:lnTo>
                  <a:cubicBezTo>
                    <a:pt x="65024" y="3778123"/>
                    <a:pt x="0" y="3713353"/>
                    <a:pt x="0" y="3633343"/>
                  </a:cubicBezTo>
                  <a:lnTo>
                    <a:pt x="0" y="144780"/>
                  </a:lnTo>
                  <a:lnTo>
                    <a:pt x="6350" y="144780"/>
                  </a:lnTo>
                  <a:lnTo>
                    <a:pt x="0" y="144780"/>
                  </a:lnTo>
                  <a:moveTo>
                    <a:pt x="12700" y="144780"/>
                  </a:moveTo>
                  <a:lnTo>
                    <a:pt x="12700" y="3633343"/>
                  </a:lnTo>
                  <a:lnTo>
                    <a:pt x="6350" y="3633343"/>
                  </a:lnTo>
                  <a:lnTo>
                    <a:pt x="12700" y="3633343"/>
                  </a:lnTo>
                  <a:cubicBezTo>
                    <a:pt x="12700" y="3706241"/>
                    <a:pt x="71882" y="3765423"/>
                    <a:pt x="145034" y="3765423"/>
                  </a:cubicBezTo>
                  <a:lnTo>
                    <a:pt x="6898005" y="3765423"/>
                  </a:lnTo>
                  <a:cubicBezTo>
                    <a:pt x="6971030" y="3765423"/>
                    <a:pt x="7030339" y="3706241"/>
                    <a:pt x="7030339" y="3633343"/>
                  </a:cubicBezTo>
                  <a:lnTo>
                    <a:pt x="7030339" y="144780"/>
                  </a:lnTo>
                  <a:cubicBezTo>
                    <a:pt x="7030339" y="71882"/>
                    <a:pt x="6971157" y="12700"/>
                    <a:pt x="6898005" y="12700"/>
                  </a:cubicBezTo>
                  <a:lnTo>
                    <a:pt x="145034" y="12700"/>
                  </a:lnTo>
                  <a:lnTo>
                    <a:pt x="145034" y="6350"/>
                  </a:lnTo>
                  <a:lnTo>
                    <a:pt x="145034" y="12700"/>
                  </a:lnTo>
                  <a:cubicBezTo>
                    <a:pt x="71882" y="12700"/>
                    <a:pt x="12700" y="71882"/>
                    <a:pt x="12700" y="144780"/>
                  </a:cubicBezTo>
                  <a:close/>
                </a:path>
              </a:pathLst>
            </a:custGeom>
            <a:solidFill>
              <a:srgbClr val="C8C9CF"/>
            </a:solidFill>
          </p:spPr>
        </p:sp>
      </p:grpSp>
      <p:grpSp>
        <p:nvGrpSpPr>
          <p:cNvPr id="12" name="Group 12"/>
          <p:cNvGrpSpPr/>
          <p:nvPr/>
        </p:nvGrpSpPr>
        <p:grpSpPr>
          <a:xfrm>
            <a:off x="1245241" y="5569896"/>
            <a:ext cx="741464" cy="741464"/>
            <a:chOff x="0" y="0"/>
            <a:chExt cx="988619" cy="988619"/>
          </a:xfrm>
        </p:grpSpPr>
        <p:sp>
          <p:nvSpPr>
            <p:cNvPr id="13" name="Freeform 13" descr="preencoded.png"/>
            <p:cNvSpPr/>
            <p:nvPr/>
          </p:nvSpPr>
          <p:spPr>
            <a:xfrm>
              <a:off x="0" y="0"/>
              <a:ext cx="988568" cy="988568"/>
            </a:xfrm>
            <a:custGeom>
              <a:avLst/>
              <a:gdLst/>
              <a:ahLst/>
              <a:cxnLst/>
              <a:rect l="l" t="t" r="r" b="b"/>
              <a:pathLst>
                <a:path w="988568" h="988568">
                  <a:moveTo>
                    <a:pt x="0" y="0"/>
                  </a:moveTo>
                  <a:lnTo>
                    <a:pt x="988568" y="0"/>
                  </a:lnTo>
                  <a:lnTo>
                    <a:pt x="988568" y="988568"/>
                  </a:lnTo>
                  <a:lnTo>
                    <a:pt x="0" y="988568"/>
                  </a:lnTo>
                  <a:lnTo>
                    <a:pt x="0" y="0"/>
                  </a:lnTo>
                  <a:close/>
                </a:path>
              </a:pathLst>
            </a:custGeom>
            <a:blipFill>
              <a:blip r:embed="rId4"/>
              <a:stretch>
                <a:fillRect r="-5" b="-5"/>
              </a:stretch>
            </a:blipFill>
          </p:spPr>
        </p:sp>
      </p:grpSp>
      <p:sp>
        <p:nvSpPr>
          <p:cNvPr id="14" name="Freeform 14" descr="preencoded.png"/>
          <p:cNvSpPr/>
          <p:nvPr/>
        </p:nvSpPr>
        <p:spPr>
          <a:xfrm>
            <a:off x="1449143" y="5773788"/>
            <a:ext cx="333670" cy="333670"/>
          </a:xfrm>
          <a:custGeom>
            <a:avLst/>
            <a:gdLst/>
            <a:ahLst/>
            <a:cxnLst/>
            <a:rect l="l" t="t" r="r" b="b"/>
            <a:pathLst>
              <a:path w="333670" h="333670">
                <a:moveTo>
                  <a:pt x="0" y="0"/>
                </a:moveTo>
                <a:lnTo>
                  <a:pt x="333670" y="0"/>
                </a:lnTo>
                <a:lnTo>
                  <a:pt x="333670" y="333671"/>
                </a:lnTo>
                <a:lnTo>
                  <a:pt x="0" y="333671"/>
                </a:lnTo>
                <a:lnTo>
                  <a:pt x="0" y="0"/>
                </a:lnTo>
                <a:close/>
              </a:path>
            </a:pathLst>
          </a:custGeom>
          <a:blipFill>
            <a:blip r:embed="rId5">
              <a:extLst>
                <a:ext uri="{96DAC541-7B7A-43D3-8B79-37D633B846F1}">
                  <asvg:svgBlip xmlns:asvg="http://schemas.microsoft.com/office/drawing/2016/SVG/main" r:embed="rId6"/>
                </a:ext>
              </a:extLst>
            </a:blip>
            <a:stretch>
              <a:fillRect l="-2777" r="-2777"/>
            </a:stretch>
          </a:blipFill>
        </p:spPr>
      </p:sp>
      <p:sp>
        <p:nvSpPr>
          <p:cNvPr id="15" name="TextBox 15"/>
          <p:cNvSpPr txBox="1"/>
          <p:nvPr/>
        </p:nvSpPr>
        <p:spPr>
          <a:xfrm>
            <a:off x="1245241" y="6528940"/>
            <a:ext cx="3089672" cy="414785"/>
          </a:xfrm>
          <a:prstGeom prst="rect">
            <a:avLst/>
          </a:prstGeom>
        </p:spPr>
        <p:txBody>
          <a:bodyPr lIns="0" tIns="0" rIns="0" bIns="0" rtlCol="0" anchor="t">
            <a:spAutoFit/>
          </a:bodyPr>
          <a:lstStyle/>
          <a:p>
            <a:pPr algn="l">
              <a:lnSpc>
                <a:spcPts val="3000"/>
              </a:lnSpc>
            </a:pPr>
            <a:r>
              <a:rPr lang="en-US" sz="2375" b="1">
                <a:solidFill>
                  <a:srgbClr val="5B5F71"/>
                </a:solidFill>
                <a:latin typeface="Arimo Bold"/>
                <a:ea typeface="Arimo Bold"/>
                <a:cs typeface="Arimo Bold"/>
                <a:sym typeface="Arimo Bold"/>
              </a:rPr>
              <a:t>Compiladores</a:t>
            </a:r>
          </a:p>
        </p:txBody>
      </p:sp>
      <p:sp>
        <p:nvSpPr>
          <p:cNvPr id="16" name="TextBox 16"/>
          <p:cNvSpPr txBox="1"/>
          <p:nvPr/>
        </p:nvSpPr>
        <p:spPr>
          <a:xfrm>
            <a:off x="1245241" y="7005637"/>
            <a:ext cx="4759528" cy="480422"/>
          </a:xfrm>
          <a:prstGeom prst="rect">
            <a:avLst/>
          </a:prstGeom>
        </p:spPr>
        <p:txBody>
          <a:bodyPr lIns="0" tIns="0" rIns="0" bIns="0" rtlCol="0" anchor="t">
            <a:spAutoFit/>
          </a:bodyPr>
          <a:lstStyle/>
          <a:p>
            <a:pPr algn="l">
              <a:lnSpc>
                <a:spcPts val="3062"/>
              </a:lnSpc>
            </a:pPr>
            <a:r>
              <a:rPr lang="en-US" sz="1937" dirty="0" err="1">
                <a:solidFill>
                  <a:srgbClr val="5B5F71"/>
                </a:solidFill>
                <a:latin typeface="Arimo"/>
                <a:ea typeface="Arimo"/>
                <a:cs typeface="Arimo"/>
                <a:sym typeface="Arimo"/>
              </a:rPr>
              <a:t>Análisis</a:t>
            </a:r>
            <a:r>
              <a:rPr lang="en-US" sz="1937" dirty="0">
                <a:solidFill>
                  <a:srgbClr val="5B5F71"/>
                </a:solidFill>
                <a:latin typeface="Arimo"/>
                <a:ea typeface="Arimo"/>
                <a:cs typeface="Arimo"/>
                <a:sym typeface="Arimo"/>
              </a:rPr>
              <a:t> </a:t>
            </a:r>
            <a:r>
              <a:rPr lang="en-US" sz="1937" dirty="0" err="1">
                <a:solidFill>
                  <a:srgbClr val="5B5F71"/>
                </a:solidFill>
                <a:latin typeface="Arimo"/>
                <a:ea typeface="Arimo"/>
                <a:cs typeface="Arimo"/>
                <a:sym typeface="Arimo"/>
              </a:rPr>
              <a:t>léxico</a:t>
            </a:r>
            <a:r>
              <a:rPr lang="en-US" sz="1937" dirty="0">
                <a:solidFill>
                  <a:srgbClr val="5B5F71"/>
                </a:solidFill>
                <a:latin typeface="Arimo"/>
                <a:ea typeface="Arimo"/>
                <a:cs typeface="Arimo"/>
                <a:sym typeface="Arimo"/>
              </a:rPr>
              <a:t> de </a:t>
            </a:r>
            <a:r>
              <a:rPr lang="en-US" sz="1937" dirty="0" err="1">
                <a:solidFill>
                  <a:srgbClr val="5B5F71"/>
                </a:solidFill>
                <a:latin typeface="Arimo"/>
                <a:ea typeface="Arimo"/>
                <a:cs typeface="Arimo"/>
                <a:sym typeface="Arimo"/>
              </a:rPr>
              <a:t>código</a:t>
            </a:r>
            <a:r>
              <a:rPr lang="en-US" sz="1937" dirty="0">
                <a:solidFill>
                  <a:srgbClr val="5B5F71"/>
                </a:solidFill>
                <a:latin typeface="Arimo"/>
                <a:ea typeface="Arimo"/>
                <a:cs typeface="Arimo"/>
                <a:sym typeface="Arimo"/>
              </a:rPr>
              <a:t> </a:t>
            </a:r>
            <a:r>
              <a:rPr lang="en-US" sz="1937" dirty="0" err="1">
                <a:solidFill>
                  <a:srgbClr val="5B5F71"/>
                </a:solidFill>
                <a:latin typeface="Arimo"/>
                <a:ea typeface="Arimo"/>
                <a:cs typeface="Arimo"/>
                <a:sym typeface="Arimo"/>
              </a:rPr>
              <a:t>fuente</a:t>
            </a:r>
            <a:endParaRPr lang="en-US" sz="1937" dirty="0">
              <a:solidFill>
                <a:srgbClr val="5B5F71"/>
              </a:solidFill>
              <a:latin typeface="Arimo"/>
              <a:ea typeface="Arimo"/>
              <a:cs typeface="Arimo"/>
              <a:sym typeface="Arimo"/>
            </a:endParaRPr>
          </a:p>
        </p:txBody>
      </p:sp>
      <p:grpSp>
        <p:nvGrpSpPr>
          <p:cNvPr id="17" name="Group 17"/>
          <p:cNvGrpSpPr/>
          <p:nvPr/>
        </p:nvGrpSpPr>
        <p:grpSpPr>
          <a:xfrm>
            <a:off x="6502746" y="5308549"/>
            <a:ext cx="5282355" cy="2833535"/>
            <a:chOff x="0" y="0"/>
            <a:chExt cx="7043141" cy="3778047"/>
          </a:xfrm>
        </p:grpSpPr>
        <p:sp>
          <p:nvSpPr>
            <p:cNvPr id="18" name="Freeform 18"/>
            <p:cNvSpPr/>
            <p:nvPr/>
          </p:nvSpPr>
          <p:spPr>
            <a:xfrm>
              <a:off x="6350" y="6350"/>
              <a:ext cx="7030465" cy="3765423"/>
            </a:xfrm>
            <a:custGeom>
              <a:avLst/>
              <a:gdLst/>
              <a:ahLst/>
              <a:cxnLst/>
              <a:rect l="l" t="t" r="r" b="b"/>
              <a:pathLst>
                <a:path w="7030465" h="3765423">
                  <a:moveTo>
                    <a:pt x="0" y="138430"/>
                  </a:moveTo>
                  <a:cubicBezTo>
                    <a:pt x="0" y="61976"/>
                    <a:pt x="62103" y="0"/>
                    <a:pt x="138684" y="0"/>
                  </a:cubicBezTo>
                  <a:lnTo>
                    <a:pt x="6891782" y="0"/>
                  </a:lnTo>
                  <a:cubicBezTo>
                    <a:pt x="6968363" y="0"/>
                    <a:pt x="7030465" y="61976"/>
                    <a:pt x="7030465" y="138430"/>
                  </a:cubicBezTo>
                  <a:lnTo>
                    <a:pt x="7030465" y="3626993"/>
                  </a:lnTo>
                  <a:cubicBezTo>
                    <a:pt x="7030465" y="3703447"/>
                    <a:pt x="6968363" y="3765423"/>
                    <a:pt x="6891782" y="3765423"/>
                  </a:cubicBezTo>
                  <a:lnTo>
                    <a:pt x="138684" y="3765423"/>
                  </a:lnTo>
                  <a:cubicBezTo>
                    <a:pt x="62103" y="3765296"/>
                    <a:pt x="0" y="3703320"/>
                    <a:pt x="0" y="3626993"/>
                  </a:cubicBezTo>
                  <a:close/>
                </a:path>
              </a:pathLst>
            </a:custGeom>
            <a:solidFill>
              <a:srgbClr val="E2E3E9"/>
            </a:solidFill>
          </p:spPr>
        </p:sp>
        <p:sp>
          <p:nvSpPr>
            <p:cNvPr id="19" name="Freeform 19"/>
            <p:cNvSpPr/>
            <p:nvPr/>
          </p:nvSpPr>
          <p:spPr>
            <a:xfrm>
              <a:off x="0" y="0"/>
              <a:ext cx="7043165" cy="3778123"/>
            </a:xfrm>
            <a:custGeom>
              <a:avLst/>
              <a:gdLst/>
              <a:ahLst/>
              <a:cxnLst/>
              <a:rect l="l" t="t" r="r" b="b"/>
              <a:pathLst>
                <a:path w="7043165" h="3778123">
                  <a:moveTo>
                    <a:pt x="0" y="144780"/>
                  </a:moveTo>
                  <a:cubicBezTo>
                    <a:pt x="0" y="64770"/>
                    <a:pt x="64897" y="0"/>
                    <a:pt x="145034" y="0"/>
                  </a:cubicBezTo>
                  <a:lnTo>
                    <a:pt x="6898132" y="0"/>
                  </a:lnTo>
                  <a:lnTo>
                    <a:pt x="6898132" y="6350"/>
                  </a:lnTo>
                  <a:lnTo>
                    <a:pt x="6898132" y="0"/>
                  </a:lnTo>
                  <a:cubicBezTo>
                    <a:pt x="6978142" y="0"/>
                    <a:pt x="7043165" y="64770"/>
                    <a:pt x="7043165" y="144780"/>
                  </a:cubicBezTo>
                  <a:lnTo>
                    <a:pt x="7036815" y="144780"/>
                  </a:lnTo>
                  <a:lnTo>
                    <a:pt x="7043165" y="144780"/>
                  </a:lnTo>
                  <a:lnTo>
                    <a:pt x="7043165" y="3633343"/>
                  </a:lnTo>
                  <a:lnTo>
                    <a:pt x="7036815" y="3633343"/>
                  </a:lnTo>
                  <a:lnTo>
                    <a:pt x="7043165" y="3633343"/>
                  </a:lnTo>
                  <a:cubicBezTo>
                    <a:pt x="7043165" y="3713353"/>
                    <a:pt x="6978269" y="3778123"/>
                    <a:pt x="6898132" y="3778123"/>
                  </a:cubicBezTo>
                  <a:lnTo>
                    <a:pt x="6898132" y="3771773"/>
                  </a:lnTo>
                  <a:lnTo>
                    <a:pt x="6898132" y="3778123"/>
                  </a:lnTo>
                  <a:lnTo>
                    <a:pt x="145034" y="3778123"/>
                  </a:lnTo>
                  <a:lnTo>
                    <a:pt x="145034" y="3771773"/>
                  </a:lnTo>
                  <a:lnTo>
                    <a:pt x="145034" y="3778123"/>
                  </a:lnTo>
                  <a:cubicBezTo>
                    <a:pt x="65024" y="3778123"/>
                    <a:pt x="0" y="3713353"/>
                    <a:pt x="0" y="3633343"/>
                  </a:cubicBezTo>
                  <a:lnTo>
                    <a:pt x="0" y="144780"/>
                  </a:lnTo>
                  <a:lnTo>
                    <a:pt x="6350" y="144780"/>
                  </a:lnTo>
                  <a:lnTo>
                    <a:pt x="0" y="144780"/>
                  </a:lnTo>
                  <a:moveTo>
                    <a:pt x="12700" y="144780"/>
                  </a:moveTo>
                  <a:lnTo>
                    <a:pt x="12700" y="3633343"/>
                  </a:lnTo>
                  <a:lnTo>
                    <a:pt x="6350" y="3633343"/>
                  </a:lnTo>
                  <a:lnTo>
                    <a:pt x="12700" y="3633343"/>
                  </a:lnTo>
                  <a:cubicBezTo>
                    <a:pt x="12700" y="3706241"/>
                    <a:pt x="71882" y="3765423"/>
                    <a:pt x="145034" y="3765423"/>
                  </a:cubicBezTo>
                  <a:lnTo>
                    <a:pt x="6898132" y="3765423"/>
                  </a:lnTo>
                  <a:cubicBezTo>
                    <a:pt x="6971157" y="3765423"/>
                    <a:pt x="7030465" y="3706241"/>
                    <a:pt x="7030465" y="3633343"/>
                  </a:cubicBezTo>
                  <a:lnTo>
                    <a:pt x="7030465" y="144780"/>
                  </a:lnTo>
                  <a:cubicBezTo>
                    <a:pt x="7030465" y="71882"/>
                    <a:pt x="6971284" y="12700"/>
                    <a:pt x="6898132" y="12700"/>
                  </a:cubicBezTo>
                  <a:lnTo>
                    <a:pt x="145034" y="12700"/>
                  </a:lnTo>
                  <a:lnTo>
                    <a:pt x="145034" y="6350"/>
                  </a:lnTo>
                  <a:lnTo>
                    <a:pt x="145034" y="12700"/>
                  </a:lnTo>
                  <a:cubicBezTo>
                    <a:pt x="71882" y="12700"/>
                    <a:pt x="12700" y="71882"/>
                    <a:pt x="12700" y="144780"/>
                  </a:cubicBezTo>
                  <a:close/>
                </a:path>
              </a:pathLst>
            </a:custGeom>
            <a:solidFill>
              <a:srgbClr val="C8C9CF"/>
            </a:solidFill>
          </p:spPr>
        </p:sp>
      </p:grpSp>
      <p:grpSp>
        <p:nvGrpSpPr>
          <p:cNvPr id="20" name="Group 20"/>
          <p:cNvGrpSpPr/>
          <p:nvPr/>
        </p:nvGrpSpPr>
        <p:grpSpPr>
          <a:xfrm>
            <a:off x="6764093" y="5569896"/>
            <a:ext cx="741464" cy="741464"/>
            <a:chOff x="0" y="0"/>
            <a:chExt cx="988619" cy="988619"/>
          </a:xfrm>
        </p:grpSpPr>
        <p:sp>
          <p:nvSpPr>
            <p:cNvPr id="21" name="Freeform 21" descr="preencoded.png"/>
            <p:cNvSpPr/>
            <p:nvPr/>
          </p:nvSpPr>
          <p:spPr>
            <a:xfrm>
              <a:off x="0" y="0"/>
              <a:ext cx="988568" cy="988568"/>
            </a:xfrm>
            <a:custGeom>
              <a:avLst/>
              <a:gdLst/>
              <a:ahLst/>
              <a:cxnLst/>
              <a:rect l="l" t="t" r="r" b="b"/>
              <a:pathLst>
                <a:path w="988568" h="988568">
                  <a:moveTo>
                    <a:pt x="0" y="0"/>
                  </a:moveTo>
                  <a:lnTo>
                    <a:pt x="988568" y="0"/>
                  </a:lnTo>
                  <a:lnTo>
                    <a:pt x="988568" y="988568"/>
                  </a:lnTo>
                  <a:lnTo>
                    <a:pt x="0" y="988568"/>
                  </a:lnTo>
                  <a:lnTo>
                    <a:pt x="0" y="0"/>
                  </a:lnTo>
                  <a:close/>
                </a:path>
              </a:pathLst>
            </a:custGeom>
            <a:blipFill>
              <a:blip r:embed="rId7"/>
              <a:stretch>
                <a:fillRect r="-5" b="-5"/>
              </a:stretch>
            </a:blipFill>
          </p:spPr>
        </p:sp>
      </p:grpSp>
      <p:sp>
        <p:nvSpPr>
          <p:cNvPr id="22" name="Freeform 22" descr="preencoded.png"/>
          <p:cNvSpPr/>
          <p:nvPr/>
        </p:nvSpPr>
        <p:spPr>
          <a:xfrm>
            <a:off x="6967985" y="5773788"/>
            <a:ext cx="333670" cy="333670"/>
          </a:xfrm>
          <a:custGeom>
            <a:avLst/>
            <a:gdLst/>
            <a:ahLst/>
            <a:cxnLst/>
            <a:rect l="l" t="t" r="r" b="b"/>
            <a:pathLst>
              <a:path w="333670" h="333670">
                <a:moveTo>
                  <a:pt x="0" y="0"/>
                </a:moveTo>
                <a:lnTo>
                  <a:pt x="333670" y="0"/>
                </a:lnTo>
                <a:lnTo>
                  <a:pt x="333670" y="333671"/>
                </a:lnTo>
                <a:lnTo>
                  <a:pt x="0" y="333671"/>
                </a:lnTo>
                <a:lnTo>
                  <a:pt x="0" y="0"/>
                </a:lnTo>
                <a:close/>
              </a:path>
            </a:pathLst>
          </a:custGeom>
          <a:blipFill>
            <a:blip r:embed="rId8">
              <a:extLst>
                <a:ext uri="{96DAC541-7B7A-43D3-8B79-37D633B846F1}">
                  <asvg:svgBlip xmlns:asvg="http://schemas.microsoft.com/office/drawing/2016/SVG/main" r:embed="rId9"/>
                </a:ext>
              </a:extLst>
            </a:blip>
            <a:stretch>
              <a:fillRect t="-8332" b="-8335"/>
            </a:stretch>
          </a:blipFill>
        </p:spPr>
      </p:sp>
      <p:sp>
        <p:nvSpPr>
          <p:cNvPr id="23" name="TextBox 23"/>
          <p:cNvSpPr txBox="1"/>
          <p:nvPr/>
        </p:nvSpPr>
        <p:spPr>
          <a:xfrm>
            <a:off x="6764093" y="6528940"/>
            <a:ext cx="3143250" cy="414785"/>
          </a:xfrm>
          <a:prstGeom prst="rect">
            <a:avLst/>
          </a:prstGeom>
        </p:spPr>
        <p:txBody>
          <a:bodyPr lIns="0" tIns="0" rIns="0" bIns="0" rtlCol="0" anchor="t">
            <a:spAutoFit/>
          </a:bodyPr>
          <a:lstStyle/>
          <a:p>
            <a:pPr algn="l">
              <a:lnSpc>
                <a:spcPts val="3000"/>
              </a:lnSpc>
            </a:pPr>
            <a:r>
              <a:rPr lang="en-US" sz="2375" b="1">
                <a:solidFill>
                  <a:srgbClr val="5B5F71"/>
                </a:solidFill>
                <a:latin typeface="Arimo Bold"/>
                <a:ea typeface="Arimo Bold"/>
                <a:cs typeface="Arimo Bold"/>
                <a:sym typeface="Arimo Bold"/>
              </a:rPr>
              <a:t>Analizadores de texto</a:t>
            </a:r>
          </a:p>
        </p:txBody>
      </p:sp>
      <p:sp>
        <p:nvSpPr>
          <p:cNvPr id="24" name="TextBox 24"/>
          <p:cNvSpPr txBox="1"/>
          <p:nvPr/>
        </p:nvSpPr>
        <p:spPr>
          <a:xfrm>
            <a:off x="6764093" y="7005637"/>
            <a:ext cx="4759671" cy="875109"/>
          </a:xfrm>
          <a:prstGeom prst="rect">
            <a:avLst/>
          </a:prstGeom>
        </p:spPr>
        <p:txBody>
          <a:bodyPr lIns="0" tIns="0" rIns="0" bIns="0" rtlCol="0" anchor="t">
            <a:spAutoFit/>
          </a:bodyPr>
          <a:lstStyle/>
          <a:p>
            <a:pPr algn="l">
              <a:lnSpc>
                <a:spcPts val="3062"/>
              </a:lnSpc>
            </a:pPr>
            <a:r>
              <a:rPr lang="en-US" sz="1937" dirty="0" err="1">
                <a:solidFill>
                  <a:srgbClr val="5B5F71"/>
                </a:solidFill>
                <a:latin typeface="Arimo"/>
                <a:ea typeface="Arimo"/>
                <a:cs typeface="Arimo"/>
                <a:sym typeface="Arimo"/>
              </a:rPr>
              <a:t>Procesamiento</a:t>
            </a:r>
            <a:r>
              <a:rPr lang="en-US" sz="1937" dirty="0">
                <a:solidFill>
                  <a:srgbClr val="5B5F71"/>
                </a:solidFill>
                <a:latin typeface="Arimo"/>
                <a:ea typeface="Arimo"/>
                <a:cs typeface="Arimo"/>
                <a:sym typeface="Arimo"/>
              </a:rPr>
              <a:t> y </a:t>
            </a:r>
            <a:r>
              <a:rPr lang="en-US" sz="1937" dirty="0" err="1">
                <a:solidFill>
                  <a:srgbClr val="5B5F71"/>
                </a:solidFill>
                <a:latin typeface="Arimo"/>
                <a:ea typeface="Arimo"/>
                <a:cs typeface="Arimo"/>
                <a:sym typeface="Arimo"/>
              </a:rPr>
              <a:t>reconocimiento</a:t>
            </a:r>
            <a:r>
              <a:rPr lang="en-US" sz="1937" dirty="0">
                <a:solidFill>
                  <a:srgbClr val="5B5F71"/>
                </a:solidFill>
                <a:latin typeface="Arimo"/>
                <a:ea typeface="Arimo"/>
                <a:cs typeface="Arimo"/>
                <a:sym typeface="Arimo"/>
              </a:rPr>
              <a:t> de </a:t>
            </a:r>
            <a:r>
              <a:rPr lang="en-US" sz="1937" dirty="0" err="1">
                <a:solidFill>
                  <a:srgbClr val="5B5F71"/>
                </a:solidFill>
                <a:latin typeface="Arimo"/>
                <a:ea typeface="Arimo"/>
                <a:cs typeface="Arimo"/>
                <a:sym typeface="Arimo"/>
              </a:rPr>
              <a:t>patrones</a:t>
            </a:r>
            <a:endParaRPr lang="en-US" sz="1937" dirty="0">
              <a:solidFill>
                <a:srgbClr val="5B5F71"/>
              </a:solidFill>
              <a:latin typeface="Arimo"/>
              <a:ea typeface="Arimo"/>
              <a:cs typeface="Arimo"/>
              <a:sym typeface="Arimo"/>
            </a:endParaRPr>
          </a:p>
        </p:txBody>
      </p:sp>
      <p:grpSp>
        <p:nvGrpSpPr>
          <p:cNvPr id="25" name="Group 25"/>
          <p:cNvGrpSpPr/>
          <p:nvPr/>
        </p:nvGrpSpPr>
        <p:grpSpPr>
          <a:xfrm>
            <a:off x="12021741" y="5308549"/>
            <a:ext cx="5282203" cy="2833535"/>
            <a:chOff x="0" y="0"/>
            <a:chExt cx="7042937" cy="3778047"/>
          </a:xfrm>
        </p:grpSpPr>
        <p:sp>
          <p:nvSpPr>
            <p:cNvPr id="26" name="Freeform 26"/>
            <p:cNvSpPr/>
            <p:nvPr/>
          </p:nvSpPr>
          <p:spPr>
            <a:xfrm>
              <a:off x="6350" y="6350"/>
              <a:ext cx="7030339" cy="3765423"/>
            </a:xfrm>
            <a:custGeom>
              <a:avLst/>
              <a:gdLst/>
              <a:ahLst/>
              <a:cxnLst/>
              <a:rect l="l" t="t" r="r" b="b"/>
              <a:pathLst>
                <a:path w="7030339" h="3765423">
                  <a:moveTo>
                    <a:pt x="0" y="138430"/>
                  </a:moveTo>
                  <a:cubicBezTo>
                    <a:pt x="0" y="61976"/>
                    <a:pt x="62103" y="0"/>
                    <a:pt x="138684" y="0"/>
                  </a:cubicBezTo>
                  <a:lnTo>
                    <a:pt x="6891655" y="0"/>
                  </a:lnTo>
                  <a:cubicBezTo>
                    <a:pt x="6968237" y="0"/>
                    <a:pt x="7030339" y="61976"/>
                    <a:pt x="7030339" y="138430"/>
                  </a:cubicBezTo>
                  <a:lnTo>
                    <a:pt x="7030339" y="3626993"/>
                  </a:lnTo>
                  <a:cubicBezTo>
                    <a:pt x="7030339" y="3703447"/>
                    <a:pt x="6968237" y="3765423"/>
                    <a:pt x="6891655" y="3765423"/>
                  </a:cubicBezTo>
                  <a:lnTo>
                    <a:pt x="138684" y="3765423"/>
                  </a:lnTo>
                  <a:cubicBezTo>
                    <a:pt x="62103" y="3765296"/>
                    <a:pt x="0" y="3703320"/>
                    <a:pt x="0" y="3626993"/>
                  </a:cubicBezTo>
                  <a:close/>
                </a:path>
              </a:pathLst>
            </a:custGeom>
            <a:solidFill>
              <a:srgbClr val="E2E3E9"/>
            </a:solidFill>
          </p:spPr>
        </p:sp>
        <p:sp>
          <p:nvSpPr>
            <p:cNvPr id="27" name="Freeform 27"/>
            <p:cNvSpPr/>
            <p:nvPr/>
          </p:nvSpPr>
          <p:spPr>
            <a:xfrm>
              <a:off x="0" y="0"/>
              <a:ext cx="7043039" cy="3778123"/>
            </a:xfrm>
            <a:custGeom>
              <a:avLst/>
              <a:gdLst/>
              <a:ahLst/>
              <a:cxnLst/>
              <a:rect l="l" t="t" r="r" b="b"/>
              <a:pathLst>
                <a:path w="7043039" h="3778123">
                  <a:moveTo>
                    <a:pt x="0" y="144780"/>
                  </a:moveTo>
                  <a:cubicBezTo>
                    <a:pt x="0" y="64770"/>
                    <a:pt x="64897" y="0"/>
                    <a:pt x="145034" y="0"/>
                  </a:cubicBezTo>
                  <a:lnTo>
                    <a:pt x="6898005" y="0"/>
                  </a:lnTo>
                  <a:lnTo>
                    <a:pt x="6898005" y="6350"/>
                  </a:lnTo>
                  <a:lnTo>
                    <a:pt x="6898005" y="0"/>
                  </a:lnTo>
                  <a:cubicBezTo>
                    <a:pt x="6978015" y="0"/>
                    <a:pt x="7043039" y="64770"/>
                    <a:pt x="7043039" y="144780"/>
                  </a:cubicBezTo>
                  <a:lnTo>
                    <a:pt x="7036689" y="144780"/>
                  </a:lnTo>
                  <a:lnTo>
                    <a:pt x="7043039" y="144780"/>
                  </a:lnTo>
                  <a:lnTo>
                    <a:pt x="7043039" y="3633343"/>
                  </a:lnTo>
                  <a:lnTo>
                    <a:pt x="7036689" y="3633343"/>
                  </a:lnTo>
                  <a:lnTo>
                    <a:pt x="7043039" y="3633343"/>
                  </a:lnTo>
                  <a:cubicBezTo>
                    <a:pt x="7043039" y="3713353"/>
                    <a:pt x="6978142" y="3778123"/>
                    <a:pt x="6898005" y="3778123"/>
                  </a:cubicBezTo>
                  <a:lnTo>
                    <a:pt x="6898005" y="3771773"/>
                  </a:lnTo>
                  <a:lnTo>
                    <a:pt x="6898005" y="3778123"/>
                  </a:lnTo>
                  <a:lnTo>
                    <a:pt x="145034" y="3778123"/>
                  </a:lnTo>
                  <a:lnTo>
                    <a:pt x="145034" y="3771773"/>
                  </a:lnTo>
                  <a:lnTo>
                    <a:pt x="145034" y="3778123"/>
                  </a:lnTo>
                  <a:cubicBezTo>
                    <a:pt x="65024" y="3778123"/>
                    <a:pt x="0" y="3713353"/>
                    <a:pt x="0" y="3633343"/>
                  </a:cubicBezTo>
                  <a:lnTo>
                    <a:pt x="0" y="144780"/>
                  </a:lnTo>
                  <a:lnTo>
                    <a:pt x="6350" y="144780"/>
                  </a:lnTo>
                  <a:lnTo>
                    <a:pt x="0" y="144780"/>
                  </a:lnTo>
                  <a:moveTo>
                    <a:pt x="12700" y="144780"/>
                  </a:moveTo>
                  <a:lnTo>
                    <a:pt x="12700" y="3633343"/>
                  </a:lnTo>
                  <a:lnTo>
                    <a:pt x="6350" y="3633343"/>
                  </a:lnTo>
                  <a:lnTo>
                    <a:pt x="12700" y="3633343"/>
                  </a:lnTo>
                  <a:cubicBezTo>
                    <a:pt x="12700" y="3706241"/>
                    <a:pt x="71882" y="3765423"/>
                    <a:pt x="145034" y="3765423"/>
                  </a:cubicBezTo>
                  <a:lnTo>
                    <a:pt x="6898005" y="3765423"/>
                  </a:lnTo>
                  <a:cubicBezTo>
                    <a:pt x="6971030" y="3765423"/>
                    <a:pt x="7030339" y="3706241"/>
                    <a:pt x="7030339" y="3633343"/>
                  </a:cubicBezTo>
                  <a:lnTo>
                    <a:pt x="7030339" y="144780"/>
                  </a:lnTo>
                  <a:cubicBezTo>
                    <a:pt x="7030339" y="71882"/>
                    <a:pt x="6971157" y="12700"/>
                    <a:pt x="6898005" y="12700"/>
                  </a:cubicBezTo>
                  <a:lnTo>
                    <a:pt x="145034" y="12700"/>
                  </a:lnTo>
                  <a:lnTo>
                    <a:pt x="145034" y="6350"/>
                  </a:lnTo>
                  <a:lnTo>
                    <a:pt x="145034" y="12700"/>
                  </a:lnTo>
                  <a:cubicBezTo>
                    <a:pt x="71882" y="12700"/>
                    <a:pt x="12700" y="71882"/>
                    <a:pt x="12700" y="144780"/>
                  </a:cubicBezTo>
                  <a:close/>
                </a:path>
              </a:pathLst>
            </a:custGeom>
            <a:solidFill>
              <a:srgbClr val="C8C9CF"/>
            </a:solidFill>
          </p:spPr>
        </p:sp>
      </p:grpSp>
      <p:grpSp>
        <p:nvGrpSpPr>
          <p:cNvPr id="28" name="Group 28"/>
          <p:cNvGrpSpPr/>
          <p:nvPr/>
        </p:nvGrpSpPr>
        <p:grpSpPr>
          <a:xfrm>
            <a:off x="12283078" y="5569896"/>
            <a:ext cx="741464" cy="741464"/>
            <a:chOff x="0" y="0"/>
            <a:chExt cx="988619" cy="988619"/>
          </a:xfrm>
        </p:grpSpPr>
        <p:sp>
          <p:nvSpPr>
            <p:cNvPr id="29" name="Freeform 29" descr="preencoded.png"/>
            <p:cNvSpPr/>
            <p:nvPr/>
          </p:nvSpPr>
          <p:spPr>
            <a:xfrm>
              <a:off x="0" y="0"/>
              <a:ext cx="988568" cy="988568"/>
            </a:xfrm>
            <a:custGeom>
              <a:avLst/>
              <a:gdLst/>
              <a:ahLst/>
              <a:cxnLst/>
              <a:rect l="l" t="t" r="r" b="b"/>
              <a:pathLst>
                <a:path w="988568" h="988568">
                  <a:moveTo>
                    <a:pt x="0" y="0"/>
                  </a:moveTo>
                  <a:lnTo>
                    <a:pt x="988568" y="0"/>
                  </a:lnTo>
                  <a:lnTo>
                    <a:pt x="988568" y="988568"/>
                  </a:lnTo>
                  <a:lnTo>
                    <a:pt x="0" y="988568"/>
                  </a:lnTo>
                  <a:lnTo>
                    <a:pt x="0" y="0"/>
                  </a:lnTo>
                  <a:close/>
                </a:path>
              </a:pathLst>
            </a:custGeom>
            <a:blipFill>
              <a:blip r:embed="rId10"/>
              <a:stretch>
                <a:fillRect r="-5" b="-5"/>
              </a:stretch>
            </a:blipFill>
          </p:spPr>
        </p:sp>
      </p:grpSp>
      <p:sp>
        <p:nvSpPr>
          <p:cNvPr id="30" name="Freeform 30" descr="preencoded.png"/>
          <p:cNvSpPr/>
          <p:nvPr/>
        </p:nvSpPr>
        <p:spPr>
          <a:xfrm>
            <a:off x="12486980" y="5773788"/>
            <a:ext cx="333670" cy="333670"/>
          </a:xfrm>
          <a:custGeom>
            <a:avLst/>
            <a:gdLst/>
            <a:ahLst/>
            <a:cxnLst/>
            <a:rect l="l" t="t" r="r" b="b"/>
            <a:pathLst>
              <a:path w="333670" h="333670">
                <a:moveTo>
                  <a:pt x="0" y="0"/>
                </a:moveTo>
                <a:lnTo>
                  <a:pt x="333670" y="0"/>
                </a:lnTo>
                <a:lnTo>
                  <a:pt x="333670" y="333671"/>
                </a:lnTo>
                <a:lnTo>
                  <a:pt x="0" y="333671"/>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31" name="TextBox 31"/>
          <p:cNvSpPr txBox="1"/>
          <p:nvPr/>
        </p:nvSpPr>
        <p:spPr>
          <a:xfrm>
            <a:off x="12283078" y="6528940"/>
            <a:ext cx="4125811" cy="414785"/>
          </a:xfrm>
          <a:prstGeom prst="rect">
            <a:avLst/>
          </a:prstGeom>
        </p:spPr>
        <p:txBody>
          <a:bodyPr lIns="0" tIns="0" rIns="0" bIns="0" rtlCol="0" anchor="t">
            <a:spAutoFit/>
          </a:bodyPr>
          <a:lstStyle/>
          <a:p>
            <a:pPr algn="l">
              <a:lnSpc>
                <a:spcPts val="3000"/>
              </a:lnSpc>
            </a:pPr>
            <a:r>
              <a:rPr lang="en-US" sz="2375" b="1">
                <a:solidFill>
                  <a:srgbClr val="5B5F71"/>
                </a:solidFill>
                <a:latin typeface="Arimo Bold"/>
                <a:ea typeface="Arimo Bold"/>
                <a:cs typeface="Arimo Bold"/>
                <a:sym typeface="Arimo Bold"/>
              </a:rPr>
              <a:t>Sistemas de reconocimiento</a:t>
            </a:r>
          </a:p>
        </p:txBody>
      </p:sp>
      <p:sp>
        <p:nvSpPr>
          <p:cNvPr id="32" name="TextBox 32"/>
          <p:cNvSpPr txBox="1"/>
          <p:nvPr/>
        </p:nvSpPr>
        <p:spPr>
          <a:xfrm>
            <a:off x="12283078" y="7005637"/>
            <a:ext cx="4759528" cy="480422"/>
          </a:xfrm>
          <a:prstGeom prst="rect">
            <a:avLst/>
          </a:prstGeom>
        </p:spPr>
        <p:txBody>
          <a:bodyPr lIns="0" tIns="0" rIns="0" bIns="0" rtlCol="0" anchor="t">
            <a:spAutoFit/>
          </a:bodyPr>
          <a:lstStyle/>
          <a:p>
            <a:pPr algn="l">
              <a:lnSpc>
                <a:spcPts val="3062"/>
              </a:lnSpc>
            </a:pPr>
            <a:r>
              <a:rPr lang="en-US" sz="1937">
                <a:solidFill>
                  <a:srgbClr val="5B5F71"/>
                </a:solidFill>
                <a:latin typeface="Arimo"/>
                <a:ea typeface="Arimo"/>
                <a:cs typeface="Arimo"/>
                <a:sym typeface="Arimo"/>
              </a:rPr>
              <a:t>Detección de secuencias específicas</a:t>
            </a:r>
          </a:p>
        </p:txBody>
      </p:sp>
      <p:sp>
        <p:nvSpPr>
          <p:cNvPr id="33" name="TextBox 33"/>
          <p:cNvSpPr txBox="1"/>
          <p:nvPr/>
        </p:nvSpPr>
        <p:spPr>
          <a:xfrm>
            <a:off x="988666" y="8328574"/>
            <a:ext cx="16310667" cy="1269797"/>
          </a:xfrm>
          <a:prstGeom prst="rect">
            <a:avLst/>
          </a:prstGeom>
        </p:spPr>
        <p:txBody>
          <a:bodyPr lIns="0" tIns="0" rIns="0" bIns="0" rtlCol="0" anchor="t">
            <a:spAutoFit/>
          </a:bodyPr>
          <a:lstStyle/>
          <a:p>
            <a:pPr algn="l">
              <a:lnSpc>
                <a:spcPts val="3062"/>
              </a:lnSpc>
            </a:pPr>
            <a:r>
              <a:rPr lang="en-US" sz="1937">
                <a:solidFill>
                  <a:srgbClr val="5B5F71"/>
                </a:solidFill>
                <a:latin typeface="Arimo"/>
                <a:ea typeface="Arimo"/>
                <a:cs typeface="Arimo"/>
                <a:sym typeface="Arimo"/>
              </a:rPr>
              <a:t>Para realizar las prácticas de esta unidad se utilizó el software </a:t>
            </a:r>
            <a:r>
              <a:rPr lang="en-US" sz="1937" b="1">
                <a:solidFill>
                  <a:srgbClr val="5B5F71"/>
                </a:solidFill>
                <a:latin typeface="Arimo Bold"/>
                <a:ea typeface="Arimo Bold"/>
                <a:cs typeface="Arimo Bold"/>
                <a:sym typeface="Arimo Bold"/>
              </a:rPr>
              <a:t>JFLAP</a:t>
            </a:r>
            <a:r>
              <a:rPr lang="en-US" sz="1937">
                <a:solidFill>
                  <a:srgbClr val="5B5F71"/>
                </a:solidFill>
                <a:latin typeface="Arimo"/>
                <a:ea typeface="Arimo"/>
                <a:cs typeface="Arimo"/>
                <a:sym typeface="Arimo"/>
              </a:rPr>
              <a:t>, una herramienta educativa que permite diseñar, visualizar y analizar autómatas de forma gráfica. Este programa facilita la comprensión del funcionamiento de los autómatas finitos, ya que permite construir los estados, definir las transiciones y simular el comportamiento del autómata con diferentes cadenas de entrada.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sp>
        <p:nvSpPr>
          <p:cNvPr id="6" name="TextBox 6"/>
          <p:cNvSpPr txBox="1"/>
          <p:nvPr/>
        </p:nvSpPr>
        <p:spPr>
          <a:xfrm>
            <a:off x="1057275" y="990600"/>
            <a:ext cx="6202261" cy="813197"/>
          </a:xfrm>
          <a:prstGeom prst="rect">
            <a:avLst/>
          </a:prstGeom>
        </p:spPr>
        <p:txBody>
          <a:bodyPr lIns="0" tIns="0" rIns="0" bIns="0" rtlCol="0" anchor="t">
            <a:spAutoFit/>
          </a:bodyPr>
          <a:lstStyle/>
          <a:p>
            <a:pPr algn="l">
              <a:lnSpc>
                <a:spcPts val="6062"/>
              </a:lnSpc>
            </a:pPr>
            <a:r>
              <a:rPr lang="en-US" sz="4875" b="1">
                <a:solidFill>
                  <a:srgbClr val="505468"/>
                </a:solidFill>
                <a:latin typeface="Arimo Bold"/>
                <a:ea typeface="Arimo Bold"/>
                <a:cs typeface="Arimo Bold"/>
                <a:sym typeface="Arimo Bold"/>
              </a:rPr>
              <a:t>Justificación</a:t>
            </a:r>
          </a:p>
        </p:txBody>
      </p:sp>
      <p:grpSp>
        <p:nvGrpSpPr>
          <p:cNvPr id="7" name="Group 7"/>
          <p:cNvGrpSpPr/>
          <p:nvPr/>
        </p:nvGrpSpPr>
        <p:grpSpPr>
          <a:xfrm>
            <a:off x="1042987" y="2285552"/>
            <a:ext cx="5297691" cy="5078168"/>
            <a:chOff x="0" y="0"/>
            <a:chExt cx="7063588" cy="6770891"/>
          </a:xfrm>
        </p:grpSpPr>
        <p:sp>
          <p:nvSpPr>
            <p:cNvPr id="8" name="Freeform 8"/>
            <p:cNvSpPr/>
            <p:nvPr/>
          </p:nvSpPr>
          <p:spPr>
            <a:xfrm>
              <a:off x="19050" y="19050"/>
              <a:ext cx="7025513" cy="6732778"/>
            </a:xfrm>
            <a:custGeom>
              <a:avLst/>
              <a:gdLst/>
              <a:ahLst/>
              <a:cxnLst/>
              <a:rect l="l" t="t" r="r" b="b"/>
              <a:pathLst>
                <a:path w="7025513" h="6732778">
                  <a:moveTo>
                    <a:pt x="0" y="182880"/>
                  </a:moveTo>
                  <a:cubicBezTo>
                    <a:pt x="0" y="81915"/>
                    <a:pt x="81915" y="0"/>
                    <a:pt x="182880" y="0"/>
                  </a:cubicBezTo>
                  <a:lnTo>
                    <a:pt x="6842633" y="0"/>
                  </a:lnTo>
                  <a:cubicBezTo>
                    <a:pt x="6943598" y="0"/>
                    <a:pt x="7025513" y="81915"/>
                    <a:pt x="7025513" y="182880"/>
                  </a:cubicBezTo>
                  <a:lnTo>
                    <a:pt x="7025513" y="6549898"/>
                  </a:lnTo>
                  <a:cubicBezTo>
                    <a:pt x="7025513" y="6650863"/>
                    <a:pt x="6943598" y="6732778"/>
                    <a:pt x="6842633" y="6732778"/>
                  </a:cubicBezTo>
                  <a:lnTo>
                    <a:pt x="182880" y="6732778"/>
                  </a:lnTo>
                  <a:cubicBezTo>
                    <a:pt x="81915" y="6732778"/>
                    <a:pt x="0" y="6650863"/>
                    <a:pt x="0" y="6549898"/>
                  </a:cubicBezTo>
                  <a:close/>
                </a:path>
              </a:pathLst>
            </a:custGeom>
            <a:solidFill>
              <a:srgbClr val="FFFFFF">
                <a:alpha val="90196"/>
              </a:srgbClr>
            </a:solidFill>
          </p:spPr>
        </p:sp>
        <p:sp>
          <p:nvSpPr>
            <p:cNvPr id="9" name="Freeform 9"/>
            <p:cNvSpPr/>
            <p:nvPr/>
          </p:nvSpPr>
          <p:spPr>
            <a:xfrm>
              <a:off x="0" y="0"/>
              <a:ext cx="7063613" cy="6770878"/>
            </a:xfrm>
            <a:custGeom>
              <a:avLst/>
              <a:gdLst/>
              <a:ahLst/>
              <a:cxnLst/>
              <a:rect l="l" t="t" r="r" b="b"/>
              <a:pathLst>
                <a:path w="7063613" h="6770878">
                  <a:moveTo>
                    <a:pt x="0" y="201930"/>
                  </a:moveTo>
                  <a:cubicBezTo>
                    <a:pt x="0" y="90424"/>
                    <a:pt x="90424" y="0"/>
                    <a:pt x="201930" y="0"/>
                  </a:cubicBezTo>
                  <a:lnTo>
                    <a:pt x="6861683" y="0"/>
                  </a:lnTo>
                  <a:lnTo>
                    <a:pt x="6861683" y="19050"/>
                  </a:lnTo>
                  <a:lnTo>
                    <a:pt x="6861683" y="0"/>
                  </a:lnTo>
                  <a:cubicBezTo>
                    <a:pt x="6973189" y="0"/>
                    <a:pt x="7063613" y="90424"/>
                    <a:pt x="7063613" y="201930"/>
                  </a:cubicBezTo>
                  <a:lnTo>
                    <a:pt x="7044563" y="201930"/>
                  </a:lnTo>
                  <a:lnTo>
                    <a:pt x="7063613" y="201930"/>
                  </a:lnTo>
                  <a:lnTo>
                    <a:pt x="7063613" y="6568948"/>
                  </a:lnTo>
                  <a:lnTo>
                    <a:pt x="7044563" y="6568948"/>
                  </a:lnTo>
                  <a:lnTo>
                    <a:pt x="7063613" y="6568948"/>
                  </a:lnTo>
                  <a:cubicBezTo>
                    <a:pt x="7063613" y="6680454"/>
                    <a:pt x="6973189" y="6770878"/>
                    <a:pt x="6861683" y="6770878"/>
                  </a:cubicBezTo>
                  <a:lnTo>
                    <a:pt x="6861683" y="6751828"/>
                  </a:lnTo>
                  <a:lnTo>
                    <a:pt x="6861683" y="6770878"/>
                  </a:lnTo>
                  <a:lnTo>
                    <a:pt x="201930" y="6770878"/>
                  </a:lnTo>
                  <a:lnTo>
                    <a:pt x="201930" y="6751828"/>
                  </a:lnTo>
                  <a:lnTo>
                    <a:pt x="201930" y="6770878"/>
                  </a:lnTo>
                  <a:cubicBezTo>
                    <a:pt x="90424" y="6770878"/>
                    <a:pt x="0" y="6680454"/>
                    <a:pt x="0" y="6568948"/>
                  </a:cubicBezTo>
                  <a:lnTo>
                    <a:pt x="0" y="201930"/>
                  </a:lnTo>
                  <a:lnTo>
                    <a:pt x="19050" y="201930"/>
                  </a:lnTo>
                  <a:lnTo>
                    <a:pt x="0" y="201930"/>
                  </a:lnTo>
                  <a:moveTo>
                    <a:pt x="38100" y="201930"/>
                  </a:moveTo>
                  <a:lnTo>
                    <a:pt x="38100" y="6568948"/>
                  </a:lnTo>
                  <a:lnTo>
                    <a:pt x="19050" y="6568948"/>
                  </a:lnTo>
                  <a:lnTo>
                    <a:pt x="38100" y="6568948"/>
                  </a:lnTo>
                  <a:cubicBezTo>
                    <a:pt x="38100" y="6659372"/>
                    <a:pt x="111506" y="6732778"/>
                    <a:pt x="201930" y="6732778"/>
                  </a:cubicBezTo>
                  <a:lnTo>
                    <a:pt x="6861683" y="6732778"/>
                  </a:lnTo>
                  <a:cubicBezTo>
                    <a:pt x="6952234" y="6732778"/>
                    <a:pt x="7025513" y="6659372"/>
                    <a:pt x="7025513" y="6568948"/>
                  </a:cubicBezTo>
                  <a:lnTo>
                    <a:pt x="7025513" y="201930"/>
                  </a:lnTo>
                  <a:cubicBezTo>
                    <a:pt x="7025513" y="111506"/>
                    <a:pt x="6952107" y="38100"/>
                    <a:pt x="6861683" y="38100"/>
                  </a:cubicBezTo>
                  <a:lnTo>
                    <a:pt x="201930" y="38100"/>
                  </a:lnTo>
                  <a:lnTo>
                    <a:pt x="201930" y="19050"/>
                  </a:lnTo>
                  <a:lnTo>
                    <a:pt x="201930" y="38100"/>
                  </a:lnTo>
                  <a:cubicBezTo>
                    <a:pt x="111506" y="38100"/>
                    <a:pt x="38100" y="111506"/>
                    <a:pt x="38100" y="201930"/>
                  </a:cubicBezTo>
                  <a:close/>
                </a:path>
              </a:pathLst>
            </a:custGeom>
            <a:solidFill>
              <a:srgbClr val="C8C9CF"/>
            </a:solidFill>
          </p:spPr>
        </p:sp>
      </p:grpSp>
      <p:grpSp>
        <p:nvGrpSpPr>
          <p:cNvPr id="10" name="Group 10"/>
          <p:cNvGrpSpPr/>
          <p:nvPr/>
        </p:nvGrpSpPr>
        <p:grpSpPr>
          <a:xfrm>
            <a:off x="1028700" y="2299840"/>
            <a:ext cx="114300" cy="5049593"/>
            <a:chOff x="0" y="0"/>
            <a:chExt cx="152400" cy="6732791"/>
          </a:xfrm>
        </p:grpSpPr>
        <p:sp>
          <p:nvSpPr>
            <p:cNvPr id="11" name="Freeform 11" descr="preencoded.png"/>
            <p:cNvSpPr/>
            <p:nvPr/>
          </p:nvSpPr>
          <p:spPr>
            <a:xfrm>
              <a:off x="0" y="0"/>
              <a:ext cx="152400" cy="6732778"/>
            </a:xfrm>
            <a:custGeom>
              <a:avLst/>
              <a:gdLst/>
              <a:ahLst/>
              <a:cxnLst/>
              <a:rect l="l" t="t" r="r" b="b"/>
              <a:pathLst>
                <a:path w="152400" h="6732778">
                  <a:moveTo>
                    <a:pt x="0" y="0"/>
                  </a:moveTo>
                  <a:lnTo>
                    <a:pt x="152400" y="0"/>
                  </a:lnTo>
                  <a:lnTo>
                    <a:pt x="152400" y="6732778"/>
                  </a:lnTo>
                  <a:lnTo>
                    <a:pt x="0" y="6732778"/>
                  </a:lnTo>
                  <a:lnTo>
                    <a:pt x="0" y="0"/>
                  </a:lnTo>
                  <a:close/>
                </a:path>
              </a:pathLst>
            </a:custGeom>
            <a:blipFill>
              <a:blip r:embed="rId4"/>
              <a:stretch>
                <a:fillRect l="-16" r="-8"/>
              </a:stretch>
            </a:blipFill>
          </p:spPr>
        </p:sp>
      </p:grpSp>
      <p:sp>
        <p:nvSpPr>
          <p:cNvPr id="12" name="TextBox 12"/>
          <p:cNvSpPr txBox="1"/>
          <p:nvPr/>
        </p:nvSpPr>
        <p:spPr>
          <a:xfrm>
            <a:off x="1419520" y="2566845"/>
            <a:ext cx="4630341" cy="784917"/>
          </a:xfrm>
          <a:prstGeom prst="rect">
            <a:avLst/>
          </a:prstGeom>
        </p:spPr>
        <p:txBody>
          <a:bodyPr lIns="0" tIns="0" rIns="0" bIns="0" rtlCol="0" anchor="t">
            <a:spAutoFit/>
          </a:bodyPr>
          <a:lstStyle/>
          <a:p>
            <a:pPr algn="l">
              <a:lnSpc>
                <a:spcPts val="2999"/>
              </a:lnSpc>
            </a:pPr>
            <a:r>
              <a:rPr lang="en-US" sz="2437" b="1">
                <a:solidFill>
                  <a:srgbClr val="5B5F71"/>
                </a:solidFill>
                <a:latin typeface="Arimo Bold"/>
                <a:ea typeface="Arimo Bold"/>
                <a:cs typeface="Arimo Bold"/>
                <a:sym typeface="Arimo Bold"/>
              </a:rPr>
              <a:t>Aplicación práctica de conceptos teóricos</a:t>
            </a:r>
          </a:p>
        </p:txBody>
      </p:sp>
      <p:sp>
        <p:nvSpPr>
          <p:cNvPr id="13" name="TextBox 13"/>
          <p:cNvSpPr txBox="1"/>
          <p:nvPr/>
        </p:nvSpPr>
        <p:spPr>
          <a:xfrm>
            <a:off x="1419520" y="3405340"/>
            <a:ext cx="4630341" cy="3508375"/>
          </a:xfrm>
          <a:prstGeom prst="rect">
            <a:avLst/>
          </a:prstGeom>
        </p:spPr>
        <p:txBody>
          <a:bodyPr lIns="0" tIns="0" rIns="0" bIns="0" rtlCol="0" anchor="t">
            <a:spAutoFit/>
          </a:bodyPr>
          <a:lstStyle/>
          <a:p>
            <a:pPr algn="just">
              <a:lnSpc>
                <a:spcPts val="3125"/>
              </a:lnSpc>
            </a:pPr>
            <a:r>
              <a:rPr lang="en-US" sz="1937" dirty="0" err="1">
                <a:solidFill>
                  <a:srgbClr val="5B5F71"/>
                </a:solidFill>
                <a:latin typeface="Arimo"/>
                <a:ea typeface="Arimo"/>
                <a:cs typeface="Arimo"/>
                <a:sym typeface="Arimo"/>
              </a:rPr>
              <a:t>Realizar</a:t>
            </a:r>
            <a:r>
              <a:rPr lang="en-US" sz="1937" dirty="0">
                <a:solidFill>
                  <a:srgbClr val="5B5F71"/>
                </a:solidFill>
                <a:latin typeface="Arimo"/>
                <a:ea typeface="Arimo"/>
                <a:cs typeface="Arimo"/>
                <a:sym typeface="Arimo"/>
              </a:rPr>
              <a:t> </a:t>
            </a:r>
            <a:r>
              <a:rPr lang="en-US" sz="1937" dirty="0" err="1">
                <a:solidFill>
                  <a:srgbClr val="5B5F71"/>
                </a:solidFill>
                <a:latin typeface="Arimo"/>
                <a:ea typeface="Arimo"/>
                <a:cs typeface="Arimo"/>
                <a:sym typeface="Arimo"/>
              </a:rPr>
              <a:t>prácticas</a:t>
            </a:r>
            <a:r>
              <a:rPr lang="en-US" sz="1937" dirty="0">
                <a:solidFill>
                  <a:srgbClr val="5B5F71"/>
                </a:solidFill>
                <a:latin typeface="Arimo"/>
                <a:ea typeface="Arimo"/>
                <a:cs typeface="Arimo"/>
                <a:sym typeface="Arimo"/>
              </a:rPr>
              <a:t> con </a:t>
            </a:r>
            <a:r>
              <a:rPr lang="en-US" sz="1937" dirty="0" err="1">
                <a:solidFill>
                  <a:srgbClr val="5B5F71"/>
                </a:solidFill>
                <a:latin typeface="Arimo"/>
                <a:ea typeface="Arimo"/>
                <a:cs typeface="Arimo"/>
                <a:sym typeface="Arimo"/>
              </a:rPr>
              <a:t>autómatas</a:t>
            </a:r>
            <a:r>
              <a:rPr lang="en-US" sz="1937" dirty="0">
                <a:solidFill>
                  <a:srgbClr val="5B5F71"/>
                </a:solidFill>
                <a:latin typeface="Arimo"/>
                <a:ea typeface="Arimo"/>
                <a:cs typeface="Arimo"/>
                <a:sym typeface="Arimo"/>
              </a:rPr>
              <a:t> </a:t>
            </a:r>
            <a:r>
              <a:rPr lang="en-US" sz="1937" dirty="0" err="1">
                <a:solidFill>
                  <a:srgbClr val="5B5F71"/>
                </a:solidFill>
                <a:latin typeface="Arimo"/>
                <a:ea typeface="Arimo"/>
                <a:cs typeface="Arimo"/>
                <a:sym typeface="Arimo"/>
              </a:rPr>
              <a:t>finitos</a:t>
            </a:r>
            <a:r>
              <a:rPr lang="en-US" sz="1937" dirty="0">
                <a:solidFill>
                  <a:srgbClr val="5B5F71"/>
                </a:solidFill>
                <a:latin typeface="Arimo"/>
                <a:ea typeface="Arimo"/>
                <a:cs typeface="Arimo"/>
                <a:sym typeface="Arimo"/>
              </a:rPr>
              <a:t> </a:t>
            </a:r>
            <a:r>
              <a:rPr lang="en-US" sz="1937" dirty="0" err="1">
                <a:solidFill>
                  <a:srgbClr val="5B5F71"/>
                </a:solidFill>
                <a:latin typeface="Arimo"/>
                <a:ea typeface="Arimo"/>
                <a:cs typeface="Arimo"/>
                <a:sym typeface="Arimo"/>
              </a:rPr>
              <a:t>permite</a:t>
            </a:r>
            <a:r>
              <a:rPr lang="en-US" sz="1937" dirty="0">
                <a:solidFill>
                  <a:srgbClr val="5B5F71"/>
                </a:solidFill>
                <a:latin typeface="Arimo"/>
                <a:ea typeface="Arimo"/>
                <a:cs typeface="Arimo"/>
                <a:sym typeface="Arimo"/>
              </a:rPr>
              <a:t> </a:t>
            </a:r>
            <a:r>
              <a:rPr lang="en-US" sz="1937" dirty="0" err="1">
                <a:solidFill>
                  <a:srgbClr val="5B5F71"/>
                </a:solidFill>
                <a:latin typeface="Arimo"/>
                <a:ea typeface="Arimo"/>
                <a:cs typeface="Arimo"/>
                <a:sym typeface="Arimo"/>
              </a:rPr>
              <a:t>aplicar</a:t>
            </a:r>
            <a:r>
              <a:rPr lang="en-US" sz="1937" dirty="0">
                <a:solidFill>
                  <a:srgbClr val="5B5F71"/>
                </a:solidFill>
                <a:latin typeface="Arimo"/>
                <a:ea typeface="Arimo"/>
                <a:cs typeface="Arimo"/>
                <a:sym typeface="Arimo"/>
              </a:rPr>
              <a:t> de </a:t>
            </a:r>
            <a:r>
              <a:rPr lang="en-US" sz="1937" dirty="0" err="1">
                <a:solidFill>
                  <a:srgbClr val="5B5F71"/>
                </a:solidFill>
                <a:latin typeface="Arimo"/>
                <a:ea typeface="Arimo"/>
                <a:cs typeface="Arimo"/>
                <a:sym typeface="Arimo"/>
              </a:rPr>
              <a:t>manera</a:t>
            </a:r>
            <a:r>
              <a:rPr lang="en-US" sz="1937" dirty="0">
                <a:solidFill>
                  <a:srgbClr val="5B5F71"/>
                </a:solidFill>
                <a:latin typeface="Arimo"/>
                <a:ea typeface="Arimo"/>
                <a:cs typeface="Arimo"/>
                <a:sym typeface="Arimo"/>
              </a:rPr>
              <a:t> </a:t>
            </a:r>
            <a:r>
              <a:rPr lang="en-US" sz="1937" dirty="0" err="1">
                <a:solidFill>
                  <a:srgbClr val="5B5F71"/>
                </a:solidFill>
                <a:latin typeface="Arimo"/>
                <a:ea typeface="Arimo"/>
                <a:cs typeface="Arimo"/>
                <a:sym typeface="Arimo"/>
              </a:rPr>
              <a:t>práctica</a:t>
            </a:r>
            <a:r>
              <a:rPr lang="en-US" sz="1937" dirty="0">
                <a:solidFill>
                  <a:srgbClr val="5B5F71"/>
                </a:solidFill>
                <a:latin typeface="Arimo"/>
                <a:ea typeface="Arimo"/>
                <a:cs typeface="Arimo"/>
                <a:sym typeface="Arimo"/>
              </a:rPr>
              <a:t> </a:t>
            </a:r>
            <a:r>
              <a:rPr lang="en-US" sz="1937" dirty="0" err="1">
                <a:solidFill>
                  <a:srgbClr val="5B5F71"/>
                </a:solidFill>
                <a:latin typeface="Arimo"/>
                <a:ea typeface="Arimo"/>
                <a:cs typeface="Arimo"/>
                <a:sym typeface="Arimo"/>
              </a:rPr>
              <a:t>los</a:t>
            </a:r>
            <a:r>
              <a:rPr lang="en-US" sz="1937" dirty="0">
                <a:solidFill>
                  <a:srgbClr val="5B5F71"/>
                </a:solidFill>
                <a:latin typeface="Arimo"/>
                <a:ea typeface="Arimo"/>
                <a:cs typeface="Arimo"/>
                <a:sym typeface="Arimo"/>
              </a:rPr>
              <a:t> </a:t>
            </a:r>
            <a:r>
              <a:rPr lang="en-US" sz="1937" dirty="0" err="1">
                <a:solidFill>
                  <a:srgbClr val="5B5F71"/>
                </a:solidFill>
                <a:latin typeface="Arimo"/>
                <a:ea typeface="Arimo"/>
                <a:cs typeface="Arimo"/>
                <a:sym typeface="Arimo"/>
              </a:rPr>
              <a:t>conceptos</a:t>
            </a:r>
            <a:r>
              <a:rPr lang="en-US" sz="1937" dirty="0">
                <a:solidFill>
                  <a:srgbClr val="5B5F71"/>
                </a:solidFill>
                <a:latin typeface="Arimo"/>
                <a:ea typeface="Arimo"/>
                <a:cs typeface="Arimo"/>
                <a:sym typeface="Arimo"/>
              </a:rPr>
              <a:t> </a:t>
            </a:r>
            <a:r>
              <a:rPr lang="en-US" sz="1937" dirty="0" err="1">
                <a:solidFill>
                  <a:srgbClr val="5B5F71"/>
                </a:solidFill>
                <a:latin typeface="Arimo"/>
                <a:ea typeface="Arimo"/>
                <a:cs typeface="Arimo"/>
                <a:sym typeface="Arimo"/>
              </a:rPr>
              <a:t>teóricos</a:t>
            </a:r>
            <a:r>
              <a:rPr lang="en-US" sz="1937" dirty="0">
                <a:solidFill>
                  <a:srgbClr val="5B5F71"/>
                </a:solidFill>
                <a:latin typeface="Arimo"/>
                <a:ea typeface="Arimo"/>
                <a:cs typeface="Arimo"/>
                <a:sym typeface="Arimo"/>
              </a:rPr>
              <a:t> </a:t>
            </a:r>
            <a:r>
              <a:rPr lang="en-US" sz="1937" dirty="0" err="1">
                <a:solidFill>
                  <a:srgbClr val="5B5F71"/>
                </a:solidFill>
                <a:latin typeface="Arimo"/>
                <a:ea typeface="Arimo"/>
                <a:cs typeface="Arimo"/>
                <a:sym typeface="Arimo"/>
              </a:rPr>
              <a:t>estudiados</a:t>
            </a:r>
            <a:r>
              <a:rPr lang="en-US" sz="1937" dirty="0">
                <a:solidFill>
                  <a:srgbClr val="5B5F71"/>
                </a:solidFill>
                <a:latin typeface="Arimo"/>
                <a:ea typeface="Arimo"/>
                <a:cs typeface="Arimo"/>
                <a:sym typeface="Arimo"/>
              </a:rPr>
              <a:t> </a:t>
            </a:r>
            <a:r>
              <a:rPr lang="en-US" sz="1937" dirty="0" err="1">
                <a:solidFill>
                  <a:srgbClr val="5B5F71"/>
                </a:solidFill>
                <a:latin typeface="Arimo"/>
                <a:ea typeface="Arimo"/>
                <a:cs typeface="Arimo"/>
                <a:sym typeface="Arimo"/>
              </a:rPr>
              <a:t>en</a:t>
            </a:r>
            <a:r>
              <a:rPr lang="en-US" sz="1937" dirty="0">
                <a:solidFill>
                  <a:srgbClr val="5B5F71"/>
                </a:solidFill>
                <a:latin typeface="Arimo"/>
                <a:ea typeface="Arimo"/>
                <a:cs typeface="Arimo"/>
                <a:sym typeface="Arimo"/>
              </a:rPr>
              <a:t> </a:t>
            </a:r>
            <a:r>
              <a:rPr lang="en-US" sz="1937" dirty="0" err="1">
                <a:solidFill>
                  <a:srgbClr val="5B5F71"/>
                </a:solidFill>
                <a:latin typeface="Arimo"/>
                <a:ea typeface="Arimo"/>
                <a:cs typeface="Arimo"/>
                <a:sym typeface="Arimo"/>
              </a:rPr>
              <a:t>clase</a:t>
            </a:r>
            <a:r>
              <a:rPr lang="en-US" sz="1937" dirty="0">
                <a:solidFill>
                  <a:srgbClr val="5B5F71"/>
                </a:solidFill>
                <a:latin typeface="Arimo"/>
                <a:ea typeface="Arimo"/>
                <a:cs typeface="Arimo"/>
                <a:sym typeface="Arimo"/>
              </a:rPr>
              <a:t>. A </a:t>
            </a:r>
            <a:r>
              <a:rPr lang="en-US" sz="1937" dirty="0" err="1">
                <a:solidFill>
                  <a:srgbClr val="5B5F71"/>
                </a:solidFill>
                <a:latin typeface="Arimo"/>
                <a:ea typeface="Arimo"/>
                <a:cs typeface="Arimo"/>
                <a:sym typeface="Arimo"/>
              </a:rPr>
              <a:t>través</a:t>
            </a:r>
            <a:r>
              <a:rPr lang="en-US" sz="1937" dirty="0">
                <a:solidFill>
                  <a:srgbClr val="5B5F71"/>
                </a:solidFill>
                <a:latin typeface="Arimo"/>
                <a:ea typeface="Arimo"/>
                <a:cs typeface="Arimo"/>
                <a:sym typeface="Arimo"/>
              </a:rPr>
              <a:t> de </a:t>
            </a:r>
            <a:r>
              <a:rPr lang="en-US" sz="1937" dirty="0" err="1">
                <a:solidFill>
                  <a:srgbClr val="5B5F71"/>
                </a:solidFill>
                <a:latin typeface="Arimo"/>
                <a:ea typeface="Arimo"/>
                <a:cs typeface="Arimo"/>
                <a:sym typeface="Arimo"/>
              </a:rPr>
              <a:t>estos</a:t>
            </a:r>
            <a:r>
              <a:rPr lang="en-US" sz="1937" dirty="0">
                <a:solidFill>
                  <a:srgbClr val="5B5F71"/>
                </a:solidFill>
                <a:latin typeface="Arimo"/>
                <a:ea typeface="Arimo"/>
                <a:cs typeface="Arimo"/>
                <a:sym typeface="Arimo"/>
              </a:rPr>
              <a:t> </a:t>
            </a:r>
            <a:r>
              <a:rPr lang="en-US" sz="1937" dirty="0" err="1">
                <a:solidFill>
                  <a:srgbClr val="5B5F71"/>
                </a:solidFill>
                <a:latin typeface="Arimo"/>
                <a:ea typeface="Arimo"/>
                <a:cs typeface="Arimo"/>
                <a:sym typeface="Arimo"/>
              </a:rPr>
              <a:t>ejercicios</a:t>
            </a:r>
            <a:r>
              <a:rPr lang="en-US" sz="1937" dirty="0">
                <a:solidFill>
                  <a:srgbClr val="5B5F71"/>
                </a:solidFill>
                <a:latin typeface="Arimo"/>
                <a:ea typeface="Arimo"/>
                <a:cs typeface="Arimo"/>
                <a:sym typeface="Arimo"/>
              </a:rPr>
              <a:t> es </a:t>
            </a:r>
            <a:r>
              <a:rPr lang="en-US" sz="1937" dirty="0" err="1">
                <a:solidFill>
                  <a:srgbClr val="5B5F71"/>
                </a:solidFill>
                <a:latin typeface="Arimo"/>
                <a:ea typeface="Arimo"/>
                <a:cs typeface="Arimo"/>
                <a:sym typeface="Arimo"/>
              </a:rPr>
              <a:t>posible</a:t>
            </a:r>
            <a:r>
              <a:rPr lang="en-US" sz="1937" dirty="0">
                <a:solidFill>
                  <a:srgbClr val="5B5F71"/>
                </a:solidFill>
                <a:latin typeface="Arimo"/>
                <a:ea typeface="Arimo"/>
                <a:cs typeface="Arimo"/>
                <a:sym typeface="Arimo"/>
              </a:rPr>
              <a:t> </a:t>
            </a:r>
            <a:r>
              <a:rPr lang="en-US" sz="1937" dirty="0" err="1">
                <a:solidFill>
                  <a:srgbClr val="5B5F71"/>
                </a:solidFill>
                <a:latin typeface="Arimo"/>
                <a:ea typeface="Arimo"/>
                <a:cs typeface="Arimo"/>
                <a:sym typeface="Arimo"/>
              </a:rPr>
              <a:t>observar</a:t>
            </a:r>
            <a:r>
              <a:rPr lang="en-US" sz="1937" dirty="0">
                <a:solidFill>
                  <a:srgbClr val="5B5F71"/>
                </a:solidFill>
                <a:latin typeface="Arimo"/>
                <a:ea typeface="Arimo"/>
                <a:cs typeface="Arimo"/>
                <a:sym typeface="Arimo"/>
              </a:rPr>
              <a:t> </a:t>
            </a:r>
            <a:r>
              <a:rPr lang="en-US" sz="1937" dirty="0" err="1">
                <a:solidFill>
                  <a:srgbClr val="5B5F71"/>
                </a:solidFill>
                <a:latin typeface="Arimo"/>
                <a:ea typeface="Arimo"/>
                <a:cs typeface="Arimo"/>
                <a:sym typeface="Arimo"/>
              </a:rPr>
              <a:t>cómo</a:t>
            </a:r>
            <a:r>
              <a:rPr lang="en-US" sz="1937" dirty="0">
                <a:solidFill>
                  <a:srgbClr val="5B5F71"/>
                </a:solidFill>
                <a:latin typeface="Arimo"/>
                <a:ea typeface="Arimo"/>
                <a:cs typeface="Arimo"/>
                <a:sym typeface="Arimo"/>
              </a:rPr>
              <a:t> </a:t>
            </a:r>
            <a:r>
              <a:rPr lang="en-US" sz="1937" dirty="0" err="1">
                <a:solidFill>
                  <a:srgbClr val="5B5F71"/>
                </a:solidFill>
                <a:latin typeface="Arimo"/>
                <a:ea typeface="Arimo"/>
                <a:cs typeface="Arimo"/>
                <a:sym typeface="Arimo"/>
              </a:rPr>
              <a:t>los</a:t>
            </a:r>
            <a:r>
              <a:rPr lang="en-US" sz="1937" dirty="0">
                <a:solidFill>
                  <a:srgbClr val="5B5F71"/>
                </a:solidFill>
                <a:latin typeface="Arimo"/>
                <a:ea typeface="Arimo"/>
                <a:cs typeface="Arimo"/>
                <a:sym typeface="Arimo"/>
              </a:rPr>
              <a:t> </a:t>
            </a:r>
            <a:r>
              <a:rPr lang="en-US" sz="1937" dirty="0" err="1">
                <a:solidFill>
                  <a:srgbClr val="5B5F71"/>
                </a:solidFill>
                <a:latin typeface="Arimo"/>
                <a:ea typeface="Arimo"/>
                <a:cs typeface="Arimo"/>
                <a:sym typeface="Arimo"/>
              </a:rPr>
              <a:t>modelos</a:t>
            </a:r>
            <a:r>
              <a:rPr lang="en-US" sz="1937" dirty="0">
                <a:solidFill>
                  <a:srgbClr val="5B5F71"/>
                </a:solidFill>
                <a:latin typeface="Arimo"/>
                <a:ea typeface="Arimo"/>
                <a:cs typeface="Arimo"/>
                <a:sym typeface="Arimo"/>
              </a:rPr>
              <a:t> </a:t>
            </a:r>
            <a:r>
              <a:rPr lang="en-US" sz="1937" dirty="0" err="1">
                <a:solidFill>
                  <a:srgbClr val="5B5F71"/>
                </a:solidFill>
                <a:latin typeface="Arimo"/>
                <a:ea typeface="Arimo"/>
                <a:cs typeface="Arimo"/>
                <a:sym typeface="Arimo"/>
              </a:rPr>
              <a:t>matemáticos</a:t>
            </a:r>
            <a:r>
              <a:rPr lang="en-US" sz="1937" dirty="0">
                <a:solidFill>
                  <a:srgbClr val="5B5F71"/>
                </a:solidFill>
                <a:latin typeface="Arimo"/>
                <a:ea typeface="Arimo"/>
                <a:cs typeface="Arimo"/>
                <a:sym typeface="Arimo"/>
              </a:rPr>
              <a:t> se </a:t>
            </a:r>
            <a:r>
              <a:rPr lang="en-US" sz="1937" dirty="0" err="1">
                <a:solidFill>
                  <a:srgbClr val="5B5F71"/>
                </a:solidFill>
                <a:latin typeface="Arimo"/>
                <a:ea typeface="Arimo"/>
                <a:cs typeface="Arimo"/>
                <a:sym typeface="Arimo"/>
              </a:rPr>
              <a:t>representan</a:t>
            </a:r>
            <a:r>
              <a:rPr lang="en-US" sz="1937" dirty="0">
                <a:solidFill>
                  <a:srgbClr val="5B5F71"/>
                </a:solidFill>
                <a:latin typeface="Arimo"/>
                <a:ea typeface="Arimo"/>
                <a:cs typeface="Arimo"/>
                <a:sym typeface="Arimo"/>
              </a:rPr>
              <a:t> </a:t>
            </a:r>
            <a:r>
              <a:rPr lang="en-US" sz="1937" dirty="0" err="1">
                <a:solidFill>
                  <a:srgbClr val="5B5F71"/>
                </a:solidFill>
                <a:latin typeface="Arimo"/>
                <a:ea typeface="Arimo"/>
                <a:cs typeface="Arimo"/>
                <a:sym typeface="Arimo"/>
              </a:rPr>
              <a:t>mediante</a:t>
            </a:r>
            <a:r>
              <a:rPr lang="en-US" sz="1937" dirty="0">
                <a:solidFill>
                  <a:srgbClr val="5B5F71"/>
                </a:solidFill>
                <a:latin typeface="Arimo"/>
                <a:ea typeface="Arimo"/>
                <a:cs typeface="Arimo"/>
                <a:sym typeface="Arimo"/>
              </a:rPr>
              <a:t> </a:t>
            </a:r>
            <a:r>
              <a:rPr lang="en-US" sz="1937" dirty="0" err="1">
                <a:solidFill>
                  <a:srgbClr val="5B5F71"/>
                </a:solidFill>
                <a:latin typeface="Arimo"/>
                <a:ea typeface="Arimo"/>
                <a:cs typeface="Arimo"/>
                <a:sym typeface="Arimo"/>
              </a:rPr>
              <a:t>estados</a:t>
            </a:r>
            <a:r>
              <a:rPr lang="en-US" sz="1937" dirty="0">
                <a:solidFill>
                  <a:srgbClr val="5B5F71"/>
                </a:solidFill>
                <a:latin typeface="Arimo"/>
                <a:ea typeface="Arimo"/>
                <a:cs typeface="Arimo"/>
                <a:sym typeface="Arimo"/>
              </a:rPr>
              <a:t> y </a:t>
            </a:r>
            <a:r>
              <a:rPr lang="en-US" sz="1937" dirty="0" err="1">
                <a:solidFill>
                  <a:srgbClr val="5B5F71"/>
                </a:solidFill>
                <a:latin typeface="Arimo"/>
                <a:ea typeface="Arimo"/>
                <a:cs typeface="Arimo"/>
                <a:sym typeface="Arimo"/>
              </a:rPr>
              <a:t>transiciones</a:t>
            </a:r>
            <a:r>
              <a:rPr lang="en-US" sz="1937" dirty="0">
                <a:solidFill>
                  <a:srgbClr val="5B5F71"/>
                </a:solidFill>
                <a:latin typeface="Arimo"/>
                <a:ea typeface="Arimo"/>
                <a:cs typeface="Arimo"/>
                <a:sym typeface="Arimo"/>
              </a:rPr>
              <a:t>, lo que </a:t>
            </a:r>
            <a:r>
              <a:rPr lang="en-US" sz="1937" dirty="0" err="1">
                <a:solidFill>
                  <a:srgbClr val="5B5F71"/>
                </a:solidFill>
                <a:latin typeface="Arimo"/>
                <a:ea typeface="Arimo"/>
                <a:cs typeface="Arimo"/>
                <a:sym typeface="Arimo"/>
              </a:rPr>
              <a:t>facilita</a:t>
            </a:r>
            <a:r>
              <a:rPr lang="en-US" sz="1937" dirty="0">
                <a:solidFill>
                  <a:srgbClr val="5B5F71"/>
                </a:solidFill>
                <a:latin typeface="Arimo"/>
                <a:ea typeface="Arimo"/>
                <a:cs typeface="Arimo"/>
                <a:sym typeface="Arimo"/>
              </a:rPr>
              <a:t> </a:t>
            </a:r>
            <a:r>
              <a:rPr lang="en-US" sz="1937" dirty="0" err="1">
                <a:solidFill>
                  <a:srgbClr val="5B5F71"/>
                </a:solidFill>
                <a:latin typeface="Arimo"/>
                <a:ea typeface="Arimo"/>
                <a:cs typeface="Arimo"/>
                <a:sym typeface="Arimo"/>
              </a:rPr>
              <a:t>comprender</a:t>
            </a:r>
            <a:r>
              <a:rPr lang="en-US" sz="1937" dirty="0">
                <a:solidFill>
                  <a:srgbClr val="5B5F71"/>
                </a:solidFill>
                <a:latin typeface="Arimo"/>
                <a:ea typeface="Arimo"/>
                <a:cs typeface="Arimo"/>
                <a:sym typeface="Arimo"/>
              </a:rPr>
              <a:t> </a:t>
            </a:r>
            <a:r>
              <a:rPr lang="en-US" sz="1937" dirty="0" err="1">
                <a:solidFill>
                  <a:srgbClr val="5B5F71"/>
                </a:solidFill>
                <a:latin typeface="Arimo"/>
                <a:ea typeface="Arimo"/>
                <a:cs typeface="Arimo"/>
                <a:sym typeface="Arimo"/>
              </a:rPr>
              <a:t>mejor</a:t>
            </a:r>
            <a:r>
              <a:rPr lang="en-US" sz="1937" dirty="0">
                <a:solidFill>
                  <a:srgbClr val="5B5F71"/>
                </a:solidFill>
                <a:latin typeface="Arimo"/>
                <a:ea typeface="Arimo"/>
                <a:cs typeface="Arimo"/>
                <a:sym typeface="Arimo"/>
              </a:rPr>
              <a:t> </a:t>
            </a:r>
            <a:r>
              <a:rPr lang="en-US" sz="1937" dirty="0" err="1">
                <a:solidFill>
                  <a:srgbClr val="5B5F71"/>
                </a:solidFill>
                <a:latin typeface="Arimo"/>
                <a:ea typeface="Arimo"/>
                <a:cs typeface="Arimo"/>
                <a:sym typeface="Arimo"/>
              </a:rPr>
              <a:t>el</a:t>
            </a:r>
            <a:r>
              <a:rPr lang="en-US" sz="1937" dirty="0">
                <a:solidFill>
                  <a:srgbClr val="5B5F71"/>
                </a:solidFill>
                <a:latin typeface="Arimo"/>
                <a:ea typeface="Arimo"/>
                <a:cs typeface="Arimo"/>
                <a:sym typeface="Arimo"/>
              </a:rPr>
              <a:t> </a:t>
            </a:r>
            <a:r>
              <a:rPr lang="en-US" sz="1937" dirty="0" err="1">
                <a:solidFill>
                  <a:srgbClr val="5B5F71"/>
                </a:solidFill>
                <a:latin typeface="Arimo"/>
                <a:ea typeface="Arimo"/>
                <a:cs typeface="Arimo"/>
                <a:sym typeface="Arimo"/>
              </a:rPr>
              <a:t>funcionamiento</a:t>
            </a:r>
            <a:r>
              <a:rPr lang="en-US" sz="1937" dirty="0">
                <a:solidFill>
                  <a:srgbClr val="5B5F71"/>
                </a:solidFill>
                <a:latin typeface="Arimo"/>
                <a:ea typeface="Arimo"/>
                <a:cs typeface="Arimo"/>
                <a:sym typeface="Arimo"/>
              </a:rPr>
              <a:t> de </a:t>
            </a:r>
            <a:r>
              <a:rPr lang="en-US" sz="1937" dirty="0" err="1">
                <a:solidFill>
                  <a:srgbClr val="5B5F71"/>
                </a:solidFill>
                <a:latin typeface="Arimo"/>
                <a:ea typeface="Arimo"/>
                <a:cs typeface="Arimo"/>
                <a:sym typeface="Arimo"/>
              </a:rPr>
              <a:t>los</a:t>
            </a:r>
            <a:r>
              <a:rPr lang="en-US" sz="1937" dirty="0">
                <a:solidFill>
                  <a:srgbClr val="5B5F71"/>
                </a:solidFill>
                <a:latin typeface="Arimo"/>
                <a:ea typeface="Arimo"/>
                <a:cs typeface="Arimo"/>
                <a:sym typeface="Arimo"/>
              </a:rPr>
              <a:t> </a:t>
            </a:r>
            <a:r>
              <a:rPr lang="en-US" sz="1937" dirty="0" err="1">
                <a:solidFill>
                  <a:srgbClr val="5B5F71"/>
                </a:solidFill>
                <a:latin typeface="Arimo"/>
                <a:ea typeface="Arimo"/>
                <a:cs typeface="Arimo"/>
                <a:sym typeface="Arimo"/>
              </a:rPr>
              <a:t>lenguajes</a:t>
            </a:r>
            <a:r>
              <a:rPr lang="en-US" sz="1937" dirty="0">
                <a:solidFill>
                  <a:srgbClr val="5B5F71"/>
                </a:solidFill>
                <a:latin typeface="Arimo"/>
                <a:ea typeface="Arimo"/>
                <a:cs typeface="Arimo"/>
                <a:sym typeface="Arimo"/>
              </a:rPr>
              <a:t> </a:t>
            </a:r>
            <a:r>
              <a:rPr lang="en-US" sz="1937" dirty="0" err="1">
                <a:solidFill>
                  <a:srgbClr val="5B5F71"/>
                </a:solidFill>
                <a:latin typeface="Arimo"/>
                <a:ea typeface="Arimo"/>
                <a:cs typeface="Arimo"/>
                <a:sym typeface="Arimo"/>
              </a:rPr>
              <a:t>formales</a:t>
            </a:r>
            <a:r>
              <a:rPr lang="en-US" sz="1937" dirty="0">
                <a:solidFill>
                  <a:srgbClr val="5B5F71"/>
                </a:solidFill>
                <a:latin typeface="Arimo"/>
                <a:ea typeface="Arimo"/>
                <a:cs typeface="Arimo"/>
                <a:sym typeface="Arimo"/>
              </a:rPr>
              <a:t>.</a:t>
            </a:r>
          </a:p>
        </p:txBody>
      </p:sp>
      <p:grpSp>
        <p:nvGrpSpPr>
          <p:cNvPr id="14" name="Group 14"/>
          <p:cNvGrpSpPr/>
          <p:nvPr/>
        </p:nvGrpSpPr>
        <p:grpSpPr>
          <a:xfrm>
            <a:off x="6560048" y="2285552"/>
            <a:ext cx="5297834" cy="5078168"/>
            <a:chOff x="0" y="0"/>
            <a:chExt cx="7063778" cy="6770891"/>
          </a:xfrm>
        </p:grpSpPr>
        <p:sp>
          <p:nvSpPr>
            <p:cNvPr id="15" name="Freeform 15"/>
            <p:cNvSpPr/>
            <p:nvPr/>
          </p:nvSpPr>
          <p:spPr>
            <a:xfrm>
              <a:off x="19050" y="19050"/>
              <a:ext cx="7025640" cy="6732778"/>
            </a:xfrm>
            <a:custGeom>
              <a:avLst/>
              <a:gdLst/>
              <a:ahLst/>
              <a:cxnLst/>
              <a:rect l="l" t="t" r="r" b="b"/>
              <a:pathLst>
                <a:path w="7025640" h="6732778">
                  <a:moveTo>
                    <a:pt x="0" y="182880"/>
                  </a:moveTo>
                  <a:cubicBezTo>
                    <a:pt x="0" y="81915"/>
                    <a:pt x="81915" y="0"/>
                    <a:pt x="182880" y="0"/>
                  </a:cubicBezTo>
                  <a:lnTo>
                    <a:pt x="6842760" y="0"/>
                  </a:lnTo>
                  <a:cubicBezTo>
                    <a:pt x="6943725" y="0"/>
                    <a:pt x="7025640" y="81915"/>
                    <a:pt x="7025640" y="182880"/>
                  </a:cubicBezTo>
                  <a:lnTo>
                    <a:pt x="7025640" y="6549898"/>
                  </a:lnTo>
                  <a:cubicBezTo>
                    <a:pt x="7025640" y="6650863"/>
                    <a:pt x="6943725" y="6732778"/>
                    <a:pt x="6842760" y="6732778"/>
                  </a:cubicBezTo>
                  <a:lnTo>
                    <a:pt x="182880" y="6732778"/>
                  </a:lnTo>
                  <a:cubicBezTo>
                    <a:pt x="81915" y="6732778"/>
                    <a:pt x="0" y="6650863"/>
                    <a:pt x="0" y="6549898"/>
                  </a:cubicBezTo>
                  <a:close/>
                </a:path>
              </a:pathLst>
            </a:custGeom>
            <a:solidFill>
              <a:srgbClr val="FFFFFF">
                <a:alpha val="90196"/>
              </a:srgbClr>
            </a:solidFill>
          </p:spPr>
        </p:sp>
        <p:sp>
          <p:nvSpPr>
            <p:cNvPr id="16" name="Freeform 16"/>
            <p:cNvSpPr/>
            <p:nvPr/>
          </p:nvSpPr>
          <p:spPr>
            <a:xfrm>
              <a:off x="0" y="0"/>
              <a:ext cx="7063740" cy="6770878"/>
            </a:xfrm>
            <a:custGeom>
              <a:avLst/>
              <a:gdLst/>
              <a:ahLst/>
              <a:cxnLst/>
              <a:rect l="l" t="t" r="r" b="b"/>
              <a:pathLst>
                <a:path w="7063740" h="6770878">
                  <a:moveTo>
                    <a:pt x="0" y="201930"/>
                  </a:moveTo>
                  <a:cubicBezTo>
                    <a:pt x="0" y="90424"/>
                    <a:pt x="90424" y="0"/>
                    <a:pt x="201930" y="0"/>
                  </a:cubicBezTo>
                  <a:lnTo>
                    <a:pt x="6861810" y="0"/>
                  </a:lnTo>
                  <a:lnTo>
                    <a:pt x="6861810" y="19050"/>
                  </a:lnTo>
                  <a:lnTo>
                    <a:pt x="6861810" y="0"/>
                  </a:lnTo>
                  <a:cubicBezTo>
                    <a:pt x="6973316" y="0"/>
                    <a:pt x="7063740" y="90424"/>
                    <a:pt x="7063740" y="201930"/>
                  </a:cubicBezTo>
                  <a:lnTo>
                    <a:pt x="7044690" y="201930"/>
                  </a:lnTo>
                  <a:lnTo>
                    <a:pt x="7063740" y="201930"/>
                  </a:lnTo>
                  <a:lnTo>
                    <a:pt x="7063740" y="6568948"/>
                  </a:lnTo>
                  <a:lnTo>
                    <a:pt x="7044690" y="6568948"/>
                  </a:lnTo>
                  <a:lnTo>
                    <a:pt x="7063740" y="6568948"/>
                  </a:lnTo>
                  <a:cubicBezTo>
                    <a:pt x="7063740" y="6680454"/>
                    <a:pt x="6973316" y="6770878"/>
                    <a:pt x="6861810" y="6770878"/>
                  </a:cubicBezTo>
                  <a:lnTo>
                    <a:pt x="6861810" y="6751828"/>
                  </a:lnTo>
                  <a:lnTo>
                    <a:pt x="6861810" y="6770878"/>
                  </a:lnTo>
                  <a:lnTo>
                    <a:pt x="201930" y="6770878"/>
                  </a:lnTo>
                  <a:lnTo>
                    <a:pt x="201930" y="6751828"/>
                  </a:lnTo>
                  <a:lnTo>
                    <a:pt x="201930" y="6770878"/>
                  </a:lnTo>
                  <a:cubicBezTo>
                    <a:pt x="90424" y="6770878"/>
                    <a:pt x="0" y="6680454"/>
                    <a:pt x="0" y="6568948"/>
                  </a:cubicBezTo>
                  <a:lnTo>
                    <a:pt x="0" y="201930"/>
                  </a:lnTo>
                  <a:lnTo>
                    <a:pt x="19050" y="201930"/>
                  </a:lnTo>
                  <a:lnTo>
                    <a:pt x="0" y="201930"/>
                  </a:lnTo>
                  <a:moveTo>
                    <a:pt x="38100" y="201930"/>
                  </a:moveTo>
                  <a:lnTo>
                    <a:pt x="38100" y="6568948"/>
                  </a:lnTo>
                  <a:lnTo>
                    <a:pt x="19050" y="6568948"/>
                  </a:lnTo>
                  <a:lnTo>
                    <a:pt x="38100" y="6568948"/>
                  </a:lnTo>
                  <a:cubicBezTo>
                    <a:pt x="38100" y="6659372"/>
                    <a:pt x="111506" y="6732778"/>
                    <a:pt x="201930" y="6732778"/>
                  </a:cubicBezTo>
                  <a:lnTo>
                    <a:pt x="6861810" y="6732778"/>
                  </a:lnTo>
                  <a:cubicBezTo>
                    <a:pt x="6952361" y="6732778"/>
                    <a:pt x="7025640" y="6659372"/>
                    <a:pt x="7025640" y="6568948"/>
                  </a:cubicBezTo>
                  <a:lnTo>
                    <a:pt x="7025640" y="201930"/>
                  </a:lnTo>
                  <a:cubicBezTo>
                    <a:pt x="7025640" y="111506"/>
                    <a:pt x="6952234" y="38100"/>
                    <a:pt x="6861810" y="38100"/>
                  </a:cubicBezTo>
                  <a:lnTo>
                    <a:pt x="201930" y="38100"/>
                  </a:lnTo>
                  <a:lnTo>
                    <a:pt x="201930" y="19050"/>
                  </a:lnTo>
                  <a:lnTo>
                    <a:pt x="201930" y="38100"/>
                  </a:lnTo>
                  <a:cubicBezTo>
                    <a:pt x="111506" y="38100"/>
                    <a:pt x="38100" y="111506"/>
                    <a:pt x="38100" y="201930"/>
                  </a:cubicBezTo>
                  <a:close/>
                </a:path>
              </a:pathLst>
            </a:custGeom>
            <a:solidFill>
              <a:srgbClr val="C8C9CF"/>
            </a:solidFill>
          </p:spPr>
        </p:sp>
      </p:grpSp>
      <p:grpSp>
        <p:nvGrpSpPr>
          <p:cNvPr id="17" name="Group 17"/>
          <p:cNvGrpSpPr/>
          <p:nvPr/>
        </p:nvGrpSpPr>
        <p:grpSpPr>
          <a:xfrm>
            <a:off x="6545761" y="2299840"/>
            <a:ext cx="114300" cy="5049593"/>
            <a:chOff x="0" y="0"/>
            <a:chExt cx="152400" cy="6732791"/>
          </a:xfrm>
        </p:grpSpPr>
        <p:sp>
          <p:nvSpPr>
            <p:cNvPr id="18" name="Freeform 18" descr="preencoded.png"/>
            <p:cNvSpPr/>
            <p:nvPr/>
          </p:nvSpPr>
          <p:spPr>
            <a:xfrm>
              <a:off x="0" y="0"/>
              <a:ext cx="152400" cy="6732778"/>
            </a:xfrm>
            <a:custGeom>
              <a:avLst/>
              <a:gdLst/>
              <a:ahLst/>
              <a:cxnLst/>
              <a:rect l="l" t="t" r="r" b="b"/>
              <a:pathLst>
                <a:path w="152400" h="6732778">
                  <a:moveTo>
                    <a:pt x="0" y="0"/>
                  </a:moveTo>
                  <a:lnTo>
                    <a:pt x="152400" y="0"/>
                  </a:lnTo>
                  <a:lnTo>
                    <a:pt x="152400" y="6732778"/>
                  </a:lnTo>
                  <a:lnTo>
                    <a:pt x="0" y="6732778"/>
                  </a:lnTo>
                  <a:lnTo>
                    <a:pt x="0" y="0"/>
                  </a:lnTo>
                  <a:close/>
                </a:path>
              </a:pathLst>
            </a:custGeom>
            <a:blipFill>
              <a:blip r:embed="rId4"/>
              <a:stretch>
                <a:fillRect l="-16" r="-8"/>
              </a:stretch>
            </a:blipFill>
          </p:spPr>
        </p:sp>
      </p:grpSp>
      <p:sp>
        <p:nvSpPr>
          <p:cNvPr id="19" name="TextBox 19"/>
          <p:cNvSpPr txBox="1"/>
          <p:nvPr/>
        </p:nvSpPr>
        <p:spPr>
          <a:xfrm>
            <a:off x="6936581" y="2566845"/>
            <a:ext cx="4630493" cy="784917"/>
          </a:xfrm>
          <a:prstGeom prst="rect">
            <a:avLst/>
          </a:prstGeom>
        </p:spPr>
        <p:txBody>
          <a:bodyPr lIns="0" tIns="0" rIns="0" bIns="0" rtlCol="0" anchor="t">
            <a:spAutoFit/>
          </a:bodyPr>
          <a:lstStyle/>
          <a:p>
            <a:pPr algn="l">
              <a:lnSpc>
                <a:spcPts val="2999"/>
              </a:lnSpc>
            </a:pPr>
            <a:r>
              <a:rPr lang="en-US" sz="2437" b="1">
                <a:solidFill>
                  <a:srgbClr val="5B5F71"/>
                </a:solidFill>
                <a:latin typeface="Arimo Bold"/>
                <a:ea typeface="Arimo Bold"/>
                <a:cs typeface="Arimo Bold"/>
                <a:sym typeface="Arimo Bold"/>
              </a:rPr>
              <a:t>Desarrollo de habilidades de análisis</a:t>
            </a:r>
          </a:p>
        </p:txBody>
      </p:sp>
      <p:sp>
        <p:nvSpPr>
          <p:cNvPr id="20" name="TextBox 20"/>
          <p:cNvSpPr txBox="1"/>
          <p:nvPr/>
        </p:nvSpPr>
        <p:spPr>
          <a:xfrm>
            <a:off x="6936581" y="3405340"/>
            <a:ext cx="4630493" cy="3508375"/>
          </a:xfrm>
          <a:prstGeom prst="rect">
            <a:avLst/>
          </a:prstGeom>
        </p:spPr>
        <p:txBody>
          <a:bodyPr lIns="0" tIns="0" rIns="0" bIns="0" rtlCol="0" anchor="t">
            <a:spAutoFit/>
          </a:bodyPr>
          <a:lstStyle/>
          <a:p>
            <a:pPr algn="just">
              <a:lnSpc>
                <a:spcPts val="3125"/>
              </a:lnSpc>
            </a:pPr>
            <a:r>
              <a:rPr lang="en-US" sz="1937">
                <a:solidFill>
                  <a:srgbClr val="5B5F71"/>
                </a:solidFill>
                <a:latin typeface="Arimo"/>
                <a:ea typeface="Arimo"/>
                <a:cs typeface="Arimo"/>
                <a:sym typeface="Arimo"/>
              </a:rPr>
              <a:t>El uso de herramientas como JFLAP permite experimentar con diferentes configuraciones de autómatas y analizar cómo se comportan al procesar cadenas de entrada. Esto ayuda a desarrollar habilidades de análisis y fortalece la comprensión de temas fundamentales dentro del área de la teoría de la computación.</a:t>
            </a:r>
          </a:p>
        </p:txBody>
      </p:sp>
      <p:grpSp>
        <p:nvGrpSpPr>
          <p:cNvPr id="21" name="Group 21"/>
          <p:cNvGrpSpPr/>
          <p:nvPr/>
        </p:nvGrpSpPr>
        <p:grpSpPr>
          <a:xfrm>
            <a:off x="12077252" y="2285552"/>
            <a:ext cx="5297691" cy="5078168"/>
            <a:chOff x="0" y="0"/>
            <a:chExt cx="7063588" cy="6770891"/>
          </a:xfrm>
        </p:grpSpPr>
        <p:sp>
          <p:nvSpPr>
            <p:cNvPr id="22" name="Freeform 22"/>
            <p:cNvSpPr/>
            <p:nvPr/>
          </p:nvSpPr>
          <p:spPr>
            <a:xfrm>
              <a:off x="19050" y="19050"/>
              <a:ext cx="7025513" cy="6732778"/>
            </a:xfrm>
            <a:custGeom>
              <a:avLst/>
              <a:gdLst/>
              <a:ahLst/>
              <a:cxnLst/>
              <a:rect l="l" t="t" r="r" b="b"/>
              <a:pathLst>
                <a:path w="7025513" h="6732778">
                  <a:moveTo>
                    <a:pt x="0" y="182880"/>
                  </a:moveTo>
                  <a:cubicBezTo>
                    <a:pt x="0" y="81915"/>
                    <a:pt x="81915" y="0"/>
                    <a:pt x="182880" y="0"/>
                  </a:cubicBezTo>
                  <a:lnTo>
                    <a:pt x="6842633" y="0"/>
                  </a:lnTo>
                  <a:cubicBezTo>
                    <a:pt x="6943598" y="0"/>
                    <a:pt x="7025513" y="81915"/>
                    <a:pt x="7025513" y="182880"/>
                  </a:cubicBezTo>
                  <a:lnTo>
                    <a:pt x="7025513" y="6549898"/>
                  </a:lnTo>
                  <a:cubicBezTo>
                    <a:pt x="7025513" y="6650863"/>
                    <a:pt x="6943598" y="6732778"/>
                    <a:pt x="6842633" y="6732778"/>
                  </a:cubicBezTo>
                  <a:lnTo>
                    <a:pt x="182880" y="6732778"/>
                  </a:lnTo>
                  <a:cubicBezTo>
                    <a:pt x="81915" y="6732778"/>
                    <a:pt x="0" y="6650863"/>
                    <a:pt x="0" y="6549898"/>
                  </a:cubicBezTo>
                  <a:close/>
                </a:path>
              </a:pathLst>
            </a:custGeom>
            <a:solidFill>
              <a:srgbClr val="FFFFFF">
                <a:alpha val="90196"/>
              </a:srgbClr>
            </a:solidFill>
          </p:spPr>
        </p:sp>
        <p:sp>
          <p:nvSpPr>
            <p:cNvPr id="23" name="Freeform 23"/>
            <p:cNvSpPr/>
            <p:nvPr/>
          </p:nvSpPr>
          <p:spPr>
            <a:xfrm>
              <a:off x="0" y="0"/>
              <a:ext cx="7063613" cy="6770878"/>
            </a:xfrm>
            <a:custGeom>
              <a:avLst/>
              <a:gdLst/>
              <a:ahLst/>
              <a:cxnLst/>
              <a:rect l="l" t="t" r="r" b="b"/>
              <a:pathLst>
                <a:path w="7063613" h="6770878">
                  <a:moveTo>
                    <a:pt x="0" y="201930"/>
                  </a:moveTo>
                  <a:cubicBezTo>
                    <a:pt x="0" y="90424"/>
                    <a:pt x="90424" y="0"/>
                    <a:pt x="201930" y="0"/>
                  </a:cubicBezTo>
                  <a:lnTo>
                    <a:pt x="6861683" y="0"/>
                  </a:lnTo>
                  <a:lnTo>
                    <a:pt x="6861683" y="19050"/>
                  </a:lnTo>
                  <a:lnTo>
                    <a:pt x="6861683" y="0"/>
                  </a:lnTo>
                  <a:cubicBezTo>
                    <a:pt x="6973189" y="0"/>
                    <a:pt x="7063613" y="90424"/>
                    <a:pt x="7063613" y="201930"/>
                  </a:cubicBezTo>
                  <a:lnTo>
                    <a:pt x="7044563" y="201930"/>
                  </a:lnTo>
                  <a:lnTo>
                    <a:pt x="7063613" y="201930"/>
                  </a:lnTo>
                  <a:lnTo>
                    <a:pt x="7063613" y="6568948"/>
                  </a:lnTo>
                  <a:lnTo>
                    <a:pt x="7044563" y="6568948"/>
                  </a:lnTo>
                  <a:lnTo>
                    <a:pt x="7063613" y="6568948"/>
                  </a:lnTo>
                  <a:cubicBezTo>
                    <a:pt x="7063613" y="6680454"/>
                    <a:pt x="6973189" y="6770878"/>
                    <a:pt x="6861683" y="6770878"/>
                  </a:cubicBezTo>
                  <a:lnTo>
                    <a:pt x="6861683" y="6751828"/>
                  </a:lnTo>
                  <a:lnTo>
                    <a:pt x="6861683" y="6770878"/>
                  </a:lnTo>
                  <a:lnTo>
                    <a:pt x="201930" y="6770878"/>
                  </a:lnTo>
                  <a:lnTo>
                    <a:pt x="201930" y="6751828"/>
                  </a:lnTo>
                  <a:lnTo>
                    <a:pt x="201930" y="6770878"/>
                  </a:lnTo>
                  <a:cubicBezTo>
                    <a:pt x="90424" y="6770878"/>
                    <a:pt x="0" y="6680454"/>
                    <a:pt x="0" y="6568948"/>
                  </a:cubicBezTo>
                  <a:lnTo>
                    <a:pt x="0" y="201930"/>
                  </a:lnTo>
                  <a:lnTo>
                    <a:pt x="19050" y="201930"/>
                  </a:lnTo>
                  <a:lnTo>
                    <a:pt x="0" y="201930"/>
                  </a:lnTo>
                  <a:moveTo>
                    <a:pt x="38100" y="201930"/>
                  </a:moveTo>
                  <a:lnTo>
                    <a:pt x="38100" y="6568948"/>
                  </a:lnTo>
                  <a:lnTo>
                    <a:pt x="19050" y="6568948"/>
                  </a:lnTo>
                  <a:lnTo>
                    <a:pt x="38100" y="6568948"/>
                  </a:lnTo>
                  <a:cubicBezTo>
                    <a:pt x="38100" y="6659372"/>
                    <a:pt x="111506" y="6732778"/>
                    <a:pt x="201930" y="6732778"/>
                  </a:cubicBezTo>
                  <a:lnTo>
                    <a:pt x="6861683" y="6732778"/>
                  </a:lnTo>
                  <a:cubicBezTo>
                    <a:pt x="6952234" y="6732778"/>
                    <a:pt x="7025513" y="6659372"/>
                    <a:pt x="7025513" y="6568948"/>
                  </a:cubicBezTo>
                  <a:lnTo>
                    <a:pt x="7025513" y="201930"/>
                  </a:lnTo>
                  <a:cubicBezTo>
                    <a:pt x="7025513" y="111506"/>
                    <a:pt x="6952107" y="38100"/>
                    <a:pt x="6861683" y="38100"/>
                  </a:cubicBezTo>
                  <a:lnTo>
                    <a:pt x="201930" y="38100"/>
                  </a:lnTo>
                  <a:lnTo>
                    <a:pt x="201930" y="19050"/>
                  </a:lnTo>
                  <a:lnTo>
                    <a:pt x="201930" y="38100"/>
                  </a:lnTo>
                  <a:cubicBezTo>
                    <a:pt x="111506" y="38100"/>
                    <a:pt x="38100" y="111506"/>
                    <a:pt x="38100" y="201930"/>
                  </a:cubicBezTo>
                  <a:close/>
                </a:path>
              </a:pathLst>
            </a:custGeom>
            <a:solidFill>
              <a:srgbClr val="C8C9CF"/>
            </a:solidFill>
          </p:spPr>
        </p:sp>
      </p:grpSp>
      <p:grpSp>
        <p:nvGrpSpPr>
          <p:cNvPr id="24" name="Group 24"/>
          <p:cNvGrpSpPr/>
          <p:nvPr/>
        </p:nvGrpSpPr>
        <p:grpSpPr>
          <a:xfrm>
            <a:off x="12062965" y="2299840"/>
            <a:ext cx="114300" cy="5049593"/>
            <a:chOff x="0" y="0"/>
            <a:chExt cx="152400" cy="6732791"/>
          </a:xfrm>
        </p:grpSpPr>
        <p:sp>
          <p:nvSpPr>
            <p:cNvPr id="25" name="Freeform 25" descr="preencoded.png"/>
            <p:cNvSpPr/>
            <p:nvPr/>
          </p:nvSpPr>
          <p:spPr>
            <a:xfrm>
              <a:off x="0" y="0"/>
              <a:ext cx="152400" cy="6732778"/>
            </a:xfrm>
            <a:custGeom>
              <a:avLst/>
              <a:gdLst/>
              <a:ahLst/>
              <a:cxnLst/>
              <a:rect l="l" t="t" r="r" b="b"/>
              <a:pathLst>
                <a:path w="152400" h="6732778">
                  <a:moveTo>
                    <a:pt x="0" y="0"/>
                  </a:moveTo>
                  <a:lnTo>
                    <a:pt x="152400" y="0"/>
                  </a:lnTo>
                  <a:lnTo>
                    <a:pt x="152400" y="6732778"/>
                  </a:lnTo>
                  <a:lnTo>
                    <a:pt x="0" y="6732778"/>
                  </a:lnTo>
                  <a:lnTo>
                    <a:pt x="0" y="0"/>
                  </a:lnTo>
                  <a:close/>
                </a:path>
              </a:pathLst>
            </a:custGeom>
            <a:blipFill>
              <a:blip r:embed="rId4"/>
              <a:stretch>
                <a:fillRect l="-16" r="-8"/>
              </a:stretch>
            </a:blipFill>
          </p:spPr>
        </p:sp>
      </p:grpSp>
      <p:sp>
        <p:nvSpPr>
          <p:cNvPr id="26" name="TextBox 26"/>
          <p:cNvSpPr txBox="1"/>
          <p:nvPr/>
        </p:nvSpPr>
        <p:spPr>
          <a:xfrm>
            <a:off x="12453785" y="2566845"/>
            <a:ext cx="4630341" cy="784917"/>
          </a:xfrm>
          <a:prstGeom prst="rect">
            <a:avLst/>
          </a:prstGeom>
        </p:spPr>
        <p:txBody>
          <a:bodyPr lIns="0" tIns="0" rIns="0" bIns="0" rtlCol="0" anchor="t">
            <a:spAutoFit/>
          </a:bodyPr>
          <a:lstStyle/>
          <a:p>
            <a:pPr algn="l">
              <a:lnSpc>
                <a:spcPts val="2999"/>
              </a:lnSpc>
            </a:pPr>
            <a:r>
              <a:rPr lang="en-US" sz="2437" b="1">
                <a:solidFill>
                  <a:srgbClr val="5B5F71"/>
                </a:solidFill>
                <a:latin typeface="Arimo Bold"/>
                <a:ea typeface="Arimo Bold"/>
                <a:cs typeface="Arimo Bold"/>
                <a:sym typeface="Arimo Bold"/>
              </a:rPr>
              <a:t>Comprensión visual del funcionamiento</a:t>
            </a:r>
          </a:p>
        </p:txBody>
      </p:sp>
      <p:sp>
        <p:nvSpPr>
          <p:cNvPr id="27" name="TextBox 27"/>
          <p:cNvSpPr txBox="1"/>
          <p:nvPr/>
        </p:nvSpPr>
        <p:spPr>
          <a:xfrm>
            <a:off x="12453785" y="3405340"/>
            <a:ext cx="4630341" cy="2336800"/>
          </a:xfrm>
          <a:prstGeom prst="rect">
            <a:avLst/>
          </a:prstGeom>
        </p:spPr>
        <p:txBody>
          <a:bodyPr lIns="0" tIns="0" rIns="0" bIns="0" rtlCol="0" anchor="t">
            <a:spAutoFit/>
          </a:bodyPr>
          <a:lstStyle/>
          <a:p>
            <a:pPr algn="just">
              <a:lnSpc>
                <a:spcPts val="3125"/>
              </a:lnSpc>
            </a:pPr>
            <a:r>
              <a:rPr lang="en-US" sz="1937">
                <a:solidFill>
                  <a:srgbClr val="5B5F71"/>
                </a:solidFill>
                <a:latin typeface="Arimo"/>
                <a:ea typeface="Arimo"/>
                <a:cs typeface="Arimo"/>
                <a:sym typeface="Arimo"/>
              </a:rPr>
              <a:t>La representación gráfica mediante estados y transiciones facilita la visualización del proceso de reconocimiento de cadenas, permitiendo identificar patrones de comportamiento y errores en la construcción del autómata.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sp>
        <p:nvSpPr>
          <p:cNvPr id="6" name="Freeform 6"/>
          <p:cNvSpPr/>
          <p:nvPr/>
        </p:nvSpPr>
        <p:spPr>
          <a:xfrm>
            <a:off x="1030501" y="3449231"/>
            <a:ext cx="9305404" cy="5734455"/>
          </a:xfrm>
          <a:custGeom>
            <a:avLst/>
            <a:gdLst/>
            <a:ahLst/>
            <a:cxnLst/>
            <a:rect l="l" t="t" r="r" b="b"/>
            <a:pathLst>
              <a:path w="9305404" h="5734455">
                <a:moveTo>
                  <a:pt x="0" y="0"/>
                </a:moveTo>
                <a:lnTo>
                  <a:pt x="9305404" y="0"/>
                </a:lnTo>
                <a:lnTo>
                  <a:pt x="9305404" y="5734455"/>
                </a:lnTo>
                <a:lnTo>
                  <a:pt x="0" y="5734455"/>
                </a:lnTo>
                <a:lnTo>
                  <a:pt x="0" y="0"/>
                </a:lnTo>
                <a:close/>
              </a:path>
            </a:pathLst>
          </a:custGeom>
          <a:blipFill>
            <a:blip r:embed="rId4"/>
            <a:stretch>
              <a:fillRect/>
            </a:stretch>
          </a:blipFill>
        </p:spPr>
      </p:sp>
      <p:sp>
        <p:nvSpPr>
          <p:cNvPr id="7" name="TextBox 7"/>
          <p:cNvSpPr txBox="1"/>
          <p:nvPr/>
        </p:nvSpPr>
        <p:spPr>
          <a:xfrm>
            <a:off x="1028700" y="222606"/>
            <a:ext cx="9683801" cy="600666"/>
          </a:xfrm>
          <a:prstGeom prst="rect">
            <a:avLst/>
          </a:prstGeom>
        </p:spPr>
        <p:txBody>
          <a:bodyPr lIns="0" tIns="0" rIns="0" bIns="0" rtlCol="0" anchor="t">
            <a:spAutoFit/>
          </a:bodyPr>
          <a:lstStyle/>
          <a:p>
            <a:pPr algn="l">
              <a:lnSpc>
                <a:spcPts val="4375"/>
              </a:lnSpc>
            </a:pPr>
            <a:r>
              <a:rPr lang="en-US" sz="3500" b="1">
                <a:solidFill>
                  <a:srgbClr val="505468"/>
                </a:solidFill>
                <a:latin typeface="Arimo Bold"/>
                <a:ea typeface="Arimo Bold"/>
                <a:cs typeface="Arimo Bold"/>
                <a:sym typeface="Arimo Bold"/>
              </a:rPr>
              <a:t>Práctica 1: Construcción de un autómata finito</a:t>
            </a:r>
          </a:p>
        </p:txBody>
      </p:sp>
      <p:sp>
        <p:nvSpPr>
          <p:cNvPr id="8" name="TextBox 8"/>
          <p:cNvSpPr txBox="1"/>
          <p:nvPr/>
        </p:nvSpPr>
        <p:spPr>
          <a:xfrm>
            <a:off x="1028700" y="939202"/>
            <a:ext cx="8886683" cy="407597"/>
          </a:xfrm>
          <a:prstGeom prst="rect">
            <a:avLst/>
          </a:prstGeom>
        </p:spPr>
        <p:txBody>
          <a:bodyPr lIns="0" tIns="0" rIns="0" bIns="0" rtlCol="0" anchor="t">
            <a:spAutoFit/>
          </a:bodyPr>
          <a:lstStyle/>
          <a:p>
            <a:pPr algn="l">
              <a:lnSpc>
                <a:spcPts val="3170"/>
              </a:lnSpc>
            </a:pPr>
            <a:r>
              <a:rPr lang="en-US" sz="2566" b="1">
                <a:solidFill>
                  <a:srgbClr val="505468"/>
                </a:solidFill>
                <a:latin typeface="Arimo Bold"/>
                <a:ea typeface="Arimo Bold"/>
                <a:cs typeface="Arimo Bold"/>
                <a:sym typeface="Arimo Bold"/>
              </a:rPr>
              <a:t>Construcción del autómata en JFLAP</a:t>
            </a:r>
          </a:p>
        </p:txBody>
      </p:sp>
      <p:sp>
        <p:nvSpPr>
          <p:cNvPr id="9" name="TextBox 9"/>
          <p:cNvSpPr txBox="1"/>
          <p:nvPr/>
        </p:nvSpPr>
        <p:spPr>
          <a:xfrm>
            <a:off x="1028700" y="1221343"/>
            <a:ext cx="16511375" cy="2211378"/>
          </a:xfrm>
          <a:prstGeom prst="rect">
            <a:avLst/>
          </a:prstGeom>
        </p:spPr>
        <p:txBody>
          <a:bodyPr lIns="0" tIns="0" rIns="0" bIns="0" rtlCol="0" anchor="t">
            <a:spAutoFit/>
          </a:bodyPr>
          <a:lstStyle/>
          <a:p>
            <a:pPr algn="just">
              <a:lnSpc>
                <a:spcPts val="1797"/>
              </a:lnSpc>
            </a:pPr>
            <a:endParaRPr/>
          </a:p>
          <a:p>
            <a:pPr algn="just">
              <a:lnSpc>
                <a:spcPts val="1797"/>
              </a:lnSpc>
            </a:pPr>
            <a:r>
              <a:rPr lang="en-US" sz="1695">
                <a:solidFill>
                  <a:srgbClr val="5B5F71"/>
                </a:solidFill>
                <a:latin typeface="Arimo"/>
                <a:ea typeface="Arimo"/>
                <a:cs typeface="Arimo"/>
                <a:sym typeface="Arimo"/>
              </a:rPr>
              <a:t>Para realizar esta práctica primero se abrió el programa JFLAP y se seleccionó la opción Finite Automaton, ya que esta herramienta permite construir autómatas finitos de forma gráfica.</a:t>
            </a:r>
          </a:p>
          <a:p>
            <a:pPr algn="just">
              <a:lnSpc>
                <a:spcPts val="1797"/>
              </a:lnSpc>
            </a:pPr>
            <a:endParaRPr lang="en-US" sz="1695">
              <a:solidFill>
                <a:srgbClr val="5B5F71"/>
              </a:solidFill>
              <a:latin typeface="Arimo"/>
              <a:ea typeface="Arimo"/>
              <a:cs typeface="Arimo"/>
              <a:sym typeface="Arimo"/>
            </a:endParaRPr>
          </a:p>
          <a:p>
            <a:pPr algn="just">
              <a:lnSpc>
                <a:spcPts val="1797"/>
              </a:lnSpc>
            </a:pPr>
            <a:r>
              <a:rPr lang="en-US" sz="1695">
                <a:solidFill>
                  <a:srgbClr val="5B5F71"/>
                </a:solidFill>
                <a:latin typeface="Arimo"/>
                <a:ea typeface="Arimo"/>
                <a:cs typeface="Arimo"/>
                <a:sym typeface="Arimo"/>
              </a:rPr>
              <a:t>Después se crearon los estados necesarios para representar el comportamiento del lenguaje. Se definió un estado inicial, desde donde comienza el procesamiento de la cadena, y un estado de aceptación, que representa cuando la cadena termina correctamente en el símbolo 1.</a:t>
            </a:r>
          </a:p>
          <a:p>
            <a:pPr algn="just">
              <a:lnSpc>
                <a:spcPts val="1797"/>
              </a:lnSpc>
            </a:pPr>
            <a:endParaRPr lang="en-US" sz="1695">
              <a:solidFill>
                <a:srgbClr val="5B5F71"/>
              </a:solidFill>
              <a:latin typeface="Arimo"/>
              <a:ea typeface="Arimo"/>
              <a:cs typeface="Arimo"/>
              <a:sym typeface="Arimo"/>
            </a:endParaRPr>
          </a:p>
          <a:p>
            <a:pPr algn="just">
              <a:lnSpc>
                <a:spcPts val="1797"/>
              </a:lnSpc>
            </a:pPr>
            <a:r>
              <a:rPr lang="en-US" sz="1695">
                <a:solidFill>
                  <a:srgbClr val="5B5F71"/>
                </a:solidFill>
                <a:latin typeface="Arimo"/>
                <a:ea typeface="Arimo"/>
                <a:cs typeface="Arimo"/>
                <a:sym typeface="Arimo"/>
              </a:rPr>
              <a:t>Posteriormente se agregaron las transiciones entre los estados con base en los símbolos del alfabeto, en este caso 0 y 1. Cada transición indica cómo cambia el autómata de un estado a otro dependiendo del símbolo que se lea.</a:t>
            </a:r>
          </a:p>
          <a:p>
            <a:pPr algn="just">
              <a:lnSpc>
                <a:spcPts val="1797"/>
              </a:lnSpc>
            </a:pPr>
            <a:endParaRPr lang="en-US" sz="1695">
              <a:solidFill>
                <a:srgbClr val="5B5F71"/>
              </a:solidFill>
              <a:latin typeface="Arimo"/>
              <a:ea typeface="Arimo"/>
              <a:cs typeface="Arimo"/>
              <a:sym typeface="Arimo"/>
            </a:endParaRPr>
          </a:p>
        </p:txBody>
      </p:sp>
      <p:sp>
        <p:nvSpPr>
          <p:cNvPr id="10" name="TextBox 10"/>
          <p:cNvSpPr txBox="1"/>
          <p:nvPr/>
        </p:nvSpPr>
        <p:spPr>
          <a:xfrm>
            <a:off x="1757827" y="9440548"/>
            <a:ext cx="7428429" cy="353206"/>
          </a:xfrm>
          <a:prstGeom prst="rect">
            <a:avLst/>
          </a:prstGeom>
        </p:spPr>
        <p:txBody>
          <a:bodyPr lIns="0" tIns="0" rIns="0" bIns="0" rtlCol="0" anchor="t">
            <a:spAutoFit/>
          </a:bodyPr>
          <a:lstStyle/>
          <a:p>
            <a:pPr algn="ctr">
              <a:lnSpc>
                <a:spcPts val="2753"/>
              </a:lnSpc>
              <a:spcBef>
                <a:spcPct val="0"/>
              </a:spcBef>
            </a:pPr>
            <a:r>
              <a:rPr lang="en-US" sz="2237" i="1">
                <a:solidFill>
                  <a:srgbClr val="000000"/>
                </a:solidFill>
                <a:latin typeface="Arimo Italics"/>
                <a:ea typeface="Arimo Italics"/>
                <a:cs typeface="Arimo Italics"/>
                <a:sym typeface="Arimo Italics"/>
              </a:rPr>
              <a:t>Figura 1. Autómata finito determinista construido en JFLAP</a:t>
            </a:r>
          </a:p>
        </p:txBody>
      </p:sp>
      <p:sp>
        <p:nvSpPr>
          <p:cNvPr id="11" name="TextBox 11"/>
          <p:cNvSpPr txBox="1"/>
          <p:nvPr/>
        </p:nvSpPr>
        <p:spPr>
          <a:xfrm>
            <a:off x="11025863" y="3619882"/>
            <a:ext cx="6514211" cy="6182725"/>
          </a:xfrm>
          <a:prstGeom prst="rect">
            <a:avLst/>
          </a:prstGeom>
        </p:spPr>
        <p:txBody>
          <a:bodyPr lIns="0" tIns="0" rIns="0" bIns="0" rtlCol="0" anchor="t">
            <a:spAutoFit/>
          </a:bodyPr>
          <a:lstStyle/>
          <a:p>
            <a:pPr algn="just">
              <a:lnSpc>
                <a:spcPts val="2752"/>
              </a:lnSpc>
              <a:spcBef>
                <a:spcPct val="0"/>
              </a:spcBef>
            </a:pPr>
            <a:r>
              <a:rPr lang="en-US" sz="2237">
                <a:solidFill>
                  <a:srgbClr val="505468"/>
                </a:solidFill>
                <a:latin typeface="Arimo"/>
                <a:ea typeface="Arimo"/>
                <a:cs typeface="Arimo"/>
                <a:sym typeface="Arimo"/>
              </a:rPr>
              <a:t>En esta práctica se construyó un autómata finito determinista utilizando el software JFLAP para reconocer cadenas binarias que terminan en el símbolo 1.</a:t>
            </a:r>
          </a:p>
          <a:p>
            <a:pPr algn="just">
              <a:lnSpc>
                <a:spcPts val="2752"/>
              </a:lnSpc>
              <a:spcBef>
                <a:spcPct val="0"/>
              </a:spcBef>
            </a:pPr>
            <a:endParaRPr lang="en-US" sz="2237">
              <a:solidFill>
                <a:srgbClr val="505468"/>
              </a:solidFill>
              <a:latin typeface="Arimo"/>
              <a:ea typeface="Arimo"/>
              <a:cs typeface="Arimo"/>
              <a:sym typeface="Arimo"/>
            </a:endParaRPr>
          </a:p>
          <a:p>
            <a:pPr algn="just">
              <a:lnSpc>
                <a:spcPts val="2752"/>
              </a:lnSpc>
              <a:spcBef>
                <a:spcPct val="0"/>
              </a:spcBef>
            </a:pPr>
            <a:r>
              <a:rPr lang="en-US" sz="2237">
                <a:solidFill>
                  <a:srgbClr val="505468"/>
                </a:solidFill>
                <a:latin typeface="Arimo"/>
                <a:ea typeface="Arimo"/>
                <a:cs typeface="Arimo"/>
                <a:sym typeface="Arimo"/>
              </a:rPr>
              <a:t>El autómata inicia en el estado q0, que representa que aún no se ha leído un 1 al final de la cadena. Cuando se lee el símbolo 1, el autómata pasa al estado q1, que es el estado de aceptación.</a:t>
            </a:r>
          </a:p>
          <a:p>
            <a:pPr algn="just">
              <a:lnSpc>
                <a:spcPts val="2752"/>
              </a:lnSpc>
              <a:spcBef>
                <a:spcPct val="0"/>
              </a:spcBef>
            </a:pPr>
            <a:endParaRPr lang="en-US" sz="2237">
              <a:solidFill>
                <a:srgbClr val="505468"/>
              </a:solidFill>
              <a:latin typeface="Arimo"/>
              <a:ea typeface="Arimo"/>
              <a:cs typeface="Arimo"/>
              <a:sym typeface="Arimo"/>
            </a:endParaRPr>
          </a:p>
          <a:p>
            <a:pPr algn="just">
              <a:lnSpc>
                <a:spcPts val="2752"/>
              </a:lnSpc>
              <a:spcBef>
                <a:spcPct val="0"/>
              </a:spcBef>
            </a:pPr>
            <a:r>
              <a:rPr lang="en-US" sz="2237">
                <a:solidFill>
                  <a:srgbClr val="505468"/>
                </a:solidFill>
                <a:latin typeface="Arimo"/>
                <a:ea typeface="Arimo"/>
                <a:cs typeface="Arimo"/>
                <a:sym typeface="Arimo"/>
              </a:rPr>
              <a:t>Si posteriormente se lee un 0, el autómata regresa al estado q0, indicando que la cadena ya no termina en 1. En cambio, si se continúa leyendo 1, el autómata permanece en el estado q1.</a:t>
            </a:r>
          </a:p>
          <a:p>
            <a:pPr algn="just">
              <a:lnSpc>
                <a:spcPts val="2752"/>
              </a:lnSpc>
              <a:spcBef>
                <a:spcPct val="0"/>
              </a:spcBef>
            </a:pPr>
            <a:endParaRPr lang="en-US" sz="2237">
              <a:solidFill>
                <a:srgbClr val="505468"/>
              </a:solidFill>
              <a:latin typeface="Arimo"/>
              <a:ea typeface="Arimo"/>
              <a:cs typeface="Arimo"/>
              <a:sym typeface="Arimo"/>
            </a:endParaRPr>
          </a:p>
          <a:p>
            <a:pPr algn="just">
              <a:lnSpc>
                <a:spcPts val="2753"/>
              </a:lnSpc>
              <a:spcBef>
                <a:spcPct val="0"/>
              </a:spcBef>
            </a:pPr>
            <a:r>
              <a:rPr lang="en-US" sz="2237">
                <a:solidFill>
                  <a:srgbClr val="505468"/>
                </a:solidFill>
                <a:latin typeface="Arimo"/>
                <a:ea typeface="Arimo"/>
                <a:cs typeface="Arimo"/>
                <a:sym typeface="Arimo"/>
              </a:rPr>
              <a:t>De esta forma, el autómata acepta únicamente aquellas cadenas cuyo último símbolo es 1.</a:t>
            </a:r>
          </a:p>
          <a:p>
            <a:pPr algn="just">
              <a:lnSpc>
                <a:spcPts val="2752"/>
              </a:lnSpc>
              <a:spcBef>
                <a:spcPct val="0"/>
              </a:spcBef>
            </a:pPr>
            <a:endParaRPr lang="en-US" sz="2237">
              <a:solidFill>
                <a:srgbClr val="505468"/>
              </a:solidFill>
              <a:latin typeface="Arimo"/>
              <a:ea typeface="Arimo"/>
              <a:cs typeface="Arimo"/>
              <a:sym typeface="Arim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sp>
        <p:nvSpPr>
          <p:cNvPr id="6" name="Freeform 6"/>
          <p:cNvSpPr/>
          <p:nvPr/>
        </p:nvSpPr>
        <p:spPr>
          <a:xfrm>
            <a:off x="512286" y="3590162"/>
            <a:ext cx="6264639" cy="3555182"/>
          </a:xfrm>
          <a:custGeom>
            <a:avLst/>
            <a:gdLst/>
            <a:ahLst/>
            <a:cxnLst/>
            <a:rect l="l" t="t" r="r" b="b"/>
            <a:pathLst>
              <a:path w="6264639" h="3555182">
                <a:moveTo>
                  <a:pt x="0" y="0"/>
                </a:moveTo>
                <a:lnTo>
                  <a:pt x="6264639" y="0"/>
                </a:lnTo>
                <a:lnTo>
                  <a:pt x="6264639" y="3555182"/>
                </a:lnTo>
                <a:lnTo>
                  <a:pt x="0" y="3555182"/>
                </a:lnTo>
                <a:lnTo>
                  <a:pt x="0" y="0"/>
                </a:lnTo>
                <a:close/>
              </a:path>
            </a:pathLst>
          </a:custGeom>
          <a:blipFill>
            <a:blip r:embed="rId4"/>
            <a:stretch>
              <a:fillRect/>
            </a:stretch>
          </a:blipFill>
        </p:spPr>
      </p:sp>
      <p:sp>
        <p:nvSpPr>
          <p:cNvPr id="7" name="Freeform 7"/>
          <p:cNvSpPr/>
          <p:nvPr/>
        </p:nvSpPr>
        <p:spPr>
          <a:xfrm>
            <a:off x="10837877" y="3585499"/>
            <a:ext cx="6245668" cy="3513188"/>
          </a:xfrm>
          <a:custGeom>
            <a:avLst/>
            <a:gdLst/>
            <a:ahLst/>
            <a:cxnLst/>
            <a:rect l="l" t="t" r="r" b="b"/>
            <a:pathLst>
              <a:path w="6245668" h="3513188">
                <a:moveTo>
                  <a:pt x="0" y="0"/>
                </a:moveTo>
                <a:lnTo>
                  <a:pt x="6245668" y="0"/>
                </a:lnTo>
                <a:lnTo>
                  <a:pt x="6245668" y="3513188"/>
                </a:lnTo>
                <a:lnTo>
                  <a:pt x="0" y="3513188"/>
                </a:lnTo>
                <a:lnTo>
                  <a:pt x="0" y="0"/>
                </a:lnTo>
                <a:close/>
              </a:path>
            </a:pathLst>
          </a:custGeom>
          <a:blipFill>
            <a:blip r:embed="rId5"/>
            <a:stretch>
              <a:fillRect/>
            </a:stretch>
          </a:blipFill>
        </p:spPr>
      </p:sp>
      <p:sp>
        <p:nvSpPr>
          <p:cNvPr id="8" name="TextBox 8"/>
          <p:cNvSpPr txBox="1"/>
          <p:nvPr/>
        </p:nvSpPr>
        <p:spPr>
          <a:xfrm>
            <a:off x="573569" y="368967"/>
            <a:ext cx="17198578" cy="773112"/>
          </a:xfrm>
          <a:prstGeom prst="rect">
            <a:avLst/>
          </a:prstGeom>
        </p:spPr>
        <p:txBody>
          <a:bodyPr lIns="0" tIns="0" rIns="0" bIns="0" rtlCol="0" anchor="t">
            <a:spAutoFit/>
          </a:bodyPr>
          <a:lstStyle/>
          <a:p>
            <a:pPr algn="l">
              <a:lnSpc>
                <a:spcPts val="6062"/>
              </a:lnSpc>
            </a:pPr>
            <a:r>
              <a:rPr lang="en-US" sz="4875" b="1">
                <a:solidFill>
                  <a:srgbClr val="505468"/>
                </a:solidFill>
                <a:latin typeface="Arimo Bold"/>
                <a:ea typeface="Arimo Bold"/>
                <a:cs typeface="Arimo Bold"/>
                <a:sym typeface="Arimo Bold"/>
              </a:rPr>
              <a:t>Práctica 2: Conversión de AFND a AFD</a:t>
            </a:r>
          </a:p>
        </p:txBody>
      </p:sp>
      <p:sp>
        <p:nvSpPr>
          <p:cNvPr id="9" name="TextBox 9"/>
          <p:cNvSpPr txBox="1"/>
          <p:nvPr/>
        </p:nvSpPr>
        <p:spPr>
          <a:xfrm>
            <a:off x="573569" y="1367166"/>
            <a:ext cx="17198578" cy="2517362"/>
          </a:xfrm>
          <a:prstGeom prst="rect">
            <a:avLst/>
          </a:prstGeom>
        </p:spPr>
        <p:txBody>
          <a:bodyPr lIns="0" tIns="0" rIns="0" bIns="0" rtlCol="0" anchor="t">
            <a:spAutoFit/>
          </a:bodyPr>
          <a:lstStyle/>
          <a:p>
            <a:pPr algn="just">
              <a:lnSpc>
                <a:spcPts val="2945"/>
              </a:lnSpc>
            </a:pPr>
            <a:r>
              <a:rPr lang="en-US" sz="2337" b="1">
                <a:solidFill>
                  <a:srgbClr val="5B5F71"/>
                </a:solidFill>
                <a:latin typeface="Arimo Bold"/>
                <a:ea typeface="Arimo Bold"/>
                <a:cs typeface="Arimo Bold"/>
                <a:sym typeface="Arimo Bold"/>
              </a:rPr>
              <a:t>Autómata original (AFND)</a:t>
            </a:r>
          </a:p>
          <a:p>
            <a:pPr algn="just">
              <a:lnSpc>
                <a:spcPts val="2441"/>
              </a:lnSpc>
            </a:pPr>
            <a:r>
              <a:rPr lang="en-US" sz="1937">
                <a:solidFill>
                  <a:srgbClr val="5B5F71"/>
                </a:solidFill>
                <a:latin typeface="Arimo"/>
                <a:ea typeface="Arimo"/>
                <a:cs typeface="Arimo"/>
                <a:sym typeface="Arimo"/>
              </a:rPr>
              <a:t>En esta práctica se trabajó con un Autómata Finito No Determinista (AFND). Este tipo de autómata se caracteriza porque puede tener más de una transición posible para un mismo símbolo de entrada, lo que significa que el autómata puede seguir distintos caminos al procesar una cadena.</a:t>
            </a:r>
          </a:p>
          <a:p>
            <a:pPr algn="just">
              <a:lnSpc>
                <a:spcPts val="2441"/>
              </a:lnSpc>
            </a:pPr>
            <a:endParaRPr lang="en-US" sz="1937">
              <a:solidFill>
                <a:srgbClr val="5B5F71"/>
              </a:solidFill>
              <a:latin typeface="Arimo"/>
              <a:ea typeface="Arimo"/>
              <a:cs typeface="Arimo"/>
              <a:sym typeface="Arimo"/>
            </a:endParaRPr>
          </a:p>
          <a:p>
            <a:pPr algn="just">
              <a:lnSpc>
                <a:spcPts val="2441"/>
              </a:lnSpc>
            </a:pPr>
            <a:r>
              <a:rPr lang="en-US" sz="1937">
                <a:solidFill>
                  <a:srgbClr val="5B5F71"/>
                </a:solidFill>
                <a:latin typeface="Arimo"/>
                <a:ea typeface="Arimo"/>
                <a:cs typeface="Arimo"/>
                <a:sym typeface="Arimo"/>
              </a:rPr>
              <a:t>Para realizar la práctica primero se construyó un AFND en el programa JFLAP, definiendo los estados, el estado inicial, los estados de aceptación y las transiciones correspondientes según el lenguaje que se desea reconocer.</a:t>
            </a:r>
          </a:p>
          <a:p>
            <a:pPr algn="just">
              <a:lnSpc>
                <a:spcPts val="2441"/>
              </a:lnSpc>
            </a:pPr>
            <a:endParaRPr lang="en-US" sz="1937">
              <a:solidFill>
                <a:srgbClr val="5B5F71"/>
              </a:solidFill>
              <a:latin typeface="Arimo"/>
              <a:ea typeface="Arimo"/>
              <a:cs typeface="Arimo"/>
              <a:sym typeface="Arimo"/>
            </a:endParaRPr>
          </a:p>
          <a:p>
            <a:pPr algn="just">
              <a:lnSpc>
                <a:spcPts val="2441"/>
              </a:lnSpc>
            </a:pPr>
            <a:endParaRPr lang="en-US" sz="1937">
              <a:solidFill>
                <a:srgbClr val="5B5F71"/>
              </a:solidFill>
              <a:latin typeface="Arimo"/>
              <a:ea typeface="Arimo"/>
              <a:cs typeface="Arimo"/>
              <a:sym typeface="Arimo"/>
            </a:endParaRPr>
          </a:p>
        </p:txBody>
      </p:sp>
      <p:sp>
        <p:nvSpPr>
          <p:cNvPr id="10" name="TextBox 10"/>
          <p:cNvSpPr txBox="1"/>
          <p:nvPr/>
        </p:nvSpPr>
        <p:spPr>
          <a:xfrm>
            <a:off x="573569" y="8380412"/>
            <a:ext cx="17198578" cy="1616529"/>
          </a:xfrm>
          <a:prstGeom prst="rect">
            <a:avLst/>
          </a:prstGeom>
        </p:spPr>
        <p:txBody>
          <a:bodyPr lIns="0" tIns="0" rIns="0" bIns="0" rtlCol="0" anchor="t">
            <a:spAutoFit/>
          </a:bodyPr>
          <a:lstStyle/>
          <a:p>
            <a:pPr algn="just">
              <a:lnSpc>
                <a:spcPts val="2121"/>
              </a:lnSpc>
              <a:spcBef>
                <a:spcPct val="0"/>
              </a:spcBef>
            </a:pPr>
            <a:r>
              <a:rPr lang="en-US" sz="1687" b="1">
                <a:solidFill>
                  <a:srgbClr val="505468"/>
                </a:solidFill>
                <a:latin typeface="Arimo Bold"/>
                <a:ea typeface="Arimo Bold"/>
                <a:cs typeface="Arimo Bold"/>
                <a:sym typeface="Arimo Bold"/>
              </a:rPr>
              <a:t>Características del AFND</a:t>
            </a:r>
          </a:p>
          <a:p>
            <a:pPr algn="just">
              <a:lnSpc>
                <a:spcPts val="2121"/>
              </a:lnSpc>
              <a:spcBef>
                <a:spcPct val="0"/>
              </a:spcBef>
            </a:pPr>
            <a:r>
              <a:rPr lang="en-US" sz="1687">
                <a:solidFill>
                  <a:srgbClr val="505468"/>
                </a:solidFill>
                <a:latin typeface="Arimo"/>
                <a:ea typeface="Arimo"/>
                <a:cs typeface="Arimo"/>
                <a:sym typeface="Arimo"/>
              </a:rPr>
              <a:t>Un AFND puede tener varias transiciones posibles para un mismo símbolo del alfabeto. Esto significa que, al leer un símbolo, el autómata puede moverse a diferentes estados posibles.</a:t>
            </a:r>
          </a:p>
          <a:p>
            <a:pPr algn="just">
              <a:lnSpc>
                <a:spcPts val="2121"/>
              </a:lnSpc>
              <a:spcBef>
                <a:spcPct val="0"/>
              </a:spcBef>
            </a:pPr>
            <a:r>
              <a:rPr lang="en-US" sz="1687">
                <a:solidFill>
                  <a:srgbClr val="505468"/>
                </a:solidFill>
                <a:latin typeface="Arimo"/>
                <a:ea typeface="Arimo"/>
                <a:cs typeface="Arimo"/>
                <a:sym typeface="Arimo"/>
              </a:rPr>
              <a:t>Este comportamiento se conoce como no determinismo, ya que el autómata no tiene un único camino definido para procesar la cadena. A pesar de esto, el AFND sigue reconociendo un lenguaje específico y puede convertirse posteriormente en un Autómata Finito Determinista (AFD) mediante un proceso de conversión.</a:t>
            </a:r>
          </a:p>
          <a:p>
            <a:pPr algn="just">
              <a:lnSpc>
                <a:spcPts val="2121"/>
              </a:lnSpc>
              <a:spcBef>
                <a:spcPct val="0"/>
              </a:spcBef>
            </a:pPr>
            <a:endParaRPr lang="en-US" sz="1687">
              <a:solidFill>
                <a:srgbClr val="505468"/>
              </a:solidFill>
              <a:latin typeface="Arimo"/>
              <a:ea typeface="Arimo"/>
              <a:cs typeface="Arimo"/>
              <a:sym typeface="Arimo"/>
            </a:endParaRPr>
          </a:p>
        </p:txBody>
      </p:sp>
      <p:sp>
        <p:nvSpPr>
          <p:cNvPr id="11" name="TextBox 11"/>
          <p:cNvSpPr txBox="1"/>
          <p:nvPr/>
        </p:nvSpPr>
        <p:spPr>
          <a:xfrm>
            <a:off x="1028700" y="7504736"/>
            <a:ext cx="5233056" cy="301648"/>
          </a:xfrm>
          <a:prstGeom prst="rect">
            <a:avLst/>
          </a:prstGeom>
        </p:spPr>
        <p:txBody>
          <a:bodyPr lIns="0" tIns="0" rIns="0" bIns="0" rtlCol="0" anchor="t">
            <a:spAutoFit/>
          </a:bodyPr>
          <a:lstStyle/>
          <a:p>
            <a:pPr algn="ctr">
              <a:lnSpc>
                <a:spcPts val="2388"/>
              </a:lnSpc>
              <a:spcBef>
                <a:spcPct val="0"/>
              </a:spcBef>
            </a:pPr>
            <a:r>
              <a:rPr lang="en-US" sz="1899" i="1">
                <a:solidFill>
                  <a:srgbClr val="000000"/>
                </a:solidFill>
                <a:latin typeface="Arimo Italics"/>
                <a:ea typeface="Arimo Italics"/>
                <a:cs typeface="Arimo Italics"/>
                <a:sym typeface="Arimo Italics"/>
              </a:rPr>
              <a:t>Captura 2 — AFND original construido en JFLAP</a:t>
            </a:r>
          </a:p>
        </p:txBody>
      </p:sp>
      <p:sp>
        <p:nvSpPr>
          <p:cNvPr id="12" name="TextBox 12"/>
          <p:cNvSpPr txBox="1"/>
          <p:nvPr/>
        </p:nvSpPr>
        <p:spPr>
          <a:xfrm>
            <a:off x="10437216" y="7509283"/>
            <a:ext cx="7174111" cy="283029"/>
          </a:xfrm>
          <a:prstGeom prst="rect">
            <a:avLst/>
          </a:prstGeom>
        </p:spPr>
        <p:txBody>
          <a:bodyPr lIns="0" tIns="0" rIns="0" bIns="0" rtlCol="0" anchor="t">
            <a:spAutoFit/>
          </a:bodyPr>
          <a:lstStyle/>
          <a:p>
            <a:pPr algn="ctr">
              <a:lnSpc>
                <a:spcPts val="2121"/>
              </a:lnSpc>
              <a:spcBef>
                <a:spcPct val="0"/>
              </a:spcBef>
            </a:pPr>
            <a:r>
              <a:rPr lang="en-US" sz="1687" i="1">
                <a:solidFill>
                  <a:srgbClr val="000000"/>
                </a:solidFill>
                <a:latin typeface="Arimo Italics"/>
                <a:ea typeface="Arimo Italics"/>
                <a:cs typeface="Arimo Italics"/>
                <a:sym typeface="Arimo Italics"/>
              </a:rPr>
              <a:t>Figura 3. Autómata finito determinista resultante del proceso de conversión.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grpSp>
        <p:nvGrpSpPr>
          <p:cNvPr id="6" name="Group 6"/>
          <p:cNvGrpSpPr/>
          <p:nvPr/>
        </p:nvGrpSpPr>
        <p:grpSpPr>
          <a:xfrm>
            <a:off x="481395" y="1481931"/>
            <a:ext cx="13008608" cy="560979"/>
            <a:chOff x="0" y="0"/>
            <a:chExt cx="11780062" cy="508000"/>
          </a:xfrm>
        </p:grpSpPr>
        <p:sp>
          <p:nvSpPr>
            <p:cNvPr id="7" name="Freeform 7"/>
            <p:cNvSpPr/>
            <p:nvPr/>
          </p:nvSpPr>
          <p:spPr>
            <a:xfrm>
              <a:off x="0" y="0"/>
              <a:ext cx="11780100" cy="508000"/>
            </a:xfrm>
            <a:custGeom>
              <a:avLst/>
              <a:gdLst/>
              <a:ahLst/>
              <a:cxnLst/>
              <a:rect l="l" t="t" r="r" b="b"/>
              <a:pathLst>
                <a:path w="11780100" h="508000">
                  <a:moveTo>
                    <a:pt x="0" y="77724"/>
                  </a:moveTo>
                  <a:cubicBezTo>
                    <a:pt x="0" y="34798"/>
                    <a:pt x="47815" y="0"/>
                    <a:pt x="106798" y="0"/>
                  </a:cubicBezTo>
                  <a:lnTo>
                    <a:pt x="11673316" y="0"/>
                  </a:lnTo>
                  <a:cubicBezTo>
                    <a:pt x="11732299" y="0"/>
                    <a:pt x="11780100" y="34798"/>
                    <a:pt x="11780100" y="77724"/>
                  </a:cubicBezTo>
                  <a:lnTo>
                    <a:pt x="11780100" y="430276"/>
                  </a:lnTo>
                  <a:cubicBezTo>
                    <a:pt x="11780100" y="473202"/>
                    <a:pt x="11732299" y="508000"/>
                    <a:pt x="11673316" y="508000"/>
                  </a:cubicBezTo>
                  <a:lnTo>
                    <a:pt x="106798" y="508000"/>
                  </a:lnTo>
                  <a:cubicBezTo>
                    <a:pt x="47815" y="508000"/>
                    <a:pt x="0" y="473202"/>
                    <a:pt x="0" y="430276"/>
                  </a:cubicBezTo>
                  <a:close/>
                </a:path>
              </a:pathLst>
            </a:custGeom>
            <a:solidFill>
              <a:srgbClr val="F2F2F2"/>
            </a:solidFill>
          </p:spPr>
        </p:sp>
      </p:grpSp>
      <p:grpSp>
        <p:nvGrpSpPr>
          <p:cNvPr id="8" name="Group 8"/>
          <p:cNvGrpSpPr/>
          <p:nvPr/>
        </p:nvGrpSpPr>
        <p:grpSpPr>
          <a:xfrm>
            <a:off x="467539" y="1481931"/>
            <a:ext cx="13036299" cy="560979"/>
            <a:chOff x="0" y="0"/>
            <a:chExt cx="11805139" cy="508000"/>
          </a:xfrm>
        </p:grpSpPr>
        <p:sp>
          <p:nvSpPr>
            <p:cNvPr id="9" name="Freeform 9"/>
            <p:cNvSpPr/>
            <p:nvPr/>
          </p:nvSpPr>
          <p:spPr>
            <a:xfrm>
              <a:off x="0" y="0"/>
              <a:ext cx="11805215" cy="508000"/>
            </a:xfrm>
            <a:custGeom>
              <a:avLst/>
              <a:gdLst/>
              <a:ahLst/>
              <a:cxnLst/>
              <a:rect l="l" t="t" r="r" b="b"/>
              <a:pathLst>
                <a:path w="11805215" h="508000">
                  <a:moveTo>
                    <a:pt x="0" y="27813"/>
                  </a:moveTo>
                  <a:cubicBezTo>
                    <a:pt x="0" y="12446"/>
                    <a:pt x="17102" y="0"/>
                    <a:pt x="38217" y="0"/>
                  </a:cubicBezTo>
                  <a:lnTo>
                    <a:pt x="11767027" y="0"/>
                  </a:lnTo>
                  <a:cubicBezTo>
                    <a:pt x="11788142" y="0"/>
                    <a:pt x="11805215" y="12446"/>
                    <a:pt x="11805215" y="27813"/>
                  </a:cubicBezTo>
                  <a:lnTo>
                    <a:pt x="11805215" y="480187"/>
                  </a:lnTo>
                  <a:cubicBezTo>
                    <a:pt x="11805215" y="495554"/>
                    <a:pt x="11788142" y="508000"/>
                    <a:pt x="11767027" y="508000"/>
                  </a:cubicBezTo>
                  <a:lnTo>
                    <a:pt x="38217" y="508000"/>
                  </a:lnTo>
                  <a:cubicBezTo>
                    <a:pt x="17102" y="508000"/>
                    <a:pt x="0" y="495554"/>
                    <a:pt x="0" y="480187"/>
                  </a:cubicBezTo>
                  <a:close/>
                </a:path>
              </a:pathLst>
            </a:custGeom>
            <a:solidFill>
              <a:srgbClr val="F2F2F2"/>
            </a:solidFill>
          </p:spPr>
        </p:sp>
      </p:grpSp>
      <p:sp>
        <p:nvSpPr>
          <p:cNvPr id="10" name="Freeform 10"/>
          <p:cNvSpPr/>
          <p:nvPr/>
        </p:nvSpPr>
        <p:spPr>
          <a:xfrm>
            <a:off x="7474431" y="2967879"/>
            <a:ext cx="7339253" cy="4431074"/>
          </a:xfrm>
          <a:custGeom>
            <a:avLst/>
            <a:gdLst/>
            <a:ahLst/>
            <a:cxnLst/>
            <a:rect l="l" t="t" r="r" b="b"/>
            <a:pathLst>
              <a:path w="7339253" h="4431074">
                <a:moveTo>
                  <a:pt x="0" y="0"/>
                </a:moveTo>
                <a:lnTo>
                  <a:pt x="7339253" y="0"/>
                </a:lnTo>
                <a:lnTo>
                  <a:pt x="7339253" y="4431074"/>
                </a:lnTo>
                <a:lnTo>
                  <a:pt x="0" y="4431074"/>
                </a:lnTo>
                <a:lnTo>
                  <a:pt x="0" y="0"/>
                </a:lnTo>
                <a:close/>
              </a:path>
            </a:pathLst>
          </a:custGeom>
          <a:blipFill>
            <a:blip r:embed="rId4"/>
            <a:stretch>
              <a:fillRect/>
            </a:stretch>
          </a:blipFill>
        </p:spPr>
      </p:sp>
      <p:sp>
        <p:nvSpPr>
          <p:cNvPr id="11" name="TextBox 11"/>
          <p:cNvSpPr txBox="1"/>
          <p:nvPr/>
        </p:nvSpPr>
        <p:spPr>
          <a:xfrm>
            <a:off x="467539" y="151047"/>
            <a:ext cx="16261842" cy="428625"/>
          </a:xfrm>
          <a:prstGeom prst="rect">
            <a:avLst/>
          </a:prstGeom>
        </p:spPr>
        <p:txBody>
          <a:bodyPr lIns="0" tIns="0" rIns="0" bIns="0" rtlCol="0" anchor="t">
            <a:spAutoFit/>
          </a:bodyPr>
          <a:lstStyle/>
          <a:p>
            <a:pPr algn="l">
              <a:lnSpc>
                <a:spcPts val="3374"/>
              </a:lnSpc>
            </a:pPr>
            <a:r>
              <a:rPr lang="en-US" sz="2687" b="1">
                <a:solidFill>
                  <a:srgbClr val="505468"/>
                </a:solidFill>
                <a:latin typeface="Arimo Bold"/>
                <a:ea typeface="Arimo Bold"/>
                <a:cs typeface="Arimo Bold"/>
                <a:sym typeface="Arimo Bold"/>
              </a:rPr>
              <a:t>Práctica 3: Representación de expresiones regulares mediante autómatas</a:t>
            </a:r>
          </a:p>
        </p:txBody>
      </p:sp>
      <p:sp>
        <p:nvSpPr>
          <p:cNvPr id="12" name="TextBox 12"/>
          <p:cNvSpPr txBox="1"/>
          <p:nvPr/>
        </p:nvSpPr>
        <p:spPr>
          <a:xfrm>
            <a:off x="467539" y="851694"/>
            <a:ext cx="4124243" cy="334963"/>
          </a:xfrm>
          <a:prstGeom prst="rect">
            <a:avLst/>
          </a:prstGeom>
        </p:spPr>
        <p:txBody>
          <a:bodyPr lIns="0" tIns="0" rIns="0" bIns="0" rtlCol="0" anchor="t">
            <a:spAutoFit/>
          </a:bodyPr>
          <a:lstStyle/>
          <a:p>
            <a:pPr algn="l">
              <a:lnSpc>
                <a:spcPts val="2687"/>
              </a:lnSpc>
            </a:pPr>
            <a:r>
              <a:rPr lang="en-US" sz="2125" b="1">
                <a:solidFill>
                  <a:srgbClr val="505468"/>
                </a:solidFill>
                <a:latin typeface="Arimo Bold"/>
                <a:ea typeface="Arimo Bold"/>
                <a:cs typeface="Arimo Bold"/>
                <a:sym typeface="Arimo Bold"/>
              </a:rPr>
              <a:t>Expresión regular</a:t>
            </a:r>
          </a:p>
        </p:txBody>
      </p:sp>
      <p:sp>
        <p:nvSpPr>
          <p:cNvPr id="13" name="TextBox 13"/>
          <p:cNvSpPr txBox="1"/>
          <p:nvPr/>
        </p:nvSpPr>
        <p:spPr>
          <a:xfrm>
            <a:off x="748178" y="1597007"/>
            <a:ext cx="12475041" cy="269504"/>
          </a:xfrm>
          <a:prstGeom prst="rect">
            <a:avLst/>
          </a:prstGeom>
        </p:spPr>
        <p:txBody>
          <a:bodyPr lIns="0" tIns="0" rIns="0" bIns="0" rtlCol="0" anchor="t">
            <a:spAutoFit/>
          </a:bodyPr>
          <a:lstStyle/>
          <a:p>
            <a:pPr algn="l">
              <a:lnSpc>
                <a:spcPts val="1932"/>
              </a:lnSpc>
            </a:pPr>
            <a:r>
              <a:rPr lang="en-US" sz="1564">
                <a:solidFill>
                  <a:srgbClr val="5B5F71"/>
                </a:solidFill>
                <a:latin typeface="Consolas"/>
                <a:ea typeface="Consolas"/>
                <a:cs typeface="Consolas"/>
                <a:sym typeface="Consolas"/>
              </a:rPr>
              <a:t>(a|b)*abb</a:t>
            </a:r>
          </a:p>
        </p:txBody>
      </p:sp>
      <p:sp>
        <p:nvSpPr>
          <p:cNvPr id="14" name="TextBox 14"/>
          <p:cNvSpPr txBox="1"/>
          <p:nvPr/>
        </p:nvSpPr>
        <p:spPr>
          <a:xfrm>
            <a:off x="481395" y="2152283"/>
            <a:ext cx="13008608" cy="250454"/>
          </a:xfrm>
          <a:prstGeom prst="rect">
            <a:avLst/>
          </a:prstGeom>
        </p:spPr>
        <p:txBody>
          <a:bodyPr lIns="0" tIns="0" rIns="0" bIns="0" rtlCol="0" anchor="t">
            <a:spAutoFit/>
          </a:bodyPr>
          <a:lstStyle/>
          <a:p>
            <a:pPr algn="l">
              <a:lnSpc>
                <a:spcPts val="1932"/>
              </a:lnSpc>
            </a:pPr>
            <a:r>
              <a:rPr lang="en-US" sz="1564">
                <a:solidFill>
                  <a:srgbClr val="5B5F71"/>
                </a:solidFill>
                <a:latin typeface="Arimo"/>
                <a:ea typeface="Arimo"/>
                <a:cs typeface="Arimo"/>
                <a:sym typeface="Arimo"/>
              </a:rPr>
              <a:t>Esta expresión describe todas las cadenas formadas por los símbolos </a:t>
            </a:r>
            <a:r>
              <a:rPr lang="en-US" sz="1564" b="1">
                <a:solidFill>
                  <a:srgbClr val="5B5F71"/>
                </a:solidFill>
                <a:latin typeface="Arimo Bold"/>
                <a:ea typeface="Arimo Bold"/>
                <a:cs typeface="Arimo Bold"/>
                <a:sym typeface="Arimo Bold"/>
              </a:rPr>
              <a:t>a</a:t>
            </a:r>
            <a:r>
              <a:rPr lang="en-US" sz="1564">
                <a:solidFill>
                  <a:srgbClr val="5B5F71"/>
                </a:solidFill>
                <a:latin typeface="Arimo"/>
                <a:ea typeface="Arimo"/>
                <a:cs typeface="Arimo"/>
                <a:sym typeface="Arimo"/>
              </a:rPr>
              <a:t> y </a:t>
            </a:r>
            <a:r>
              <a:rPr lang="en-US" sz="1564" b="1">
                <a:solidFill>
                  <a:srgbClr val="5B5F71"/>
                </a:solidFill>
                <a:latin typeface="Arimo Bold"/>
                <a:ea typeface="Arimo Bold"/>
                <a:cs typeface="Arimo Bold"/>
                <a:sym typeface="Arimo Bold"/>
              </a:rPr>
              <a:t>b</a:t>
            </a:r>
            <a:r>
              <a:rPr lang="en-US" sz="1564">
                <a:solidFill>
                  <a:srgbClr val="5B5F71"/>
                </a:solidFill>
                <a:latin typeface="Arimo"/>
                <a:ea typeface="Arimo"/>
                <a:cs typeface="Arimo"/>
                <a:sym typeface="Arimo"/>
              </a:rPr>
              <a:t> que terminan con la secuencia </a:t>
            </a:r>
            <a:r>
              <a:rPr lang="en-US" sz="1564" b="1">
                <a:solidFill>
                  <a:srgbClr val="5B5F71"/>
                </a:solidFill>
                <a:latin typeface="Arimo Bold"/>
                <a:ea typeface="Arimo Bold"/>
                <a:cs typeface="Arimo Bold"/>
                <a:sym typeface="Arimo Bold"/>
              </a:rPr>
              <a:t>abb</a:t>
            </a:r>
            <a:r>
              <a:rPr lang="en-US" sz="1564">
                <a:solidFill>
                  <a:srgbClr val="5B5F71"/>
                </a:solidFill>
                <a:latin typeface="Arimo"/>
                <a:ea typeface="Arimo"/>
                <a:cs typeface="Arimo"/>
                <a:sym typeface="Arimo"/>
              </a:rPr>
              <a:t>.</a:t>
            </a:r>
          </a:p>
        </p:txBody>
      </p:sp>
      <p:sp>
        <p:nvSpPr>
          <p:cNvPr id="15" name="TextBox 15"/>
          <p:cNvSpPr txBox="1"/>
          <p:nvPr/>
        </p:nvSpPr>
        <p:spPr>
          <a:xfrm>
            <a:off x="2786251" y="3615217"/>
            <a:ext cx="3632068" cy="2568561"/>
          </a:xfrm>
          <a:prstGeom prst="rect">
            <a:avLst/>
          </a:prstGeom>
        </p:spPr>
        <p:txBody>
          <a:bodyPr lIns="0" tIns="0" rIns="0" bIns="0" rtlCol="0" anchor="t">
            <a:spAutoFit/>
          </a:bodyPr>
          <a:lstStyle/>
          <a:p>
            <a:pPr algn="just">
              <a:lnSpc>
                <a:spcPts val="2077"/>
              </a:lnSpc>
              <a:spcBef>
                <a:spcPct val="0"/>
              </a:spcBef>
            </a:pPr>
            <a:r>
              <a:rPr lang="en-US" sz="1678">
                <a:solidFill>
                  <a:srgbClr val="505468"/>
                </a:solidFill>
                <a:latin typeface="Arimo"/>
                <a:ea typeface="Arimo"/>
                <a:cs typeface="Arimo"/>
                <a:sym typeface="Arimo"/>
              </a:rPr>
              <a:t>En esta figura se muestra el autómata finito no determinista construido en el software JFLAP para representar la expresión regular (a|b)*abb. El estado q0 permite leer cualquier combinación de los símbolos a y b, mientras que los estados q1, q2 y q3 verifican la secuencia final abb. Si la cadena termina en el estado q3, la cadena es aceptada por el autómata.</a:t>
            </a:r>
          </a:p>
        </p:txBody>
      </p:sp>
      <p:sp>
        <p:nvSpPr>
          <p:cNvPr id="16" name="TextBox 16"/>
          <p:cNvSpPr txBox="1"/>
          <p:nvPr/>
        </p:nvSpPr>
        <p:spPr>
          <a:xfrm>
            <a:off x="7203302" y="7521232"/>
            <a:ext cx="7881510" cy="208592"/>
          </a:xfrm>
          <a:prstGeom prst="rect">
            <a:avLst/>
          </a:prstGeom>
        </p:spPr>
        <p:txBody>
          <a:bodyPr lIns="0" tIns="0" rIns="0" bIns="0" rtlCol="0" anchor="t">
            <a:spAutoFit/>
          </a:bodyPr>
          <a:lstStyle/>
          <a:p>
            <a:pPr algn="ctr">
              <a:lnSpc>
                <a:spcPts val="1572"/>
              </a:lnSpc>
              <a:spcBef>
                <a:spcPct val="0"/>
              </a:spcBef>
            </a:pPr>
            <a:r>
              <a:rPr lang="en-US" sz="1269" i="1">
                <a:solidFill>
                  <a:srgbClr val="000000"/>
                </a:solidFill>
                <a:latin typeface="Arimo Italics"/>
                <a:ea typeface="Arimo Italics"/>
                <a:cs typeface="Arimo Italics"/>
                <a:sym typeface="Arimo Italics"/>
              </a:rPr>
              <a:t>Figura 4. Autómata finito no determinista construido en JFLAP para representar la expresión regular (a|b)*abb.</a:t>
            </a:r>
          </a:p>
        </p:txBody>
      </p:sp>
      <p:sp>
        <p:nvSpPr>
          <p:cNvPr id="17" name="TextBox 17"/>
          <p:cNvSpPr txBox="1"/>
          <p:nvPr/>
        </p:nvSpPr>
        <p:spPr>
          <a:xfrm>
            <a:off x="1395353" y="8036451"/>
            <a:ext cx="16267986" cy="1677155"/>
          </a:xfrm>
          <a:prstGeom prst="rect">
            <a:avLst/>
          </a:prstGeom>
        </p:spPr>
        <p:txBody>
          <a:bodyPr lIns="0" tIns="0" rIns="0" bIns="0" rtlCol="0" anchor="t">
            <a:spAutoFit/>
          </a:bodyPr>
          <a:lstStyle/>
          <a:p>
            <a:pPr algn="just">
              <a:lnSpc>
                <a:spcPts val="2244"/>
              </a:lnSpc>
              <a:spcBef>
                <a:spcPct val="0"/>
              </a:spcBef>
            </a:pPr>
            <a:r>
              <a:rPr lang="en-US" sz="1812" b="1">
                <a:solidFill>
                  <a:srgbClr val="505468"/>
                </a:solidFill>
                <a:latin typeface="Arimo Bold"/>
                <a:ea typeface="Arimo Bold"/>
                <a:cs typeface="Arimo Bold"/>
                <a:sym typeface="Arimo Bold"/>
              </a:rPr>
              <a:t>Funcionamiento del autómata:</a:t>
            </a:r>
          </a:p>
          <a:p>
            <a:pPr algn="just">
              <a:lnSpc>
                <a:spcPts val="2244"/>
              </a:lnSpc>
              <a:spcBef>
                <a:spcPct val="0"/>
              </a:spcBef>
            </a:pPr>
            <a:r>
              <a:rPr lang="en-US" sz="1812">
                <a:solidFill>
                  <a:srgbClr val="505468"/>
                </a:solidFill>
                <a:latin typeface="Arimo"/>
                <a:ea typeface="Arimo"/>
                <a:cs typeface="Arimo"/>
                <a:sym typeface="Arimo"/>
              </a:rPr>
              <a:t>El autómata comienza en el estado inicial, donde puede leer cualquier combinación de los símbolos a o b, representando la parte (a|b)* de la expresión regular.</a:t>
            </a:r>
          </a:p>
          <a:p>
            <a:pPr algn="just">
              <a:lnSpc>
                <a:spcPts val="2243"/>
              </a:lnSpc>
              <a:spcBef>
                <a:spcPct val="0"/>
              </a:spcBef>
            </a:pPr>
            <a:r>
              <a:rPr lang="en-US" sz="1812">
                <a:solidFill>
                  <a:srgbClr val="505468"/>
                </a:solidFill>
                <a:latin typeface="Arimo"/>
                <a:ea typeface="Arimo"/>
                <a:cs typeface="Arimo"/>
                <a:sym typeface="Arimo"/>
              </a:rPr>
              <a:t>Posteriormente, cuando aparece la secuencia abb, el autómata avanza por los estados finales que verifican esta terminación específica.</a:t>
            </a:r>
          </a:p>
          <a:p>
            <a:pPr algn="just">
              <a:lnSpc>
                <a:spcPts val="2244"/>
              </a:lnSpc>
              <a:spcBef>
                <a:spcPct val="0"/>
              </a:spcBef>
            </a:pPr>
            <a:endParaRPr lang="en-US" sz="1812">
              <a:solidFill>
                <a:srgbClr val="505468"/>
              </a:solidFill>
              <a:latin typeface="Arimo"/>
              <a:ea typeface="Arimo"/>
              <a:cs typeface="Arimo"/>
              <a:sym typeface="Arimo"/>
            </a:endParaRPr>
          </a:p>
          <a:p>
            <a:pPr algn="just">
              <a:lnSpc>
                <a:spcPts val="2244"/>
              </a:lnSpc>
              <a:spcBef>
                <a:spcPct val="0"/>
              </a:spcBef>
            </a:pPr>
            <a:r>
              <a:rPr lang="en-US" sz="1812">
                <a:solidFill>
                  <a:srgbClr val="505468"/>
                </a:solidFill>
                <a:latin typeface="Arimo"/>
                <a:ea typeface="Arimo"/>
                <a:cs typeface="Arimo"/>
                <a:sym typeface="Arimo"/>
              </a:rPr>
              <a:t> Si la cadena termina exactamente con abb, el autómata llega al estado de aceptación y la cadena es aceptada.</a:t>
            </a:r>
          </a:p>
          <a:p>
            <a:pPr algn="just">
              <a:lnSpc>
                <a:spcPts val="2244"/>
              </a:lnSpc>
              <a:spcBef>
                <a:spcPct val="0"/>
              </a:spcBef>
            </a:pPr>
            <a:r>
              <a:rPr lang="en-US" sz="1812">
                <a:solidFill>
                  <a:srgbClr val="505468"/>
                </a:solidFill>
                <a:latin typeface="Arimo"/>
                <a:ea typeface="Arimo"/>
                <a:cs typeface="Arimo"/>
                <a:sym typeface="Arimo"/>
              </a:rPr>
              <a:t>De esta forma, el autómata reconoce todas las cadenas formadas por a y b que terminan con la secuencia abb.</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grpSp>
        <p:nvGrpSpPr>
          <p:cNvPr id="6" name="Group 6"/>
          <p:cNvGrpSpPr/>
          <p:nvPr/>
        </p:nvGrpSpPr>
        <p:grpSpPr>
          <a:xfrm>
            <a:off x="912019" y="8236296"/>
            <a:ext cx="16463962" cy="1269206"/>
            <a:chOff x="0" y="0"/>
            <a:chExt cx="21951950" cy="1692275"/>
          </a:xfrm>
        </p:grpSpPr>
        <p:sp>
          <p:nvSpPr>
            <p:cNvPr id="7" name="Freeform 7"/>
            <p:cNvSpPr/>
            <p:nvPr/>
          </p:nvSpPr>
          <p:spPr>
            <a:xfrm>
              <a:off x="0" y="0"/>
              <a:ext cx="21951950" cy="1692275"/>
            </a:xfrm>
            <a:custGeom>
              <a:avLst/>
              <a:gdLst/>
              <a:ahLst/>
              <a:cxnLst/>
              <a:rect l="l" t="t" r="r" b="b"/>
              <a:pathLst>
                <a:path w="21951950" h="1692275">
                  <a:moveTo>
                    <a:pt x="0" y="127762"/>
                  </a:moveTo>
                  <a:cubicBezTo>
                    <a:pt x="0" y="57150"/>
                    <a:pt x="57150" y="0"/>
                    <a:pt x="127762" y="0"/>
                  </a:cubicBezTo>
                  <a:lnTo>
                    <a:pt x="21824187" y="0"/>
                  </a:lnTo>
                  <a:cubicBezTo>
                    <a:pt x="21894673" y="0"/>
                    <a:pt x="21951950" y="57150"/>
                    <a:pt x="21951950" y="127762"/>
                  </a:cubicBezTo>
                  <a:lnTo>
                    <a:pt x="21951950" y="1564513"/>
                  </a:lnTo>
                  <a:cubicBezTo>
                    <a:pt x="21951950" y="1634998"/>
                    <a:pt x="21894800" y="1692275"/>
                    <a:pt x="21824187" y="1692275"/>
                  </a:cubicBezTo>
                  <a:lnTo>
                    <a:pt x="127762" y="1692275"/>
                  </a:lnTo>
                  <a:cubicBezTo>
                    <a:pt x="57150" y="1692275"/>
                    <a:pt x="0" y="1635125"/>
                    <a:pt x="0" y="1564513"/>
                  </a:cubicBezTo>
                  <a:close/>
                </a:path>
              </a:pathLst>
            </a:custGeom>
            <a:solidFill>
              <a:srgbClr val="D4D5DE"/>
            </a:solidFill>
          </p:spPr>
        </p:sp>
      </p:grpSp>
      <p:grpSp>
        <p:nvGrpSpPr>
          <p:cNvPr id="8" name="Group 8"/>
          <p:cNvGrpSpPr/>
          <p:nvPr/>
        </p:nvGrpSpPr>
        <p:grpSpPr>
          <a:xfrm>
            <a:off x="1140028" y="8569376"/>
            <a:ext cx="285007" cy="228009"/>
            <a:chOff x="0" y="0"/>
            <a:chExt cx="380009" cy="304013"/>
          </a:xfrm>
        </p:grpSpPr>
        <p:sp>
          <p:nvSpPr>
            <p:cNvPr id="9" name="Freeform 9" descr="preencoded.png"/>
            <p:cNvSpPr/>
            <p:nvPr/>
          </p:nvSpPr>
          <p:spPr>
            <a:xfrm>
              <a:off x="0" y="0"/>
              <a:ext cx="379984" cy="304038"/>
            </a:xfrm>
            <a:custGeom>
              <a:avLst/>
              <a:gdLst/>
              <a:ahLst/>
              <a:cxnLst/>
              <a:rect l="l" t="t" r="r" b="b"/>
              <a:pathLst>
                <a:path w="379984" h="304038">
                  <a:moveTo>
                    <a:pt x="0" y="0"/>
                  </a:moveTo>
                  <a:lnTo>
                    <a:pt x="379984" y="0"/>
                  </a:lnTo>
                  <a:lnTo>
                    <a:pt x="379984" y="304038"/>
                  </a:lnTo>
                  <a:lnTo>
                    <a:pt x="0" y="304038"/>
                  </a:lnTo>
                  <a:lnTo>
                    <a:pt x="0" y="0"/>
                  </a:lnTo>
                  <a:close/>
                </a:path>
              </a:pathLst>
            </a:custGeom>
            <a:blipFill>
              <a:blip r:embed="rId4"/>
              <a:stretch>
                <a:fillRect r="-6" b="8"/>
              </a:stretch>
            </a:blipFill>
          </p:spPr>
        </p:sp>
      </p:grpSp>
      <p:sp>
        <p:nvSpPr>
          <p:cNvPr id="10" name="Freeform 10"/>
          <p:cNvSpPr/>
          <p:nvPr/>
        </p:nvSpPr>
        <p:spPr>
          <a:xfrm>
            <a:off x="2108274" y="1934872"/>
            <a:ext cx="4662314" cy="3397661"/>
          </a:xfrm>
          <a:custGeom>
            <a:avLst/>
            <a:gdLst/>
            <a:ahLst/>
            <a:cxnLst/>
            <a:rect l="l" t="t" r="r" b="b"/>
            <a:pathLst>
              <a:path w="4662314" h="3397661">
                <a:moveTo>
                  <a:pt x="0" y="0"/>
                </a:moveTo>
                <a:lnTo>
                  <a:pt x="4662313" y="0"/>
                </a:lnTo>
                <a:lnTo>
                  <a:pt x="4662313" y="3397661"/>
                </a:lnTo>
                <a:lnTo>
                  <a:pt x="0" y="3397661"/>
                </a:lnTo>
                <a:lnTo>
                  <a:pt x="0" y="0"/>
                </a:lnTo>
                <a:close/>
              </a:path>
            </a:pathLst>
          </a:custGeom>
          <a:blipFill>
            <a:blip r:embed="rId5"/>
            <a:stretch>
              <a:fillRect/>
            </a:stretch>
          </a:blipFill>
        </p:spPr>
      </p:sp>
      <p:sp>
        <p:nvSpPr>
          <p:cNvPr id="11" name="Freeform 11"/>
          <p:cNvSpPr/>
          <p:nvPr/>
        </p:nvSpPr>
        <p:spPr>
          <a:xfrm>
            <a:off x="11350593" y="1873172"/>
            <a:ext cx="4424232" cy="3418352"/>
          </a:xfrm>
          <a:custGeom>
            <a:avLst/>
            <a:gdLst/>
            <a:ahLst/>
            <a:cxnLst/>
            <a:rect l="l" t="t" r="r" b="b"/>
            <a:pathLst>
              <a:path w="4424232" h="3418352">
                <a:moveTo>
                  <a:pt x="0" y="0"/>
                </a:moveTo>
                <a:lnTo>
                  <a:pt x="4424232" y="0"/>
                </a:lnTo>
                <a:lnTo>
                  <a:pt x="4424232" y="3418352"/>
                </a:lnTo>
                <a:lnTo>
                  <a:pt x="0" y="3418352"/>
                </a:lnTo>
                <a:lnTo>
                  <a:pt x="0" y="0"/>
                </a:lnTo>
                <a:close/>
              </a:path>
            </a:pathLst>
          </a:custGeom>
          <a:blipFill>
            <a:blip r:embed="rId6"/>
            <a:stretch>
              <a:fillRect l="-7984" r="-7984"/>
            </a:stretch>
          </a:blipFill>
        </p:spPr>
      </p:sp>
      <p:sp>
        <p:nvSpPr>
          <p:cNvPr id="12" name="TextBox 12"/>
          <p:cNvSpPr txBox="1"/>
          <p:nvPr/>
        </p:nvSpPr>
        <p:spPr>
          <a:xfrm>
            <a:off x="912019" y="743398"/>
            <a:ext cx="9534077" cy="750684"/>
          </a:xfrm>
          <a:prstGeom prst="rect">
            <a:avLst/>
          </a:prstGeom>
        </p:spPr>
        <p:txBody>
          <a:bodyPr lIns="0" tIns="0" rIns="0" bIns="0" rtlCol="0" anchor="t">
            <a:spAutoFit/>
          </a:bodyPr>
          <a:lstStyle/>
          <a:p>
            <a:pPr algn="l">
              <a:lnSpc>
                <a:spcPts val="5562"/>
              </a:lnSpc>
            </a:pPr>
            <a:r>
              <a:rPr lang="en-US" sz="4437" b="1">
                <a:solidFill>
                  <a:srgbClr val="505468"/>
                </a:solidFill>
                <a:latin typeface="Arimo Bold"/>
                <a:ea typeface="Arimo Bold"/>
                <a:cs typeface="Arimo Bold"/>
                <a:sym typeface="Arimo Bold"/>
              </a:rPr>
              <a:t>Práctica 4: Minimización de estados</a:t>
            </a:r>
          </a:p>
        </p:txBody>
      </p:sp>
      <p:sp>
        <p:nvSpPr>
          <p:cNvPr id="13" name="TextBox 13"/>
          <p:cNvSpPr txBox="1"/>
          <p:nvPr/>
        </p:nvSpPr>
        <p:spPr>
          <a:xfrm>
            <a:off x="912019" y="5817546"/>
            <a:ext cx="2850356" cy="384724"/>
          </a:xfrm>
          <a:prstGeom prst="rect">
            <a:avLst/>
          </a:prstGeom>
        </p:spPr>
        <p:txBody>
          <a:bodyPr lIns="0" tIns="0" rIns="0" bIns="0" rtlCol="0" anchor="t">
            <a:spAutoFit/>
          </a:bodyPr>
          <a:lstStyle/>
          <a:p>
            <a:pPr algn="l">
              <a:lnSpc>
                <a:spcPts val="2750"/>
              </a:lnSpc>
            </a:pPr>
            <a:r>
              <a:rPr lang="en-US" sz="2187" b="1">
                <a:solidFill>
                  <a:srgbClr val="505468"/>
                </a:solidFill>
                <a:latin typeface="Arimo Bold"/>
                <a:ea typeface="Arimo Bold"/>
                <a:cs typeface="Arimo Bold"/>
                <a:sym typeface="Arimo Bold"/>
              </a:rPr>
              <a:t>Autómata original</a:t>
            </a:r>
          </a:p>
        </p:txBody>
      </p:sp>
      <p:sp>
        <p:nvSpPr>
          <p:cNvPr id="14" name="TextBox 14"/>
          <p:cNvSpPr txBox="1"/>
          <p:nvPr/>
        </p:nvSpPr>
        <p:spPr>
          <a:xfrm>
            <a:off x="912019" y="6354661"/>
            <a:ext cx="7953823" cy="1603165"/>
          </a:xfrm>
          <a:prstGeom prst="rect">
            <a:avLst/>
          </a:prstGeom>
        </p:spPr>
        <p:txBody>
          <a:bodyPr lIns="0" tIns="0" rIns="0" bIns="0" rtlCol="0" anchor="t">
            <a:spAutoFit/>
          </a:bodyPr>
          <a:lstStyle/>
          <a:p>
            <a:pPr algn="just">
              <a:lnSpc>
                <a:spcPts val="1806"/>
              </a:lnSpc>
            </a:pPr>
            <a:r>
              <a:rPr lang="en-US" sz="1150">
                <a:solidFill>
                  <a:srgbClr val="5B5F71"/>
                </a:solidFill>
                <a:latin typeface="Arimo"/>
                <a:ea typeface="Arimo"/>
                <a:cs typeface="Arimo"/>
                <a:sym typeface="Arimo"/>
              </a:rPr>
              <a:t>En esta práctica se construyó un Autómata Finito Determinista (AFD) utilizando el JFLAP. El autómata fue diseñado con varios estados que representan diferentes situaciones durante el procesamiento de una cadena de entrada.</a:t>
            </a:r>
          </a:p>
          <a:p>
            <a:pPr algn="just">
              <a:lnSpc>
                <a:spcPts val="1807"/>
              </a:lnSpc>
            </a:pPr>
            <a:r>
              <a:rPr lang="en-US" sz="1150">
                <a:solidFill>
                  <a:srgbClr val="5B5F71"/>
                </a:solidFill>
                <a:latin typeface="Arimo"/>
                <a:ea typeface="Arimo"/>
                <a:cs typeface="Arimo"/>
                <a:sym typeface="Arimo"/>
              </a:rPr>
              <a:t>Cada estado se conecta mediante transiciones que dependen de los símbolos del alfabeto. El autómata inicia en el estado inicial y, dependiendo del símbolo leído, se desplaza a otros estados hasta completar el procesamiento de la cadena. Algunos estados se definen como estados de aceptación, los cuales indican que la cadena pertenece al lenguaje reconocido por el autómata.</a:t>
            </a:r>
          </a:p>
          <a:p>
            <a:pPr algn="just">
              <a:lnSpc>
                <a:spcPts val="1806"/>
              </a:lnSpc>
            </a:pPr>
            <a:endParaRPr lang="en-US" sz="1150">
              <a:solidFill>
                <a:srgbClr val="5B5F71"/>
              </a:solidFill>
              <a:latin typeface="Arimo"/>
              <a:ea typeface="Arimo"/>
              <a:cs typeface="Arimo"/>
              <a:sym typeface="Arimo"/>
            </a:endParaRPr>
          </a:p>
        </p:txBody>
      </p:sp>
      <p:sp>
        <p:nvSpPr>
          <p:cNvPr id="15" name="TextBox 15"/>
          <p:cNvSpPr txBox="1"/>
          <p:nvPr/>
        </p:nvSpPr>
        <p:spPr>
          <a:xfrm>
            <a:off x="9431684" y="5817546"/>
            <a:ext cx="4436716" cy="333168"/>
          </a:xfrm>
          <a:prstGeom prst="rect">
            <a:avLst/>
          </a:prstGeom>
        </p:spPr>
        <p:txBody>
          <a:bodyPr wrap="square" lIns="0" tIns="0" rIns="0" bIns="0" rtlCol="0" anchor="t">
            <a:spAutoFit/>
          </a:bodyPr>
          <a:lstStyle/>
          <a:p>
            <a:pPr algn="l">
              <a:lnSpc>
                <a:spcPts val="2750"/>
              </a:lnSpc>
            </a:pPr>
            <a:r>
              <a:rPr lang="en-US" sz="2187" b="1" dirty="0" err="1">
                <a:solidFill>
                  <a:srgbClr val="505468"/>
                </a:solidFill>
                <a:latin typeface="Arimo Bold"/>
                <a:ea typeface="Arimo Bold"/>
                <a:cs typeface="Arimo Bold"/>
                <a:sym typeface="Arimo Bold"/>
              </a:rPr>
              <a:t>Tabla</a:t>
            </a:r>
            <a:r>
              <a:rPr lang="en-US" sz="2187" b="1" dirty="0">
                <a:solidFill>
                  <a:srgbClr val="505468"/>
                </a:solidFill>
                <a:latin typeface="Arimo Bold"/>
                <a:ea typeface="Arimo Bold"/>
                <a:cs typeface="Arimo Bold"/>
                <a:sym typeface="Arimo Bold"/>
              </a:rPr>
              <a:t> de </a:t>
            </a:r>
            <a:r>
              <a:rPr lang="en-US" sz="2187" b="1" dirty="0" err="1">
                <a:solidFill>
                  <a:srgbClr val="505468"/>
                </a:solidFill>
                <a:latin typeface="Arimo Bold"/>
                <a:ea typeface="Arimo Bold"/>
                <a:cs typeface="Arimo Bold"/>
                <a:sym typeface="Arimo Bold"/>
              </a:rPr>
              <a:t>equivalencias</a:t>
            </a:r>
            <a:endParaRPr lang="en-US" sz="2187" b="1" dirty="0">
              <a:solidFill>
                <a:srgbClr val="505468"/>
              </a:solidFill>
              <a:latin typeface="Arimo Bold"/>
              <a:ea typeface="Arimo Bold"/>
              <a:cs typeface="Arimo Bold"/>
              <a:sym typeface="Arimo Bold"/>
            </a:endParaRPr>
          </a:p>
        </p:txBody>
      </p:sp>
      <p:sp>
        <p:nvSpPr>
          <p:cNvPr id="16" name="TextBox 16"/>
          <p:cNvSpPr txBox="1"/>
          <p:nvPr/>
        </p:nvSpPr>
        <p:spPr>
          <a:xfrm>
            <a:off x="9431684" y="6354661"/>
            <a:ext cx="7953823" cy="1484153"/>
          </a:xfrm>
          <a:prstGeom prst="rect">
            <a:avLst/>
          </a:prstGeom>
        </p:spPr>
        <p:txBody>
          <a:bodyPr lIns="0" tIns="0" rIns="0" bIns="0" rtlCol="0" anchor="t">
            <a:spAutoFit/>
          </a:bodyPr>
          <a:lstStyle/>
          <a:p>
            <a:pPr algn="just">
              <a:lnSpc>
                <a:spcPts val="1963"/>
              </a:lnSpc>
            </a:pPr>
            <a:r>
              <a:rPr lang="en-US" sz="1250">
                <a:solidFill>
                  <a:srgbClr val="5B5F71"/>
                </a:solidFill>
                <a:latin typeface="Arimo"/>
                <a:ea typeface="Arimo"/>
                <a:cs typeface="Arimo"/>
                <a:sym typeface="Arimo"/>
              </a:rPr>
              <a:t>Para identificar los estados equivalentes se utilizó el proceso de minimización en JFLAP. Este procedimiento comienza separando los estados del autómata en dos grupos: estados finales y estados no finales.</a:t>
            </a:r>
          </a:p>
          <a:p>
            <a:pPr algn="just">
              <a:lnSpc>
                <a:spcPts val="1964"/>
              </a:lnSpc>
            </a:pPr>
            <a:r>
              <a:rPr lang="en-US" sz="1250">
                <a:solidFill>
                  <a:srgbClr val="5B5F71"/>
                </a:solidFill>
                <a:latin typeface="Arimo"/>
                <a:ea typeface="Arimo"/>
                <a:cs typeface="Arimo"/>
                <a:sym typeface="Arimo"/>
              </a:rPr>
              <a:t>Posteriormente se analizan las transiciones de cada estado para determinar si tienen el mismo comportamiento frente a los símbolos del alfabeto. Si dos estados responden de la misma manera ante todas las entradas posibles, se consideran equivalentes y pueden fusionarse en un solo estado sin alterar el lenguaje reconocido.</a:t>
            </a:r>
          </a:p>
          <a:p>
            <a:pPr algn="just">
              <a:lnSpc>
                <a:spcPts val="1963"/>
              </a:lnSpc>
            </a:pPr>
            <a:endParaRPr lang="en-US" sz="1250">
              <a:solidFill>
                <a:srgbClr val="5B5F71"/>
              </a:solidFill>
              <a:latin typeface="Arimo"/>
              <a:ea typeface="Arimo"/>
              <a:cs typeface="Arimo"/>
              <a:sym typeface="Arimo"/>
            </a:endParaRPr>
          </a:p>
        </p:txBody>
      </p:sp>
      <p:sp>
        <p:nvSpPr>
          <p:cNvPr id="17" name="TextBox 17"/>
          <p:cNvSpPr txBox="1"/>
          <p:nvPr/>
        </p:nvSpPr>
        <p:spPr>
          <a:xfrm>
            <a:off x="1653035" y="8426653"/>
            <a:ext cx="15494946" cy="969962"/>
          </a:xfrm>
          <a:prstGeom prst="rect">
            <a:avLst/>
          </a:prstGeom>
        </p:spPr>
        <p:txBody>
          <a:bodyPr lIns="0" tIns="0" rIns="0" bIns="0" rtlCol="0" anchor="t">
            <a:spAutoFit/>
          </a:bodyPr>
          <a:lstStyle/>
          <a:p>
            <a:pPr algn="l">
              <a:lnSpc>
                <a:spcPts val="2592"/>
              </a:lnSpc>
            </a:pPr>
            <a:r>
              <a:rPr lang="en-US" sz="1650">
                <a:solidFill>
                  <a:srgbClr val="000000"/>
                </a:solidFill>
                <a:latin typeface="Arimo"/>
                <a:ea typeface="Arimo"/>
                <a:cs typeface="Arimo"/>
                <a:sym typeface="Arimo"/>
              </a:rPr>
              <a:t>Después de identificar los estados equivalentes, se construyó un nuevo autómata con un número menor de estados. A pesar de la reducción, el autómata minimizado reconoce exactamente el mismo lenguaje que el autómata original, lo que demuestra que algunos estados podían fusionarse sin afectar su funcionamiento.</a:t>
            </a:r>
          </a:p>
          <a:p>
            <a:pPr algn="l">
              <a:lnSpc>
                <a:spcPts val="2592"/>
              </a:lnSpc>
            </a:pPr>
            <a:endParaRPr lang="en-US" sz="1650">
              <a:solidFill>
                <a:srgbClr val="000000"/>
              </a:solidFill>
              <a:latin typeface="Arimo"/>
              <a:ea typeface="Arimo"/>
              <a:cs typeface="Arimo"/>
              <a:sym typeface="Arimo"/>
            </a:endParaRPr>
          </a:p>
        </p:txBody>
      </p:sp>
      <p:sp>
        <p:nvSpPr>
          <p:cNvPr id="18" name="TextBox 18"/>
          <p:cNvSpPr txBox="1"/>
          <p:nvPr/>
        </p:nvSpPr>
        <p:spPr>
          <a:xfrm>
            <a:off x="1956858" y="5414322"/>
            <a:ext cx="4965145" cy="222249"/>
          </a:xfrm>
          <a:prstGeom prst="rect">
            <a:avLst/>
          </a:prstGeom>
        </p:spPr>
        <p:txBody>
          <a:bodyPr lIns="0" tIns="0" rIns="0" bIns="0" rtlCol="0" anchor="t">
            <a:spAutoFit/>
          </a:bodyPr>
          <a:lstStyle/>
          <a:p>
            <a:pPr algn="ctr">
              <a:lnSpc>
                <a:spcPts val="1625"/>
              </a:lnSpc>
              <a:spcBef>
                <a:spcPct val="0"/>
              </a:spcBef>
            </a:pPr>
            <a:r>
              <a:rPr lang="en-US" sz="1312" i="1">
                <a:solidFill>
                  <a:srgbClr val="000000"/>
                </a:solidFill>
                <a:latin typeface="Arimo Italics"/>
                <a:ea typeface="Arimo Italics"/>
                <a:cs typeface="Arimo Italics"/>
                <a:sym typeface="Arimo Italics"/>
              </a:rPr>
              <a:t>Figura 5. Autómata finito determinista original construido en JFLAP.</a:t>
            </a:r>
          </a:p>
        </p:txBody>
      </p:sp>
      <p:sp>
        <p:nvSpPr>
          <p:cNvPr id="19" name="TextBox 19"/>
          <p:cNvSpPr txBox="1"/>
          <p:nvPr/>
        </p:nvSpPr>
        <p:spPr>
          <a:xfrm>
            <a:off x="10595195" y="5317485"/>
            <a:ext cx="5935028" cy="222249"/>
          </a:xfrm>
          <a:prstGeom prst="rect">
            <a:avLst/>
          </a:prstGeom>
        </p:spPr>
        <p:txBody>
          <a:bodyPr lIns="0" tIns="0" rIns="0" bIns="0" rtlCol="0" anchor="t">
            <a:spAutoFit/>
          </a:bodyPr>
          <a:lstStyle/>
          <a:p>
            <a:pPr algn="ctr">
              <a:lnSpc>
                <a:spcPts val="1625"/>
              </a:lnSpc>
              <a:spcBef>
                <a:spcPct val="0"/>
              </a:spcBef>
            </a:pPr>
            <a:r>
              <a:rPr lang="en-US" sz="1312" i="1">
                <a:solidFill>
                  <a:srgbClr val="000000"/>
                </a:solidFill>
                <a:latin typeface="Arimo Italics"/>
                <a:ea typeface="Arimo Italics"/>
                <a:cs typeface="Arimo Italics"/>
                <a:sym typeface="Arimo Italics"/>
              </a:rPr>
              <a:t>Figura 6. Proceso de minimización y tabla de equivalencias generada en JFLAP.</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sp>
        <p:nvSpPr>
          <p:cNvPr id="6" name="TextBox 6"/>
          <p:cNvSpPr txBox="1"/>
          <p:nvPr/>
        </p:nvSpPr>
        <p:spPr>
          <a:xfrm>
            <a:off x="964559" y="671665"/>
            <a:ext cx="6029173" cy="801138"/>
          </a:xfrm>
          <a:prstGeom prst="rect">
            <a:avLst/>
          </a:prstGeom>
        </p:spPr>
        <p:txBody>
          <a:bodyPr lIns="0" tIns="0" rIns="0" bIns="0" rtlCol="0" anchor="t">
            <a:spAutoFit/>
          </a:bodyPr>
          <a:lstStyle/>
          <a:p>
            <a:pPr algn="l">
              <a:lnSpc>
                <a:spcPts val="5874"/>
              </a:lnSpc>
            </a:pPr>
            <a:r>
              <a:rPr lang="en-US" sz="4687" b="1">
                <a:solidFill>
                  <a:srgbClr val="505468"/>
                </a:solidFill>
                <a:latin typeface="Arimo Bold"/>
                <a:ea typeface="Arimo Bold"/>
                <a:cs typeface="Arimo Bold"/>
                <a:sym typeface="Arimo Bold"/>
              </a:rPr>
              <a:t>Conclusión</a:t>
            </a:r>
          </a:p>
        </p:txBody>
      </p:sp>
      <p:sp>
        <p:nvSpPr>
          <p:cNvPr id="7" name="TextBox 7"/>
          <p:cNvSpPr txBox="1"/>
          <p:nvPr/>
        </p:nvSpPr>
        <p:spPr>
          <a:xfrm>
            <a:off x="964559" y="1846364"/>
            <a:ext cx="16358892" cy="855764"/>
          </a:xfrm>
          <a:prstGeom prst="rect">
            <a:avLst/>
          </a:prstGeom>
        </p:spPr>
        <p:txBody>
          <a:bodyPr lIns="0" tIns="0" rIns="0" bIns="0" rtlCol="0" anchor="t">
            <a:spAutoFit/>
          </a:bodyPr>
          <a:lstStyle/>
          <a:p>
            <a:pPr algn="l">
              <a:lnSpc>
                <a:spcPts val="2937"/>
              </a:lnSpc>
            </a:pPr>
            <a:r>
              <a:rPr lang="en-US" sz="1874">
                <a:solidFill>
                  <a:srgbClr val="5B5F71"/>
                </a:solidFill>
                <a:latin typeface="Arimo"/>
                <a:ea typeface="Arimo"/>
                <a:cs typeface="Arimo"/>
                <a:sym typeface="Arimo"/>
              </a:rPr>
              <a:t>A través de las prácticas realizadas en la Unidad 3 fue posible comprender de manera más clara el funcionamiento de los autómatas finitos y su importancia dentro de la teoría de la computación.</a:t>
            </a:r>
          </a:p>
        </p:txBody>
      </p:sp>
      <p:sp>
        <p:nvSpPr>
          <p:cNvPr id="8" name="TextBox 8"/>
          <p:cNvSpPr txBox="1"/>
          <p:nvPr/>
        </p:nvSpPr>
        <p:spPr>
          <a:xfrm>
            <a:off x="964559" y="2870597"/>
            <a:ext cx="16358892" cy="855764"/>
          </a:xfrm>
          <a:prstGeom prst="rect">
            <a:avLst/>
          </a:prstGeom>
        </p:spPr>
        <p:txBody>
          <a:bodyPr lIns="0" tIns="0" rIns="0" bIns="0" rtlCol="0" anchor="t">
            <a:spAutoFit/>
          </a:bodyPr>
          <a:lstStyle/>
          <a:p>
            <a:pPr algn="l">
              <a:lnSpc>
                <a:spcPts val="2937"/>
              </a:lnSpc>
            </a:pPr>
            <a:r>
              <a:rPr lang="en-US" sz="1874">
                <a:solidFill>
                  <a:srgbClr val="5B5F71"/>
                </a:solidFill>
                <a:latin typeface="Arimo"/>
                <a:ea typeface="Arimo"/>
                <a:cs typeface="Arimo"/>
                <a:sym typeface="Arimo"/>
              </a:rPr>
              <a:t>El uso del software JFLAP permitió visualizar de forma gráfica los diferentes procesos estudiados, como la construcción de autómatas, la conversión de AFND a AFD, la representación de expresiones regulares y la minimización de estados.</a:t>
            </a:r>
          </a:p>
        </p:txBody>
      </p:sp>
      <p:grpSp>
        <p:nvGrpSpPr>
          <p:cNvPr id="9" name="Group 9"/>
          <p:cNvGrpSpPr/>
          <p:nvPr/>
        </p:nvGrpSpPr>
        <p:grpSpPr>
          <a:xfrm>
            <a:off x="959796" y="3985317"/>
            <a:ext cx="8071695" cy="2169023"/>
            <a:chOff x="0" y="0"/>
            <a:chExt cx="10762259" cy="2892031"/>
          </a:xfrm>
        </p:grpSpPr>
        <p:sp>
          <p:nvSpPr>
            <p:cNvPr id="10" name="Freeform 10"/>
            <p:cNvSpPr/>
            <p:nvPr/>
          </p:nvSpPr>
          <p:spPr>
            <a:xfrm>
              <a:off x="6350" y="6350"/>
              <a:ext cx="10749534" cy="2879344"/>
            </a:xfrm>
            <a:custGeom>
              <a:avLst/>
              <a:gdLst/>
              <a:ahLst/>
              <a:cxnLst/>
              <a:rect l="l" t="t" r="r" b="b"/>
              <a:pathLst>
                <a:path w="10749534" h="2879344">
                  <a:moveTo>
                    <a:pt x="0" y="135128"/>
                  </a:moveTo>
                  <a:cubicBezTo>
                    <a:pt x="0" y="60452"/>
                    <a:pt x="60706" y="0"/>
                    <a:pt x="135509" y="0"/>
                  </a:cubicBezTo>
                  <a:lnTo>
                    <a:pt x="10614025" y="0"/>
                  </a:lnTo>
                  <a:cubicBezTo>
                    <a:pt x="10688828" y="0"/>
                    <a:pt x="10749534" y="60452"/>
                    <a:pt x="10749534" y="135128"/>
                  </a:cubicBezTo>
                  <a:lnTo>
                    <a:pt x="10749534" y="2744216"/>
                  </a:lnTo>
                  <a:cubicBezTo>
                    <a:pt x="10749534" y="2818765"/>
                    <a:pt x="10688828" y="2879344"/>
                    <a:pt x="10614025" y="2879344"/>
                  </a:cubicBezTo>
                  <a:lnTo>
                    <a:pt x="135509" y="2879344"/>
                  </a:lnTo>
                  <a:cubicBezTo>
                    <a:pt x="60706" y="2879344"/>
                    <a:pt x="0" y="2818892"/>
                    <a:pt x="0" y="2744216"/>
                  </a:cubicBezTo>
                  <a:close/>
                </a:path>
              </a:pathLst>
            </a:custGeom>
            <a:solidFill>
              <a:srgbClr val="E2E3E9"/>
            </a:solidFill>
          </p:spPr>
        </p:sp>
        <p:sp>
          <p:nvSpPr>
            <p:cNvPr id="11" name="Freeform 11"/>
            <p:cNvSpPr/>
            <p:nvPr/>
          </p:nvSpPr>
          <p:spPr>
            <a:xfrm>
              <a:off x="0" y="0"/>
              <a:ext cx="10762234" cy="2892044"/>
            </a:xfrm>
            <a:custGeom>
              <a:avLst/>
              <a:gdLst/>
              <a:ahLst/>
              <a:cxnLst/>
              <a:rect l="l" t="t" r="r" b="b"/>
              <a:pathLst>
                <a:path w="10762234" h="2892044">
                  <a:moveTo>
                    <a:pt x="0" y="141478"/>
                  </a:moveTo>
                  <a:cubicBezTo>
                    <a:pt x="0" y="63246"/>
                    <a:pt x="63500" y="0"/>
                    <a:pt x="141859" y="0"/>
                  </a:cubicBezTo>
                  <a:lnTo>
                    <a:pt x="10620375" y="0"/>
                  </a:lnTo>
                  <a:lnTo>
                    <a:pt x="10620375" y="6350"/>
                  </a:lnTo>
                  <a:lnTo>
                    <a:pt x="10620375" y="0"/>
                  </a:lnTo>
                  <a:cubicBezTo>
                    <a:pt x="10698734" y="0"/>
                    <a:pt x="10762234" y="63246"/>
                    <a:pt x="10762234" y="141478"/>
                  </a:cubicBezTo>
                  <a:lnTo>
                    <a:pt x="10755884" y="141478"/>
                  </a:lnTo>
                  <a:lnTo>
                    <a:pt x="10762234" y="141478"/>
                  </a:lnTo>
                  <a:lnTo>
                    <a:pt x="10762234" y="2750566"/>
                  </a:lnTo>
                  <a:lnTo>
                    <a:pt x="10755884" y="2750566"/>
                  </a:lnTo>
                  <a:lnTo>
                    <a:pt x="10762234" y="2750566"/>
                  </a:lnTo>
                  <a:cubicBezTo>
                    <a:pt x="10762234" y="2828671"/>
                    <a:pt x="10698734" y="2892044"/>
                    <a:pt x="10620375" y="2892044"/>
                  </a:cubicBezTo>
                  <a:lnTo>
                    <a:pt x="10620375" y="2885694"/>
                  </a:lnTo>
                  <a:lnTo>
                    <a:pt x="10620375" y="2892044"/>
                  </a:lnTo>
                  <a:lnTo>
                    <a:pt x="141859" y="2892044"/>
                  </a:lnTo>
                  <a:lnTo>
                    <a:pt x="141859" y="2885694"/>
                  </a:lnTo>
                  <a:lnTo>
                    <a:pt x="141859" y="2892044"/>
                  </a:lnTo>
                  <a:cubicBezTo>
                    <a:pt x="63500" y="2892044"/>
                    <a:pt x="0" y="2828671"/>
                    <a:pt x="0" y="2750566"/>
                  </a:cubicBezTo>
                  <a:lnTo>
                    <a:pt x="0" y="141478"/>
                  </a:lnTo>
                  <a:lnTo>
                    <a:pt x="6350" y="141478"/>
                  </a:lnTo>
                  <a:lnTo>
                    <a:pt x="0" y="141478"/>
                  </a:lnTo>
                  <a:moveTo>
                    <a:pt x="12700" y="141478"/>
                  </a:moveTo>
                  <a:lnTo>
                    <a:pt x="12700" y="2750566"/>
                  </a:lnTo>
                  <a:lnTo>
                    <a:pt x="6350" y="2750566"/>
                  </a:lnTo>
                  <a:lnTo>
                    <a:pt x="12700" y="2750566"/>
                  </a:lnTo>
                  <a:cubicBezTo>
                    <a:pt x="12700" y="2821686"/>
                    <a:pt x="70485" y="2879344"/>
                    <a:pt x="141859" y="2879344"/>
                  </a:cubicBezTo>
                  <a:lnTo>
                    <a:pt x="10620375" y="2879344"/>
                  </a:lnTo>
                  <a:cubicBezTo>
                    <a:pt x="10691749" y="2879344"/>
                    <a:pt x="10749534" y="2821686"/>
                    <a:pt x="10749534" y="2750566"/>
                  </a:cubicBezTo>
                  <a:lnTo>
                    <a:pt x="10749534" y="141478"/>
                  </a:lnTo>
                  <a:cubicBezTo>
                    <a:pt x="10749534" y="70358"/>
                    <a:pt x="10691749" y="12700"/>
                    <a:pt x="10620375" y="12700"/>
                  </a:cubicBezTo>
                  <a:lnTo>
                    <a:pt x="141859" y="12700"/>
                  </a:lnTo>
                  <a:lnTo>
                    <a:pt x="141859" y="6350"/>
                  </a:lnTo>
                  <a:lnTo>
                    <a:pt x="141859" y="12700"/>
                  </a:lnTo>
                  <a:cubicBezTo>
                    <a:pt x="70485" y="12700"/>
                    <a:pt x="12700" y="70358"/>
                    <a:pt x="12700" y="141478"/>
                  </a:cubicBezTo>
                  <a:close/>
                </a:path>
              </a:pathLst>
            </a:custGeom>
            <a:solidFill>
              <a:srgbClr val="C8C9CF"/>
            </a:solidFill>
          </p:spPr>
        </p:sp>
      </p:grpSp>
      <p:sp>
        <p:nvSpPr>
          <p:cNvPr id="12" name="TextBox 12"/>
          <p:cNvSpPr txBox="1"/>
          <p:nvPr/>
        </p:nvSpPr>
        <p:spPr>
          <a:xfrm>
            <a:off x="1215180" y="4202611"/>
            <a:ext cx="3915966" cy="414928"/>
          </a:xfrm>
          <a:prstGeom prst="rect">
            <a:avLst/>
          </a:prstGeom>
        </p:spPr>
        <p:txBody>
          <a:bodyPr lIns="0" tIns="0" rIns="0" bIns="0" rtlCol="0" anchor="t">
            <a:spAutoFit/>
          </a:bodyPr>
          <a:lstStyle/>
          <a:p>
            <a:pPr algn="l">
              <a:lnSpc>
                <a:spcPts val="2937"/>
              </a:lnSpc>
            </a:pPr>
            <a:r>
              <a:rPr lang="en-US" sz="2312" b="1">
                <a:solidFill>
                  <a:srgbClr val="5B5F71"/>
                </a:solidFill>
                <a:latin typeface="Arimo Bold"/>
                <a:ea typeface="Arimo Bold"/>
                <a:cs typeface="Arimo Bold"/>
                <a:sym typeface="Arimo Bold"/>
              </a:rPr>
              <a:t>Construcción de autómatas</a:t>
            </a:r>
          </a:p>
        </p:txBody>
      </p:sp>
      <p:sp>
        <p:nvSpPr>
          <p:cNvPr id="13" name="TextBox 13"/>
          <p:cNvSpPr txBox="1"/>
          <p:nvPr/>
        </p:nvSpPr>
        <p:spPr>
          <a:xfrm>
            <a:off x="1215180" y="4662935"/>
            <a:ext cx="7560916" cy="1236021"/>
          </a:xfrm>
          <a:prstGeom prst="rect">
            <a:avLst/>
          </a:prstGeom>
        </p:spPr>
        <p:txBody>
          <a:bodyPr lIns="0" tIns="0" rIns="0" bIns="0" rtlCol="0" anchor="t">
            <a:spAutoFit/>
          </a:bodyPr>
          <a:lstStyle/>
          <a:p>
            <a:pPr algn="l">
              <a:lnSpc>
                <a:spcPts val="2937"/>
              </a:lnSpc>
            </a:pPr>
            <a:r>
              <a:rPr lang="en-US" sz="1874">
                <a:solidFill>
                  <a:srgbClr val="5B5F71"/>
                </a:solidFill>
                <a:latin typeface="Arimo"/>
                <a:ea typeface="Arimo"/>
                <a:cs typeface="Arimo"/>
                <a:sym typeface="Arimo"/>
              </a:rPr>
              <a:t>Se desarrolló la capacidad de diseñar autómatas para reconocer lenguajes específicos mediante la definición de estados y transiciones.</a:t>
            </a:r>
          </a:p>
        </p:txBody>
      </p:sp>
      <p:grpSp>
        <p:nvGrpSpPr>
          <p:cNvPr id="14" name="Group 14"/>
          <p:cNvGrpSpPr/>
          <p:nvPr/>
        </p:nvGrpSpPr>
        <p:grpSpPr>
          <a:xfrm>
            <a:off x="9256366" y="3985317"/>
            <a:ext cx="8071847" cy="2169023"/>
            <a:chOff x="0" y="0"/>
            <a:chExt cx="10762463" cy="2892031"/>
          </a:xfrm>
        </p:grpSpPr>
        <p:sp>
          <p:nvSpPr>
            <p:cNvPr id="15" name="Freeform 15"/>
            <p:cNvSpPr/>
            <p:nvPr/>
          </p:nvSpPr>
          <p:spPr>
            <a:xfrm>
              <a:off x="6350" y="6350"/>
              <a:ext cx="10749788" cy="2879344"/>
            </a:xfrm>
            <a:custGeom>
              <a:avLst/>
              <a:gdLst/>
              <a:ahLst/>
              <a:cxnLst/>
              <a:rect l="l" t="t" r="r" b="b"/>
              <a:pathLst>
                <a:path w="10749788" h="2879344">
                  <a:moveTo>
                    <a:pt x="0" y="135128"/>
                  </a:moveTo>
                  <a:cubicBezTo>
                    <a:pt x="0" y="60452"/>
                    <a:pt x="60706" y="0"/>
                    <a:pt x="135509" y="0"/>
                  </a:cubicBezTo>
                  <a:lnTo>
                    <a:pt x="10614278" y="0"/>
                  </a:lnTo>
                  <a:cubicBezTo>
                    <a:pt x="10689082" y="0"/>
                    <a:pt x="10749788" y="60452"/>
                    <a:pt x="10749788" y="135128"/>
                  </a:cubicBezTo>
                  <a:lnTo>
                    <a:pt x="10749788" y="2744216"/>
                  </a:lnTo>
                  <a:cubicBezTo>
                    <a:pt x="10749788" y="2818765"/>
                    <a:pt x="10689082" y="2879344"/>
                    <a:pt x="10614278" y="2879344"/>
                  </a:cubicBezTo>
                  <a:lnTo>
                    <a:pt x="135509" y="2879344"/>
                  </a:lnTo>
                  <a:cubicBezTo>
                    <a:pt x="60706" y="2879344"/>
                    <a:pt x="0" y="2818892"/>
                    <a:pt x="0" y="2744216"/>
                  </a:cubicBezTo>
                  <a:close/>
                </a:path>
              </a:pathLst>
            </a:custGeom>
            <a:solidFill>
              <a:srgbClr val="E2E3E9"/>
            </a:solidFill>
          </p:spPr>
        </p:sp>
        <p:sp>
          <p:nvSpPr>
            <p:cNvPr id="16" name="Freeform 16"/>
            <p:cNvSpPr/>
            <p:nvPr/>
          </p:nvSpPr>
          <p:spPr>
            <a:xfrm>
              <a:off x="0" y="0"/>
              <a:ext cx="10762488" cy="2892044"/>
            </a:xfrm>
            <a:custGeom>
              <a:avLst/>
              <a:gdLst/>
              <a:ahLst/>
              <a:cxnLst/>
              <a:rect l="l" t="t" r="r" b="b"/>
              <a:pathLst>
                <a:path w="10762488" h="2892044">
                  <a:moveTo>
                    <a:pt x="0" y="141478"/>
                  </a:moveTo>
                  <a:cubicBezTo>
                    <a:pt x="0" y="63246"/>
                    <a:pt x="63500" y="0"/>
                    <a:pt x="141859" y="0"/>
                  </a:cubicBezTo>
                  <a:lnTo>
                    <a:pt x="10620628" y="0"/>
                  </a:lnTo>
                  <a:lnTo>
                    <a:pt x="10620628" y="6350"/>
                  </a:lnTo>
                  <a:lnTo>
                    <a:pt x="10620628" y="0"/>
                  </a:lnTo>
                  <a:cubicBezTo>
                    <a:pt x="10698988" y="0"/>
                    <a:pt x="10762488" y="63246"/>
                    <a:pt x="10762488" y="141478"/>
                  </a:cubicBezTo>
                  <a:lnTo>
                    <a:pt x="10756138" y="141478"/>
                  </a:lnTo>
                  <a:lnTo>
                    <a:pt x="10762488" y="141478"/>
                  </a:lnTo>
                  <a:lnTo>
                    <a:pt x="10762488" y="2750566"/>
                  </a:lnTo>
                  <a:lnTo>
                    <a:pt x="10756138" y="2750566"/>
                  </a:lnTo>
                  <a:lnTo>
                    <a:pt x="10762488" y="2750566"/>
                  </a:lnTo>
                  <a:cubicBezTo>
                    <a:pt x="10762488" y="2828671"/>
                    <a:pt x="10698988" y="2892044"/>
                    <a:pt x="10620628" y="2892044"/>
                  </a:cubicBezTo>
                  <a:lnTo>
                    <a:pt x="10620628" y="2885694"/>
                  </a:lnTo>
                  <a:lnTo>
                    <a:pt x="10620628" y="2892044"/>
                  </a:lnTo>
                  <a:lnTo>
                    <a:pt x="141859" y="2892044"/>
                  </a:lnTo>
                  <a:lnTo>
                    <a:pt x="141859" y="2885694"/>
                  </a:lnTo>
                  <a:lnTo>
                    <a:pt x="141859" y="2892044"/>
                  </a:lnTo>
                  <a:cubicBezTo>
                    <a:pt x="63500" y="2892044"/>
                    <a:pt x="0" y="2828671"/>
                    <a:pt x="0" y="2750566"/>
                  </a:cubicBezTo>
                  <a:lnTo>
                    <a:pt x="0" y="141478"/>
                  </a:lnTo>
                  <a:lnTo>
                    <a:pt x="6350" y="141478"/>
                  </a:lnTo>
                  <a:lnTo>
                    <a:pt x="0" y="141478"/>
                  </a:lnTo>
                  <a:moveTo>
                    <a:pt x="12700" y="141478"/>
                  </a:moveTo>
                  <a:lnTo>
                    <a:pt x="12700" y="2750566"/>
                  </a:lnTo>
                  <a:lnTo>
                    <a:pt x="6350" y="2750566"/>
                  </a:lnTo>
                  <a:lnTo>
                    <a:pt x="12700" y="2750566"/>
                  </a:lnTo>
                  <a:cubicBezTo>
                    <a:pt x="12700" y="2821686"/>
                    <a:pt x="70485" y="2879344"/>
                    <a:pt x="141859" y="2879344"/>
                  </a:cubicBezTo>
                  <a:lnTo>
                    <a:pt x="10620628" y="2879344"/>
                  </a:lnTo>
                  <a:cubicBezTo>
                    <a:pt x="10692002" y="2879344"/>
                    <a:pt x="10749788" y="2821686"/>
                    <a:pt x="10749788" y="2750566"/>
                  </a:cubicBezTo>
                  <a:lnTo>
                    <a:pt x="10749788" y="141478"/>
                  </a:lnTo>
                  <a:cubicBezTo>
                    <a:pt x="10749788" y="70358"/>
                    <a:pt x="10692002" y="12700"/>
                    <a:pt x="10620628" y="12700"/>
                  </a:cubicBezTo>
                  <a:lnTo>
                    <a:pt x="141859" y="12700"/>
                  </a:lnTo>
                  <a:lnTo>
                    <a:pt x="141859" y="6350"/>
                  </a:lnTo>
                  <a:lnTo>
                    <a:pt x="141859" y="12700"/>
                  </a:lnTo>
                  <a:cubicBezTo>
                    <a:pt x="70485" y="12700"/>
                    <a:pt x="12700" y="70358"/>
                    <a:pt x="12700" y="141478"/>
                  </a:cubicBezTo>
                  <a:close/>
                </a:path>
              </a:pathLst>
            </a:custGeom>
            <a:solidFill>
              <a:srgbClr val="C8C9CF"/>
            </a:solidFill>
          </p:spPr>
        </p:sp>
      </p:grpSp>
      <p:sp>
        <p:nvSpPr>
          <p:cNvPr id="17" name="TextBox 17"/>
          <p:cNvSpPr txBox="1"/>
          <p:nvPr/>
        </p:nvSpPr>
        <p:spPr>
          <a:xfrm>
            <a:off x="9511751" y="4202611"/>
            <a:ext cx="3432867" cy="414928"/>
          </a:xfrm>
          <a:prstGeom prst="rect">
            <a:avLst/>
          </a:prstGeom>
        </p:spPr>
        <p:txBody>
          <a:bodyPr lIns="0" tIns="0" rIns="0" bIns="0" rtlCol="0" anchor="t">
            <a:spAutoFit/>
          </a:bodyPr>
          <a:lstStyle/>
          <a:p>
            <a:pPr algn="l">
              <a:lnSpc>
                <a:spcPts val="2937"/>
              </a:lnSpc>
            </a:pPr>
            <a:r>
              <a:rPr lang="en-US" sz="2312" b="1">
                <a:solidFill>
                  <a:srgbClr val="5B5F71"/>
                </a:solidFill>
                <a:latin typeface="Arimo Bold"/>
                <a:ea typeface="Arimo Bold"/>
                <a:cs typeface="Arimo Bold"/>
                <a:sym typeface="Arimo Bold"/>
              </a:rPr>
              <a:t>Conversión AFND a AFD</a:t>
            </a:r>
          </a:p>
        </p:txBody>
      </p:sp>
      <p:sp>
        <p:nvSpPr>
          <p:cNvPr id="18" name="TextBox 18"/>
          <p:cNvSpPr txBox="1"/>
          <p:nvPr/>
        </p:nvSpPr>
        <p:spPr>
          <a:xfrm>
            <a:off x="9511751" y="4662935"/>
            <a:ext cx="7561059" cy="750888"/>
          </a:xfrm>
          <a:prstGeom prst="rect">
            <a:avLst/>
          </a:prstGeom>
        </p:spPr>
        <p:txBody>
          <a:bodyPr lIns="0" tIns="0" rIns="0" bIns="0" rtlCol="0" anchor="t">
            <a:spAutoFit/>
          </a:bodyPr>
          <a:lstStyle/>
          <a:p>
            <a:pPr algn="l">
              <a:lnSpc>
                <a:spcPts val="2937"/>
              </a:lnSpc>
            </a:pPr>
            <a:r>
              <a:rPr lang="en-US" sz="1874">
                <a:solidFill>
                  <a:srgbClr val="5B5F71"/>
                </a:solidFill>
                <a:latin typeface="Arimo"/>
                <a:ea typeface="Arimo"/>
                <a:cs typeface="Arimo"/>
                <a:sym typeface="Arimo"/>
              </a:rPr>
              <a:t>Se comprendió el proceso de eliminación del no determinismo mediante el método de construcción de subconjuntos.</a:t>
            </a:r>
          </a:p>
        </p:txBody>
      </p:sp>
      <p:grpSp>
        <p:nvGrpSpPr>
          <p:cNvPr id="19" name="Group 19"/>
          <p:cNvGrpSpPr/>
          <p:nvPr/>
        </p:nvGrpSpPr>
        <p:grpSpPr>
          <a:xfrm>
            <a:off x="959796" y="6379216"/>
            <a:ext cx="8071695" cy="1788766"/>
            <a:chOff x="0" y="0"/>
            <a:chExt cx="10762259" cy="2385022"/>
          </a:xfrm>
        </p:grpSpPr>
        <p:sp>
          <p:nvSpPr>
            <p:cNvPr id="20" name="Freeform 20"/>
            <p:cNvSpPr/>
            <p:nvPr/>
          </p:nvSpPr>
          <p:spPr>
            <a:xfrm>
              <a:off x="6350" y="6350"/>
              <a:ext cx="10749534" cy="2372233"/>
            </a:xfrm>
            <a:custGeom>
              <a:avLst/>
              <a:gdLst/>
              <a:ahLst/>
              <a:cxnLst/>
              <a:rect l="l" t="t" r="r" b="b"/>
              <a:pathLst>
                <a:path w="10749534" h="2372233">
                  <a:moveTo>
                    <a:pt x="0" y="135001"/>
                  </a:moveTo>
                  <a:cubicBezTo>
                    <a:pt x="0" y="60452"/>
                    <a:pt x="60706" y="0"/>
                    <a:pt x="135636" y="0"/>
                  </a:cubicBezTo>
                  <a:lnTo>
                    <a:pt x="10613898" y="0"/>
                  </a:lnTo>
                  <a:cubicBezTo>
                    <a:pt x="10688828" y="0"/>
                    <a:pt x="10749534" y="60452"/>
                    <a:pt x="10749534" y="135001"/>
                  </a:cubicBezTo>
                  <a:lnTo>
                    <a:pt x="10749534" y="2237232"/>
                  </a:lnTo>
                  <a:cubicBezTo>
                    <a:pt x="10749534" y="2311781"/>
                    <a:pt x="10688828" y="2372233"/>
                    <a:pt x="10613898" y="2372233"/>
                  </a:cubicBezTo>
                  <a:lnTo>
                    <a:pt x="135636" y="2372233"/>
                  </a:lnTo>
                  <a:cubicBezTo>
                    <a:pt x="60706" y="2372360"/>
                    <a:pt x="0" y="2311908"/>
                    <a:pt x="0" y="2237232"/>
                  </a:cubicBezTo>
                  <a:close/>
                </a:path>
              </a:pathLst>
            </a:custGeom>
            <a:solidFill>
              <a:srgbClr val="E2E3E9"/>
            </a:solidFill>
          </p:spPr>
        </p:sp>
        <p:sp>
          <p:nvSpPr>
            <p:cNvPr id="21" name="Freeform 21"/>
            <p:cNvSpPr/>
            <p:nvPr/>
          </p:nvSpPr>
          <p:spPr>
            <a:xfrm>
              <a:off x="0" y="0"/>
              <a:ext cx="10762234" cy="2384933"/>
            </a:xfrm>
            <a:custGeom>
              <a:avLst/>
              <a:gdLst/>
              <a:ahLst/>
              <a:cxnLst/>
              <a:rect l="l" t="t" r="r" b="b"/>
              <a:pathLst>
                <a:path w="10762234" h="2384933">
                  <a:moveTo>
                    <a:pt x="0" y="141351"/>
                  </a:moveTo>
                  <a:cubicBezTo>
                    <a:pt x="0" y="63246"/>
                    <a:pt x="63627" y="0"/>
                    <a:pt x="141986" y="0"/>
                  </a:cubicBezTo>
                  <a:lnTo>
                    <a:pt x="10620248" y="0"/>
                  </a:lnTo>
                  <a:lnTo>
                    <a:pt x="10620248" y="6350"/>
                  </a:lnTo>
                  <a:lnTo>
                    <a:pt x="10620248" y="0"/>
                  </a:lnTo>
                  <a:cubicBezTo>
                    <a:pt x="10698607" y="0"/>
                    <a:pt x="10762234" y="63246"/>
                    <a:pt x="10762234" y="141351"/>
                  </a:cubicBezTo>
                  <a:lnTo>
                    <a:pt x="10755884" y="141351"/>
                  </a:lnTo>
                  <a:lnTo>
                    <a:pt x="10762234" y="141351"/>
                  </a:lnTo>
                  <a:lnTo>
                    <a:pt x="10762234" y="2243582"/>
                  </a:lnTo>
                  <a:lnTo>
                    <a:pt x="10755884" y="2243582"/>
                  </a:lnTo>
                  <a:lnTo>
                    <a:pt x="10762234" y="2243582"/>
                  </a:lnTo>
                  <a:cubicBezTo>
                    <a:pt x="10762234" y="2321687"/>
                    <a:pt x="10698607" y="2384933"/>
                    <a:pt x="10620248" y="2384933"/>
                  </a:cubicBezTo>
                  <a:lnTo>
                    <a:pt x="10620248" y="2378583"/>
                  </a:lnTo>
                  <a:lnTo>
                    <a:pt x="10620248" y="2384933"/>
                  </a:lnTo>
                  <a:lnTo>
                    <a:pt x="141986" y="2384933"/>
                  </a:lnTo>
                  <a:lnTo>
                    <a:pt x="141986" y="2378583"/>
                  </a:lnTo>
                  <a:lnTo>
                    <a:pt x="141986" y="2384933"/>
                  </a:lnTo>
                  <a:cubicBezTo>
                    <a:pt x="63627" y="2385060"/>
                    <a:pt x="0" y="2321687"/>
                    <a:pt x="0" y="2243582"/>
                  </a:cubicBezTo>
                  <a:lnTo>
                    <a:pt x="0" y="141351"/>
                  </a:lnTo>
                  <a:lnTo>
                    <a:pt x="6350" y="141351"/>
                  </a:lnTo>
                  <a:lnTo>
                    <a:pt x="0" y="141351"/>
                  </a:lnTo>
                  <a:moveTo>
                    <a:pt x="12700" y="141351"/>
                  </a:moveTo>
                  <a:lnTo>
                    <a:pt x="12700" y="2243582"/>
                  </a:lnTo>
                  <a:lnTo>
                    <a:pt x="6350" y="2243582"/>
                  </a:lnTo>
                  <a:lnTo>
                    <a:pt x="12700" y="2243582"/>
                  </a:lnTo>
                  <a:cubicBezTo>
                    <a:pt x="12700" y="2314702"/>
                    <a:pt x="70612" y="2372233"/>
                    <a:pt x="141986" y="2372233"/>
                  </a:cubicBezTo>
                  <a:lnTo>
                    <a:pt x="10620248" y="2372233"/>
                  </a:lnTo>
                  <a:cubicBezTo>
                    <a:pt x="10691622" y="2372233"/>
                    <a:pt x="10749534" y="2314575"/>
                    <a:pt x="10749534" y="2243582"/>
                  </a:cubicBezTo>
                  <a:lnTo>
                    <a:pt x="10749534" y="141351"/>
                  </a:lnTo>
                  <a:cubicBezTo>
                    <a:pt x="10749534" y="70231"/>
                    <a:pt x="10691622" y="12700"/>
                    <a:pt x="10620248" y="12700"/>
                  </a:cubicBezTo>
                  <a:lnTo>
                    <a:pt x="141986" y="12700"/>
                  </a:lnTo>
                  <a:lnTo>
                    <a:pt x="141986" y="6350"/>
                  </a:lnTo>
                  <a:lnTo>
                    <a:pt x="141986" y="12700"/>
                  </a:lnTo>
                  <a:cubicBezTo>
                    <a:pt x="70612" y="12700"/>
                    <a:pt x="12700" y="70358"/>
                    <a:pt x="12700" y="141351"/>
                  </a:cubicBezTo>
                  <a:close/>
                </a:path>
              </a:pathLst>
            </a:custGeom>
            <a:solidFill>
              <a:srgbClr val="C8C9CF"/>
            </a:solidFill>
          </p:spPr>
        </p:sp>
      </p:grpSp>
      <p:sp>
        <p:nvSpPr>
          <p:cNvPr id="22" name="TextBox 22"/>
          <p:cNvSpPr txBox="1"/>
          <p:nvPr/>
        </p:nvSpPr>
        <p:spPr>
          <a:xfrm>
            <a:off x="1215180" y="6596510"/>
            <a:ext cx="4271220" cy="346441"/>
          </a:xfrm>
          <a:prstGeom prst="rect">
            <a:avLst/>
          </a:prstGeom>
        </p:spPr>
        <p:txBody>
          <a:bodyPr wrap="square" lIns="0" tIns="0" rIns="0" bIns="0" rtlCol="0" anchor="t">
            <a:spAutoFit/>
          </a:bodyPr>
          <a:lstStyle/>
          <a:p>
            <a:pPr algn="l">
              <a:lnSpc>
                <a:spcPts val="2937"/>
              </a:lnSpc>
            </a:pPr>
            <a:r>
              <a:rPr lang="en-US" sz="2312" b="1" dirty="0" err="1">
                <a:solidFill>
                  <a:srgbClr val="5B5F71"/>
                </a:solidFill>
                <a:latin typeface="Arimo Bold"/>
                <a:ea typeface="Arimo Bold"/>
                <a:cs typeface="Arimo Bold"/>
                <a:sym typeface="Arimo Bold"/>
              </a:rPr>
              <a:t>Expresiones</a:t>
            </a:r>
            <a:r>
              <a:rPr lang="en-US" sz="2312" b="1" dirty="0">
                <a:solidFill>
                  <a:srgbClr val="5B5F71"/>
                </a:solidFill>
                <a:latin typeface="Arimo Bold"/>
                <a:ea typeface="Arimo Bold"/>
                <a:cs typeface="Arimo Bold"/>
                <a:sym typeface="Arimo Bold"/>
              </a:rPr>
              <a:t> </a:t>
            </a:r>
            <a:r>
              <a:rPr lang="en-US" sz="2312" b="1" dirty="0" err="1">
                <a:solidFill>
                  <a:srgbClr val="5B5F71"/>
                </a:solidFill>
                <a:latin typeface="Arimo Bold"/>
                <a:ea typeface="Arimo Bold"/>
                <a:cs typeface="Arimo Bold"/>
                <a:sym typeface="Arimo Bold"/>
              </a:rPr>
              <a:t>regulares</a:t>
            </a:r>
            <a:endParaRPr lang="en-US" sz="2312" b="1" dirty="0">
              <a:solidFill>
                <a:srgbClr val="5B5F71"/>
              </a:solidFill>
              <a:latin typeface="Arimo Bold"/>
              <a:ea typeface="Arimo Bold"/>
              <a:cs typeface="Arimo Bold"/>
              <a:sym typeface="Arimo Bold"/>
            </a:endParaRPr>
          </a:p>
        </p:txBody>
      </p:sp>
      <p:sp>
        <p:nvSpPr>
          <p:cNvPr id="23" name="TextBox 23"/>
          <p:cNvSpPr txBox="1"/>
          <p:nvPr/>
        </p:nvSpPr>
        <p:spPr>
          <a:xfrm>
            <a:off x="1215180" y="7075884"/>
            <a:ext cx="7560916" cy="1293672"/>
          </a:xfrm>
          <a:prstGeom prst="rect">
            <a:avLst/>
          </a:prstGeom>
        </p:spPr>
        <p:txBody>
          <a:bodyPr lIns="0" tIns="0" rIns="0" bIns="0" rtlCol="0" anchor="t">
            <a:spAutoFit/>
          </a:bodyPr>
          <a:lstStyle/>
          <a:p>
            <a:pPr algn="l">
              <a:lnSpc>
                <a:spcPts val="2624"/>
              </a:lnSpc>
            </a:pPr>
            <a:r>
              <a:rPr lang="en-US" sz="1675">
                <a:solidFill>
                  <a:srgbClr val="5B5F71"/>
                </a:solidFill>
                <a:latin typeface="Arimo"/>
                <a:ea typeface="Arimo"/>
                <a:cs typeface="Arimo"/>
                <a:sym typeface="Arimo"/>
              </a:rPr>
              <a:t>Se observó la relación entre las expresiones regulares y los autómatas finitos, comprendiendo que ambos representan formas equivalentes de describir lenguajes formales.</a:t>
            </a:r>
          </a:p>
          <a:p>
            <a:pPr algn="l">
              <a:lnSpc>
                <a:spcPts val="2623"/>
              </a:lnSpc>
            </a:pPr>
            <a:endParaRPr lang="en-US" sz="1675">
              <a:solidFill>
                <a:srgbClr val="5B5F71"/>
              </a:solidFill>
              <a:latin typeface="Arimo"/>
              <a:ea typeface="Arimo"/>
              <a:cs typeface="Arimo"/>
              <a:sym typeface="Arimo"/>
            </a:endParaRPr>
          </a:p>
        </p:txBody>
      </p:sp>
      <p:grpSp>
        <p:nvGrpSpPr>
          <p:cNvPr id="24" name="Group 24"/>
          <p:cNvGrpSpPr/>
          <p:nvPr/>
        </p:nvGrpSpPr>
        <p:grpSpPr>
          <a:xfrm>
            <a:off x="9256366" y="6379216"/>
            <a:ext cx="8071847" cy="1788766"/>
            <a:chOff x="0" y="0"/>
            <a:chExt cx="10762463" cy="2385022"/>
          </a:xfrm>
        </p:grpSpPr>
        <p:sp>
          <p:nvSpPr>
            <p:cNvPr id="25" name="Freeform 25"/>
            <p:cNvSpPr/>
            <p:nvPr/>
          </p:nvSpPr>
          <p:spPr>
            <a:xfrm>
              <a:off x="6350" y="6350"/>
              <a:ext cx="10749788" cy="2372233"/>
            </a:xfrm>
            <a:custGeom>
              <a:avLst/>
              <a:gdLst/>
              <a:ahLst/>
              <a:cxnLst/>
              <a:rect l="l" t="t" r="r" b="b"/>
              <a:pathLst>
                <a:path w="10749788" h="2372233">
                  <a:moveTo>
                    <a:pt x="0" y="135001"/>
                  </a:moveTo>
                  <a:cubicBezTo>
                    <a:pt x="0" y="60452"/>
                    <a:pt x="60706" y="0"/>
                    <a:pt x="135636" y="0"/>
                  </a:cubicBezTo>
                  <a:lnTo>
                    <a:pt x="10614152" y="0"/>
                  </a:lnTo>
                  <a:cubicBezTo>
                    <a:pt x="10689082" y="0"/>
                    <a:pt x="10749788" y="60452"/>
                    <a:pt x="10749788" y="135001"/>
                  </a:cubicBezTo>
                  <a:lnTo>
                    <a:pt x="10749788" y="2237232"/>
                  </a:lnTo>
                  <a:cubicBezTo>
                    <a:pt x="10749788" y="2311781"/>
                    <a:pt x="10689082" y="2372233"/>
                    <a:pt x="10614152" y="2372233"/>
                  </a:cubicBezTo>
                  <a:lnTo>
                    <a:pt x="135636" y="2372233"/>
                  </a:lnTo>
                  <a:cubicBezTo>
                    <a:pt x="60706" y="2372360"/>
                    <a:pt x="0" y="2311908"/>
                    <a:pt x="0" y="2237232"/>
                  </a:cubicBezTo>
                  <a:close/>
                </a:path>
              </a:pathLst>
            </a:custGeom>
            <a:solidFill>
              <a:srgbClr val="E2E3E9"/>
            </a:solidFill>
          </p:spPr>
        </p:sp>
        <p:sp>
          <p:nvSpPr>
            <p:cNvPr id="26" name="Freeform 26"/>
            <p:cNvSpPr/>
            <p:nvPr/>
          </p:nvSpPr>
          <p:spPr>
            <a:xfrm>
              <a:off x="0" y="0"/>
              <a:ext cx="10762488" cy="2384933"/>
            </a:xfrm>
            <a:custGeom>
              <a:avLst/>
              <a:gdLst/>
              <a:ahLst/>
              <a:cxnLst/>
              <a:rect l="l" t="t" r="r" b="b"/>
              <a:pathLst>
                <a:path w="10762488" h="2384933">
                  <a:moveTo>
                    <a:pt x="0" y="141351"/>
                  </a:moveTo>
                  <a:cubicBezTo>
                    <a:pt x="0" y="63246"/>
                    <a:pt x="63627" y="0"/>
                    <a:pt x="141986" y="0"/>
                  </a:cubicBezTo>
                  <a:lnTo>
                    <a:pt x="10620502" y="0"/>
                  </a:lnTo>
                  <a:lnTo>
                    <a:pt x="10620502" y="6350"/>
                  </a:lnTo>
                  <a:lnTo>
                    <a:pt x="10620502" y="0"/>
                  </a:lnTo>
                  <a:cubicBezTo>
                    <a:pt x="10698861" y="0"/>
                    <a:pt x="10762488" y="63246"/>
                    <a:pt x="10762488" y="141351"/>
                  </a:cubicBezTo>
                  <a:lnTo>
                    <a:pt x="10756138" y="141351"/>
                  </a:lnTo>
                  <a:lnTo>
                    <a:pt x="10762488" y="141351"/>
                  </a:lnTo>
                  <a:lnTo>
                    <a:pt x="10762488" y="2243582"/>
                  </a:lnTo>
                  <a:lnTo>
                    <a:pt x="10756138" y="2243582"/>
                  </a:lnTo>
                  <a:lnTo>
                    <a:pt x="10762488" y="2243582"/>
                  </a:lnTo>
                  <a:cubicBezTo>
                    <a:pt x="10762488" y="2321687"/>
                    <a:pt x="10698861" y="2384933"/>
                    <a:pt x="10620502" y="2384933"/>
                  </a:cubicBezTo>
                  <a:lnTo>
                    <a:pt x="10620502" y="2378583"/>
                  </a:lnTo>
                  <a:lnTo>
                    <a:pt x="10620502" y="2384933"/>
                  </a:lnTo>
                  <a:lnTo>
                    <a:pt x="141986" y="2384933"/>
                  </a:lnTo>
                  <a:lnTo>
                    <a:pt x="141986" y="2378583"/>
                  </a:lnTo>
                  <a:lnTo>
                    <a:pt x="141986" y="2384933"/>
                  </a:lnTo>
                  <a:cubicBezTo>
                    <a:pt x="63627" y="2385060"/>
                    <a:pt x="0" y="2321687"/>
                    <a:pt x="0" y="2243582"/>
                  </a:cubicBezTo>
                  <a:lnTo>
                    <a:pt x="0" y="141351"/>
                  </a:lnTo>
                  <a:lnTo>
                    <a:pt x="6350" y="141351"/>
                  </a:lnTo>
                  <a:lnTo>
                    <a:pt x="0" y="141351"/>
                  </a:lnTo>
                  <a:moveTo>
                    <a:pt x="12700" y="141351"/>
                  </a:moveTo>
                  <a:lnTo>
                    <a:pt x="12700" y="2243582"/>
                  </a:lnTo>
                  <a:lnTo>
                    <a:pt x="6350" y="2243582"/>
                  </a:lnTo>
                  <a:lnTo>
                    <a:pt x="12700" y="2243582"/>
                  </a:lnTo>
                  <a:cubicBezTo>
                    <a:pt x="12700" y="2314702"/>
                    <a:pt x="70612" y="2372233"/>
                    <a:pt x="141986" y="2372233"/>
                  </a:cubicBezTo>
                  <a:lnTo>
                    <a:pt x="10620502" y="2372233"/>
                  </a:lnTo>
                  <a:cubicBezTo>
                    <a:pt x="10691876" y="2372233"/>
                    <a:pt x="10749788" y="2314575"/>
                    <a:pt x="10749788" y="2243582"/>
                  </a:cubicBezTo>
                  <a:lnTo>
                    <a:pt x="10749788" y="141351"/>
                  </a:lnTo>
                  <a:cubicBezTo>
                    <a:pt x="10749788" y="70231"/>
                    <a:pt x="10691876" y="12700"/>
                    <a:pt x="10620502" y="12700"/>
                  </a:cubicBezTo>
                  <a:lnTo>
                    <a:pt x="141986" y="12700"/>
                  </a:lnTo>
                  <a:lnTo>
                    <a:pt x="141986" y="6350"/>
                  </a:lnTo>
                  <a:lnTo>
                    <a:pt x="141986" y="12700"/>
                  </a:lnTo>
                  <a:cubicBezTo>
                    <a:pt x="70612" y="12700"/>
                    <a:pt x="12700" y="70358"/>
                    <a:pt x="12700" y="141351"/>
                  </a:cubicBezTo>
                  <a:close/>
                </a:path>
              </a:pathLst>
            </a:custGeom>
            <a:solidFill>
              <a:srgbClr val="C8C9CF"/>
            </a:solidFill>
          </p:spPr>
        </p:sp>
      </p:grpSp>
      <p:sp>
        <p:nvSpPr>
          <p:cNvPr id="27" name="TextBox 27"/>
          <p:cNvSpPr txBox="1"/>
          <p:nvPr/>
        </p:nvSpPr>
        <p:spPr>
          <a:xfrm>
            <a:off x="9511751" y="6596510"/>
            <a:ext cx="3486445" cy="414928"/>
          </a:xfrm>
          <a:prstGeom prst="rect">
            <a:avLst/>
          </a:prstGeom>
        </p:spPr>
        <p:txBody>
          <a:bodyPr lIns="0" tIns="0" rIns="0" bIns="0" rtlCol="0" anchor="t">
            <a:spAutoFit/>
          </a:bodyPr>
          <a:lstStyle/>
          <a:p>
            <a:pPr algn="l">
              <a:lnSpc>
                <a:spcPts val="2937"/>
              </a:lnSpc>
            </a:pPr>
            <a:r>
              <a:rPr lang="en-US" sz="2312" b="1">
                <a:solidFill>
                  <a:srgbClr val="5B5F71"/>
                </a:solidFill>
                <a:latin typeface="Arimo Bold"/>
                <a:ea typeface="Arimo Bold"/>
                <a:cs typeface="Arimo Bold"/>
                <a:sym typeface="Arimo Bold"/>
              </a:rPr>
              <a:t>Minimización de estados</a:t>
            </a:r>
          </a:p>
        </p:txBody>
      </p:sp>
      <p:sp>
        <p:nvSpPr>
          <p:cNvPr id="28" name="TextBox 28"/>
          <p:cNvSpPr txBox="1"/>
          <p:nvPr/>
        </p:nvSpPr>
        <p:spPr>
          <a:xfrm>
            <a:off x="9511751" y="7056834"/>
            <a:ext cx="7561059" cy="1493917"/>
          </a:xfrm>
          <a:prstGeom prst="rect">
            <a:avLst/>
          </a:prstGeom>
        </p:spPr>
        <p:txBody>
          <a:bodyPr lIns="0" tIns="0" rIns="0" bIns="0" rtlCol="0" anchor="t">
            <a:spAutoFit/>
          </a:bodyPr>
          <a:lstStyle/>
          <a:p>
            <a:pPr algn="l">
              <a:lnSpc>
                <a:spcPts val="2937"/>
              </a:lnSpc>
            </a:pPr>
            <a:r>
              <a:rPr lang="en-US" sz="1874">
                <a:solidFill>
                  <a:srgbClr val="5B5F71"/>
                </a:solidFill>
                <a:latin typeface="Arimo"/>
                <a:ea typeface="Arimo"/>
                <a:cs typeface="Arimo"/>
                <a:sym typeface="Arimo"/>
              </a:rPr>
              <a:t>Se aprendió a optimizar autómatas eliminando estados redundantes sin alterar el lenguaje reconocido.</a:t>
            </a:r>
          </a:p>
          <a:p>
            <a:pPr algn="l">
              <a:lnSpc>
                <a:spcPts val="2936"/>
              </a:lnSpc>
            </a:pPr>
            <a:endParaRPr lang="en-US" sz="1874">
              <a:solidFill>
                <a:srgbClr val="5B5F71"/>
              </a:solidFill>
              <a:latin typeface="Arimo"/>
              <a:ea typeface="Arimo"/>
              <a:cs typeface="Arimo"/>
              <a:sym typeface="Arimo"/>
            </a:endParaRPr>
          </a:p>
          <a:p>
            <a:pPr algn="l">
              <a:lnSpc>
                <a:spcPts val="2936"/>
              </a:lnSpc>
            </a:pPr>
            <a:endParaRPr lang="en-US" sz="1874">
              <a:solidFill>
                <a:srgbClr val="5B5F71"/>
              </a:solidFill>
              <a:latin typeface="Arimo"/>
              <a:ea typeface="Arimo"/>
              <a:cs typeface="Arimo"/>
              <a:sym typeface="Arimo"/>
            </a:endParaRPr>
          </a:p>
        </p:txBody>
      </p:sp>
      <p:sp>
        <p:nvSpPr>
          <p:cNvPr id="29" name="TextBox 29"/>
          <p:cNvSpPr txBox="1"/>
          <p:nvPr/>
        </p:nvSpPr>
        <p:spPr>
          <a:xfrm>
            <a:off x="964559" y="8331698"/>
            <a:ext cx="16358892" cy="1236021"/>
          </a:xfrm>
          <a:prstGeom prst="rect">
            <a:avLst/>
          </a:prstGeom>
        </p:spPr>
        <p:txBody>
          <a:bodyPr lIns="0" tIns="0" rIns="0" bIns="0" rtlCol="0" anchor="t">
            <a:spAutoFit/>
          </a:bodyPr>
          <a:lstStyle/>
          <a:p>
            <a:pPr algn="l">
              <a:lnSpc>
                <a:spcPts val="2937"/>
              </a:lnSpc>
            </a:pPr>
            <a:r>
              <a:rPr lang="en-US" sz="1874" dirty="0" err="1">
                <a:solidFill>
                  <a:srgbClr val="5B5F71"/>
                </a:solidFill>
                <a:latin typeface="Arimo"/>
                <a:ea typeface="Arimo"/>
                <a:cs typeface="Arimo"/>
                <a:sym typeface="Arimo"/>
              </a:rPr>
              <a:t>Estas</a:t>
            </a:r>
            <a:r>
              <a:rPr lang="en-US" sz="1874" dirty="0">
                <a:solidFill>
                  <a:srgbClr val="5B5F71"/>
                </a:solidFill>
                <a:latin typeface="Arimo"/>
                <a:ea typeface="Arimo"/>
                <a:cs typeface="Arimo"/>
                <a:sym typeface="Arimo"/>
              </a:rPr>
              <a:t> </a:t>
            </a:r>
            <a:r>
              <a:rPr lang="en-US" sz="1874" dirty="0" err="1">
                <a:solidFill>
                  <a:srgbClr val="5B5F71"/>
                </a:solidFill>
                <a:latin typeface="Arimo"/>
                <a:ea typeface="Arimo"/>
                <a:cs typeface="Arimo"/>
                <a:sym typeface="Arimo"/>
              </a:rPr>
              <a:t>prácticas</a:t>
            </a:r>
            <a:r>
              <a:rPr lang="en-US" sz="1874" dirty="0">
                <a:solidFill>
                  <a:srgbClr val="5B5F71"/>
                </a:solidFill>
                <a:latin typeface="Arimo"/>
                <a:ea typeface="Arimo"/>
                <a:cs typeface="Arimo"/>
                <a:sym typeface="Arimo"/>
              </a:rPr>
              <a:t> </a:t>
            </a:r>
            <a:r>
              <a:rPr lang="en-US" sz="1874" dirty="0" err="1">
                <a:solidFill>
                  <a:srgbClr val="5B5F71"/>
                </a:solidFill>
                <a:latin typeface="Arimo"/>
                <a:ea typeface="Arimo"/>
                <a:cs typeface="Arimo"/>
                <a:sym typeface="Arimo"/>
              </a:rPr>
              <a:t>ayudaron</a:t>
            </a:r>
            <a:r>
              <a:rPr lang="en-US" sz="1874" dirty="0">
                <a:solidFill>
                  <a:srgbClr val="5B5F71"/>
                </a:solidFill>
                <a:latin typeface="Arimo"/>
                <a:ea typeface="Arimo"/>
                <a:cs typeface="Arimo"/>
                <a:sym typeface="Arimo"/>
              </a:rPr>
              <a:t> a </a:t>
            </a:r>
            <a:r>
              <a:rPr lang="en-US" sz="1874" dirty="0" err="1">
                <a:solidFill>
                  <a:srgbClr val="5B5F71"/>
                </a:solidFill>
                <a:latin typeface="Arimo"/>
                <a:ea typeface="Arimo"/>
                <a:cs typeface="Arimo"/>
                <a:sym typeface="Arimo"/>
              </a:rPr>
              <a:t>reforzar</a:t>
            </a:r>
            <a:r>
              <a:rPr lang="en-US" sz="1874" dirty="0">
                <a:solidFill>
                  <a:srgbClr val="5B5F71"/>
                </a:solidFill>
                <a:latin typeface="Arimo"/>
                <a:ea typeface="Arimo"/>
                <a:cs typeface="Arimo"/>
                <a:sym typeface="Arimo"/>
              </a:rPr>
              <a:t> </a:t>
            </a:r>
            <a:r>
              <a:rPr lang="en-US" sz="1874" dirty="0" err="1">
                <a:solidFill>
                  <a:srgbClr val="5B5F71"/>
                </a:solidFill>
                <a:latin typeface="Arimo"/>
                <a:ea typeface="Arimo"/>
                <a:cs typeface="Arimo"/>
                <a:sym typeface="Arimo"/>
              </a:rPr>
              <a:t>los</a:t>
            </a:r>
            <a:r>
              <a:rPr lang="en-US" sz="1874" dirty="0">
                <a:solidFill>
                  <a:srgbClr val="5B5F71"/>
                </a:solidFill>
                <a:latin typeface="Arimo"/>
                <a:ea typeface="Arimo"/>
                <a:cs typeface="Arimo"/>
                <a:sym typeface="Arimo"/>
              </a:rPr>
              <a:t> </a:t>
            </a:r>
            <a:r>
              <a:rPr lang="en-US" sz="1874" dirty="0" err="1">
                <a:solidFill>
                  <a:srgbClr val="5B5F71"/>
                </a:solidFill>
                <a:latin typeface="Arimo"/>
                <a:ea typeface="Arimo"/>
                <a:cs typeface="Arimo"/>
                <a:sym typeface="Arimo"/>
              </a:rPr>
              <a:t>conocimientos</a:t>
            </a:r>
            <a:r>
              <a:rPr lang="en-US" sz="1874" dirty="0">
                <a:solidFill>
                  <a:srgbClr val="5B5F71"/>
                </a:solidFill>
                <a:latin typeface="Arimo"/>
                <a:ea typeface="Arimo"/>
                <a:cs typeface="Arimo"/>
                <a:sym typeface="Arimo"/>
              </a:rPr>
              <a:t> </a:t>
            </a:r>
            <a:r>
              <a:rPr lang="en-US" sz="1874" dirty="0" err="1">
                <a:solidFill>
                  <a:srgbClr val="5B5F71"/>
                </a:solidFill>
                <a:latin typeface="Arimo"/>
                <a:ea typeface="Arimo"/>
                <a:cs typeface="Arimo"/>
                <a:sym typeface="Arimo"/>
              </a:rPr>
              <a:t>teóricos</a:t>
            </a:r>
            <a:r>
              <a:rPr lang="en-US" sz="1874" dirty="0">
                <a:solidFill>
                  <a:srgbClr val="5B5F71"/>
                </a:solidFill>
                <a:latin typeface="Arimo"/>
                <a:ea typeface="Arimo"/>
                <a:cs typeface="Arimo"/>
                <a:sym typeface="Arimo"/>
              </a:rPr>
              <a:t> vistos </a:t>
            </a:r>
            <a:r>
              <a:rPr lang="en-US" sz="1874" dirty="0" err="1">
                <a:solidFill>
                  <a:srgbClr val="5B5F71"/>
                </a:solidFill>
                <a:latin typeface="Arimo"/>
                <a:ea typeface="Arimo"/>
                <a:cs typeface="Arimo"/>
                <a:sym typeface="Arimo"/>
              </a:rPr>
              <a:t>en</a:t>
            </a:r>
            <a:r>
              <a:rPr lang="en-US" sz="1874" dirty="0">
                <a:solidFill>
                  <a:srgbClr val="5B5F71"/>
                </a:solidFill>
                <a:latin typeface="Arimo"/>
                <a:ea typeface="Arimo"/>
                <a:cs typeface="Arimo"/>
                <a:sym typeface="Arimo"/>
              </a:rPr>
              <a:t> </a:t>
            </a:r>
            <a:r>
              <a:rPr lang="en-US" sz="1874" dirty="0" err="1">
                <a:solidFill>
                  <a:srgbClr val="5B5F71"/>
                </a:solidFill>
                <a:latin typeface="Arimo"/>
                <a:ea typeface="Arimo"/>
                <a:cs typeface="Arimo"/>
                <a:sym typeface="Arimo"/>
              </a:rPr>
              <a:t>clase</a:t>
            </a:r>
            <a:r>
              <a:rPr lang="en-US" sz="1874" dirty="0">
                <a:solidFill>
                  <a:srgbClr val="5B5F71"/>
                </a:solidFill>
                <a:latin typeface="Arimo"/>
                <a:ea typeface="Arimo"/>
                <a:cs typeface="Arimo"/>
                <a:sym typeface="Arimo"/>
              </a:rPr>
              <a:t>, </a:t>
            </a:r>
            <a:r>
              <a:rPr lang="en-US" sz="1874" dirty="0" err="1">
                <a:solidFill>
                  <a:srgbClr val="5B5F71"/>
                </a:solidFill>
                <a:latin typeface="Arimo"/>
                <a:ea typeface="Arimo"/>
                <a:cs typeface="Arimo"/>
                <a:sym typeface="Arimo"/>
              </a:rPr>
              <a:t>permitiendo</a:t>
            </a:r>
            <a:r>
              <a:rPr lang="en-US" sz="1874" dirty="0">
                <a:solidFill>
                  <a:srgbClr val="5B5F71"/>
                </a:solidFill>
                <a:latin typeface="Arimo"/>
                <a:ea typeface="Arimo"/>
                <a:cs typeface="Arimo"/>
                <a:sym typeface="Arimo"/>
              </a:rPr>
              <a:t> </a:t>
            </a:r>
            <a:r>
              <a:rPr lang="en-US" sz="1874" dirty="0" err="1">
                <a:solidFill>
                  <a:srgbClr val="5B5F71"/>
                </a:solidFill>
                <a:latin typeface="Arimo"/>
                <a:ea typeface="Arimo"/>
                <a:cs typeface="Arimo"/>
                <a:sym typeface="Arimo"/>
              </a:rPr>
              <a:t>observar</a:t>
            </a:r>
            <a:r>
              <a:rPr lang="en-US" sz="1874" dirty="0">
                <a:solidFill>
                  <a:srgbClr val="5B5F71"/>
                </a:solidFill>
                <a:latin typeface="Arimo"/>
                <a:ea typeface="Arimo"/>
                <a:cs typeface="Arimo"/>
                <a:sym typeface="Arimo"/>
              </a:rPr>
              <a:t> </a:t>
            </a:r>
            <a:r>
              <a:rPr lang="en-US" sz="1874" dirty="0" err="1">
                <a:solidFill>
                  <a:srgbClr val="5B5F71"/>
                </a:solidFill>
                <a:latin typeface="Arimo"/>
                <a:ea typeface="Arimo"/>
                <a:cs typeface="Arimo"/>
                <a:sym typeface="Arimo"/>
              </a:rPr>
              <a:t>cómo</a:t>
            </a:r>
            <a:r>
              <a:rPr lang="en-US" sz="1874" dirty="0">
                <a:solidFill>
                  <a:srgbClr val="5B5F71"/>
                </a:solidFill>
                <a:latin typeface="Arimo"/>
                <a:ea typeface="Arimo"/>
                <a:cs typeface="Arimo"/>
                <a:sym typeface="Arimo"/>
              </a:rPr>
              <a:t> </a:t>
            </a:r>
            <a:r>
              <a:rPr lang="en-US" sz="1874" dirty="0" err="1">
                <a:solidFill>
                  <a:srgbClr val="5B5F71"/>
                </a:solidFill>
                <a:latin typeface="Arimo"/>
                <a:ea typeface="Arimo"/>
                <a:cs typeface="Arimo"/>
                <a:sym typeface="Arimo"/>
              </a:rPr>
              <a:t>los</a:t>
            </a:r>
            <a:r>
              <a:rPr lang="en-US" sz="1874" dirty="0">
                <a:solidFill>
                  <a:srgbClr val="5B5F71"/>
                </a:solidFill>
                <a:latin typeface="Arimo"/>
                <a:ea typeface="Arimo"/>
                <a:cs typeface="Arimo"/>
                <a:sym typeface="Arimo"/>
              </a:rPr>
              <a:t> </a:t>
            </a:r>
            <a:r>
              <a:rPr lang="en-US" sz="1874" dirty="0" err="1">
                <a:solidFill>
                  <a:srgbClr val="5B5F71"/>
                </a:solidFill>
                <a:latin typeface="Arimo"/>
                <a:ea typeface="Arimo"/>
                <a:cs typeface="Arimo"/>
                <a:sym typeface="Arimo"/>
              </a:rPr>
              <a:t>autómatas</a:t>
            </a:r>
            <a:r>
              <a:rPr lang="en-US" sz="1874" dirty="0">
                <a:solidFill>
                  <a:srgbClr val="5B5F71"/>
                </a:solidFill>
                <a:latin typeface="Arimo"/>
                <a:ea typeface="Arimo"/>
                <a:cs typeface="Arimo"/>
                <a:sym typeface="Arimo"/>
              </a:rPr>
              <a:t> </a:t>
            </a:r>
            <a:r>
              <a:rPr lang="en-US" sz="1874" dirty="0" err="1">
                <a:solidFill>
                  <a:srgbClr val="5B5F71"/>
                </a:solidFill>
                <a:latin typeface="Arimo"/>
                <a:ea typeface="Arimo"/>
                <a:cs typeface="Arimo"/>
                <a:sym typeface="Arimo"/>
              </a:rPr>
              <a:t>procesan</a:t>
            </a:r>
            <a:r>
              <a:rPr lang="en-US" sz="1874" dirty="0">
                <a:solidFill>
                  <a:srgbClr val="5B5F71"/>
                </a:solidFill>
                <a:latin typeface="Arimo"/>
                <a:ea typeface="Arimo"/>
                <a:cs typeface="Arimo"/>
                <a:sym typeface="Arimo"/>
              </a:rPr>
              <a:t> </a:t>
            </a:r>
            <a:r>
              <a:rPr lang="en-US" sz="1874" dirty="0" err="1">
                <a:solidFill>
                  <a:srgbClr val="5B5F71"/>
                </a:solidFill>
                <a:latin typeface="Arimo"/>
                <a:ea typeface="Arimo"/>
                <a:cs typeface="Arimo"/>
                <a:sym typeface="Arimo"/>
              </a:rPr>
              <a:t>cadenas</a:t>
            </a:r>
            <a:r>
              <a:rPr lang="en-US" sz="1874" dirty="0">
                <a:solidFill>
                  <a:srgbClr val="5B5F71"/>
                </a:solidFill>
                <a:latin typeface="Arimo"/>
                <a:ea typeface="Arimo"/>
                <a:cs typeface="Arimo"/>
                <a:sym typeface="Arimo"/>
              </a:rPr>
              <a:t> de entrada y </a:t>
            </a:r>
            <a:r>
              <a:rPr lang="en-US" sz="1874" dirty="0" err="1">
                <a:solidFill>
                  <a:srgbClr val="5B5F71"/>
                </a:solidFill>
                <a:latin typeface="Arimo"/>
                <a:ea typeface="Arimo"/>
                <a:cs typeface="Arimo"/>
                <a:sym typeface="Arimo"/>
              </a:rPr>
              <a:t>cómo</a:t>
            </a:r>
            <a:r>
              <a:rPr lang="en-US" sz="1874" dirty="0">
                <a:solidFill>
                  <a:srgbClr val="5B5F71"/>
                </a:solidFill>
                <a:latin typeface="Arimo"/>
                <a:ea typeface="Arimo"/>
                <a:cs typeface="Arimo"/>
                <a:sym typeface="Arimo"/>
              </a:rPr>
              <a:t> </a:t>
            </a:r>
            <a:r>
              <a:rPr lang="en-US" sz="1874" dirty="0" err="1">
                <a:solidFill>
                  <a:srgbClr val="5B5F71"/>
                </a:solidFill>
                <a:latin typeface="Arimo"/>
                <a:ea typeface="Arimo"/>
                <a:cs typeface="Arimo"/>
                <a:sym typeface="Arimo"/>
              </a:rPr>
              <a:t>pueden</a:t>
            </a:r>
            <a:r>
              <a:rPr lang="en-US" sz="1874" dirty="0">
                <a:solidFill>
                  <a:srgbClr val="5B5F71"/>
                </a:solidFill>
                <a:latin typeface="Arimo"/>
                <a:ea typeface="Arimo"/>
                <a:cs typeface="Arimo"/>
                <a:sym typeface="Arimo"/>
              </a:rPr>
              <a:t> </a:t>
            </a:r>
            <a:r>
              <a:rPr lang="en-US" sz="1874" dirty="0" err="1">
                <a:solidFill>
                  <a:srgbClr val="5B5F71"/>
                </a:solidFill>
                <a:latin typeface="Arimo"/>
                <a:ea typeface="Arimo"/>
                <a:cs typeface="Arimo"/>
                <a:sym typeface="Arimo"/>
              </a:rPr>
              <a:t>optimizarse</a:t>
            </a:r>
            <a:r>
              <a:rPr lang="en-US" sz="1874" dirty="0">
                <a:solidFill>
                  <a:srgbClr val="5B5F71"/>
                </a:solidFill>
                <a:latin typeface="Arimo"/>
                <a:ea typeface="Arimo"/>
                <a:cs typeface="Arimo"/>
                <a:sym typeface="Arimo"/>
              </a:rPr>
              <a:t> </a:t>
            </a:r>
            <a:r>
              <a:rPr lang="en-US" sz="1874" dirty="0" err="1">
                <a:solidFill>
                  <a:srgbClr val="5B5F71"/>
                </a:solidFill>
                <a:latin typeface="Arimo"/>
                <a:ea typeface="Arimo"/>
                <a:cs typeface="Arimo"/>
                <a:sym typeface="Arimo"/>
              </a:rPr>
              <a:t>mediante</a:t>
            </a:r>
            <a:r>
              <a:rPr lang="en-US" sz="1874" dirty="0">
                <a:solidFill>
                  <a:srgbClr val="5B5F71"/>
                </a:solidFill>
                <a:latin typeface="Arimo"/>
                <a:ea typeface="Arimo"/>
                <a:cs typeface="Arimo"/>
                <a:sym typeface="Arimo"/>
              </a:rPr>
              <a:t> </a:t>
            </a:r>
            <a:r>
              <a:rPr lang="en-US" sz="1874" dirty="0" err="1">
                <a:solidFill>
                  <a:srgbClr val="5B5F71"/>
                </a:solidFill>
                <a:latin typeface="Arimo"/>
                <a:ea typeface="Arimo"/>
                <a:cs typeface="Arimo"/>
                <a:sym typeface="Arimo"/>
              </a:rPr>
              <a:t>diferentes</a:t>
            </a:r>
            <a:r>
              <a:rPr lang="en-US" sz="1874" dirty="0">
                <a:solidFill>
                  <a:srgbClr val="5B5F71"/>
                </a:solidFill>
                <a:latin typeface="Arimo"/>
                <a:ea typeface="Arimo"/>
                <a:cs typeface="Arimo"/>
                <a:sym typeface="Arimo"/>
              </a:rPr>
              <a:t> </a:t>
            </a:r>
            <a:r>
              <a:rPr lang="en-US" sz="1874" dirty="0" err="1">
                <a:solidFill>
                  <a:srgbClr val="5B5F71"/>
                </a:solidFill>
                <a:latin typeface="Arimo"/>
                <a:ea typeface="Arimo"/>
                <a:cs typeface="Arimo"/>
                <a:sym typeface="Arimo"/>
              </a:rPr>
              <a:t>métodos</a:t>
            </a:r>
            <a:r>
              <a:rPr lang="en-US" sz="1874" dirty="0">
                <a:solidFill>
                  <a:srgbClr val="5B5F71"/>
                </a:solidFill>
                <a:latin typeface="Arimo"/>
                <a:ea typeface="Arimo"/>
                <a:cs typeface="Arimo"/>
                <a:sym typeface="Arimo"/>
              </a:rPr>
              <a:t>. En general, la </a:t>
            </a:r>
            <a:r>
              <a:rPr lang="en-US" sz="1874" dirty="0" err="1">
                <a:solidFill>
                  <a:srgbClr val="5B5F71"/>
                </a:solidFill>
                <a:latin typeface="Arimo"/>
                <a:ea typeface="Arimo"/>
                <a:cs typeface="Arimo"/>
                <a:sym typeface="Arimo"/>
              </a:rPr>
              <a:t>experiencia</a:t>
            </a:r>
            <a:r>
              <a:rPr lang="en-US" sz="1874" dirty="0">
                <a:solidFill>
                  <a:srgbClr val="5B5F71"/>
                </a:solidFill>
                <a:latin typeface="Arimo"/>
                <a:ea typeface="Arimo"/>
                <a:cs typeface="Arimo"/>
                <a:sym typeface="Arimo"/>
              </a:rPr>
              <a:t> </a:t>
            </a:r>
            <a:r>
              <a:rPr lang="en-US" sz="1874" dirty="0" err="1">
                <a:solidFill>
                  <a:srgbClr val="5B5F71"/>
                </a:solidFill>
                <a:latin typeface="Arimo"/>
                <a:ea typeface="Arimo"/>
                <a:cs typeface="Arimo"/>
                <a:sym typeface="Arimo"/>
              </a:rPr>
              <a:t>práctica</a:t>
            </a:r>
            <a:r>
              <a:rPr lang="en-US" sz="1874" dirty="0">
                <a:solidFill>
                  <a:srgbClr val="5B5F71"/>
                </a:solidFill>
                <a:latin typeface="Arimo"/>
                <a:ea typeface="Arimo"/>
                <a:cs typeface="Arimo"/>
                <a:sym typeface="Arimo"/>
              </a:rPr>
              <a:t> </a:t>
            </a:r>
            <a:r>
              <a:rPr lang="en-US" sz="1874" dirty="0" err="1">
                <a:solidFill>
                  <a:srgbClr val="5B5F71"/>
                </a:solidFill>
                <a:latin typeface="Arimo"/>
                <a:ea typeface="Arimo"/>
                <a:cs typeface="Arimo"/>
                <a:sym typeface="Arimo"/>
              </a:rPr>
              <a:t>facilitó</a:t>
            </a:r>
            <a:r>
              <a:rPr lang="en-US" sz="1874" dirty="0">
                <a:solidFill>
                  <a:srgbClr val="5B5F71"/>
                </a:solidFill>
                <a:latin typeface="Arimo"/>
                <a:ea typeface="Arimo"/>
                <a:cs typeface="Arimo"/>
                <a:sym typeface="Arimo"/>
              </a:rPr>
              <a:t> la </a:t>
            </a:r>
            <a:r>
              <a:rPr lang="en-US" sz="1874" dirty="0" err="1">
                <a:solidFill>
                  <a:srgbClr val="5B5F71"/>
                </a:solidFill>
                <a:latin typeface="Arimo"/>
                <a:ea typeface="Arimo"/>
                <a:cs typeface="Arimo"/>
                <a:sym typeface="Arimo"/>
              </a:rPr>
              <a:t>comprensión</a:t>
            </a:r>
            <a:r>
              <a:rPr lang="en-US" sz="1874" dirty="0">
                <a:solidFill>
                  <a:srgbClr val="5B5F71"/>
                </a:solidFill>
                <a:latin typeface="Arimo"/>
                <a:ea typeface="Arimo"/>
                <a:cs typeface="Arimo"/>
                <a:sym typeface="Arimo"/>
              </a:rPr>
              <a:t> de </a:t>
            </a:r>
            <a:r>
              <a:rPr lang="en-US" sz="1874" dirty="0" err="1">
                <a:solidFill>
                  <a:srgbClr val="5B5F71"/>
                </a:solidFill>
                <a:latin typeface="Arimo"/>
                <a:ea typeface="Arimo"/>
                <a:cs typeface="Arimo"/>
                <a:sym typeface="Arimo"/>
              </a:rPr>
              <a:t>los</a:t>
            </a:r>
            <a:r>
              <a:rPr lang="en-US" sz="1874" dirty="0">
                <a:solidFill>
                  <a:srgbClr val="5B5F71"/>
                </a:solidFill>
                <a:latin typeface="Arimo"/>
                <a:ea typeface="Arimo"/>
                <a:cs typeface="Arimo"/>
                <a:sym typeface="Arimo"/>
              </a:rPr>
              <a:t> </a:t>
            </a:r>
            <a:r>
              <a:rPr lang="en-US" sz="1874" dirty="0" err="1">
                <a:solidFill>
                  <a:srgbClr val="5B5F71"/>
                </a:solidFill>
                <a:latin typeface="Arimo"/>
                <a:ea typeface="Arimo"/>
                <a:cs typeface="Arimo"/>
                <a:sym typeface="Arimo"/>
              </a:rPr>
              <a:t>conceptos</a:t>
            </a:r>
            <a:r>
              <a:rPr lang="en-US" sz="1874" dirty="0">
                <a:solidFill>
                  <a:srgbClr val="5B5F71"/>
                </a:solidFill>
                <a:latin typeface="Arimo"/>
                <a:ea typeface="Arimo"/>
                <a:cs typeface="Arimo"/>
                <a:sym typeface="Arimo"/>
              </a:rPr>
              <a:t> y </a:t>
            </a:r>
            <a:r>
              <a:rPr lang="en-US" sz="1874" dirty="0" err="1">
                <a:solidFill>
                  <a:srgbClr val="5B5F71"/>
                </a:solidFill>
                <a:latin typeface="Arimo"/>
                <a:ea typeface="Arimo"/>
                <a:cs typeface="Arimo"/>
                <a:sym typeface="Arimo"/>
              </a:rPr>
              <a:t>permitió</a:t>
            </a:r>
            <a:r>
              <a:rPr lang="en-US" sz="1874" dirty="0">
                <a:solidFill>
                  <a:srgbClr val="5B5F71"/>
                </a:solidFill>
                <a:latin typeface="Arimo"/>
                <a:ea typeface="Arimo"/>
                <a:cs typeface="Arimo"/>
                <a:sym typeface="Arimo"/>
              </a:rPr>
              <a:t> </a:t>
            </a:r>
            <a:r>
              <a:rPr lang="en-US" sz="1874" dirty="0" err="1">
                <a:solidFill>
                  <a:srgbClr val="5B5F71"/>
                </a:solidFill>
                <a:latin typeface="Arimo"/>
                <a:ea typeface="Arimo"/>
                <a:cs typeface="Arimo"/>
                <a:sym typeface="Arimo"/>
              </a:rPr>
              <a:t>desarrollar</a:t>
            </a:r>
            <a:r>
              <a:rPr lang="en-US" sz="1874" dirty="0">
                <a:solidFill>
                  <a:srgbClr val="5B5F71"/>
                </a:solidFill>
                <a:latin typeface="Arimo"/>
                <a:ea typeface="Arimo"/>
                <a:cs typeface="Arimo"/>
                <a:sym typeface="Arimo"/>
              </a:rPr>
              <a:t> </a:t>
            </a:r>
            <a:r>
              <a:rPr lang="en-US" sz="1874" dirty="0" err="1">
                <a:solidFill>
                  <a:srgbClr val="5B5F71"/>
                </a:solidFill>
                <a:latin typeface="Arimo"/>
                <a:ea typeface="Arimo"/>
                <a:cs typeface="Arimo"/>
                <a:sym typeface="Arimo"/>
              </a:rPr>
              <a:t>habilidades</a:t>
            </a:r>
            <a:r>
              <a:rPr lang="en-US" sz="1874" dirty="0">
                <a:solidFill>
                  <a:srgbClr val="5B5F71"/>
                </a:solidFill>
                <a:latin typeface="Arimo"/>
                <a:ea typeface="Arimo"/>
                <a:cs typeface="Arimo"/>
                <a:sym typeface="Arimo"/>
              </a:rPr>
              <a:t> para </a:t>
            </a:r>
            <a:r>
              <a:rPr lang="en-US" sz="1874" dirty="0" err="1">
                <a:solidFill>
                  <a:srgbClr val="5B5F71"/>
                </a:solidFill>
                <a:latin typeface="Arimo"/>
                <a:ea typeface="Arimo"/>
                <a:cs typeface="Arimo"/>
                <a:sym typeface="Arimo"/>
              </a:rPr>
              <a:t>analizar</a:t>
            </a:r>
            <a:r>
              <a:rPr lang="en-US" sz="1874" dirty="0">
                <a:solidFill>
                  <a:srgbClr val="5B5F71"/>
                </a:solidFill>
                <a:latin typeface="Arimo"/>
                <a:ea typeface="Arimo"/>
                <a:cs typeface="Arimo"/>
                <a:sym typeface="Arimo"/>
              </a:rPr>
              <a:t> y </a:t>
            </a:r>
            <a:r>
              <a:rPr lang="en-US" sz="1874" dirty="0" err="1">
                <a:solidFill>
                  <a:srgbClr val="5B5F71"/>
                </a:solidFill>
                <a:latin typeface="Arimo"/>
                <a:ea typeface="Arimo"/>
                <a:cs typeface="Arimo"/>
                <a:sym typeface="Arimo"/>
              </a:rPr>
              <a:t>construir</a:t>
            </a:r>
            <a:r>
              <a:rPr lang="en-US" sz="1874" dirty="0">
                <a:solidFill>
                  <a:srgbClr val="5B5F71"/>
                </a:solidFill>
                <a:latin typeface="Arimo"/>
                <a:ea typeface="Arimo"/>
                <a:cs typeface="Arimo"/>
                <a:sym typeface="Arimo"/>
              </a:rPr>
              <a:t> </a:t>
            </a:r>
            <a:r>
              <a:rPr lang="en-US" sz="1874" dirty="0" err="1">
                <a:solidFill>
                  <a:srgbClr val="5B5F71"/>
                </a:solidFill>
                <a:latin typeface="Arimo"/>
                <a:ea typeface="Arimo"/>
                <a:cs typeface="Arimo"/>
                <a:sym typeface="Arimo"/>
              </a:rPr>
              <a:t>modelos</a:t>
            </a:r>
            <a:r>
              <a:rPr lang="en-US" sz="1874" dirty="0">
                <a:solidFill>
                  <a:srgbClr val="5B5F71"/>
                </a:solidFill>
                <a:latin typeface="Arimo"/>
                <a:ea typeface="Arimo"/>
                <a:cs typeface="Arimo"/>
                <a:sym typeface="Arimo"/>
              </a:rPr>
              <a:t> de </a:t>
            </a:r>
            <a:r>
              <a:rPr lang="en-US" sz="1874" dirty="0" err="1">
                <a:solidFill>
                  <a:srgbClr val="5B5F71"/>
                </a:solidFill>
                <a:latin typeface="Arimo"/>
                <a:ea typeface="Arimo"/>
                <a:cs typeface="Arimo"/>
                <a:sym typeface="Arimo"/>
              </a:rPr>
              <a:t>autómatas</a:t>
            </a:r>
            <a:r>
              <a:rPr lang="en-US" sz="1874" dirty="0">
                <a:solidFill>
                  <a:srgbClr val="5B5F71"/>
                </a:solidFill>
                <a:latin typeface="Arimo"/>
                <a:ea typeface="Arimo"/>
                <a:cs typeface="Arimo"/>
                <a:sym typeface="Arimo"/>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sp>
        <p:nvSpPr>
          <p:cNvPr id="6" name="TextBox 6"/>
          <p:cNvSpPr txBox="1"/>
          <p:nvPr/>
        </p:nvSpPr>
        <p:spPr>
          <a:xfrm>
            <a:off x="2390122" y="1486801"/>
            <a:ext cx="13154677" cy="944426"/>
          </a:xfrm>
          <a:prstGeom prst="rect">
            <a:avLst/>
          </a:prstGeom>
        </p:spPr>
        <p:txBody>
          <a:bodyPr wrap="square" lIns="0" tIns="0" rIns="0" bIns="0" rtlCol="0" anchor="t">
            <a:spAutoFit/>
          </a:bodyPr>
          <a:lstStyle/>
          <a:p>
            <a:pPr algn="l">
              <a:lnSpc>
                <a:spcPts val="7864"/>
              </a:lnSpc>
            </a:pPr>
            <a:r>
              <a:rPr lang="en-US" sz="6324" b="1" dirty="0">
                <a:solidFill>
                  <a:srgbClr val="505468"/>
                </a:solidFill>
                <a:latin typeface="Arimo Bold"/>
                <a:ea typeface="Arimo Bold"/>
                <a:cs typeface="Arimo Bold"/>
                <a:sym typeface="Arimo Bold"/>
              </a:rPr>
              <a:t>Fuentes de </a:t>
            </a:r>
            <a:r>
              <a:rPr lang="en-US" sz="6324" b="1" dirty="0" err="1">
                <a:solidFill>
                  <a:srgbClr val="505468"/>
                </a:solidFill>
                <a:latin typeface="Arimo Bold"/>
                <a:ea typeface="Arimo Bold"/>
                <a:cs typeface="Arimo Bold"/>
                <a:sym typeface="Arimo Bold"/>
              </a:rPr>
              <a:t>información</a:t>
            </a:r>
            <a:endParaRPr lang="en-US" sz="6324" b="1" dirty="0">
              <a:solidFill>
                <a:srgbClr val="505468"/>
              </a:solidFill>
              <a:latin typeface="Arimo Bold"/>
              <a:ea typeface="Arimo Bold"/>
              <a:cs typeface="Arimo Bold"/>
              <a:sym typeface="Arimo Bold"/>
            </a:endParaRPr>
          </a:p>
        </p:txBody>
      </p:sp>
      <p:grpSp>
        <p:nvGrpSpPr>
          <p:cNvPr id="7" name="Group 7"/>
          <p:cNvGrpSpPr/>
          <p:nvPr/>
        </p:nvGrpSpPr>
        <p:grpSpPr>
          <a:xfrm>
            <a:off x="2371588" y="3004117"/>
            <a:ext cx="6003120" cy="3498344"/>
            <a:chOff x="0" y="0"/>
            <a:chExt cx="6169812" cy="3595484"/>
          </a:xfrm>
        </p:grpSpPr>
        <p:sp>
          <p:nvSpPr>
            <p:cNvPr id="8" name="Freeform 8"/>
            <p:cNvSpPr/>
            <p:nvPr/>
          </p:nvSpPr>
          <p:spPr>
            <a:xfrm>
              <a:off x="19050" y="19050"/>
              <a:ext cx="6131814" cy="3557397"/>
            </a:xfrm>
            <a:custGeom>
              <a:avLst/>
              <a:gdLst/>
              <a:ahLst/>
              <a:cxnLst/>
              <a:rect l="l" t="t" r="r" b="b"/>
              <a:pathLst>
                <a:path w="6131814" h="3557397">
                  <a:moveTo>
                    <a:pt x="0" y="138938"/>
                  </a:moveTo>
                  <a:cubicBezTo>
                    <a:pt x="0" y="62230"/>
                    <a:pt x="62484" y="0"/>
                    <a:pt x="139573" y="0"/>
                  </a:cubicBezTo>
                  <a:lnTo>
                    <a:pt x="5992241" y="0"/>
                  </a:lnTo>
                  <a:cubicBezTo>
                    <a:pt x="6069330" y="0"/>
                    <a:pt x="6131814" y="62230"/>
                    <a:pt x="6131814" y="138938"/>
                  </a:cubicBezTo>
                  <a:lnTo>
                    <a:pt x="6131814" y="3418459"/>
                  </a:lnTo>
                  <a:cubicBezTo>
                    <a:pt x="6131814" y="3495167"/>
                    <a:pt x="6069330" y="3557397"/>
                    <a:pt x="5992241" y="3557397"/>
                  </a:cubicBezTo>
                  <a:lnTo>
                    <a:pt x="139573" y="3557397"/>
                  </a:lnTo>
                  <a:cubicBezTo>
                    <a:pt x="62484" y="3557397"/>
                    <a:pt x="0" y="3495167"/>
                    <a:pt x="0" y="3418459"/>
                  </a:cubicBezTo>
                  <a:close/>
                </a:path>
              </a:pathLst>
            </a:custGeom>
            <a:solidFill>
              <a:srgbClr val="FFFFFF">
                <a:alpha val="90196"/>
              </a:srgbClr>
            </a:solidFill>
          </p:spPr>
        </p:sp>
        <p:sp>
          <p:nvSpPr>
            <p:cNvPr id="9" name="Freeform 9"/>
            <p:cNvSpPr/>
            <p:nvPr/>
          </p:nvSpPr>
          <p:spPr>
            <a:xfrm>
              <a:off x="0" y="0"/>
              <a:ext cx="6169914" cy="3595497"/>
            </a:xfrm>
            <a:custGeom>
              <a:avLst/>
              <a:gdLst/>
              <a:ahLst/>
              <a:cxnLst/>
              <a:rect l="l" t="t" r="r" b="b"/>
              <a:pathLst>
                <a:path w="6169914" h="3595497">
                  <a:moveTo>
                    <a:pt x="0" y="157988"/>
                  </a:moveTo>
                  <a:cubicBezTo>
                    <a:pt x="0" y="70612"/>
                    <a:pt x="71120" y="0"/>
                    <a:pt x="158623" y="0"/>
                  </a:cubicBezTo>
                  <a:lnTo>
                    <a:pt x="6011291" y="0"/>
                  </a:lnTo>
                  <a:lnTo>
                    <a:pt x="6011291" y="19050"/>
                  </a:lnTo>
                  <a:lnTo>
                    <a:pt x="6011291" y="0"/>
                  </a:lnTo>
                  <a:cubicBezTo>
                    <a:pt x="6098794" y="0"/>
                    <a:pt x="6169914" y="70612"/>
                    <a:pt x="6169914" y="157988"/>
                  </a:cubicBezTo>
                  <a:lnTo>
                    <a:pt x="6150864" y="157988"/>
                  </a:lnTo>
                  <a:lnTo>
                    <a:pt x="6169914" y="157988"/>
                  </a:lnTo>
                  <a:lnTo>
                    <a:pt x="6169914" y="3437509"/>
                  </a:lnTo>
                  <a:lnTo>
                    <a:pt x="6150864" y="3437509"/>
                  </a:lnTo>
                  <a:lnTo>
                    <a:pt x="6169914" y="3437509"/>
                  </a:lnTo>
                  <a:cubicBezTo>
                    <a:pt x="6169914" y="3524885"/>
                    <a:pt x="6098794" y="3595497"/>
                    <a:pt x="6011291" y="3595497"/>
                  </a:cubicBezTo>
                  <a:lnTo>
                    <a:pt x="6011291" y="3576447"/>
                  </a:lnTo>
                  <a:lnTo>
                    <a:pt x="6011291" y="3595497"/>
                  </a:lnTo>
                  <a:lnTo>
                    <a:pt x="158623" y="3595497"/>
                  </a:lnTo>
                  <a:lnTo>
                    <a:pt x="158623" y="3576447"/>
                  </a:lnTo>
                  <a:lnTo>
                    <a:pt x="158623" y="3595497"/>
                  </a:lnTo>
                  <a:cubicBezTo>
                    <a:pt x="71120" y="3595497"/>
                    <a:pt x="0" y="3524885"/>
                    <a:pt x="0" y="3437509"/>
                  </a:cubicBezTo>
                  <a:lnTo>
                    <a:pt x="0" y="157988"/>
                  </a:lnTo>
                  <a:lnTo>
                    <a:pt x="19050" y="157988"/>
                  </a:lnTo>
                  <a:lnTo>
                    <a:pt x="0" y="157988"/>
                  </a:lnTo>
                  <a:moveTo>
                    <a:pt x="38100" y="157988"/>
                  </a:moveTo>
                  <a:lnTo>
                    <a:pt x="38100" y="3437509"/>
                  </a:lnTo>
                  <a:lnTo>
                    <a:pt x="19050" y="3437509"/>
                  </a:lnTo>
                  <a:lnTo>
                    <a:pt x="38100" y="3437509"/>
                  </a:lnTo>
                  <a:cubicBezTo>
                    <a:pt x="38100" y="3503676"/>
                    <a:pt x="91948" y="3557397"/>
                    <a:pt x="158623" y="3557397"/>
                  </a:cubicBezTo>
                  <a:lnTo>
                    <a:pt x="6011291" y="3557397"/>
                  </a:lnTo>
                  <a:cubicBezTo>
                    <a:pt x="6077966" y="3557397"/>
                    <a:pt x="6131814" y="3503676"/>
                    <a:pt x="6131814" y="3437509"/>
                  </a:cubicBezTo>
                  <a:lnTo>
                    <a:pt x="6131814" y="157988"/>
                  </a:lnTo>
                  <a:cubicBezTo>
                    <a:pt x="6131814" y="91821"/>
                    <a:pt x="6077966" y="38100"/>
                    <a:pt x="6011291" y="38100"/>
                  </a:cubicBezTo>
                  <a:lnTo>
                    <a:pt x="158623" y="38100"/>
                  </a:lnTo>
                  <a:lnTo>
                    <a:pt x="158623" y="19050"/>
                  </a:lnTo>
                  <a:lnTo>
                    <a:pt x="158623" y="38100"/>
                  </a:lnTo>
                  <a:cubicBezTo>
                    <a:pt x="91948" y="38100"/>
                    <a:pt x="38100" y="91821"/>
                    <a:pt x="38100" y="157988"/>
                  </a:cubicBezTo>
                  <a:close/>
                </a:path>
              </a:pathLst>
            </a:custGeom>
            <a:solidFill>
              <a:srgbClr val="C8C9CF"/>
            </a:solidFill>
          </p:spPr>
        </p:sp>
      </p:grpSp>
      <p:sp>
        <p:nvSpPr>
          <p:cNvPr id="10" name="TextBox 10"/>
          <p:cNvSpPr txBox="1"/>
          <p:nvPr/>
        </p:nvSpPr>
        <p:spPr>
          <a:xfrm>
            <a:off x="2748855" y="3352822"/>
            <a:ext cx="5248584" cy="1034499"/>
          </a:xfrm>
          <a:prstGeom prst="rect">
            <a:avLst/>
          </a:prstGeom>
        </p:spPr>
        <p:txBody>
          <a:bodyPr lIns="0" tIns="0" rIns="0" bIns="0" rtlCol="0" anchor="t">
            <a:spAutoFit/>
          </a:bodyPr>
          <a:lstStyle/>
          <a:p>
            <a:pPr algn="l">
              <a:lnSpc>
                <a:spcPts val="3891"/>
              </a:lnSpc>
            </a:pPr>
            <a:r>
              <a:rPr lang="en-US" sz="3162" b="1">
                <a:solidFill>
                  <a:srgbClr val="5B5F71"/>
                </a:solidFill>
                <a:latin typeface="Arimo Bold"/>
                <a:ea typeface="Arimo Bold"/>
                <a:cs typeface="Arimo Bold"/>
                <a:sym typeface="Arimo Bold"/>
              </a:rPr>
              <a:t>Hopcroft, J., Motwani, R., &amp; Ullman, J. (2007)</a:t>
            </a:r>
          </a:p>
        </p:txBody>
      </p:sp>
      <p:sp>
        <p:nvSpPr>
          <p:cNvPr id="11" name="TextBox 11"/>
          <p:cNvSpPr txBox="1"/>
          <p:nvPr/>
        </p:nvSpPr>
        <p:spPr>
          <a:xfrm>
            <a:off x="2748855" y="4466097"/>
            <a:ext cx="5248584" cy="1659108"/>
          </a:xfrm>
          <a:prstGeom prst="rect">
            <a:avLst/>
          </a:prstGeom>
        </p:spPr>
        <p:txBody>
          <a:bodyPr lIns="0" tIns="0" rIns="0" bIns="0" rtlCol="0" anchor="t">
            <a:spAutoFit/>
          </a:bodyPr>
          <a:lstStyle/>
          <a:p>
            <a:pPr algn="l">
              <a:lnSpc>
                <a:spcPts val="4054"/>
              </a:lnSpc>
            </a:pPr>
            <a:r>
              <a:rPr lang="en-US" sz="2513" i="1">
                <a:solidFill>
                  <a:srgbClr val="5B5F71"/>
                </a:solidFill>
                <a:latin typeface="Arimo Italics"/>
                <a:ea typeface="Arimo Italics"/>
                <a:cs typeface="Arimo Italics"/>
                <a:sym typeface="Arimo Italics"/>
              </a:rPr>
              <a:t>Introducción a la teoría de autómatas, lenguajes y computación</a:t>
            </a:r>
            <a:r>
              <a:rPr lang="en-US" sz="2513">
                <a:solidFill>
                  <a:srgbClr val="5B5F71"/>
                </a:solidFill>
                <a:latin typeface="Arimo"/>
                <a:ea typeface="Arimo"/>
                <a:cs typeface="Arimo"/>
                <a:sym typeface="Arimo"/>
              </a:rPr>
              <a:t>. Pearson.</a:t>
            </a:r>
          </a:p>
        </p:txBody>
      </p:sp>
      <p:grpSp>
        <p:nvGrpSpPr>
          <p:cNvPr id="12" name="Group 12"/>
          <p:cNvGrpSpPr/>
          <p:nvPr/>
        </p:nvGrpSpPr>
        <p:grpSpPr>
          <a:xfrm>
            <a:off x="8659311" y="3004117"/>
            <a:ext cx="6003120" cy="3498344"/>
            <a:chOff x="0" y="0"/>
            <a:chExt cx="6169812" cy="3595484"/>
          </a:xfrm>
        </p:grpSpPr>
        <p:sp>
          <p:nvSpPr>
            <p:cNvPr id="13" name="Freeform 13"/>
            <p:cNvSpPr/>
            <p:nvPr/>
          </p:nvSpPr>
          <p:spPr>
            <a:xfrm>
              <a:off x="19050" y="19050"/>
              <a:ext cx="6131814" cy="3557397"/>
            </a:xfrm>
            <a:custGeom>
              <a:avLst/>
              <a:gdLst/>
              <a:ahLst/>
              <a:cxnLst/>
              <a:rect l="l" t="t" r="r" b="b"/>
              <a:pathLst>
                <a:path w="6131814" h="3557397">
                  <a:moveTo>
                    <a:pt x="0" y="138938"/>
                  </a:moveTo>
                  <a:cubicBezTo>
                    <a:pt x="0" y="62230"/>
                    <a:pt x="62484" y="0"/>
                    <a:pt x="139573" y="0"/>
                  </a:cubicBezTo>
                  <a:lnTo>
                    <a:pt x="5992241" y="0"/>
                  </a:lnTo>
                  <a:cubicBezTo>
                    <a:pt x="6069330" y="0"/>
                    <a:pt x="6131814" y="62230"/>
                    <a:pt x="6131814" y="138938"/>
                  </a:cubicBezTo>
                  <a:lnTo>
                    <a:pt x="6131814" y="3418459"/>
                  </a:lnTo>
                  <a:cubicBezTo>
                    <a:pt x="6131814" y="3495167"/>
                    <a:pt x="6069330" y="3557397"/>
                    <a:pt x="5992241" y="3557397"/>
                  </a:cubicBezTo>
                  <a:lnTo>
                    <a:pt x="139573" y="3557397"/>
                  </a:lnTo>
                  <a:cubicBezTo>
                    <a:pt x="62484" y="3557397"/>
                    <a:pt x="0" y="3495167"/>
                    <a:pt x="0" y="3418459"/>
                  </a:cubicBezTo>
                  <a:close/>
                </a:path>
              </a:pathLst>
            </a:custGeom>
            <a:solidFill>
              <a:srgbClr val="FFFFFF">
                <a:alpha val="90196"/>
              </a:srgbClr>
            </a:solidFill>
          </p:spPr>
        </p:sp>
        <p:sp>
          <p:nvSpPr>
            <p:cNvPr id="14" name="Freeform 14"/>
            <p:cNvSpPr/>
            <p:nvPr/>
          </p:nvSpPr>
          <p:spPr>
            <a:xfrm>
              <a:off x="0" y="0"/>
              <a:ext cx="6169914" cy="3595497"/>
            </a:xfrm>
            <a:custGeom>
              <a:avLst/>
              <a:gdLst/>
              <a:ahLst/>
              <a:cxnLst/>
              <a:rect l="l" t="t" r="r" b="b"/>
              <a:pathLst>
                <a:path w="6169914" h="3595497">
                  <a:moveTo>
                    <a:pt x="0" y="157988"/>
                  </a:moveTo>
                  <a:cubicBezTo>
                    <a:pt x="0" y="70612"/>
                    <a:pt x="71120" y="0"/>
                    <a:pt x="158623" y="0"/>
                  </a:cubicBezTo>
                  <a:lnTo>
                    <a:pt x="6011291" y="0"/>
                  </a:lnTo>
                  <a:lnTo>
                    <a:pt x="6011291" y="19050"/>
                  </a:lnTo>
                  <a:lnTo>
                    <a:pt x="6011291" y="0"/>
                  </a:lnTo>
                  <a:cubicBezTo>
                    <a:pt x="6098794" y="0"/>
                    <a:pt x="6169914" y="70612"/>
                    <a:pt x="6169914" y="157988"/>
                  </a:cubicBezTo>
                  <a:lnTo>
                    <a:pt x="6150864" y="157988"/>
                  </a:lnTo>
                  <a:lnTo>
                    <a:pt x="6169914" y="157988"/>
                  </a:lnTo>
                  <a:lnTo>
                    <a:pt x="6169914" y="3437509"/>
                  </a:lnTo>
                  <a:lnTo>
                    <a:pt x="6150864" y="3437509"/>
                  </a:lnTo>
                  <a:lnTo>
                    <a:pt x="6169914" y="3437509"/>
                  </a:lnTo>
                  <a:cubicBezTo>
                    <a:pt x="6169914" y="3524885"/>
                    <a:pt x="6098794" y="3595497"/>
                    <a:pt x="6011291" y="3595497"/>
                  </a:cubicBezTo>
                  <a:lnTo>
                    <a:pt x="6011291" y="3576447"/>
                  </a:lnTo>
                  <a:lnTo>
                    <a:pt x="6011291" y="3595497"/>
                  </a:lnTo>
                  <a:lnTo>
                    <a:pt x="158623" y="3595497"/>
                  </a:lnTo>
                  <a:lnTo>
                    <a:pt x="158623" y="3576447"/>
                  </a:lnTo>
                  <a:lnTo>
                    <a:pt x="158623" y="3595497"/>
                  </a:lnTo>
                  <a:cubicBezTo>
                    <a:pt x="71120" y="3595497"/>
                    <a:pt x="0" y="3524885"/>
                    <a:pt x="0" y="3437509"/>
                  </a:cubicBezTo>
                  <a:lnTo>
                    <a:pt x="0" y="157988"/>
                  </a:lnTo>
                  <a:lnTo>
                    <a:pt x="19050" y="157988"/>
                  </a:lnTo>
                  <a:lnTo>
                    <a:pt x="0" y="157988"/>
                  </a:lnTo>
                  <a:moveTo>
                    <a:pt x="38100" y="157988"/>
                  </a:moveTo>
                  <a:lnTo>
                    <a:pt x="38100" y="3437509"/>
                  </a:lnTo>
                  <a:lnTo>
                    <a:pt x="19050" y="3437509"/>
                  </a:lnTo>
                  <a:lnTo>
                    <a:pt x="38100" y="3437509"/>
                  </a:lnTo>
                  <a:cubicBezTo>
                    <a:pt x="38100" y="3503676"/>
                    <a:pt x="91948" y="3557397"/>
                    <a:pt x="158623" y="3557397"/>
                  </a:cubicBezTo>
                  <a:lnTo>
                    <a:pt x="6011291" y="3557397"/>
                  </a:lnTo>
                  <a:cubicBezTo>
                    <a:pt x="6077966" y="3557397"/>
                    <a:pt x="6131814" y="3503676"/>
                    <a:pt x="6131814" y="3437509"/>
                  </a:cubicBezTo>
                  <a:lnTo>
                    <a:pt x="6131814" y="157988"/>
                  </a:lnTo>
                  <a:cubicBezTo>
                    <a:pt x="6131814" y="91821"/>
                    <a:pt x="6077966" y="38100"/>
                    <a:pt x="6011291" y="38100"/>
                  </a:cubicBezTo>
                  <a:lnTo>
                    <a:pt x="158623" y="38100"/>
                  </a:lnTo>
                  <a:lnTo>
                    <a:pt x="158623" y="19050"/>
                  </a:lnTo>
                  <a:lnTo>
                    <a:pt x="158623" y="38100"/>
                  </a:lnTo>
                  <a:cubicBezTo>
                    <a:pt x="91948" y="38100"/>
                    <a:pt x="38100" y="91821"/>
                    <a:pt x="38100" y="157988"/>
                  </a:cubicBezTo>
                  <a:close/>
                </a:path>
              </a:pathLst>
            </a:custGeom>
            <a:solidFill>
              <a:srgbClr val="C8C9CF"/>
            </a:solidFill>
          </p:spPr>
        </p:sp>
      </p:grpSp>
      <p:sp>
        <p:nvSpPr>
          <p:cNvPr id="15" name="TextBox 15"/>
          <p:cNvSpPr txBox="1"/>
          <p:nvPr/>
        </p:nvSpPr>
        <p:spPr>
          <a:xfrm>
            <a:off x="9036579" y="3352822"/>
            <a:ext cx="5248584" cy="1034499"/>
          </a:xfrm>
          <a:prstGeom prst="rect">
            <a:avLst/>
          </a:prstGeom>
        </p:spPr>
        <p:txBody>
          <a:bodyPr lIns="0" tIns="0" rIns="0" bIns="0" rtlCol="0" anchor="t">
            <a:spAutoFit/>
          </a:bodyPr>
          <a:lstStyle/>
          <a:p>
            <a:pPr algn="l">
              <a:lnSpc>
                <a:spcPts val="3891"/>
              </a:lnSpc>
            </a:pPr>
            <a:r>
              <a:rPr lang="en-US" sz="3162" b="1">
                <a:solidFill>
                  <a:srgbClr val="5B5F71"/>
                </a:solidFill>
                <a:latin typeface="Arimo Bold"/>
                <a:ea typeface="Arimo Bold"/>
                <a:cs typeface="Arimo Bold"/>
                <a:sym typeface="Arimo Bold"/>
              </a:rPr>
              <a:t>Aho, A., Lam, M., Sethi, R., &amp; Ullman, J. (2008)</a:t>
            </a:r>
          </a:p>
        </p:txBody>
      </p:sp>
      <p:sp>
        <p:nvSpPr>
          <p:cNvPr id="16" name="TextBox 16"/>
          <p:cNvSpPr txBox="1"/>
          <p:nvPr/>
        </p:nvSpPr>
        <p:spPr>
          <a:xfrm>
            <a:off x="9036579" y="4466097"/>
            <a:ext cx="5248584" cy="1144172"/>
          </a:xfrm>
          <a:prstGeom prst="rect">
            <a:avLst/>
          </a:prstGeom>
        </p:spPr>
        <p:txBody>
          <a:bodyPr lIns="0" tIns="0" rIns="0" bIns="0" rtlCol="0" anchor="t">
            <a:spAutoFit/>
          </a:bodyPr>
          <a:lstStyle/>
          <a:p>
            <a:pPr algn="l">
              <a:lnSpc>
                <a:spcPts val="4054"/>
              </a:lnSpc>
            </a:pPr>
            <a:r>
              <a:rPr lang="en-US" sz="2513" i="1">
                <a:solidFill>
                  <a:srgbClr val="5B5F71"/>
                </a:solidFill>
                <a:latin typeface="Arimo Italics"/>
                <a:ea typeface="Arimo Italics"/>
                <a:cs typeface="Arimo Italics"/>
                <a:sym typeface="Arimo Italics"/>
              </a:rPr>
              <a:t>Compiladores: principios, técnicas y herramientas</a:t>
            </a:r>
            <a:r>
              <a:rPr lang="en-US" sz="2513">
                <a:solidFill>
                  <a:srgbClr val="5B5F71"/>
                </a:solidFill>
                <a:latin typeface="Arimo"/>
                <a:ea typeface="Arimo"/>
                <a:cs typeface="Arimo"/>
                <a:sym typeface="Arimo"/>
              </a:rPr>
              <a:t>. Pearson.</a:t>
            </a:r>
          </a:p>
        </p:txBody>
      </p:sp>
      <p:grpSp>
        <p:nvGrpSpPr>
          <p:cNvPr id="17" name="Group 17"/>
          <p:cNvGrpSpPr/>
          <p:nvPr/>
        </p:nvGrpSpPr>
        <p:grpSpPr>
          <a:xfrm>
            <a:off x="2371588" y="6787064"/>
            <a:ext cx="12290843" cy="1965510"/>
            <a:chOff x="0" y="0"/>
            <a:chExt cx="12632131" cy="2020087"/>
          </a:xfrm>
        </p:grpSpPr>
        <p:sp>
          <p:nvSpPr>
            <p:cNvPr id="18" name="Freeform 18"/>
            <p:cNvSpPr/>
            <p:nvPr/>
          </p:nvSpPr>
          <p:spPr>
            <a:xfrm>
              <a:off x="19050" y="19050"/>
              <a:ext cx="12594082" cy="1981962"/>
            </a:xfrm>
            <a:custGeom>
              <a:avLst/>
              <a:gdLst/>
              <a:ahLst/>
              <a:cxnLst/>
              <a:rect l="l" t="t" r="r" b="b"/>
              <a:pathLst>
                <a:path w="12594082" h="1981962">
                  <a:moveTo>
                    <a:pt x="0" y="138938"/>
                  </a:moveTo>
                  <a:cubicBezTo>
                    <a:pt x="0" y="62230"/>
                    <a:pt x="63246" y="0"/>
                    <a:pt x="141224" y="0"/>
                  </a:cubicBezTo>
                  <a:lnTo>
                    <a:pt x="12452858" y="0"/>
                  </a:lnTo>
                  <a:cubicBezTo>
                    <a:pt x="12530836" y="0"/>
                    <a:pt x="12594082" y="62230"/>
                    <a:pt x="12594082" y="138938"/>
                  </a:cubicBezTo>
                  <a:lnTo>
                    <a:pt x="12594082" y="1843024"/>
                  </a:lnTo>
                  <a:cubicBezTo>
                    <a:pt x="12594082" y="1919732"/>
                    <a:pt x="12530836" y="1981962"/>
                    <a:pt x="12452858" y="1981962"/>
                  </a:cubicBezTo>
                  <a:lnTo>
                    <a:pt x="141224" y="1981962"/>
                  </a:lnTo>
                  <a:cubicBezTo>
                    <a:pt x="63246" y="1981962"/>
                    <a:pt x="0" y="1919732"/>
                    <a:pt x="0" y="1843024"/>
                  </a:cubicBezTo>
                  <a:close/>
                </a:path>
              </a:pathLst>
            </a:custGeom>
            <a:solidFill>
              <a:srgbClr val="FFFFFF">
                <a:alpha val="90196"/>
              </a:srgbClr>
            </a:solidFill>
          </p:spPr>
        </p:sp>
        <p:sp>
          <p:nvSpPr>
            <p:cNvPr id="19" name="Freeform 19"/>
            <p:cNvSpPr/>
            <p:nvPr/>
          </p:nvSpPr>
          <p:spPr>
            <a:xfrm>
              <a:off x="0" y="0"/>
              <a:ext cx="12632182" cy="2020062"/>
            </a:xfrm>
            <a:custGeom>
              <a:avLst/>
              <a:gdLst/>
              <a:ahLst/>
              <a:cxnLst/>
              <a:rect l="l" t="t" r="r" b="b"/>
              <a:pathLst>
                <a:path w="12632182" h="2020062">
                  <a:moveTo>
                    <a:pt x="0" y="157988"/>
                  </a:moveTo>
                  <a:cubicBezTo>
                    <a:pt x="0" y="70485"/>
                    <a:pt x="72009" y="0"/>
                    <a:pt x="160274" y="0"/>
                  </a:cubicBezTo>
                  <a:lnTo>
                    <a:pt x="12471908" y="0"/>
                  </a:lnTo>
                  <a:lnTo>
                    <a:pt x="12471908" y="19050"/>
                  </a:lnTo>
                  <a:lnTo>
                    <a:pt x="12471908" y="0"/>
                  </a:lnTo>
                  <a:cubicBezTo>
                    <a:pt x="12560173" y="0"/>
                    <a:pt x="12632182" y="70485"/>
                    <a:pt x="12632182" y="157988"/>
                  </a:cubicBezTo>
                  <a:lnTo>
                    <a:pt x="12613132" y="157988"/>
                  </a:lnTo>
                  <a:lnTo>
                    <a:pt x="12632182" y="157988"/>
                  </a:lnTo>
                  <a:lnTo>
                    <a:pt x="12632182" y="1862074"/>
                  </a:lnTo>
                  <a:lnTo>
                    <a:pt x="12613132" y="1862074"/>
                  </a:lnTo>
                  <a:lnTo>
                    <a:pt x="12632182" y="1862074"/>
                  </a:lnTo>
                  <a:cubicBezTo>
                    <a:pt x="12632182" y="1949577"/>
                    <a:pt x="12560173" y="2020062"/>
                    <a:pt x="12471908" y="2020062"/>
                  </a:cubicBezTo>
                  <a:lnTo>
                    <a:pt x="12471908" y="2001012"/>
                  </a:lnTo>
                  <a:lnTo>
                    <a:pt x="12471908" y="2020062"/>
                  </a:lnTo>
                  <a:lnTo>
                    <a:pt x="160274" y="2020062"/>
                  </a:lnTo>
                  <a:lnTo>
                    <a:pt x="160274" y="2001012"/>
                  </a:lnTo>
                  <a:lnTo>
                    <a:pt x="160274" y="2020062"/>
                  </a:lnTo>
                  <a:cubicBezTo>
                    <a:pt x="72009" y="2020062"/>
                    <a:pt x="0" y="1949704"/>
                    <a:pt x="0" y="1862074"/>
                  </a:cubicBezTo>
                  <a:lnTo>
                    <a:pt x="0" y="157988"/>
                  </a:lnTo>
                  <a:lnTo>
                    <a:pt x="19050" y="157988"/>
                  </a:lnTo>
                  <a:lnTo>
                    <a:pt x="0" y="157988"/>
                  </a:lnTo>
                  <a:moveTo>
                    <a:pt x="38100" y="157988"/>
                  </a:moveTo>
                  <a:lnTo>
                    <a:pt x="38100" y="1862074"/>
                  </a:lnTo>
                  <a:lnTo>
                    <a:pt x="19050" y="1862074"/>
                  </a:lnTo>
                  <a:lnTo>
                    <a:pt x="38100" y="1862074"/>
                  </a:lnTo>
                  <a:cubicBezTo>
                    <a:pt x="38100" y="1927987"/>
                    <a:pt x="92456" y="1981962"/>
                    <a:pt x="160274" y="1981962"/>
                  </a:cubicBezTo>
                  <a:lnTo>
                    <a:pt x="12471908" y="1981962"/>
                  </a:lnTo>
                  <a:cubicBezTo>
                    <a:pt x="12539599" y="1981962"/>
                    <a:pt x="12594082" y="1927987"/>
                    <a:pt x="12594082" y="1862074"/>
                  </a:cubicBezTo>
                  <a:lnTo>
                    <a:pt x="12594082" y="157988"/>
                  </a:lnTo>
                  <a:cubicBezTo>
                    <a:pt x="12594082" y="92075"/>
                    <a:pt x="12539726" y="38100"/>
                    <a:pt x="12471908" y="38100"/>
                  </a:cubicBezTo>
                  <a:lnTo>
                    <a:pt x="160274" y="38100"/>
                  </a:lnTo>
                  <a:lnTo>
                    <a:pt x="160274" y="19050"/>
                  </a:lnTo>
                  <a:lnTo>
                    <a:pt x="160274" y="38100"/>
                  </a:lnTo>
                  <a:cubicBezTo>
                    <a:pt x="92456" y="38100"/>
                    <a:pt x="38100" y="92075"/>
                    <a:pt x="38100" y="157988"/>
                  </a:cubicBezTo>
                  <a:close/>
                </a:path>
              </a:pathLst>
            </a:custGeom>
            <a:solidFill>
              <a:srgbClr val="C8C9CF"/>
            </a:solidFill>
          </p:spPr>
        </p:sp>
      </p:grpSp>
      <p:sp>
        <p:nvSpPr>
          <p:cNvPr id="20" name="TextBox 20"/>
          <p:cNvSpPr txBox="1"/>
          <p:nvPr/>
        </p:nvSpPr>
        <p:spPr>
          <a:xfrm>
            <a:off x="2748855" y="7135757"/>
            <a:ext cx="4023128" cy="531537"/>
          </a:xfrm>
          <a:prstGeom prst="rect">
            <a:avLst/>
          </a:prstGeom>
        </p:spPr>
        <p:txBody>
          <a:bodyPr lIns="0" tIns="0" rIns="0" bIns="0" rtlCol="0" anchor="t">
            <a:spAutoFit/>
          </a:bodyPr>
          <a:lstStyle/>
          <a:p>
            <a:pPr algn="l">
              <a:lnSpc>
                <a:spcPts val="3891"/>
              </a:lnSpc>
            </a:pPr>
            <a:r>
              <a:rPr lang="en-US" sz="3162" b="1">
                <a:solidFill>
                  <a:srgbClr val="5B5F71"/>
                </a:solidFill>
                <a:latin typeface="Arimo Bold"/>
                <a:ea typeface="Arimo Bold"/>
                <a:cs typeface="Arimo Bold"/>
                <a:sym typeface="Arimo Bold"/>
              </a:rPr>
              <a:t>GeeksforGeeks</a:t>
            </a:r>
          </a:p>
        </p:txBody>
      </p:sp>
      <p:sp>
        <p:nvSpPr>
          <p:cNvPr id="21" name="TextBox 21"/>
          <p:cNvSpPr txBox="1"/>
          <p:nvPr/>
        </p:nvSpPr>
        <p:spPr>
          <a:xfrm>
            <a:off x="2748855" y="7746070"/>
            <a:ext cx="11536308" cy="629236"/>
          </a:xfrm>
          <a:prstGeom prst="rect">
            <a:avLst/>
          </a:prstGeom>
        </p:spPr>
        <p:txBody>
          <a:bodyPr lIns="0" tIns="0" rIns="0" bIns="0" rtlCol="0" anchor="t">
            <a:spAutoFit/>
          </a:bodyPr>
          <a:lstStyle/>
          <a:p>
            <a:pPr algn="l">
              <a:lnSpc>
                <a:spcPts val="4054"/>
              </a:lnSpc>
            </a:pPr>
            <a:r>
              <a:rPr lang="en-US" sz="2513" i="1">
                <a:solidFill>
                  <a:srgbClr val="5B5F71"/>
                </a:solidFill>
                <a:latin typeface="Arimo Italics"/>
                <a:ea typeface="Arimo Italics"/>
                <a:cs typeface="Arimo Italics"/>
                <a:sym typeface="Arimo Italics"/>
              </a:rPr>
              <a:t>Introduction of Finite Automata</a:t>
            </a:r>
            <a:r>
              <a:rPr lang="en-US" sz="2513">
                <a:solidFill>
                  <a:srgbClr val="5B5F71"/>
                </a:solidFill>
                <a:latin typeface="Arimo"/>
                <a:ea typeface="Arimo"/>
                <a:cs typeface="Arimo"/>
                <a:sym typeface="Arimo"/>
              </a:rPr>
              <a:t>. Recuperado de geeksforgeeks.org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1674</Words>
  <Application>Microsoft Office PowerPoint</Application>
  <PresentationFormat>Personalizado</PresentationFormat>
  <Paragraphs>121</Paragraphs>
  <Slides>9</Slides>
  <Notes>9</Notes>
  <HiddenSlides>0</HiddenSlides>
  <MMClips>0</MMClips>
  <ScaleCrop>false</ScaleCrop>
  <HeadingPairs>
    <vt:vector size="8" baseType="variant">
      <vt:variant>
        <vt:lpstr>Fuentes usadas</vt:lpstr>
      </vt:variant>
      <vt:variant>
        <vt:i4>7</vt:i4>
      </vt:variant>
      <vt:variant>
        <vt:lpstr>Tema</vt:lpstr>
      </vt:variant>
      <vt:variant>
        <vt:i4>1</vt:i4>
      </vt:variant>
      <vt:variant>
        <vt:lpstr>Servidores OLE incrustados</vt:lpstr>
      </vt:variant>
      <vt:variant>
        <vt:i4>1</vt:i4>
      </vt:variant>
      <vt:variant>
        <vt:lpstr>Títulos de diapositiva</vt:lpstr>
      </vt:variant>
      <vt:variant>
        <vt:i4>9</vt:i4>
      </vt:variant>
    </vt:vector>
  </HeadingPairs>
  <TitlesOfParts>
    <vt:vector size="18" baseType="lpstr">
      <vt:lpstr>Arimo Bold</vt:lpstr>
      <vt:lpstr>Arimo Italics</vt:lpstr>
      <vt:lpstr>Consolas</vt:lpstr>
      <vt:lpstr>Arial</vt:lpstr>
      <vt:lpstr>Calibri</vt:lpstr>
      <vt:lpstr>Montserrat Bold</vt:lpstr>
      <vt:lpstr>Arimo</vt:lpstr>
      <vt:lpstr>Office Theme</vt:lpstr>
      <vt:lpstr>Worksheet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ACTIVIDAD 3.2 Reporte de práctica</dc:title>
  <cp:lastModifiedBy>Amaury</cp:lastModifiedBy>
  <cp:revision>3</cp:revision>
  <dcterms:created xsi:type="dcterms:W3CDTF">2006-08-16T00:00:00Z</dcterms:created>
  <dcterms:modified xsi:type="dcterms:W3CDTF">2026-03-15T17:28:24Z</dcterms:modified>
  <dc:identifier>DAHDr91nWj8</dc:identifier>
</cp:coreProperties>
</file>